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28016"/>
            <a:ext cx="11521440" cy="420624"/>
          </a:xfrm>
          <a:prstGeom prst="rect">
            <a:avLst/>
          </a:prstGeom>
          <a:noFill/>
          <a:ln/>
        </p:spPr>
        <p:txBody>
          <a:bodyPr wrap="square" lIns="0" tIns="0" rIns="0" bIns="0" rtlCol="0" anchor="ctr"/>
          <a:lstStyle/>
          <a:p>
            <a:pPr algn="l" indent="0" marL="0">
              <a:buNone/>
            </a:pPr>
            <a:r>
              <a:rPr lang="en-US" sz="2400" b="1" dirty="0">
                <a:solidFill>
                  <a:srgbClr val="1F3864"/>
                </a:solidFill>
                <a:latin typeface="Calibri" pitchFamily="34" charset="0"/>
                <a:ea typeface="Calibri" pitchFamily="34" charset="-122"/>
                <a:cs typeface="Calibri" pitchFamily="34" charset="-120"/>
              </a:rPr>
              <a:t>SWP Cloud Model</a:t>
            </a:r>
            <a:endParaRPr lang="en-US" sz="2400" dirty="0"/>
          </a:p>
        </p:txBody>
      </p:sp>
      <p:sp>
        <p:nvSpPr>
          <p:cNvPr id="3" name="Shape 1"/>
          <p:cNvSpPr/>
          <p:nvPr/>
        </p:nvSpPr>
        <p:spPr>
          <a:xfrm>
            <a:off x="320040" y="576072"/>
            <a:ext cx="11521440" cy="36576"/>
          </a:xfrm>
          <a:prstGeom prst="rect">
            <a:avLst/>
          </a:prstGeom>
          <a:solidFill>
            <a:srgbClr val="005B6E"/>
          </a:solidFill>
          <a:ln w="12700">
            <a:solidFill>
              <a:srgbClr val="005B6E"/>
            </a:solidFill>
            <a:prstDash val="solid"/>
          </a:ln>
        </p:spPr>
      </p:sp>
      <p:sp>
        <p:nvSpPr>
          <p:cNvPr id="4" name="Shape 2"/>
          <p:cNvSpPr/>
          <p:nvPr/>
        </p:nvSpPr>
        <p:spPr>
          <a:xfrm>
            <a:off x="320040" y="658368"/>
            <a:ext cx="4160520" cy="5925312"/>
          </a:xfrm>
          <a:prstGeom prst="rect">
            <a:avLst/>
          </a:prstGeom>
          <a:solidFill>
            <a:srgbClr val="FFFFFF"/>
          </a:solidFill>
          <a:ln w="12700">
            <a:solidFill>
              <a:srgbClr val="A0BEC5"/>
            </a:solidFill>
            <a:prstDash val="solid"/>
          </a:ln>
          <a:effectLst>
            <a:outerShdw sx="100000" sy="100000" kx="0" ky="0" algn="bl" rotWithShape="0" blurRad="63500" dist="12700" dir="8100000">
              <a:srgbClr val="000000">
                <a:alpha val="9000"/>
              </a:srgbClr>
            </a:outerShdw>
          </a:effectLst>
        </p:spPr>
      </p:sp>
      <p:sp>
        <p:nvSpPr>
          <p:cNvPr id="5" name="Shape 3"/>
          <p:cNvSpPr/>
          <p:nvPr/>
        </p:nvSpPr>
        <p:spPr>
          <a:xfrm>
            <a:off x="320040" y="658368"/>
            <a:ext cx="4160520" cy="310896"/>
          </a:xfrm>
          <a:prstGeom prst="rect">
            <a:avLst/>
          </a:prstGeom>
          <a:solidFill>
            <a:srgbClr val="005B6E"/>
          </a:solidFill>
          <a:ln w="12700">
            <a:solidFill>
              <a:srgbClr val="005B6E"/>
            </a:solidFill>
            <a:prstDash val="solid"/>
          </a:ln>
        </p:spPr>
      </p:sp>
      <p:sp>
        <p:nvSpPr>
          <p:cNvPr id="6" name="Text 4"/>
          <p:cNvSpPr/>
          <p:nvPr/>
        </p:nvSpPr>
        <p:spPr>
          <a:xfrm>
            <a:off x="429768" y="658368"/>
            <a:ext cx="402336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① Data Flow Overview</a:t>
            </a:r>
            <a:endParaRPr lang="en-US" sz="1050" dirty="0"/>
          </a:p>
        </p:txBody>
      </p:sp>
      <p:sp>
        <p:nvSpPr>
          <p:cNvPr id="7" name="Shape 5"/>
          <p:cNvSpPr/>
          <p:nvPr/>
        </p:nvSpPr>
        <p:spPr>
          <a:xfrm>
            <a:off x="448056" y="1115568"/>
            <a:ext cx="274320" cy="274320"/>
          </a:xfrm>
          <a:prstGeom prst="ellipse">
            <a:avLst/>
          </a:prstGeom>
          <a:solidFill>
            <a:srgbClr val="005B6E"/>
          </a:solidFill>
          <a:ln w="12700">
            <a:solidFill>
              <a:srgbClr val="005B6E"/>
            </a:solidFill>
            <a:prstDash val="solid"/>
          </a:ln>
        </p:spPr>
      </p:sp>
      <p:sp>
        <p:nvSpPr>
          <p:cNvPr id="8" name="Text 6"/>
          <p:cNvSpPr/>
          <p:nvPr/>
        </p:nvSpPr>
        <p:spPr>
          <a:xfrm>
            <a:off x="448056" y="111556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580644" y="1389888"/>
            <a:ext cx="0" cy="563880"/>
          </a:xfrm>
          <a:prstGeom prst="line">
            <a:avLst/>
          </a:prstGeom>
          <a:noFill/>
          <a:ln w="10160">
            <a:solidFill>
              <a:srgbClr val="A0BEC5"/>
            </a:solidFill>
            <a:prstDash val="dash"/>
          </a:ln>
        </p:spPr>
      </p:sp>
      <p:sp>
        <p:nvSpPr>
          <p:cNvPr id="10" name="Text 8"/>
          <p:cNvSpPr/>
          <p:nvPr/>
        </p:nvSpPr>
        <p:spPr>
          <a:xfrm>
            <a:off x="822960" y="1097280"/>
            <a:ext cx="3538728" cy="201168"/>
          </a:xfrm>
          <a:prstGeom prst="rect">
            <a:avLst/>
          </a:prstGeom>
          <a:noFill/>
          <a:ln/>
        </p:spPr>
        <p:txBody>
          <a:bodyPr wrap="square" lIns="0" tIns="0" rIns="0" bIns="0" rtlCol="0" anchor="ctr"/>
          <a:lstStyle/>
          <a:p>
            <a:pPr indent="0" marL="0">
              <a:buNone/>
            </a:pPr>
            <a:r>
              <a:rPr lang="en-US" sz="900" b="1" dirty="0">
                <a:solidFill>
                  <a:srgbClr val="005B6E"/>
                </a:solidFill>
                <a:latin typeface="Calibri" pitchFamily="34" charset="0"/>
                <a:ea typeface="Calibri" pitchFamily="34" charset="-122"/>
                <a:cs typeface="Calibri" pitchFamily="34" charset="-120"/>
              </a:rPr>
              <a:t>Customer &amp; SFTP Initiation</a:t>
            </a:r>
            <a:endParaRPr lang="en-US" sz="900" dirty="0"/>
          </a:p>
        </p:txBody>
      </p:sp>
      <p:sp>
        <p:nvSpPr>
          <p:cNvPr id="11" name="Text 9"/>
          <p:cNvSpPr/>
          <p:nvPr/>
        </p:nvSpPr>
        <p:spPr>
          <a:xfrm>
            <a:off x="822960" y="1298448"/>
            <a:ext cx="3538728" cy="600456"/>
          </a:xfrm>
          <a:prstGeom prst="rect">
            <a:avLst/>
          </a:prstGeom>
          <a:noFill/>
          <a:ln/>
        </p:spPr>
        <p:txBody>
          <a:bodyPr wrap="square" lIns="0" tIns="0" rIns="0" bIns="0" rtlCol="0" anchor="t"/>
          <a:lstStyle/>
          <a:p>
            <a:pPr indent="0" marL="0">
              <a:buNone/>
            </a:pPr>
            <a:r>
              <a:rPr lang="en-US" sz="780" dirty="0">
                <a:solidFill>
                  <a:srgbClr val="444444"/>
                </a:solidFill>
                <a:latin typeface="Calibri" pitchFamily="34" charset="0"/>
                <a:ea typeface="Calibri" pitchFamily="34" charset="-122"/>
                <a:cs typeface="Calibri" pitchFamily="34" charset="-120"/>
              </a:rPr>
              <a:t>The Customer (firm users) and SFTP Server establish outbound connections to the Internet. SFTP is used by SEI to push daily file extracts to the client site as they become available.</a:t>
            </a:r>
            <a:endParaRPr lang="en-US" sz="780" dirty="0"/>
          </a:p>
        </p:txBody>
      </p:sp>
      <p:sp>
        <p:nvSpPr>
          <p:cNvPr id="12" name="Shape 10"/>
          <p:cNvSpPr/>
          <p:nvPr/>
        </p:nvSpPr>
        <p:spPr>
          <a:xfrm>
            <a:off x="448056" y="2026920"/>
            <a:ext cx="274320" cy="274320"/>
          </a:xfrm>
          <a:prstGeom prst="ellipse">
            <a:avLst/>
          </a:prstGeom>
          <a:solidFill>
            <a:srgbClr val="1A6B7C"/>
          </a:solidFill>
          <a:ln w="12700">
            <a:solidFill>
              <a:srgbClr val="1A6B7C"/>
            </a:solidFill>
            <a:prstDash val="solid"/>
          </a:ln>
        </p:spPr>
      </p:sp>
      <p:sp>
        <p:nvSpPr>
          <p:cNvPr id="13" name="Text 11"/>
          <p:cNvSpPr/>
          <p:nvPr/>
        </p:nvSpPr>
        <p:spPr>
          <a:xfrm>
            <a:off x="448056" y="202692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Shape 12"/>
          <p:cNvSpPr/>
          <p:nvPr/>
        </p:nvSpPr>
        <p:spPr>
          <a:xfrm>
            <a:off x="580644" y="2301240"/>
            <a:ext cx="0" cy="563880"/>
          </a:xfrm>
          <a:prstGeom prst="line">
            <a:avLst/>
          </a:prstGeom>
          <a:noFill/>
          <a:ln w="10160">
            <a:solidFill>
              <a:srgbClr val="A0BEC5"/>
            </a:solidFill>
            <a:prstDash val="dash"/>
          </a:ln>
        </p:spPr>
      </p:sp>
      <p:sp>
        <p:nvSpPr>
          <p:cNvPr id="15" name="Text 13"/>
          <p:cNvSpPr/>
          <p:nvPr/>
        </p:nvSpPr>
        <p:spPr>
          <a:xfrm>
            <a:off x="822960" y="2008632"/>
            <a:ext cx="3538728" cy="201168"/>
          </a:xfrm>
          <a:prstGeom prst="rect">
            <a:avLst/>
          </a:prstGeom>
          <a:noFill/>
          <a:ln/>
        </p:spPr>
        <p:txBody>
          <a:bodyPr wrap="square" lIns="0" tIns="0" rIns="0" bIns="0" rtlCol="0" anchor="ctr"/>
          <a:lstStyle/>
          <a:p>
            <a:pPr indent="0" marL="0">
              <a:buNone/>
            </a:pPr>
            <a:r>
              <a:rPr lang="en-US" sz="900" b="1" dirty="0">
                <a:solidFill>
                  <a:srgbClr val="1A6B7C"/>
                </a:solidFill>
                <a:latin typeface="Calibri" pitchFamily="34" charset="0"/>
                <a:ea typeface="Calibri" pitchFamily="34" charset="-122"/>
                <a:cs typeface="Calibri" pitchFamily="34" charset="-120"/>
              </a:rPr>
              <a:t>TLS / MFA/SSO / IP Whitelisting</a:t>
            </a:r>
            <a:endParaRPr lang="en-US" sz="900" dirty="0"/>
          </a:p>
        </p:txBody>
      </p:sp>
      <p:sp>
        <p:nvSpPr>
          <p:cNvPr id="16" name="Text 14"/>
          <p:cNvSpPr/>
          <p:nvPr/>
        </p:nvSpPr>
        <p:spPr>
          <a:xfrm>
            <a:off x="822960" y="2209800"/>
            <a:ext cx="3538728" cy="600456"/>
          </a:xfrm>
          <a:prstGeom prst="rect">
            <a:avLst/>
          </a:prstGeom>
          <a:noFill/>
          <a:ln/>
        </p:spPr>
        <p:txBody>
          <a:bodyPr wrap="square" lIns="0" tIns="0" rIns="0" bIns="0" rtlCol="0" anchor="t"/>
          <a:lstStyle/>
          <a:p>
            <a:pPr indent="0" marL="0">
              <a:buNone/>
            </a:pPr>
            <a:r>
              <a:rPr lang="en-US" sz="780" dirty="0">
                <a:solidFill>
                  <a:srgbClr val="444444"/>
                </a:solidFill>
                <a:latin typeface="Calibri" pitchFamily="34" charset="0"/>
                <a:ea typeface="Calibri" pitchFamily="34" charset="-122"/>
                <a:cs typeface="Calibri" pitchFamily="34" charset="-120"/>
              </a:rPr>
              <a:t>All connections are secured via TLS encryption, Multi-Factor Authentication (MFA) or SAML SSO, and Source NAT IP Whitelisting. Used for browser sessions, REST APIs, and loader file uploads.</a:t>
            </a:r>
            <a:endParaRPr lang="en-US" sz="780" dirty="0"/>
          </a:p>
        </p:txBody>
      </p:sp>
      <p:sp>
        <p:nvSpPr>
          <p:cNvPr id="17" name="Shape 15"/>
          <p:cNvSpPr/>
          <p:nvPr/>
        </p:nvSpPr>
        <p:spPr>
          <a:xfrm>
            <a:off x="448056" y="2938272"/>
            <a:ext cx="274320" cy="274320"/>
          </a:xfrm>
          <a:prstGeom prst="ellipse">
            <a:avLst/>
          </a:prstGeom>
          <a:solidFill>
            <a:srgbClr val="1A7A3C"/>
          </a:solidFill>
          <a:ln w="12700">
            <a:solidFill>
              <a:srgbClr val="1A7A3C"/>
            </a:solidFill>
            <a:prstDash val="solid"/>
          </a:ln>
        </p:spPr>
      </p:sp>
      <p:sp>
        <p:nvSpPr>
          <p:cNvPr id="18" name="Text 16"/>
          <p:cNvSpPr/>
          <p:nvPr/>
        </p:nvSpPr>
        <p:spPr>
          <a:xfrm>
            <a:off x="448056" y="293827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Shape 17"/>
          <p:cNvSpPr/>
          <p:nvPr/>
        </p:nvSpPr>
        <p:spPr>
          <a:xfrm>
            <a:off x="580644" y="3212592"/>
            <a:ext cx="0" cy="563880"/>
          </a:xfrm>
          <a:prstGeom prst="line">
            <a:avLst/>
          </a:prstGeom>
          <a:noFill/>
          <a:ln w="10160">
            <a:solidFill>
              <a:srgbClr val="A0BEC5"/>
            </a:solidFill>
            <a:prstDash val="dash"/>
          </a:ln>
        </p:spPr>
      </p:sp>
      <p:sp>
        <p:nvSpPr>
          <p:cNvPr id="20" name="Text 18"/>
          <p:cNvSpPr/>
          <p:nvPr/>
        </p:nvSpPr>
        <p:spPr>
          <a:xfrm>
            <a:off x="822960" y="2919984"/>
            <a:ext cx="3538728" cy="201168"/>
          </a:xfrm>
          <a:prstGeom prst="rect">
            <a:avLst/>
          </a:prstGeom>
          <a:noFill/>
          <a:ln/>
        </p:spPr>
        <p:txBody>
          <a:bodyPr wrap="square" lIns="0" tIns="0" rIns="0" bIns="0" rtlCol="0" anchor="ctr"/>
          <a:lstStyle/>
          <a:p>
            <a:pPr indent="0" marL="0">
              <a:buNone/>
            </a:pPr>
            <a:r>
              <a:rPr lang="en-US" sz="900" b="1" dirty="0">
                <a:solidFill>
                  <a:srgbClr val="1A7A3C"/>
                </a:solidFill>
                <a:latin typeface="Calibri" pitchFamily="34" charset="0"/>
                <a:ea typeface="Calibri" pitchFamily="34" charset="-122"/>
                <a:cs typeface="Calibri" pitchFamily="34" charset="-120"/>
              </a:rPr>
              <a:t>Cloudflare Edge WAF (Blocking Mode)</a:t>
            </a:r>
            <a:endParaRPr lang="en-US" sz="900" dirty="0"/>
          </a:p>
        </p:txBody>
      </p:sp>
      <p:sp>
        <p:nvSpPr>
          <p:cNvPr id="21" name="Text 19"/>
          <p:cNvSpPr/>
          <p:nvPr/>
        </p:nvSpPr>
        <p:spPr>
          <a:xfrm>
            <a:off x="822960" y="3121152"/>
            <a:ext cx="3538728" cy="600456"/>
          </a:xfrm>
          <a:prstGeom prst="rect">
            <a:avLst/>
          </a:prstGeom>
          <a:noFill/>
          <a:ln/>
        </p:spPr>
        <p:txBody>
          <a:bodyPr wrap="square" lIns="0" tIns="0" rIns="0" bIns="0" rtlCol="0" anchor="t"/>
          <a:lstStyle/>
          <a:p>
            <a:pPr indent="0" marL="0">
              <a:buNone/>
            </a:pPr>
            <a:r>
              <a:rPr lang="en-US" sz="780" dirty="0">
                <a:solidFill>
                  <a:srgbClr val="444444"/>
                </a:solidFill>
                <a:latin typeface="Calibri" pitchFamily="34" charset="0"/>
                <a:ea typeface="Calibri" pitchFamily="34" charset="-122"/>
                <a:cs typeface="Calibri" pitchFamily="34" charset="-120"/>
              </a:rPr>
              <a:t>Inbound traffic passes through the Cloudflare Edge Web Application Firewall operating in full blocking mode. Malicious requests are dropped before reaching SEI infrastructure.</a:t>
            </a:r>
            <a:endParaRPr lang="en-US" sz="780" dirty="0"/>
          </a:p>
        </p:txBody>
      </p:sp>
      <p:sp>
        <p:nvSpPr>
          <p:cNvPr id="22" name="Shape 20"/>
          <p:cNvSpPr/>
          <p:nvPr/>
        </p:nvSpPr>
        <p:spPr>
          <a:xfrm>
            <a:off x="448056" y="3849624"/>
            <a:ext cx="274320" cy="274320"/>
          </a:xfrm>
          <a:prstGeom prst="ellipse">
            <a:avLst/>
          </a:prstGeom>
          <a:solidFill>
            <a:srgbClr val="1F4E79"/>
          </a:solidFill>
          <a:ln w="12700">
            <a:solidFill>
              <a:srgbClr val="1F4E79"/>
            </a:solidFill>
            <a:prstDash val="solid"/>
          </a:ln>
        </p:spPr>
      </p:sp>
      <p:sp>
        <p:nvSpPr>
          <p:cNvPr id="23" name="Text 21"/>
          <p:cNvSpPr/>
          <p:nvPr/>
        </p:nvSpPr>
        <p:spPr>
          <a:xfrm>
            <a:off x="448056" y="3849624"/>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Shape 22"/>
          <p:cNvSpPr/>
          <p:nvPr/>
        </p:nvSpPr>
        <p:spPr>
          <a:xfrm>
            <a:off x="580644" y="4123944"/>
            <a:ext cx="0" cy="563880"/>
          </a:xfrm>
          <a:prstGeom prst="line">
            <a:avLst/>
          </a:prstGeom>
          <a:noFill/>
          <a:ln w="10160">
            <a:solidFill>
              <a:srgbClr val="A0BEC5"/>
            </a:solidFill>
            <a:prstDash val="dash"/>
          </a:ln>
        </p:spPr>
      </p:sp>
      <p:sp>
        <p:nvSpPr>
          <p:cNvPr id="25" name="Text 23"/>
          <p:cNvSpPr/>
          <p:nvPr/>
        </p:nvSpPr>
        <p:spPr>
          <a:xfrm>
            <a:off x="822960" y="3831336"/>
            <a:ext cx="3538728" cy="201168"/>
          </a:xfrm>
          <a:prstGeom prst="rect">
            <a:avLst/>
          </a:prstGeom>
          <a:noFill/>
          <a:ln/>
        </p:spPr>
        <p:txBody>
          <a:bodyPr wrap="square" lIns="0" tIns="0" rIns="0" bIns="0" rtlCol="0" anchor="ctr"/>
          <a:lstStyle/>
          <a:p>
            <a:pPr indent="0" marL="0">
              <a:buNone/>
            </a:pPr>
            <a:r>
              <a:rPr lang="en-US" sz="900" b="1" dirty="0">
                <a:solidFill>
                  <a:srgbClr val="1F4E79"/>
                </a:solidFill>
                <a:latin typeface="Calibri" pitchFamily="34" charset="0"/>
                <a:ea typeface="Calibri" pitchFamily="34" charset="-122"/>
                <a:cs typeface="Calibri" pitchFamily="34" charset="-120"/>
              </a:rPr>
              <a:t>SWP on SEI OCI Landing Zone</a:t>
            </a:r>
            <a:endParaRPr lang="en-US" sz="900" dirty="0"/>
          </a:p>
        </p:txBody>
      </p:sp>
      <p:sp>
        <p:nvSpPr>
          <p:cNvPr id="26" name="Text 24"/>
          <p:cNvSpPr/>
          <p:nvPr/>
        </p:nvSpPr>
        <p:spPr>
          <a:xfrm>
            <a:off x="822960" y="4032504"/>
            <a:ext cx="3538728" cy="600456"/>
          </a:xfrm>
          <a:prstGeom prst="rect">
            <a:avLst/>
          </a:prstGeom>
          <a:noFill/>
          <a:ln/>
        </p:spPr>
        <p:txBody>
          <a:bodyPr wrap="square" lIns="0" tIns="0" rIns="0" bIns="0" rtlCol="0" anchor="t"/>
          <a:lstStyle/>
          <a:p>
            <a:pPr indent="0" marL="0">
              <a:buNone/>
            </a:pPr>
            <a:r>
              <a:rPr lang="en-US" sz="780" dirty="0">
                <a:solidFill>
                  <a:srgbClr val="444444"/>
                </a:solidFill>
                <a:latin typeface="Calibri" pitchFamily="34" charset="0"/>
                <a:ea typeface="Calibri" pitchFamily="34" charset="-122"/>
                <a:cs typeface="Calibri" pitchFamily="34" charset="-120"/>
              </a:rPr>
              <a:t>Filtered traffic reaches SWP hosted on the SEI Oracle Cloud Infrastructure (OCI) Landing Zone in Ashburn — the primary cloud compute and data environment.</a:t>
            </a:r>
            <a:endParaRPr lang="en-US" sz="780" dirty="0"/>
          </a:p>
        </p:txBody>
      </p:sp>
      <p:sp>
        <p:nvSpPr>
          <p:cNvPr id="27" name="Shape 25"/>
          <p:cNvSpPr/>
          <p:nvPr/>
        </p:nvSpPr>
        <p:spPr>
          <a:xfrm>
            <a:off x="448056" y="4760976"/>
            <a:ext cx="274320" cy="274320"/>
          </a:xfrm>
          <a:prstGeom prst="ellipse">
            <a:avLst/>
          </a:prstGeom>
          <a:solidFill>
            <a:srgbClr val="1F3864"/>
          </a:solidFill>
          <a:ln w="12700">
            <a:solidFill>
              <a:srgbClr val="1F3864"/>
            </a:solidFill>
            <a:prstDash val="solid"/>
          </a:ln>
        </p:spPr>
      </p:sp>
      <p:sp>
        <p:nvSpPr>
          <p:cNvPr id="28" name="Text 26"/>
          <p:cNvSpPr/>
          <p:nvPr/>
        </p:nvSpPr>
        <p:spPr>
          <a:xfrm>
            <a:off x="448056" y="476097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9" name="Shape 27"/>
          <p:cNvSpPr/>
          <p:nvPr/>
        </p:nvSpPr>
        <p:spPr>
          <a:xfrm>
            <a:off x="580644" y="5035296"/>
            <a:ext cx="0" cy="563880"/>
          </a:xfrm>
          <a:prstGeom prst="line">
            <a:avLst/>
          </a:prstGeom>
          <a:noFill/>
          <a:ln w="10160">
            <a:solidFill>
              <a:srgbClr val="A0BEC5"/>
            </a:solidFill>
            <a:prstDash val="dash"/>
          </a:ln>
        </p:spPr>
      </p:sp>
      <p:sp>
        <p:nvSpPr>
          <p:cNvPr id="30" name="Text 28"/>
          <p:cNvSpPr/>
          <p:nvPr/>
        </p:nvSpPr>
        <p:spPr>
          <a:xfrm>
            <a:off x="822960" y="4742688"/>
            <a:ext cx="3538728" cy="201168"/>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IPSec Hybrid Connectivity</a:t>
            </a:r>
            <a:endParaRPr lang="en-US" sz="900" dirty="0"/>
          </a:p>
        </p:txBody>
      </p:sp>
      <p:sp>
        <p:nvSpPr>
          <p:cNvPr id="31" name="Text 29"/>
          <p:cNvSpPr/>
          <p:nvPr/>
        </p:nvSpPr>
        <p:spPr>
          <a:xfrm>
            <a:off x="822960" y="4943856"/>
            <a:ext cx="3538728" cy="600456"/>
          </a:xfrm>
          <a:prstGeom prst="rect">
            <a:avLst/>
          </a:prstGeom>
          <a:noFill/>
          <a:ln/>
        </p:spPr>
        <p:txBody>
          <a:bodyPr wrap="square" lIns="0" tIns="0" rIns="0" bIns="0" rtlCol="0" anchor="t"/>
          <a:lstStyle/>
          <a:p>
            <a:pPr indent="0" marL="0">
              <a:buNone/>
            </a:pPr>
            <a:r>
              <a:rPr lang="en-US" sz="780" dirty="0">
                <a:solidFill>
                  <a:srgbClr val="444444"/>
                </a:solidFill>
                <a:latin typeface="Calibri" pitchFamily="34" charset="0"/>
                <a:ea typeface="Calibri" pitchFamily="34" charset="-122"/>
                <a:cs typeface="Calibri" pitchFamily="34" charset="-120"/>
              </a:rPr>
              <a:t>SWP connects to SEI On-Premises infrastructure (Oaks) via IPSec tunnels, enabling hybrid workloads, data replication, and on-premises dependent services.</a:t>
            </a:r>
            <a:endParaRPr lang="en-US" sz="780" dirty="0"/>
          </a:p>
        </p:txBody>
      </p:sp>
      <p:sp>
        <p:nvSpPr>
          <p:cNvPr id="32" name="Shape 30"/>
          <p:cNvSpPr/>
          <p:nvPr/>
        </p:nvSpPr>
        <p:spPr>
          <a:xfrm>
            <a:off x="448056" y="5672328"/>
            <a:ext cx="274320" cy="274320"/>
          </a:xfrm>
          <a:prstGeom prst="ellipse">
            <a:avLst/>
          </a:prstGeom>
          <a:solidFill>
            <a:srgbClr val="2C3E50"/>
          </a:solidFill>
          <a:ln w="12700">
            <a:solidFill>
              <a:srgbClr val="2C3E50"/>
            </a:solidFill>
            <a:prstDash val="solid"/>
          </a:ln>
        </p:spPr>
      </p:sp>
      <p:sp>
        <p:nvSpPr>
          <p:cNvPr id="33" name="Text 31"/>
          <p:cNvSpPr/>
          <p:nvPr/>
        </p:nvSpPr>
        <p:spPr>
          <a:xfrm>
            <a:off x="448056" y="567232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4" name="Text 32"/>
          <p:cNvSpPr/>
          <p:nvPr/>
        </p:nvSpPr>
        <p:spPr>
          <a:xfrm>
            <a:off x="822960" y="5654040"/>
            <a:ext cx="3538728" cy="201168"/>
          </a:xfrm>
          <a:prstGeom prst="rect">
            <a:avLst/>
          </a:prstGeom>
          <a:noFill/>
          <a:ln/>
        </p:spPr>
        <p:txBody>
          <a:bodyPr wrap="square" lIns="0" tIns="0" rIns="0" bIns="0" rtlCol="0" anchor="ctr"/>
          <a:lstStyle/>
          <a:p>
            <a:pPr indent="0" marL="0">
              <a:buNone/>
            </a:pPr>
            <a:r>
              <a:rPr lang="en-US" sz="900" b="1" dirty="0">
                <a:solidFill>
                  <a:srgbClr val="2C3E50"/>
                </a:solidFill>
                <a:latin typeface="Calibri" pitchFamily="34" charset="0"/>
                <a:ea typeface="Calibri" pitchFamily="34" charset="-122"/>
                <a:cs typeface="Calibri" pitchFamily="34" charset="-120"/>
              </a:rPr>
              <a:t>Security Boundary Summary</a:t>
            </a:r>
            <a:endParaRPr lang="en-US" sz="900" dirty="0"/>
          </a:p>
        </p:txBody>
      </p:sp>
      <p:sp>
        <p:nvSpPr>
          <p:cNvPr id="35" name="Text 33"/>
          <p:cNvSpPr/>
          <p:nvPr/>
        </p:nvSpPr>
        <p:spPr>
          <a:xfrm>
            <a:off x="822960" y="5855208"/>
            <a:ext cx="3538728" cy="600456"/>
          </a:xfrm>
          <a:prstGeom prst="rect">
            <a:avLst/>
          </a:prstGeom>
          <a:noFill/>
          <a:ln/>
        </p:spPr>
        <p:txBody>
          <a:bodyPr wrap="square" lIns="0" tIns="0" rIns="0" bIns="0" rtlCol="0" anchor="t"/>
          <a:lstStyle/>
          <a:p>
            <a:pPr indent="0" marL="0">
              <a:buNone/>
            </a:pPr>
            <a:r>
              <a:rPr lang="en-US" sz="780" dirty="0">
                <a:solidFill>
                  <a:srgbClr val="444444"/>
                </a:solidFill>
                <a:latin typeface="Calibri" pitchFamily="34" charset="0"/>
                <a:ea typeface="Calibri" pitchFamily="34" charset="-122"/>
                <a:cs typeface="Calibri" pitchFamily="34" charset="-120"/>
              </a:rPr>
              <a:t>Identity: MFA or SAML SSO  |  Network: Source NAT IP Whitelisting  |  Encryption: TLS 1.2 &amp; TLS 1.3 with Perfect Forward Secrecy (PFS)</a:t>
            </a:r>
            <a:endParaRPr lang="en-US" sz="780" dirty="0"/>
          </a:p>
        </p:txBody>
      </p:sp>
      <p:sp>
        <p:nvSpPr>
          <p:cNvPr id="36" name="Shape 34"/>
          <p:cNvSpPr/>
          <p:nvPr/>
        </p:nvSpPr>
        <p:spPr>
          <a:xfrm>
            <a:off x="4617720" y="658368"/>
            <a:ext cx="7315200" cy="5925312"/>
          </a:xfrm>
          <a:prstGeom prst="rect">
            <a:avLst/>
          </a:prstGeom>
          <a:solidFill>
            <a:srgbClr val="FFFFFF"/>
          </a:solidFill>
          <a:ln w="12700">
            <a:solidFill>
              <a:srgbClr val="A0BEC5"/>
            </a:solidFill>
            <a:prstDash val="solid"/>
          </a:ln>
          <a:effectLst>
            <a:outerShdw sx="100000" sy="100000" kx="0" ky="0" algn="bl" rotWithShape="0" blurRad="63500" dist="12700" dir="8100000">
              <a:srgbClr val="000000">
                <a:alpha val="9000"/>
              </a:srgbClr>
            </a:outerShdw>
          </a:effectLst>
        </p:spPr>
      </p:sp>
      <p:sp>
        <p:nvSpPr>
          <p:cNvPr id="37" name="Shape 35"/>
          <p:cNvSpPr/>
          <p:nvPr/>
        </p:nvSpPr>
        <p:spPr>
          <a:xfrm>
            <a:off x="4617720" y="658368"/>
            <a:ext cx="7315200" cy="310896"/>
          </a:xfrm>
          <a:prstGeom prst="rect">
            <a:avLst/>
          </a:prstGeom>
          <a:solidFill>
            <a:srgbClr val="005B6E"/>
          </a:solidFill>
          <a:ln w="12700">
            <a:solidFill>
              <a:srgbClr val="005B6E"/>
            </a:solidFill>
            <a:prstDash val="solid"/>
          </a:ln>
        </p:spPr>
      </p:sp>
      <p:sp>
        <p:nvSpPr>
          <p:cNvPr id="38" name="Text 36"/>
          <p:cNvSpPr/>
          <p:nvPr/>
        </p:nvSpPr>
        <p:spPr>
          <a:xfrm>
            <a:off x="4727448" y="658368"/>
            <a:ext cx="7178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② Architecture Diagram</a:t>
            </a:r>
            <a:endParaRPr lang="en-US" sz="1050" dirty="0"/>
          </a:p>
        </p:txBody>
      </p:sp>
      <p:sp>
        <p:nvSpPr>
          <p:cNvPr id="39" name="Shape 37"/>
          <p:cNvSpPr/>
          <p:nvPr/>
        </p:nvSpPr>
        <p:spPr>
          <a:xfrm>
            <a:off x="4754880" y="1426464"/>
            <a:ext cx="804672" cy="713232"/>
          </a:xfrm>
          <a:prstGeom prst="rect">
            <a:avLst/>
          </a:prstGeom>
          <a:solidFill>
            <a:srgbClr val="1C7C8C"/>
          </a:solidFill>
          <a:ln w="15240">
            <a:solidFill>
              <a:srgbClr val="005B6E"/>
            </a:solidFill>
            <a:prstDash val="solid"/>
          </a:ln>
        </p:spPr>
      </p:sp>
      <p:sp>
        <p:nvSpPr>
          <p:cNvPr id="40" name="Shape 38"/>
          <p:cNvSpPr/>
          <p:nvPr/>
        </p:nvSpPr>
        <p:spPr>
          <a:xfrm>
            <a:off x="4754880" y="1353312"/>
            <a:ext cx="804672" cy="164592"/>
          </a:xfrm>
          <a:prstGeom prst="ellipse">
            <a:avLst/>
          </a:prstGeom>
          <a:solidFill>
            <a:srgbClr val="2AA5BB"/>
          </a:solidFill>
          <a:ln w="15240">
            <a:solidFill>
              <a:srgbClr val="005B6E"/>
            </a:solidFill>
            <a:prstDash val="solid"/>
          </a:ln>
        </p:spPr>
      </p:sp>
      <p:sp>
        <p:nvSpPr>
          <p:cNvPr id="41" name="Shape 39"/>
          <p:cNvSpPr/>
          <p:nvPr/>
        </p:nvSpPr>
        <p:spPr>
          <a:xfrm>
            <a:off x="4754880" y="1975104"/>
            <a:ext cx="804672" cy="164592"/>
          </a:xfrm>
          <a:prstGeom prst="ellipse">
            <a:avLst/>
          </a:prstGeom>
          <a:solidFill>
            <a:srgbClr val="1C7C8C"/>
          </a:solidFill>
          <a:ln w="15240">
            <a:solidFill>
              <a:srgbClr val="005B6E"/>
            </a:solidFill>
            <a:prstDash val="solid"/>
          </a:ln>
        </p:spPr>
      </p:sp>
      <p:sp>
        <p:nvSpPr>
          <p:cNvPr id="42" name="Text 40"/>
          <p:cNvSpPr/>
          <p:nvPr/>
        </p:nvSpPr>
        <p:spPr>
          <a:xfrm>
            <a:off x="4754880" y="1444752"/>
            <a:ext cx="804672" cy="6400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SFTP</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Server</a:t>
            </a:r>
            <a:endParaRPr lang="en-US" sz="750" dirty="0"/>
          </a:p>
        </p:txBody>
      </p:sp>
      <p:sp>
        <p:nvSpPr>
          <p:cNvPr id="43" name="Text 41"/>
          <p:cNvSpPr/>
          <p:nvPr/>
        </p:nvSpPr>
        <p:spPr>
          <a:xfrm>
            <a:off x="5806440" y="1115568"/>
            <a:ext cx="658368" cy="530352"/>
          </a:xfrm>
          <a:prstGeom prst="rect">
            <a:avLst/>
          </a:prstGeom>
          <a:noFill/>
          <a:ln/>
        </p:spPr>
        <p:txBody>
          <a:bodyPr wrap="square" lIns="0" tIns="0" rIns="0" bIns="0" rtlCol="0" anchor="ctr"/>
          <a:lstStyle/>
          <a:p>
            <a:pPr algn="ctr" indent="0" marL="0">
              <a:buNone/>
            </a:pPr>
            <a:r>
              <a:rPr lang="en-US" sz="2500" dirty="0">
                <a:solidFill>
                  <a:srgbClr val="000000"/>
                </a:solidFill>
              </a:rPr>
              <a:t>👥</a:t>
            </a:r>
            <a:endParaRPr lang="en-US" sz="2500" dirty="0"/>
          </a:p>
        </p:txBody>
      </p:sp>
      <p:sp>
        <p:nvSpPr>
          <p:cNvPr id="44" name="Text 42"/>
          <p:cNvSpPr/>
          <p:nvPr/>
        </p:nvSpPr>
        <p:spPr>
          <a:xfrm>
            <a:off x="5715000" y="1645920"/>
            <a:ext cx="822960" cy="182880"/>
          </a:xfrm>
          <a:prstGeom prst="rect">
            <a:avLst/>
          </a:prstGeom>
          <a:noFill/>
          <a:ln/>
        </p:spPr>
        <p:txBody>
          <a:bodyPr wrap="square" lIns="0" tIns="0" rIns="0" bIns="0" rtlCol="0" anchor="ctr"/>
          <a:lstStyle/>
          <a:p>
            <a:pPr algn="ctr" indent="0" marL="0">
              <a:buNone/>
            </a:pPr>
            <a:r>
              <a:rPr lang="en-US" sz="800" dirty="0">
                <a:solidFill>
                  <a:srgbClr val="444444"/>
                </a:solidFill>
                <a:latin typeface="Calibri" pitchFamily="34" charset="0"/>
                <a:ea typeface="Calibri" pitchFamily="34" charset="-122"/>
                <a:cs typeface="Calibri" pitchFamily="34" charset="-120"/>
              </a:rPr>
              <a:t>Customer</a:t>
            </a:r>
            <a:endParaRPr lang="en-US" sz="800" dirty="0"/>
          </a:p>
        </p:txBody>
      </p:sp>
      <p:sp>
        <p:nvSpPr>
          <p:cNvPr id="45" name="Shape 43"/>
          <p:cNvSpPr/>
          <p:nvPr/>
        </p:nvSpPr>
        <p:spPr>
          <a:xfrm>
            <a:off x="6766560" y="1097280"/>
            <a:ext cx="2926080" cy="822960"/>
          </a:xfrm>
          <a:prstGeom prst="rect">
            <a:avLst/>
          </a:prstGeom>
          <a:solidFill>
            <a:srgbClr val="F4F9FB"/>
          </a:solidFill>
          <a:ln w="8890">
            <a:solidFill>
              <a:srgbClr val="A0BEC5"/>
            </a:solidFill>
            <a:prstDash val="solid"/>
          </a:ln>
        </p:spPr>
      </p:sp>
      <p:sp>
        <p:nvSpPr>
          <p:cNvPr id="46" name="Text 44"/>
          <p:cNvSpPr/>
          <p:nvPr/>
        </p:nvSpPr>
        <p:spPr>
          <a:xfrm>
            <a:off x="6876288" y="1097280"/>
            <a:ext cx="2798064" cy="822960"/>
          </a:xfrm>
          <a:prstGeom prst="rect">
            <a:avLst/>
          </a:prstGeom>
          <a:noFill/>
          <a:ln/>
        </p:spPr>
        <p:txBody>
          <a:bodyPr wrap="square" lIns="50800" tIns="50800" rIns="50800" bIns="50800" rtlCol="0" anchor="ctr"/>
          <a:lstStyle/>
          <a:p>
            <a:pPr indent="0" marL="0">
              <a:buNone/>
            </a:pPr>
            <a:r>
              <a:rPr lang="en-US" sz="850" b="1" dirty="0">
                <a:solidFill>
                  <a:srgbClr val="1F3864"/>
                </a:solidFill>
                <a:latin typeface="Calibri" pitchFamily="34" charset="0"/>
                <a:ea typeface="Calibri" pitchFamily="34" charset="-122"/>
                <a:cs typeface="Calibri" pitchFamily="34" charset="-120"/>
              </a:rPr>
              <a:t>TLS, MFA/SSO, IP Whitelisting
</a:t>
            </a:r>
            <a:endParaRPr lang="en-US" sz="850" dirty="0"/>
          </a:p>
          <a:p>
            <a:pPr indent="0" marL="0">
              <a:buNone/>
            </a:pPr>
            <a:r>
              <a:rPr lang="en-US" sz="750" dirty="0">
                <a:solidFill>
                  <a:srgbClr val="444444"/>
                </a:solidFill>
                <a:latin typeface="Calibri" pitchFamily="34" charset="0"/>
                <a:ea typeface="Calibri" pitchFamily="34" charset="-122"/>
                <a:cs typeface="Calibri" pitchFamily="34" charset="-120"/>
              </a:rPr>
              <a:t>Used for browser and REST APIs, including loader file uploads.</a:t>
            </a:r>
            <a:endParaRPr lang="en-US" sz="850" dirty="0"/>
          </a:p>
          <a:p>
            <a:pPr indent="0" marL="0">
              <a:buNone/>
            </a:pPr>
            <a:r>
              <a:rPr lang="en-US" sz="750" dirty="0">
                <a:solidFill>
                  <a:srgbClr val="444444"/>
                </a:solidFill>
                <a:latin typeface="Calibri" pitchFamily="34" charset="0"/>
                <a:ea typeface="Calibri" pitchFamily="34" charset="-122"/>
                <a:cs typeface="Calibri" pitchFamily="34" charset="-120"/>
              </a:rPr>
              <a:t>Optionally, the client may also download files via this method.</a:t>
            </a:r>
            <a:endParaRPr lang="en-US" sz="850" dirty="0"/>
          </a:p>
        </p:txBody>
      </p:sp>
      <p:sp>
        <p:nvSpPr>
          <p:cNvPr id="47" name="Shape 45"/>
          <p:cNvSpPr/>
          <p:nvPr/>
        </p:nvSpPr>
        <p:spPr>
          <a:xfrm>
            <a:off x="5559552" y="1865376"/>
            <a:ext cx="1005840" cy="685800"/>
          </a:xfrm>
          <a:prstGeom prst="line">
            <a:avLst/>
          </a:prstGeom>
          <a:noFill/>
          <a:ln w="17780">
            <a:solidFill>
              <a:srgbClr val="444444"/>
            </a:solidFill>
            <a:prstDash val="solid"/>
            <a:tailEnd type="arrow"/>
          </a:ln>
        </p:spPr>
      </p:sp>
      <p:sp>
        <p:nvSpPr>
          <p:cNvPr id="48" name="Shape 46"/>
          <p:cNvSpPr/>
          <p:nvPr/>
        </p:nvSpPr>
        <p:spPr>
          <a:xfrm>
            <a:off x="6172200" y="1847088"/>
            <a:ext cx="0" cy="896112"/>
          </a:xfrm>
          <a:prstGeom prst="line">
            <a:avLst/>
          </a:prstGeom>
          <a:noFill/>
          <a:ln w="17780">
            <a:solidFill>
              <a:srgbClr val="444444"/>
            </a:solidFill>
            <a:prstDash val="solid"/>
            <a:tailEnd type="arrow"/>
          </a:ln>
        </p:spPr>
      </p:sp>
      <p:sp>
        <p:nvSpPr>
          <p:cNvPr id="49" name="Shape 47"/>
          <p:cNvSpPr/>
          <p:nvPr/>
        </p:nvSpPr>
        <p:spPr>
          <a:xfrm>
            <a:off x="5303520" y="2505456"/>
            <a:ext cx="3657600" cy="1508760"/>
          </a:xfrm>
          <a:prstGeom prst="ellipse">
            <a:avLst/>
          </a:prstGeom>
          <a:solidFill>
            <a:srgbClr val="C8441A"/>
          </a:solidFill>
          <a:ln w="19050">
            <a:solidFill>
              <a:srgbClr val="A83510"/>
            </a:solidFill>
            <a:prstDash val="solid"/>
          </a:ln>
        </p:spPr>
      </p:sp>
      <p:sp>
        <p:nvSpPr>
          <p:cNvPr id="50" name="Shape 48"/>
          <p:cNvSpPr/>
          <p:nvPr/>
        </p:nvSpPr>
        <p:spPr>
          <a:xfrm>
            <a:off x="5760720" y="2340864"/>
            <a:ext cx="1097280" cy="658368"/>
          </a:xfrm>
          <a:prstGeom prst="ellipse">
            <a:avLst/>
          </a:prstGeom>
          <a:solidFill>
            <a:srgbClr val="CF4C20"/>
          </a:solidFill>
          <a:ln w="12700">
            <a:solidFill>
              <a:srgbClr val="A83510"/>
            </a:solidFill>
            <a:prstDash val="solid"/>
          </a:ln>
        </p:spPr>
      </p:sp>
      <p:sp>
        <p:nvSpPr>
          <p:cNvPr id="51" name="Shape 49"/>
          <p:cNvSpPr/>
          <p:nvPr/>
        </p:nvSpPr>
        <p:spPr>
          <a:xfrm>
            <a:off x="6583680" y="2212848"/>
            <a:ext cx="1280160" cy="713232"/>
          </a:xfrm>
          <a:prstGeom prst="ellipse">
            <a:avLst/>
          </a:prstGeom>
          <a:solidFill>
            <a:srgbClr val="CF4C20"/>
          </a:solidFill>
          <a:ln w="12700">
            <a:solidFill>
              <a:srgbClr val="A83510"/>
            </a:solidFill>
            <a:prstDash val="solid"/>
          </a:ln>
        </p:spPr>
      </p:sp>
      <p:sp>
        <p:nvSpPr>
          <p:cNvPr id="52" name="Shape 50"/>
          <p:cNvSpPr/>
          <p:nvPr/>
        </p:nvSpPr>
        <p:spPr>
          <a:xfrm>
            <a:off x="7589520" y="2359152"/>
            <a:ext cx="914400" cy="621792"/>
          </a:xfrm>
          <a:prstGeom prst="ellipse">
            <a:avLst/>
          </a:prstGeom>
          <a:solidFill>
            <a:srgbClr val="CF4C20"/>
          </a:solidFill>
          <a:ln w="12700">
            <a:solidFill>
              <a:srgbClr val="A83510"/>
            </a:solidFill>
            <a:prstDash val="solid"/>
          </a:ln>
        </p:spPr>
      </p:sp>
      <p:sp>
        <p:nvSpPr>
          <p:cNvPr id="53" name="Text 51"/>
          <p:cNvSpPr/>
          <p:nvPr/>
        </p:nvSpPr>
        <p:spPr>
          <a:xfrm>
            <a:off x="5303520" y="2505456"/>
            <a:ext cx="3657600" cy="1508760"/>
          </a:xfrm>
          <a:prstGeom prst="rect">
            <a:avLst/>
          </a:prstGeom>
          <a:noFill/>
          <a:ln/>
        </p:spPr>
        <p:txBody>
          <a:bodyPr wrap="square" lIns="0" tIns="0" rIns="0" bIns="0" rtlCol="0" anchor="ctr"/>
          <a:lstStyle/>
          <a:p>
            <a:pPr algn="ctr" indent="0" marL="0">
              <a:buNone/>
            </a:pPr>
            <a:r>
              <a:rPr lang="en-US" sz="1600" b="1" i="1" dirty="0">
                <a:solidFill>
                  <a:srgbClr val="FFFFFF"/>
                </a:solidFill>
                <a:latin typeface="Calibri" pitchFamily="34" charset="0"/>
                <a:ea typeface="Calibri" pitchFamily="34" charset="-122"/>
                <a:cs typeface="Calibri" pitchFamily="34" charset="-120"/>
              </a:rPr>
              <a:t>Internet</a:t>
            </a:r>
            <a:endParaRPr lang="en-US" sz="1600" dirty="0"/>
          </a:p>
        </p:txBody>
      </p:sp>
      <p:sp>
        <p:nvSpPr>
          <p:cNvPr id="54" name="Shape 52"/>
          <p:cNvSpPr/>
          <p:nvPr/>
        </p:nvSpPr>
        <p:spPr>
          <a:xfrm>
            <a:off x="9235440" y="2459736"/>
            <a:ext cx="2423160" cy="1261872"/>
          </a:xfrm>
          <a:prstGeom prst="rect">
            <a:avLst/>
          </a:prstGeom>
          <a:solidFill>
            <a:srgbClr val="F4F9FB"/>
          </a:solidFill>
          <a:ln w="8890">
            <a:solidFill>
              <a:srgbClr val="A0BEC5"/>
            </a:solidFill>
            <a:prstDash val="solid"/>
          </a:ln>
        </p:spPr>
      </p:sp>
      <p:sp>
        <p:nvSpPr>
          <p:cNvPr id="55" name="Text 53"/>
          <p:cNvSpPr/>
          <p:nvPr/>
        </p:nvSpPr>
        <p:spPr>
          <a:xfrm>
            <a:off x="9345168" y="2459736"/>
            <a:ext cx="2304288" cy="1261872"/>
          </a:xfrm>
          <a:prstGeom prst="rect">
            <a:avLst/>
          </a:prstGeom>
          <a:noFill/>
          <a:ln/>
        </p:spPr>
        <p:txBody>
          <a:bodyPr wrap="square" lIns="76200" tIns="76200" rIns="76200" bIns="7620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Security and Compliance
</a:t>
            </a:r>
            <a:endParaRPr lang="en-US" sz="900" dirty="0"/>
          </a:p>
          <a:p>
            <a:pPr indent="0" marL="0">
              <a:buNone/>
            </a:pPr>
            <a:r>
              <a:rPr lang="en-US" sz="800" b="1" dirty="0">
                <a:solidFill>
                  <a:srgbClr val="444444"/>
                </a:solidFill>
                <a:latin typeface="Calibri" pitchFamily="34" charset="0"/>
                <a:ea typeface="Calibri" pitchFamily="34" charset="-122"/>
                <a:cs typeface="Calibri" pitchFamily="34" charset="-120"/>
              </a:rPr>
              <a:t>Identity Boundary:  </a:t>
            </a:r>
            <a:pPr indent="0" marL="0">
              <a:buNone/>
            </a:pPr>
            <a:r>
              <a:rPr lang="en-US" sz="800" dirty="0">
                <a:solidFill>
                  <a:srgbClr val="444444"/>
                </a:solidFill>
                <a:latin typeface="Calibri" pitchFamily="34" charset="0"/>
                <a:ea typeface="Calibri" pitchFamily="34" charset="-122"/>
                <a:cs typeface="Calibri" pitchFamily="34" charset="-120"/>
              </a:rPr>
              <a:t>MFA or SAML SSO
</a:t>
            </a:r>
            <a:endParaRPr lang="en-US" sz="900" dirty="0"/>
          </a:p>
          <a:p>
            <a:pPr indent="0" marL="0">
              <a:buNone/>
            </a:pPr>
            <a:r>
              <a:rPr lang="en-US" sz="800" b="1" dirty="0">
                <a:solidFill>
                  <a:srgbClr val="444444"/>
                </a:solidFill>
                <a:latin typeface="Calibri" pitchFamily="34" charset="0"/>
                <a:ea typeface="Calibri" pitchFamily="34" charset="-122"/>
                <a:cs typeface="Calibri" pitchFamily="34" charset="-120"/>
              </a:rPr>
              <a:t>Network Boundary: </a:t>
            </a:r>
            <a:pPr indent="0" marL="0">
              <a:buNone/>
            </a:pPr>
            <a:r>
              <a:rPr lang="en-US" sz="800" dirty="0">
                <a:solidFill>
                  <a:srgbClr val="444444"/>
                </a:solidFill>
                <a:latin typeface="Calibri" pitchFamily="34" charset="0"/>
                <a:ea typeface="Calibri" pitchFamily="34" charset="-122"/>
                <a:cs typeface="Calibri" pitchFamily="34" charset="-120"/>
              </a:rPr>
              <a:t>Source NAT IP Whitelisting
</a:t>
            </a:r>
            <a:endParaRPr lang="en-US" sz="900" dirty="0"/>
          </a:p>
          <a:p>
            <a:pPr indent="0" marL="0">
              <a:buNone/>
            </a:pPr>
            <a:r>
              <a:rPr lang="en-US" sz="800" b="1" dirty="0">
                <a:solidFill>
                  <a:srgbClr val="444444"/>
                </a:solidFill>
                <a:latin typeface="Calibri" pitchFamily="34" charset="0"/>
                <a:ea typeface="Calibri" pitchFamily="34" charset="-122"/>
                <a:cs typeface="Calibri" pitchFamily="34" charset="-120"/>
              </a:rPr>
              <a:t>Encryption: </a:t>
            </a:r>
            <a:pPr indent="0" marL="0">
              <a:buNone/>
            </a:pPr>
            <a:r>
              <a:rPr lang="en-US" sz="800" dirty="0">
                <a:solidFill>
                  <a:srgbClr val="444444"/>
                </a:solidFill>
                <a:latin typeface="Calibri" pitchFamily="34" charset="0"/>
                <a:ea typeface="Calibri" pitchFamily="34" charset="-122"/>
                <a:cs typeface="Calibri" pitchFamily="34" charset="-120"/>
              </a:rPr>
              <a:t>TLS1.2 and TLS1.3 with PFS</a:t>
            </a:r>
            <a:endParaRPr lang="en-US" sz="900" dirty="0"/>
          </a:p>
        </p:txBody>
      </p:sp>
      <p:sp>
        <p:nvSpPr>
          <p:cNvPr id="56" name="Shape 54"/>
          <p:cNvSpPr/>
          <p:nvPr/>
        </p:nvSpPr>
        <p:spPr>
          <a:xfrm>
            <a:off x="7132320" y="4023360"/>
            <a:ext cx="0" cy="329184"/>
          </a:xfrm>
          <a:prstGeom prst="line">
            <a:avLst/>
          </a:prstGeom>
          <a:noFill/>
          <a:ln w="19050">
            <a:solidFill>
              <a:srgbClr val="444444"/>
            </a:solidFill>
            <a:prstDash val="solid"/>
            <a:tailEnd type="arrow"/>
          </a:ln>
        </p:spPr>
      </p:sp>
      <p:sp>
        <p:nvSpPr>
          <p:cNvPr id="57" name="Shape 55"/>
          <p:cNvSpPr/>
          <p:nvPr/>
        </p:nvSpPr>
        <p:spPr>
          <a:xfrm>
            <a:off x="6263640" y="4352544"/>
            <a:ext cx="1737360" cy="603504"/>
          </a:xfrm>
          <a:prstGeom prst="rect">
            <a:avLst/>
          </a:prstGeom>
          <a:solidFill>
            <a:srgbClr val="1A7A3C"/>
          </a:solidFill>
          <a:ln w="15240">
            <a:solidFill>
              <a:srgbClr val="145F2F"/>
            </a:solidFill>
            <a:prstDash val="solid"/>
          </a:ln>
        </p:spPr>
      </p:sp>
      <p:sp>
        <p:nvSpPr>
          <p:cNvPr id="58" name="Text 56"/>
          <p:cNvSpPr/>
          <p:nvPr/>
        </p:nvSpPr>
        <p:spPr>
          <a:xfrm>
            <a:off x="6263640" y="4352544"/>
            <a:ext cx="1737360" cy="60350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Cloudflare Edge WAF</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in blocking mode</a:t>
            </a:r>
            <a:endParaRPr lang="en-US" sz="800" dirty="0"/>
          </a:p>
        </p:txBody>
      </p:sp>
      <p:sp>
        <p:nvSpPr>
          <p:cNvPr id="59" name="Text 57"/>
          <p:cNvSpPr/>
          <p:nvPr/>
        </p:nvSpPr>
        <p:spPr>
          <a:xfrm>
            <a:off x="4754880" y="3968496"/>
            <a:ext cx="1417320" cy="1005840"/>
          </a:xfrm>
          <a:prstGeom prst="rect">
            <a:avLst/>
          </a:prstGeom>
          <a:noFill/>
          <a:ln/>
        </p:spPr>
        <p:txBody>
          <a:bodyPr wrap="square" lIns="0" tIns="0" rIns="0" bIns="0" rtlCol="0" anchor="t"/>
          <a:lstStyle/>
          <a:p>
            <a:pPr algn="l" indent="0" marL="0">
              <a:buNone/>
            </a:pPr>
            <a:r>
              <a:rPr lang="en-US" sz="750" i="1" dirty="0">
                <a:solidFill>
                  <a:srgbClr val="444444"/>
                </a:solidFill>
                <a:latin typeface="Calibri" pitchFamily="34" charset="0"/>
                <a:ea typeface="Calibri" pitchFamily="34" charset="-122"/>
                <a:cs typeface="Calibri" pitchFamily="34" charset="-120"/>
              </a:rPr>
              <a:t>SEI will push daily file</a:t>
            </a:r>
            <a:endParaRPr lang="en-US" sz="750" dirty="0"/>
          </a:p>
          <a:p>
            <a:pPr algn="l" indent="0" marL="0">
              <a:buNone/>
            </a:pPr>
            <a:r>
              <a:rPr lang="en-US" sz="750" i="1" dirty="0">
                <a:solidFill>
                  <a:srgbClr val="444444"/>
                </a:solidFill>
                <a:latin typeface="Calibri" pitchFamily="34" charset="0"/>
                <a:ea typeface="Calibri" pitchFamily="34" charset="-122"/>
                <a:cs typeface="Calibri" pitchFamily="34" charset="-120"/>
              </a:rPr>
              <a:t>extracts to the client</a:t>
            </a:r>
            <a:endParaRPr lang="en-US" sz="750" dirty="0"/>
          </a:p>
          <a:p>
            <a:pPr algn="l" indent="0" marL="0">
              <a:buNone/>
            </a:pPr>
            <a:r>
              <a:rPr lang="en-US" sz="750" i="1" dirty="0">
                <a:solidFill>
                  <a:srgbClr val="444444"/>
                </a:solidFill>
                <a:latin typeface="Calibri" pitchFamily="34" charset="0"/>
                <a:ea typeface="Calibri" pitchFamily="34" charset="-122"/>
                <a:cs typeface="Calibri" pitchFamily="34" charset="-120"/>
              </a:rPr>
              <a:t>site using SFTP as</a:t>
            </a:r>
            <a:endParaRPr lang="en-US" sz="750" dirty="0"/>
          </a:p>
          <a:p>
            <a:pPr algn="l" indent="0" marL="0">
              <a:buNone/>
            </a:pPr>
            <a:r>
              <a:rPr lang="en-US" sz="750" i="1" dirty="0">
                <a:solidFill>
                  <a:srgbClr val="444444"/>
                </a:solidFill>
                <a:latin typeface="Calibri" pitchFamily="34" charset="0"/>
                <a:ea typeface="Calibri" pitchFamily="34" charset="-122"/>
                <a:cs typeface="Calibri" pitchFamily="34" charset="-120"/>
              </a:rPr>
              <a:t>they are available</a:t>
            </a:r>
            <a:endParaRPr lang="en-US" sz="750" dirty="0"/>
          </a:p>
        </p:txBody>
      </p:sp>
      <p:sp>
        <p:nvSpPr>
          <p:cNvPr id="60" name="Shape 58"/>
          <p:cNvSpPr/>
          <p:nvPr/>
        </p:nvSpPr>
        <p:spPr>
          <a:xfrm>
            <a:off x="7132320" y="4956048"/>
            <a:ext cx="0" cy="320040"/>
          </a:xfrm>
          <a:prstGeom prst="line">
            <a:avLst/>
          </a:prstGeom>
          <a:noFill/>
          <a:ln w="19050">
            <a:solidFill>
              <a:srgbClr val="444444"/>
            </a:solidFill>
            <a:prstDash val="solid"/>
            <a:tailEnd type="arrow"/>
          </a:ln>
        </p:spPr>
      </p:sp>
      <p:sp>
        <p:nvSpPr>
          <p:cNvPr id="61" name="Shape 59"/>
          <p:cNvSpPr/>
          <p:nvPr/>
        </p:nvSpPr>
        <p:spPr>
          <a:xfrm>
            <a:off x="5943600" y="5276088"/>
            <a:ext cx="2377440" cy="960120"/>
          </a:xfrm>
          <a:prstGeom prst="ellipse">
            <a:avLst/>
          </a:prstGeom>
          <a:solidFill>
            <a:srgbClr val="1F4E79"/>
          </a:solidFill>
          <a:ln w="19050">
            <a:solidFill>
              <a:srgbClr val="163A5F"/>
            </a:solidFill>
            <a:prstDash val="solid"/>
          </a:ln>
        </p:spPr>
      </p:sp>
      <p:sp>
        <p:nvSpPr>
          <p:cNvPr id="62" name="Text 60"/>
          <p:cNvSpPr/>
          <p:nvPr/>
        </p:nvSpPr>
        <p:spPr>
          <a:xfrm>
            <a:off x="5943600" y="5276088"/>
            <a:ext cx="2377440" cy="9601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SWP on the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SEI  OCI</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Landing Zone</a:t>
            </a:r>
            <a:endParaRPr lang="en-US" sz="900" dirty="0"/>
          </a:p>
        </p:txBody>
      </p:sp>
      <p:sp>
        <p:nvSpPr>
          <p:cNvPr id="63" name="Text 61"/>
          <p:cNvSpPr/>
          <p:nvPr/>
        </p:nvSpPr>
        <p:spPr>
          <a:xfrm>
            <a:off x="6126480" y="6272784"/>
            <a:ext cx="2011680" cy="201168"/>
          </a:xfrm>
          <a:prstGeom prst="rect">
            <a:avLst/>
          </a:prstGeom>
          <a:noFill/>
          <a:ln/>
        </p:spPr>
        <p:txBody>
          <a:bodyPr wrap="square" lIns="0" tIns="0" rIns="0" bIns="0" rtlCol="0" anchor="ctr"/>
          <a:lstStyle/>
          <a:p>
            <a:pPr algn="ctr" indent="0" marL="0">
              <a:buNone/>
            </a:pPr>
            <a:r>
              <a:rPr lang="en-US" sz="800" dirty="0">
                <a:solidFill>
                  <a:srgbClr val="444444"/>
                </a:solidFill>
                <a:latin typeface="Calibri" pitchFamily="34" charset="0"/>
                <a:ea typeface="Calibri" pitchFamily="34" charset="-122"/>
                <a:cs typeface="Calibri" pitchFamily="34" charset="-120"/>
              </a:rPr>
              <a:t>OCI Ashburn</a:t>
            </a:r>
            <a:endParaRPr lang="en-US" sz="800" dirty="0"/>
          </a:p>
        </p:txBody>
      </p:sp>
      <p:sp>
        <p:nvSpPr>
          <p:cNvPr id="64" name="Shape 62"/>
          <p:cNvSpPr/>
          <p:nvPr/>
        </p:nvSpPr>
        <p:spPr>
          <a:xfrm>
            <a:off x="8321040" y="5779008"/>
            <a:ext cx="2331720" cy="0"/>
          </a:xfrm>
          <a:prstGeom prst="line">
            <a:avLst/>
          </a:prstGeom>
          <a:noFill/>
          <a:ln w="25400">
            <a:solidFill>
              <a:srgbClr val="444444"/>
            </a:solidFill>
            <a:prstDash val="solid"/>
          </a:ln>
        </p:spPr>
      </p:sp>
      <p:sp>
        <p:nvSpPr>
          <p:cNvPr id="65" name="Text 63"/>
          <p:cNvSpPr/>
          <p:nvPr/>
        </p:nvSpPr>
        <p:spPr>
          <a:xfrm>
            <a:off x="8412480" y="5504688"/>
            <a:ext cx="2103120" cy="384048"/>
          </a:xfrm>
          <a:prstGeom prst="rect">
            <a:avLst/>
          </a:prstGeom>
          <a:noFill/>
          <a:ln/>
        </p:spPr>
        <p:txBody>
          <a:bodyPr wrap="square" lIns="0" tIns="0" rIns="0" bIns="0" rtlCol="0" anchor="ctr"/>
          <a:lstStyle/>
          <a:p>
            <a:pPr algn="ctr" indent="0" marL="0">
              <a:buNone/>
            </a:pPr>
            <a:r>
              <a:rPr lang="en-US" sz="800" dirty="0">
                <a:solidFill>
                  <a:srgbClr val="444444"/>
                </a:solidFill>
                <a:latin typeface="Calibri" pitchFamily="34" charset="0"/>
                <a:ea typeface="Calibri" pitchFamily="34" charset="-122"/>
                <a:cs typeface="Calibri" pitchFamily="34" charset="-120"/>
              </a:rPr>
              <a:t>IPSec for Hybrid</a:t>
            </a:r>
            <a:endParaRPr lang="en-US" sz="800" dirty="0"/>
          </a:p>
          <a:p>
            <a:pPr algn="ctr" indent="0" marL="0">
              <a:buNone/>
            </a:pPr>
            <a:r>
              <a:rPr lang="en-US" sz="800" dirty="0">
                <a:solidFill>
                  <a:srgbClr val="444444"/>
                </a:solidFill>
                <a:latin typeface="Calibri" pitchFamily="34" charset="0"/>
                <a:ea typeface="Calibri" pitchFamily="34" charset="-122"/>
                <a:cs typeface="Calibri" pitchFamily="34" charset="-120"/>
              </a:rPr>
              <a:t>Connectivity</a:t>
            </a:r>
            <a:endParaRPr lang="en-US" sz="800" dirty="0"/>
          </a:p>
        </p:txBody>
      </p:sp>
      <p:sp>
        <p:nvSpPr>
          <p:cNvPr id="66" name="Text 64"/>
          <p:cNvSpPr/>
          <p:nvPr/>
        </p:nvSpPr>
        <p:spPr>
          <a:xfrm>
            <a:off x="10378440" y="5202936"/>
            <a:ext cx="1280160" cy="1005840"/>
          </a:xfrm>
          <a:prstGeom prst="rect">
            <a:avLst/>
          </a:prstGeom>
          <a:noFill/>
          <a:ln/>
        </p:spPr>
        <p:txBody>
          <a:bodyPr wrap="square" lIns="0" tIns="0" rIns="0" bIns="0" rtlCol="0" anchor="ctr"/>
          <a:lstStyle/>
          <a:p>
            <a:pPr algn="ctr" indent="0" marL="0">
              <a:buNone/>
            </a:pPr>
            <a:r>
              <a:rPr lang="en-US" sz="4400" dirty="0">
                <a:solidFill>
                  <a:srgbClr val="000000"/>
                </a:solidFill>
              </a:rPr>
              <a:t>🏠</a:t>
            </a:r>
            <a:endParaRPr lang="en-US" sz="4400" dirty="0"/>
          </a:p>
        </p:txBody>
      </p:sp>
      <p:sp>
        <p:nvSpPr>
          <p:cNvPr id="67" name="Text 65"/>
          <p:cNvSpPr/>
          <p:nvPr/>
        </p:nvSpPr>
        <p:spPr>
          <a:xfrm>
            <a:off x="10104120" y="6254496"/>
            <a:ext cx="1645920" cy="201168"/>
          </a:xfrm>
          <a:prstGeom prst="rect">
            <a:avLst/>
          </a:prstGeom>
          <a:noFill/>
          <a:ln/>
        </p:spPr>
        <p:txBody>
          <a:bodyPr wrap="square" lIns="0" tIns="0" rIns="0" bIns="0" rtlCol="0" anchor="ctr"/>
          <a:lstStyle/>
          <a:p>
            <a:pPr algn="ctr" indent="0" marL="0">
              <a:buNone/>
            </a:pPr>
            <a:r>
              <a:rPr lang="en-US" sz="750" dirty="0">
                <a:solidFill>
                  <a:srgbClr val="444444"/>
                </a:solidFill>
                <a:latin typeface="Calibri" pitchFamily="34" charset="0"/>
                <a:ea typeface="Calibri" pitchFamily="34" charset="-122"/>
                <a:cs typeface="Calibri" pitchFamily="34" charset="-120"/>
              </a:rPr>
              <a:t>SEI On-Premises Oaks</a:t>
            </a:r>
            <a:endParaRPr lang="en-US" sz="750" dirty="0"/>
          </a:p>
        </p:txBody>
      </p:sp>
      <p:sp>
        <p:nvSpPr>
          <p:cNvPr id="68" name="Shape 66"/>
          <p:cNvSpPr/>
          <p:nvPr/>
        </p:nvSpPr>
        <p:spPr>
          <a:xfrm>
            <a:off x="0" y="6656832"/>
            <a:ext cx="12161520" cy="201168"/>
          </a:xfrm>
          <a:prstGeom prst="rect">
            <a:avLst/>
          </a:prstGeom>
          <a:solidFill>
            <a:srgbClr val="005B6E"/>
          </a:solidFill>
          <a:ln w="12700">
            <a:solidFill>
              <a:srgbClr val="005B6E"/>
            </a:solidFill>
            <a:prstDash val="solid"/>
          </a:ln>
        </p:spPr>
      </p:sp>
      <p:sp>
        <p:nvSpPr>
          <p:cNvPr id="69" name="Text 67"/>
          <p:cNvSpPr/>
          <p:nvPr/>
        </p:nvSpPr>
        <p:spPr>
          <a:xfrm>
            <a:off x="320040" y="6656832"/>
            <a:ext cx="10515600" cy="201168"/>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©2026 Brown Brothers Harriman &amp; Co. Confidential &amp; Proprietary. Not to be reproduced without the explicit consent of BBH &amp; Co.</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2026-05-02T23:58:53Z</dcterms:created>
  <dcterms:modified xsi:type="dcterms:W3CDTF">2026-05-02T23:58:53Z</dcterms:modified>
</cp:coreProperties>
</file>