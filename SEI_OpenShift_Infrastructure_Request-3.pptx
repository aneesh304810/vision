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658368"/>
            <a:ext cx="12051792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7315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INFRASTRUCTURE REQUEST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0" y="7315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SWP Migration  ·  Airflow 3.1.7 + dbt 1.7.5  ·  March 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786384"/>
            <a:ext cx="11777472" cy="621792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" y="786384"/>
            <a:ext cx="111556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" y="786384"/>
            <a:ext cx="1115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08176" y="786384"/>
            <a:ext cx="10460736" cy="62179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OpenShift compute, storage and networking to host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3.1.7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1.7.5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SEI SWP migration data pipeline platform — high availability across </a:t>
            </a:r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UAT, QA and Dev.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" y="1481328"/>
            <a:ext cx="1177747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" y="1481328"/>
            <a:ext cx="54864" cy="237744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1481328"/>
            <a:ext cx="1164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1168" y="1755648"/>
            <a:ext cx="2871216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01168" y="1755648"/>
            <a:ext cx="2871216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181051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Firm-Critical Migration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9184" y="2066544"/>
            <a:ext cx="2633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 is migrating from FIS/Advent Advantage to SEI SWP — a programme impacting ~1,000 downstream consumer systems that depend on daily position, NAV and securities data.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145536" y="1755648"/>
            <a:ext cx="2871216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45536" y="1755648"/>
            <a:ext cx="2871216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181051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OpenShift-Native Workload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73552" y="2066544"/>
            <a:ext cx="2633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Airflow orchestration and dbt transformation jobs run inside OpenShift. There is no external compute. The cluster is the platform.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089904" y="1755648"/>
            <a:ext cx="2871216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1755648"/>
            <a:ext cx="2871216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181051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Batch SLA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17920" y="2066544"/>
            <a:ext cx="2633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Overnight pipelines must complete within 15 minutes. Worker pod auto-scaling ensures this SLA is met even as data volumes and pipeline complexity grow.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034272" y="1755648"/>
            <a:ext cx="2871216" cy="1115568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034272" y="1755648"/>
            <a:ext cx="2871216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62288" y="1810512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Required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162288" y="2066544"/>
            <a:ext cx="2633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runs redundant pods for the Webserver and Scheduler. If any single pod fails, pipelines continue without interruption and no data delivery is missed.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1168" y="2944368"/>
            <a:ext cx="1177747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1168" y="2944368"/>
            <a:ext cx="54864" cy="237744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2944368"/>
            <a:ext cx="1164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SPECIFIED POD REQUIREMENTS  (as provided by SEI)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01168" y="3182112"/>
            <a:ext cx="11777472" cy="256032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6032" y="3182112"/>
            <a:ext cx="2322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633472" y="31821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82896" y="318211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004304" y="3182112"/>
            <a:ext cx="2066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9125712" y="3182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0661904" y="318211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01168" y="3438144"/>
            <a:ext cx="11777472" cy="228600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4381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Pods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651760" y="3438144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pods  (HA pair)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01184" y="343814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022592" y="343814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144000" y="3438144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0680192" y="343814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UI &amp; API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01168" y="3675888"/>
            <a:ext cx="11777472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36758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Pods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651760" y="3675888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– 9 pods (KEDA)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01184" y="367588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– 5 pods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7022592" y="3675888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2 pods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144000" y="3675888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2 pods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0680192" y="36758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dbt + pipeline tasks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01168" y="3913632"/>
            <a:ext cx="11777472" cy="228600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3913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Pod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651760" y="3913632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901184" y="391363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7022592" y="3913632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9144000" y="3913632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pod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0680192" y="391363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metadata store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201168" y="4151376"/>
            <a:ext cx="11777472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41513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vCPU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2651760" y="4151376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 vCPU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901184" y="415137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vCPU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022592" y="4151376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vCPU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9144000" y="4151376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vCPU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10680192" y="415137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01168" y="4151376"/>
            <a:ext cx="54864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01168" y="4389120"/>
            <a:ext cx="11777472" cy="228600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" y="4389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RAM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2651760" y="4389120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 GB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4901184" y="4389120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 GB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022592" y="4389120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GB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9144000" y="4389120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GB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10680192" y="43891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01168" y="4389120"/>
            <a:ext cx="54864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01168" y="4626864"/>
            <a:ext cx="11777472" cy="228600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74320" y="46268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2651760" y="4626864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 TB → 4.5 TB Y2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4901184" y="462686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 GB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7022592" y="4626864"/>
            <a:ext cx="2029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GB</a:t>
            </a:r>
            <a:endParaRPr lang="en-US" sz="850" dirty="0"/>
          </a:p>
        </p:txBody>
      </p:sp>
      <p:sp>
        <p:nvSpPr>
          <p:cNvPr id="84" name="Text 82"/>
          <p:cNvSpPr/>
          <p:nvPr/>
        </p:nvSpPr>
        <p:spPr>
          <a:xfrm>
            <a:off x="9144000" y="4626864"/>
            <a:ext cx="1444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GB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10680192" y="46268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201168" y="4626864"/>
            <a:ext cx="54864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01168" y="4992624"/>
            <a:ext cx="1177747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01168" y="4992624"/>
            <a:ext cx="54864" cy="237744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92608" y="4992624"/>
            <a:ext cx="11649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PRODUCTION CPU FIGURE IS CALCULATED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74320" y="5285232"/>
            <a:ext cx="3828288" cy="1234440"/>
          </a:xfrm>
          <a:prstGeom prst="rect">
            <a:avLst/>
          </a:prstGeom>
          <a:solidFill>
            <a:srgbClr val="E6FAF8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274320" y="5285232"/>
            <a:ext cx="382828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274320" y="5358384"/>
            <a:ext cx="160788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4000" dirty="0"/>
          </a:p>
        </p:txBody>
      </p:sp>
      <p:sp>
        <p:nvSpPr>
          <p:cNvPr id="93" name="Text 91"/>
          <p:cNvSpPr/>
          <p:nvPr/>
        </p:nvSpPr>
        <p:spPr>
          <a:xfrm>
            <a:off x="1882201" y="5413248"/>
            <a:ext cx="995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1882201" y="5687568"/>
            <a:ext cx="21438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Pod Requests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365760" y="6053328"/>
            <a:ext cx="3645408" cy="18288"/>
          </a:xfrm>
          <a:prstGeom prst="rect">
            <a:avLst/>
          </a:prstGeom>
          <a:solidFill>
            <a:srgbClr val="99F6E4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84048" y="6071616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Worker Pods  ×9  =  36 vCPU  ◀</a:t>
            </a:r>
            <a:endParaRPr lang="en-US" sz="750" dirty="0"/>
          </a:p>
        </p:txBody>
      </p:sp>
      <p:sp>
        <p:nvSpPr>
          <p:cNvPr id="97" name="Text 95"/>
          <p:cNvSpPr/>
          <p:nvPr/>
        </p:nvSpPr>
        <p:spPr>
          <a:xfrm>
            <a:off x="384048" y="6206947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 + DAG  =   8 vCPU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384048" y="6342278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Webserver + Trig =   3 vCPU</a:t>
            </a:r>
            <a:endParaRPr lang="en-US" sz="750" dirty="0"/>
          </a:p>
        </p:txBody>
      </p:sp>
      <p:sp>
        <p:nvSpPr>
          <p:cNvPr id="99" name="Text 97"/>
          <p:cNvSpPr/>
          <p:nvPr/>
        </p:nvSpPr>
        <p:spPr>
          <a:xfrm>
            <a:off x="384048" y="6477610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PostgreSQL+Redis =   5 vCPU</a:t>
            </a:r>
            <a:endParaRPr lang="en-US" sz="750" dirty="0"/>
          </a:p>
        </p:txBody>
      </p:sp>
      <p:sp>
        <p:nvSpPr>
          <p:cNvPr id="100" name="Text 98"/>
          <p:cNvSpPr/>
          <p:nvPr/>
        </p:nvSpPr>
        <p:spPr>
          <a:xfrm>
            <a:off x="4011168" y="5655564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01" name="Shape 99"/>
          <p:cNvSpPr/>
          <p:nvPr/>
        </p:nvSpPr>
        <p:spPr>
          <a:xfrm>
            <a:off x="4175760" y="5285232"/>
            <a:ext cx="3828288" cy="1234440"/>
          </a:xfrm>
          <a:prstGeom prst="rect">
            <a:avLst/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02" name="Shape 100"/>
          <p:cNvSpPr/>
          <p:nvPr/>
        </p:nvSpPr>
        <p:spPr>
          <a:xfrm>
            <a:off x="4175760" y="5285232"/>
            <a:ext cx="382828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175760" y="5358384"/>
            <a:ext cx="160788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4000" dirty="0"/>
          </a:p>
        </p:txBody>
      </p:sp>
      <p:sp>
        <p:nvSpPr>
          <p:cNvPr id="104" name="Text 102"/>
          <p:cNvSpPr/>
          <p:nvPr/>
        </p:nvSpPr>
        <p:spPr>
          <a:xfrm>
            <a:off x="5783641" y="5413248"/>
            <a:ext cx="995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5783641" y="5687568"/>
            <a:ext cx="21438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OS + System Overhead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267200" y="6053328"/>
            <a:ext cx="3645408" cy="1828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285488" y="6071616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nodes × ~4 vCPU each</a:t>
            </a:r>
            <a:endParaRPr lang="en-US" sz="750" dirty="0"/>
          </a:p>
        </p:txBody>
      </p:sp>
      <p:sp>
        <p:nvSpPr>
          <p:cNvPr id="108" name="Text 106"/>
          <p:cNvSpPr/>
          <p:nvPr/>
        </p:nvSpPr>
        <p:spPr>
          <a:xfrm>
            <a:off x="4285488" y="6206947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kernel + kube-system agents</a:t>
            </a:r>
            <a:endParaRPr lang="en-US" sz="750" dirty="0"/>
          </a:p>
        </p:txBody>
      </p:sp>
      <p:sp>
        <p:nvSpPr>
          <p:cNvPr id="109" name="Text 107"/>
          <p:cNvSpPr/>
          <p:nvPr/>
        </p:nvSpPr>
        <p:spPr>
          <a:xfrm>
            <a:off x="4285488" y="6342278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 + monitoring pods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4285488" y="6477610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Burst headroom (pods hit limits)</a:t>
            </a:r>
            <a:endParaRPr lang="en-US" sz="750" dirty="0"/>
          </a:p>
        </p:txBody>
      </p:sp>
      <p:sp>
        <p:nvSpPr>
          <p:cNvPr id="111" name="Text 109"/>
          <p:cNvSpPr/>
          <p:nvPr/>
        </p:nvSpPr>
        <p:spPr>
          <a:xfrm>
            <a:off x="7912608" y="5655564"/>
            <a:ext cx="146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000" dirty="0"/>
          </a:p>
        </p:txBody>
      </p:sp>
      <p:sp>
        <p:nvSpPr>
          <p:cNvPr id="112" name="Shape 110"/>
          <p:cNvSpPr/>
          <p:nvPr/>
        </p:nvSpPr>
        <p:spPr>
          <a:xfrm>
            <a:off x="8077200" y="5285232"/>
            <a:ext cx="3828288" cy="1234440"/>
          </a:xfrm>
          <a:prstGeom prst="rect">
            <a:avLst/>
          </a:prstGeom>
          <a:solidFill>
            <a:srgbClr val="E6FAF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13" name="Shape 111"/>
          <p:cNvSpPr/>
          <p:nvPr/>
        </p:nvSpPr>
        <p:spPr>
          <a:xfrm>
            <a:off x="8077200" y="5285232"/>
            <a:ext cx="3828288" cy="54864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077200" y="5358384"/>
            <a:ext cx="160788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</a:t>
            </a:r>
            <a:endParaRPr lang="en-US" sz="4000" dirty="0"/>
          </a:p>
        </p:txBody>
      </p:sp>
      <p:sp>
        <p:nvSpPr>
          <p:cNvPr id="115" name="Text 113"/>
          <p:cNvSpPr/>
          <p:nvPr/>
        </p:nvSpPr>
        <p:spPr>
          <a:xfrm>
            <a:off x="9685081" y="5413248"/>
            <a:ext cx="995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vCPU</a:t>
            </a:r>
            <a:endParaRPr lang="en-US" sz="1200" dirty="0"/>
          </a:p>
        </p:txBody>
      </p:sp>
      <p:sp>
        <p:nvSpPr>
          <p:cNvPr id="116" name="Text 114"/>
          <p:cNvSpPr/>
          <p:nvPr/>
        </p:nvSpPr>
        <p:spPr>
          <a:xfrm>
            <a:off x="9685081" y="5687568"/>
            <a:ext cx="214384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Node Capacity Required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8168640" y="6053328"/>
            <a:ext cx="3645408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186928" y="6071616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 vCPU (pods)</a:t>
            </a:r>
            <a:endParaRPr lang="en-US" sz="750" dirty="0"/>
          </a:p>
        </p:txBody>
      </p:sp>
      <p:sp>
        <p:nvSpPr>
          <p:cNvPr id="119" name="Text 117"/>
          <p:cNvSpPr/>
          <p:nvPr/>
        </p:nvSpPr>
        <p:spPr>
          <a:xfrm>
            <a:off x="8186928" y="6206947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+ 44 vCPU (overhead)</a:t>
            </a:r>
            <a:endParaRPr lang="en-US" sz="750" dirty="0"/>
          </a:p>
        </p:txBody>
      </p:sp>
      <p:sp>
        <p:nvSpPr>
          <p:cNvPr id="120" name="Text 118"/>
          <p:cNvSpPr/>
          <p:nvPr/>
        </p:nvSpPr>
        <p:spPr>
          <a:xfrm>
            <a:off x="8186928" y="6342278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96 vCPU total cluster capacity</a:t>
            </a:r>
            <a:endParaRPr lang="en-US" sz="750" dirty="0"/>
          </a:p>
        </p:txBody>
      </p:sp>
      <p:sp>
        <p:nvSpPr>
          <p:cNvPr id="121" name="Text 119"/>
          <p:cNvSpPr/>
          <p:nvPr/>
        </p:nvSpPr>
        <p:spPr>
          <a:xfrm>
            <a:off x="8186928" y="6477610"/>
            <a:ext cx="3627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Provision at this level for safe ops</a:t>
            </a:r>
            <a:endParaRPr lang="en-US" sz="750" dirty="0"/>
          </a:p>
        </p:txBody>
      </p:sp>
      <p:sp>
        <p:nvSpPr>
          <p:cNvPr id="122" name="Shape 120"/>
          <p:cNvSpPr/>
          <p:nvPr/>
        </p:nvSpPr>
        <p:spPr>
          <a:xfrm>
            <a:off x="109728" y="6583680"/>
            <a:ext cx="1205179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274320" y="65928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~1,000  </a:t>
            </a:r>
            <a:endParaRPr lang="en-US" sz="950" dirty="0"/>
          </a:p>
        </p:txBody>
      </p:sp>
      <p:sp>
        <p:nvSpPr>
          <p:cNvPr id="124" name="Text 122"/>
          <p:cNvSpPr/>
          <p:nvPr/>
        </p:nvSpPr>
        <p:spPr>
          <a:xfrm>
            <a:off x="1298448" y="659282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Consumers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3108960" y="65928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 min  </a:t>
            </a:r>
            <a:endParaRPr lang="en-US" sz="950" dirty="0"/>
          </a:p>
        </p:txBody>
      </p:sp>
      <p:sp>
        <p:nvSpPr>
          <p:cNvPr id="126" name="Text 124"/>
          <p:cNvSpPr/>
          <p:nvPr/>
        </p:nvSpPr>
        <p:spPr>
          <a:xfrm>
            <a:off x="4133088" y="659282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SLA Target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5943600" y="65928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 vCPU  </a:t>
            </a:r>
            <a:endParaRPr lang="en-US" sz="950" dirty="0"/>
          </a:p>
        </p:txBody>
      </p:sp>
      <p:sp>
        <p:nvSpPr>
          <p:cNvPr id="128" name="Text 126"/>
          <p:cNvSpPr/>
          <p:nvPr/>
        </p:nvSpPr>
        <p:spPr>
          <a:xfrm>
            <a:off x="6967728" y="659282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Across All Envs</a:t>
            </a:r>
            <a:endParaRPr lang="en-US" sz="800" dirty="0"/>
          </a:p>
        </p:txBody>
      </p:sp>
      <p:sp>
        <p:nvSpPr>
          <p:cNvPr id="129" name="Text 127"/>
          <p:cNvSpPr/>
          <p:nvPr/>
        </p:nvSpPr>
        <p:spPr>
          <a:xfrm>
            <a:off x="8778240" y="65928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~2.2 TB  </a:t>
            </a:r>
            <a:endParaRPr lang="en-US" sz="950" dirty="0"/>
          </a:p>
        </p:txBody>
      </p:sp>
      <p:sp>
        <p:nvSpPr>
          <p:cNvPr id="130" name="Text 128"/>
          <p:cNvSpPr/>
          <p:nvPr/>
        </p:nvSpPr>
        <p:spPr>
          <a:xfrm>
            <a:off x="9802368" y="659282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Now  →  ~7 TB Y2</a:t>
            </a:r>
            <a:endParaRPr lang="en-US" sz="800" dirty="0"/>
          </a:p>
        </p:txBody>
      </p:sp>
      <p:sp>
        <p:nvSpPr>
          <p:cNvPr id="131" name="Text 129"/>
          <p:cNvSpPr/>
          <p:nvPr/>
        </p:nvSpPr>
        <p:spPr>
          <a:xfrm>
            <a:off x="9235440" y="659282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BBH Technology  |  SEI SWP Migration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F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658368"/>
            <a:ext cx="12051792" cy="3657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28016"/>
            <a:ext cx="694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87552" y="73152"/>
            <a:ext cx="7680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INFRASTRUCTURE — COMPONENT DETAIL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778240" y="7315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 SWP Migration  ·  Airflow 3.1.7 + dbt 1.7.5  ·  March 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1168" y="768096"/>
            <a:ext cx="54864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768096"/>
            <a:ext cx="54864" cy="27432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768096"/>
            <a:ext cx="5358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OVERVIEW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01168" y="1078992"/>
            <a:ext cx="5486400" cy="1316736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" y="1078992"/>
            <a:ext cx="64008" cy="13167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1338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 Pods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44368" y="1143000"/>
            <a:ext cx="2633472" cy="219456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4368" y="1143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API Server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7472" y="1408176"/>
            <a:ext cx="5266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Airflow UI and REST API. Operators monitor pipeline runs, trigger DAGs and check task status. Production runs 2 pods so that if one restarts during deployment or failure, the second continues serving without interruption.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1168" y="2505456"/>
            <a:ext cx="5486400" cy="1883664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505456"/>
            <a:ext cx="64008" cy="1883664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25603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Pods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944368" y="2569464"/>
            <a:ext cx="2633472" cy="219456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44368" y="256946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 1.7.5 + Python 3.10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2834640"/>
            <a:ext cx="526694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engine — each pod runs Airflow tasks that fire dbt SQL transformations against Oracle. Scaling works in two modes: parallel execution dispatches independent tasks (e.g. securities staging, position staging, NAV staging) simultaneously across multiple pods; sequential execution chains dependent tasks in order (staging → canonical → mart) across the same or different pods as each step completes. KEDA auto-scales the pod count based on Celery queue depth.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01168" y="4498848"/>
            <a:ext cx="5486400" cy="1316736"/>
          </a:xfrm>
          <a:prstGeom prst="rect">
            <a:avLst/>
          </a:prstGeom>
          <a:solidFill>
            <a:srgbClr val="FFFFFF"/>
          </a:solidFill>
          <a:ln w="1905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01168" y="4498848"/>
            <a:ext cx="64008" cy="131673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45537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Pod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44368" y="4562856"/>
            <a:ext cx="2633472" cy="219456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4562856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Store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47472" y="4828032"/>
            <a:ext cx="52669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Airflow scheduling state, DAG run history, task logs and audit trail. Every other pod reads and writes to this database. Single pod per environment as per SEI spec — the infrastructure team should confirm backup frequency and recovery approach for Production given this is a potential single point of failure.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1168" y="5925312"/>
            <a:ext cx="5486400" cy="640080"/>
          </a:xfrm>
          <a:prstGeom prst="rect">
            <a:avLst/>
          </a:prstGeom>
          <a:solidFill>
            <a:srgbClr val="E6FAF8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25400" dir="8100000">
              <a:srgbClr val="0D9488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5925312"/>
            <a:ext cx="5486400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5925312"/>
            <a:ext cx="5358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POD SCALING  (KEDA + Celery queue depth)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9184" y="6181344"/>
            <a:ext cx="5266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Scale-out: Queue depth &gt; 5 tasks per worker → OpenShift adds pods up to environment maximum</a:t>
            </a:r>
            <a:endParaRPr lang="en-US" sz="8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Scale-in: Queue empty for 10 minutes → pods release back to minimum, freeing cluster resources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888736" y="768096"/>
            <a:ext cx="6089904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88736" y="768096"/>
            <a:ext cx="54864" cy="27432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0176" y="768096"/>
            <a:ext cx="5961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SIZING BY ENVIRONMENT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88736" y="1078992"/>
            <a:ext cx="6089904" cy="274320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25312" y="107899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845552" y="107899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Req/Lim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833104" y="1078992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Req/Lim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9838944" y="1078992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405872" y="10789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0917936" y="10789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430000" y="1078992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888736" y="1353312"/>
            <a:ext cx="6089904" cy="26517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135331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Webserver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863840" y="135331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851392" y="1353312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 GB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857232" y="1353312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0424160" y="135331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0936224" y="135331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1448288" y="135331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888736" y="1627632"/>
            <a:ext cx="6089904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0" y="162763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863840" y="162763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4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851392" y="1627632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 GB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9857232" y="1627632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0424160" y="162763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0936224" y="162763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1448288" y="162763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888736" y="1901952"/>
            <a:ext cx="6089904" cy="26517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0" y="190195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Processor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863840" y="190195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4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851392" y="1901952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 GB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857232" y="1901952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0424160" y="190195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0936224" y="190195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1448288" y="190195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5888736" y="2176272"/>
            <a:ext cx="6089904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43600" y="217627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Triggerer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863840" y="217627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0.5/1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8851392" y="2176272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 GB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857232" y="2176272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10424160" y="217627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0936224" y="217627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11448288" y="217627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5888736" y="2450592"/>
            <a:ext cx="6089904" cy="26517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888736" y="2450592"/>
            <a:ext cx="54864" cy="2651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943600" y="245059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Pods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863840" y="245059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8851392" y="2450592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16 GB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9857232" y="2450592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3–9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10424160" y="245059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2–5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10936224" y="245059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1–2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1448288" y="245059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1–2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888736" y="2724912"/>
            <a:ext cx="6089904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943600" y="272491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7863840" y="272491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8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8851392" y="2724912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16/ 32 GB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9857232" y="2724912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10424160" y="272491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10936224" y="272491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11448288" y="272491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5888736" y="2999232"/>
            <a:ext cx="6089904" cy="26517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943600" y="2999232"/>
            <a:ext cx="18470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Broker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7863840" y="2999232"/>
            <a:ext cx="914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 2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8851392" y="2999232"/>
            <a:ext cx="9326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4 GB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9857232" y="2999232"/>
            <a:ext cx="4937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10424160" y="299923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10936224" y="299923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11448288" y="299923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5888736" y="3419856"/>
            <a:ext cx="608990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888736" y="3419856"/>
            <a:ext cx="54864" cy="256032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980176" y="3419856"/>
            <a:ext cx="5961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  (Year 0 → Year 2 growth)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5888736" y="3675888"/>
            <a:ext cx="6089904" cy="2377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925312" y="367588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7516368" y="367588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0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8394192" y="367588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9272016" y="3675888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10149840" y="36758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</a:t>
            </a:r>
            <a:endParaRPr lang="en-US" sz="800" dirty="0"/>
          </a:p>
        </p:txBody>
      </p:sp>
      <p:sp>
        <p:nvSpPr>
          <p:cNvPr id="111" name="Shape 109"/>
          <p:cNvSpPr/>
          <p:nvPr/>
        </p:nvSpPr>
        <p:spPr>
          <a:xfrm>
            <a:off x="5888736" y="3913632"/>
            <a:ext cx="6089904" cy="246888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943600" y="3913632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Files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7534656" y="391363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GB</a:t>
            </a:r>
            <a:endParaRPr lang="en-US" sz="800" dirty="0"/>
          </a:p>
        </p:txBody>
      </p:sp>
      <p:sp>
        <p:nvSpPr>
          <p:cNvPr id="114" name="Text 112"/>
          <p:cNvSpPr/>
          <p:nvPr/>
        </p:nvSpPr>
        <p:spPr>
          <a:xfrm>
            <a:off x="8412480" y="391363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GB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9290304" y="3913632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GB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10168128" y="3913632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ReadWriteMany NFS</a:t>
            </a:r>
            <a:endParaRPr lang="en-US" sz="800" dirty="0"/>
          </a:p>
        </p:txBody>
      </p:sp>
      <p:sp>
        <p:nvSpPr>
          <p:cNvPr id="117" name="Shape 115"/>
          <p:cNvSpPr/>
          <p:nvPr/>
        </p:nvSpPr>
        <p:spPr>
          <a:xfrm>
            <a:off x="5888736" y="4169664"/>
            <a:ext cx="608990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943600" y="4169664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Logs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7534656" y="416966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GB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8412480" y="416966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TB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9290304" y="4169664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TB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10168128" y="4169664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ReadWriteMany NFS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5888736" y="4425696"/>
            <a:ext cx="6089904" cy="246888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943600" y="4425696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7534656" y="442569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GB</a:t>
            </a:r>
            <a:endParaRPr lang="en-US" sz="800" dirty="0"/>
          </a:p>
        </p:txBody>
      </p:sp>
      <p:sp>
        <p:nvSpPr>
          <p:cNvPr id="126" name="Text 124"/>
          <p:cNvSpPr/>
          <p:nvPr/>
        </p:nvSpPr>
        <p:spPr>
          <a:xfrm>
            <a:off x="8412480" y="442569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TB</a:t>
            </a:r>
            <a:endParaRPr lang="en-US" sz="800" dirty="0"/>
          </a:p>
        </p:txBody>
      </p:sp>
      <p:sp>
        <p:nvSpPr>
          <p:cNvPr id="127" name="Text 125"/>
          <p:cNvSpPr/>
          <p:nvPr/>
        </p:nvSpPr>
        <p:spPr>
          <a:xfrm>
            <a:off x="9290304" y="442569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TB</a:t>
            </a:r>
            <a:endParaRPr lang="en-US" sz="800" dirty="0"/>
          </a:p>
        </p:txBody>
      </p:sp>
      <p:sp>
        <p:nvSpPr>
          <p:cNvPr id="128" name="Text 126"/>
          <p:cNvSpPr/>
          <p:nvPr/>
        </p:nvSpPr>
        <p:spPr>
          <a:xfrm>
            <a:off x="10168128" y="4425696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ReadWriteOnce NVMe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5888736" y="4681728"/>
            <a:ext cx="6089904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943600" y="4681728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XCom/MinIO</a:t>
            </a:r>
            <a:endParaRPr lang="en-US" sz="850" dirty="0"/>
          </a:p>
        </p:txBody>
      </p:sp>
      <p:sp>
        <p:nvSpPr>
          <p:cNvPr id="131" name="Text 129"/>
          <p:cNvSpPr/>
          <p:nvPr/>
        </p:nvSpPr>
        <p:spPr>
          <a:xfrm>
            <a:off x="7534656" y="468172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GB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8412480" y="468172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 GB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9290304" y="468172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 GB</a:t>
            </a:r>
            <a:endParaRPr lang="en-US" sz="800" dirty="0"/>
          </a:p>
        </p:txBody>
      </p:sp>
      <p:sp>
        <p:nvSpPr>
          <p:cNvPr id="134" name="Text 132"/>
          <p:cNvSpPr/>
          <p:nvPr/>
        </p:nvSpPr>
        <p:spPr>
          <a:xfrm>
            <a:off x="10168128" y="4681728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store (MinIO)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5888736" y="4937760"/>
            <a:ext cx="6089904" cy="246888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943600" y="4937760"/>
            <a:ext cx="15179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AOF</a:t>
            </a:r>
            <a:endParaRPr lang="en-US" sz="850" dirty="0"/>
          </a:p>
        </p:txBody>
      </p:sp>
      <p:sp>
        <p:nvSpPr>
          <p:cNvPr id="137" name="Text 135"/>
          <p:cNvSpPr/>
          <p:nvPr/>
        </p:nvSpPr>
        <p:spPr>
          <a:xfrm>
            <a:off x="7534656" y="4937760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GB</a:t>
            </a:r>
            <a:endParaRPr lang="en-US" sz="800" dirty="0"/>
          </a:p>
        </p:txBody>
      </p:sp>
      <p:sp>
        <p:nvSpPr>
          <p:cNvPr id="138" name="Text 136"/>
          <p:cNvSpPr/>
          <p:nvPr/>
        </p:nvSpPr>
        <p:spPr>
          <a:xfrm>
            <a:off x="8412480" y="4937760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GB</a:t>
            </a:r>
            <a:endParaRPr lang="en-US" sz="800" dirty="0"/>
          </a:p>
        </p:txBody>
      </p:sp>
      <p:sp>
        <p:nvSpPr>
          <p:cNvPr id="139" name="Text 137"/>
          <p:cNvSpPr/>
          <p:nvPr/>
        </p:nvSpPr>
        <p:spPr>
          <a:xfrm>
            <a:off x="9290304" y="4937760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GB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10168128" y="4937760"/>
            <a:ext cx="1792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ReadWriteOnce SSD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5888736" y="5522976"/>
            <a:ext cx="6089904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888736" y="5522976"/>
            <a:ext cx="54864" cy="256032"/>
          </a:xfrm>
          <a:prstGeom prst="rect">
            <a:avLst/>
          </a:prstGeom>
          <a:solidFill>
            <a:srgbClr val="0A7469"/>
          </a:solidFill>
          <a:ln w="12700">
            <a:solidFill>
              <a:srgbClr val="0A7469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5980176" y="5522976"/>
            <a:ext cx="5961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OPENSHIFT NODE POOL  (Production)</a:t>
            </a:r>
            <a:endParaRPr lang="en-US" sz="1000" dirty="0"/>
          </a:p>
        </p:txBody>
      </p:sp>
      <p:sp>
        <p:nvSpPr>
          <p:cNvPr id="144" name="Shape 142"/>
          <p:cNvSpPr/>
          <p:nvPr/>
        </p:nvSpPr>
        <p:spPr>
          <a:xfrm>
            <a:off x="5888736" y="5779008"/>
            <a:ext cx="6089904" cy="26517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5980176" y="5779008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850" dirty="0"/>
          </a:p>
        </p:txBody>
      </p:sp>
      <p:sp>
        <p:nvSpPr>
          <p:cNvPr id="146" name="Text 144"/>
          <p:cNvSpPr/>
          <p:nvPr/>
        </p:nvSpPr>
        <p:spPr>
          <a:xfrm>
            <a:off x="7351776" y="5779008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nodes</a:t>
            </a:r>
            <a:endParaRPr lang="en-US" sz="850" dirty="0"/>
          </a:p>
        </p:txBody>
      </p:sp>
      <p:sp>
        <p:nvSpPr>
          <p:cNvPr id="147" name="Text 145"/>
          <p:cNvSpPr/>
          <p:nvPr/>
        </p:nvSpPr>
        <p:spPr>
          <a:xfrm>
            <a:off x="8174736" y="5779008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vCPU · 32 GB</a:t>
            </a:r>
            <a:endParaRPr lang="en-US" sz="850" dirty="0"/>
          </a:p>
        </p:txBody>
      </p:sp>
      <p:sp>
        <p:nvSpPr>
          <p:cNvPr id="148" name="Text 146"/>
          <p:cNvSpPr/>
          <p:nvPr/>
        </p:nvSpPr>
        <p:spPr>
          <a:xfrm>
            <a:off x="9454896" y="5779008"/>
            <a:ext cx="2852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Scheduler, DAG Processor, Webserver, Triggerer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5888736" y="6053328"/>
            <a:ext cx="6089904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5980176" y="6053328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Pool</a:t>
            </a:r>
            <a:endParaRPr lang="en-US" sz="850" dirty="0"/>
          </a:p>
        </p:txBody>
      </p:sp>
      <p:sp>
        <p:nvSpPr>
          <p:cNvPr id="151" name="Text 149"/>
          <p:cNvSpPr/>
          <p:nvPr/>
        </p:nvSpPr>
        <p:spPr>
          <a:xfrm>
            <a:off x="7351776" y="6053328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nodes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8174736" y="6053328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vCPU · 64 GB</a:t>
            </a:r>
            <a:endParaRPr lang="en-US" sz="850" dirty="0"/>
          </a:p>
        </p:txBody>
      </p:sp>
      <p:sp>
        <p:nvSpPr>
          <p:cNvPr id="153" name="Text 151"/>
          <p:cNvSpPr/>
          <p:nvPr/>
        </p:nvSpPr>
        <p:spPr>
          <a:xfrm>
            <a:off x="9454896" y="6053328"/>
            <a:ext cx="2852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 pods (3–9) + Redis broker + headroom</a:t>
            </a:r>
            <a:endParaRPr lang="en-US" sz="800" dirty="0"/>
          </a:p>
        </p:txBody>
      </p:sp>
      <p:sp>
        <p:nvSpPr>
          <p:cNvPr id="154" name="Shape 152"/>
          <p:cNvSpPr/>
          <p:nvPr/>
        </p:nvSpPr>
        <p:spPr>
          <a:xfrm>
            <a:off x="5888736" y="6327648"/>
            <a:ext cx="6089904" cy="265176"/>
          </a:xfrm>
          <a:prstGeom prst="rect">
            <a:avLst/>
          </a:prstGeom>
          <a:solidFill>
            <a:srgbClr val="F0FFFE"/>
          </a:solidFill>
          <a:ln w="6350">
            <a:solidFill>
              <a:srgbClr val="99F6E4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5980176" y="6327648"/>
            <a:ext cx="1371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74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/ Storage</a:t>
            </a:r>
            <a:endParaRPr lang="en-US" sz="850" dirty="0"/>
          </a:p>
        </p:txBody>
      </p:sp>
      <p:sp>
        <p:nvSpPr>
          <p:cNvPr id="156" name="Text 154"/>
          <p:cNvSpPr/>
          <p:nvPr/>
        </p:nvSpPr>
        <p:spPr>
          <a:xfrm>
            <a:off x="7351776" y="6327648"/>
            <a:ext cx="8229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nodes</a:t>
            </a:r>
            <a:endParaRPr lang="en-US" sz="850" dirty="0"/>
          </a:p>
        </p:txBody>
      </p:sp>
      <p:sp>
        <p:nvSpPr>
          <p:cNvPr id="157" name="Text 155"/>
          <p:cNvSpPr/>
          <p:nvPr/>
        </p:nvSpPr>
        <p:spPr>
          <a:xfrm>
            <a:off x="8174736" y="6327648"/>
            <a:ext cx="1280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vCPU · 64 GB</a:t>
            </a:r>
            <a:endParaRPr lang="en-US" sz="850" dirty="0"/>
          </a:p>
        </p:txBody>
      </p:sp>
      <p:sp>
        <p:nvSpPr>
          <p:cNvPr id="158" name="Text 156"/>
          <p:cNvSpPr/>
          <p:nvPr/>
        </p:nvSpPr>
        <p:spPr>
          <a:xfrm>
            <a:off x="9454896" y="6327648"/>
            <a:ext cx="28529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pod + NVMe-backed PVC storage</a:t>
            </a:r>
            <a:endParaRPr lang="en-US" sz="800" dirty="0"/>
          </a:p>
        </p:txBody>
      </p:sp>
      <p:sp>
        <p:nvSpPr>
          <p:cNvPr id="159" name="Shape 157"/>
          <p:cNvSpPr/>
          <p:nvPr/>
        </p:nvSpPr>
        <p:spPr>
          <a:xfrm>
            <a:off x="109728" y="6583680"/>
            <a:ext cx="12051792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274320" y="65928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components  </a:t>
            </a:r>
            <a:endParaRPr lang="en-US" sz="950" dirty="0"/>
          </a:p>
        </p:txBody>
      </p:sp>
      <p:sp>
        <p:nvSpPr>
          <p:cNvPr id="161" name="Text 159"/>
          <p:cNvSpPr/>
          <p:nvPr/>
        </p:nvSpPr>
        <p:spPr>
          <a:xfrm>
            <a:off x="1298448" y="659282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3.x pods per env</a:t>
            </a:r>
            <a:endParaRPr lang="en-US" sz="800" dirty="0"/>
          </a:p>
        </p:txBody>
      </p:sp>
      <p:sp>
        <p:nvSpPr>
          <p:cNvPr id="162" name="Text 160"/>
          <p:cNvSpPr/>
          <p:nvPr/>
        </p:nvSpPr>
        <p:spPr>
          <a:xfrm>
            <a:off x="3108960" y="65928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workers  </a:t>
            </a:r>
            <a:endParaRPr lang="en-US" sz="950" dirty="0"/>
          </a:p>
        </p:txBody>
      </p:sp>
      <p:sp>
        <p:nvSpPr>
          <p:cNvPr id="163" name="Text 161"/>
          <p:cNvSpPr/>
          <p:nvPr/>
        </p:nvSpPr>
        <p:spPr>
          <a:xfrm>
            <a:off x="4133088" y="659282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 (KEDA) in Prod</a:t>
            </a:r>
            <a:endParaRPr lang="en-US" sz="800" dirty="0"/>
          </a:p>
        </p:txBody>
      </p:sp>
      <p:sp>
        <p:nvSpPr>
          <p:cNvPr id="164" name="Text 162"/>
          <p:cNvSpPr/>
          <p:nvPr/>
        </p:nvSpPr>
        <p:spPr>
          <a:xfrm>
            <a:off x="5943600" y="65928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nodes  </a:t>
            </a:r>
            <a:endParaRPr lang="en-US" sz="950" dirty="0"/>
          </a:p>
        </p:txBody>
      </p:sp>
      <p:sp>
        <p:nvSpPr>
          <p:cNvPr id="165" name="Text 163"/>
          <p:cNvSpPr/>
          <p:nvPr/>
        </p:nvSpPr>
        <p:spPr>
          <a:xfrm>
            <a:off x="6967728" y="659282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OpenShift cluster</a:t>
            </a:r>
            <a:endParaRPr lang="en-US" sz="800" dirty="0"/>
          </a:p>
        </p:txBody>
      </p:sp>
      <p:sp>
        <p:nvSpPr>
          <p:cNvPr id="166" name="Text 164"/>
          <p:cNvSpPr/>
          <p:nvPr/>
        </p:nvSpPr>
        <p:spPr>
          <a:xfrm>
            <a:off x="8778240" y="6592824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TB Y2  </a:t>
            </a:r>
            <a:endParaRPr lang="en-US" sz="950" dirty="0"/>
          </a:p>
        </p:txBody>
      </p:sp>
      <p:sp>
        <p:nvSpPr>
          <p:cNvPr id="167" name="Text 165"/>
          <p:cNvSpPr/>
          <p:nvPr/>
        </p:nvSpPr>
        <p:spPr>
          <a:xfrm>
            <a:off x="9802368" y="659282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storage all envs</a:t>
            </a:r>
            <a:endParaRPr lang="en-US" sz="800" dirty="0"/>
          </a:p>
        </p:txBody>
      </p:sp>
      <p:sp>
        <p:nvSpPr>
          <p:cNvPr id="168" name="Text 166"/>
          <p:cNvSpPr/>
          <p:nvPr/>
        </p:nvSpPr>
        <p:spPr>
          <a:xfrm>
            <a:off x="9235440" y="6592824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E6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BBH Technology  |  SEI SWP Migration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2026-03-10T15:40:52Z</dcterms:created>
  <dcterms:modified xsi:type="dcterms:W3CDTF">2026-03-10T15:40:52Z</dcterms:modified>
</cp:coreProperties>
</file>