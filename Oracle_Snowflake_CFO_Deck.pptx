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46120"/>
          </a:xfrm>
          <a:prstGeom prst="rect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108960"/>
            <a:ext cx="12161520" cy="256032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0"/>
            <a:ext cx="12161520" cy="128016"/>
          </a:xfrm>
          <a:prstGeom prst="rect">
            <a:avLst/>
          </a:prstGeom>
          <a:solidFill>
            <a:srgbClr val="4A9BAA"/>
          </a:solidFill>
          <a:ln w="12700">
            <a:solidFill>
              <a:srgbClr val="4A9B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943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</a:rPr>
              <a:t>Oracle Data Warehouse Migration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A8D4DC"/>
                </a:solidFill>
              </a:rPr>
              <a:t>Snowflake Cost Analysis &amp; Business Case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0E0E8"/>
                </a:solidFill>
              </a:rPr>
              <a:t>How We Calculate  ·  What We Predict  ·  What It Costs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C6B"/>
                </a:solidFill>
              </a:rPr>
              <a:t>Prepared for CFO Review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206240"/>
            <a:ext cx="3429000" cy="1417320"/>
          </a:xfrm>
          <a:prstGeom prst="rect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426110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Part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663440"/>
            <a:ext cx="342900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4EFF5"/>
                </a:solidFill>
              </a:rPr>
              <a:t>Oracle Data Points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4EFF5"/>
                </a:solidFill>
              </a:rPr>
              <a:t>4 key metrics collected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26280" y="4206240"/>
            <a:ext cx="3429000" cy="1417320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26280" y="426110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Part 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4663440"/>
            <a:ext cx="342900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4EFF5"/>
                </a:solidFill>
              </a:rPr>
              <a:t>Conversion Formula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4EFF5"/>
                </a:solidFill>
              </a:rPr>
              <a:t>5-step Oracle → Snowflake cost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0" y="4206240"/>
            <a:ext cx="3429000" cy="1417320"/>
          </a:xfrm>
          <a:prstGeom prst="rect">
            <a:avLst/>
          </a:prstGeom>
          <a:solidFill>
            <a:srgbClr val="4A9BAA"/>
          </a:solidFill>
          <a:ln w="12700">
            <a:solidFill>
              <a:srgbClr val="4A9BA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0" y="426110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Part 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0" y="4663440"/>
            <a:ext cx="342900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4EFF5"/>
                </a:solidFill>
              </a:rPr>
              <a:t>Cost Scenarios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4EFF5"/>
                </a:solidFill>
              </a:rPr>
              <a:t>$120K · $275K · $500K range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" y="6675120"/>
            <a:ext cx="1161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Confidential  ·  CFO Review  · 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Part 1 — Oracle Current State: What We Measure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49840" y="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0C8D4"/>
                </a:solidFill>
              </a:rPr>
              <a:t>Slide 2 of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6675120" cy="256032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65836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THE 4 DATA POINTS WE COLLECT FROM ORACLE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6675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  <a:gridCol w="26517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DATA POINT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WHAT IT MEASURES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WHY IT MATTERS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6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5C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disk_reads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Physical blocks Oracle read from storage per job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True I/O baseline — our starting volume number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5C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buffer_gets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Logical reads Oracle served from memory cache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Identifies what Snowflake result cache absorbs free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5C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rows_processed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Exact rows each SQL statement touched per run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Informs Snowflake micro-partition scan estimates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5C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elapsed_time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Actual wall-clock seconds each job ran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Oracle baseline to validate Snowflake benchmarks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132320" y="658368"/>
            <a:ext cx="4754880" cy="256032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05472" y="6583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KEY FACTS ABOUT OUR WORKLOAD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132320" y="950976"/>
            <a:ext cx="4754880" cy="457200"/>
          </a:xfrm>
          <a:prstGeom prst="rect">
            <a:avLst/>
          </a:prstGeom>
          <a:solidFill>
            <a:srgbClr val="EBF5F8"/>
          </a:solidFill>
          <a:ln w="12700">
            <a:solidFill>
              <a:srgbClr val="C8E6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223760" y="1088136"/>
            <a:ext cx="182880" cy="182880"/>
          </a:xfrm>
          <a:prstGeom prst="ellipse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79792" y="950976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48 hours of Oracle batch jobs in a 24-hour window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132320" y="1463040"/>
            <a:ext cx="4754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223760" y="1600200"/>
            <a:ext cx="182880" cy="182880"/>
          </a:xfrm>
          <a:prstGeom prst="ellipse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79792" y="1463040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600 PL/SQL objects averaging 1,000–3,000 lines each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132320" y="1975104"/>
            <a:ext cx="4754880" cy="457200"/>
          </a:xfrm>
          <a:prstGeom prst="rect">
            <a:avLst/>
          </a:prstGeom>
          <a:solidFill>
            <a:srgbClr val="EBF5F8"/>
          </a:solidFill>
          <a:ln w="12700">
            <a:solidFill>
              <a:srgbClr val="C8E6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23760" y="2112264"/>
            <a:ext cx="182880" cy="182880"/>
          </a:xfrm>
          <a:prstGeom prst="ellipse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79792" y="1975104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~1.2 million lines of procedural Oracle logic in total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132320" y="2487168"/>
            <a:ext cx="4754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23760" y="2624328"/>
            <a:ext cx="182880" cy="182880"/>
          </a:xfrm>
          <a:prstGeom prst="ellipse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79792" y="2487168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Top 20 jobs = 80–85% of total daily read volume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132320" y="2999232"/>
            <a:ext cx="4754880" cy="457200"/>
          </a:xfrm>
          <a:prstGeom prst="rect">
            <a:avLst/>
          </a:prstGeom>
          <a:solidFill>
            <a:srgbClr val="EBF5F8"/>
          </a:solidFill>
          <a:ln w="12700">
            <a:solidFill>
              <a:srgbClr val="C8E6E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223760" y="3136392"/>
            <a:ext cx="182880" cy="182880"/>
          </a:xfrm>
          <a:prstGeom prst="ellipse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79792" y="2999232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6 TB total data volume in Oracle today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74320" y="3584448"/>
            <a:ext cx="11612880" cy="530352"/>
          </a:xfrm>
          <a:prstGeom prst="rect">
            <a:avLst/>
          </a:prstGeom>
          <a:solidFill>
            <a:srgbClr val="EBF5F8"/>
          </a:solidFill>
          <a:ln w="12700">
            <a:solidFill>
              <a:srgbClr val="C8E6E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84048" y="3584448"/>
            <a:ext cx="11430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5C6B"/>
                </a:solidFill>
              </a:rPr>
              <a:t>★  Focus: Top 20 jobs by physical I/O drive 80–85% of daily read cost. We measure and benchmark these first — everything else is a rounding error.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4320" y="4224528"/>
            <a:ext cx="11612880" cy="256032"/>
          </a:xfrm>
          <a:prstGeom prst="rect">
            <a:avLst/>
          </a:prstGeom>
          <a:solidFill>
            <a:srgbClr val="4A9BAA"/>
          </a:solidFill>
          <a:ln w="12700">
            <a:solidFill>
              <a:srgbClr val="4A9BA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47472" y="4224528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HOW EACH DATA POINT FEEDS THE COST MODEL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74320" y="4526280"/>
            <a:ext cx="2834640" cy="987552"/>
          </a:xfrm>
          <a:prstGeom prst="rect">
            <a:avLst/>
          </a:prstGeom>
          <a:solidFill>
            <a:srgbClr val="EBF5F8"/>
          </a:solidFill>
          <a:ln w="12700">
            <a:solidFill>
              <a:srgbClr val="C8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365760" y="4572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C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disk_reads →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65760" y="48463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77777"/>
                </a:solidFill>
              </a:rPr>
              <a:t>Converted to GB — the starting volume for our entire formula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3182112" y="4526280"/>
            <a:ext cx="2834640" cy="987552"/>
          </a:xfrm>
          <a:prstGeom prst="rect">
            <a:avLst/>
          </a:prstGeom>
          <a:solidFill>
            <a:srgbClr val="EBF5F8"/>
          </a:solidFill>
          <a:ln w="12700">
            <a:solidFill>
              <a:srgbClr val="C8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3273552" y="4572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C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buffer_gets →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273552" y="48463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77777"/>
                </a:solidFill>
              </a:rPr>
              <a:t>Shows what Snowflake result cache serves free (zero credit cost)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089904" y="4526280"/>
            <a:ext cx="2834640" cy="987552"/>
          </a:xfrm>
          <a:prstGeom prst="rect">
            <a:avLst/>
          </a:prstGeom>
          <a:solidFill>
            <a:srgbClr val="EBF5F8"/>
          </a:solidFill>
          <a:ln w="12700">
            <a:solidFill>
              <a:srgbClr val="C8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6181344" y="4572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C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rows_processed →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181344" y="48463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77777"/>
                </a:solidFill>
              </a:rPr>
              <a:t>Tells us how many Snowflake micro-partitions will be scanned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8997696" y="4526280"/>
            <a:ext cx="2834640" cy="987552"/>
          </a:xfrm>
          <a:prstGeom prst="rect">
            <a:avLst/>
          </a:prstGeom>
          <a:solidFill>
            <a:srgbClr val="EBF5F8"/>
          </a:solidFill>
          <a:ln w="12700">
            <a:solidFill>
              <a:srgbClr val="C8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9089136" y="4572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C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elapsed_time →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9089136" y="48463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77777"/>
                </a:solidFill>
              </a:rPr>
              <a:t>Oracle runtime baseline used to cross-validate Snowflake results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274320" y="6647688"/>
            <a:ext cx="11612880" cy="0"/>
          </a:xfrm>
          <a:prstGeom prst="line">
            <a:avLst/>
          </a:prstGeom>
          <a:noFill/>
          <a:ln w="6350">
            <a:solidFill>
              <a:srgbClr val="C8E6E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74320" y="6675120"/>
            <a:ext cx="1161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Confidential  ·  CFO Review  · 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Part 2 — How We Convert Oracle Reads to Snowflake Cost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49840" y="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0C8D4"/>
                </a:solidFill>
              </a:rPr>
              <a:t>Slide 3 of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1161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D8E"/>
                </a:solidFill>
              </a:rPr>
              <a:t>5-Step Formula  ·  Live Example: 100 GB Oracle Physical Read / Day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069848"/>
            <a:ext cx="420624" cy="420624"/>
          </a:xfrm>
          <a:prstGeom prst="ellipse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69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8328" y="1545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C6B"/>
                </a:solidFill>
              </a:rPr>
              <a:t>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" y="932688"/>
            <a:ext cx="11064240" cy="822960"/>
          </a:xfrm>
          <a:prstGeom prst="rect">
            <a:avLst/>
          </a:prstGeom>
          <a:solidFill>
            <a:srgbClr val="EBF5F8"/>
          </a:solidFill>
          <a:ln w="12700">
            <a:solidFill>
              <a:srgbClr val="1F5C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932688"/>
            <a:ext cx="3657600" cy="256032"/>
          </a:xfrm>
          <a:prstGeom prst="rect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93268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1  —  Convert Oracle Blocks to GB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1207008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5C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disk_reads  ×  8,192 bytes  ÷  1,000,000,000  =  GB read per day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68680" y="1481328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12,500,000 disk_reads  →  102 GB physically read by Oracle per day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020824"/>
            <a:ext cx="420624" cy="420624"/>
          </a:xfrm>
          <a:prstGeom prst="ellipse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020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8328" y="2496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7D8E"/>
                </a:solidFill>
              </a:rPr>
              <a:t>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" y="1883664"/>
            <a:ext cx="11064240" cy="822960"/>
          </a:xfrm>
          <a:prstGeom prst="rect">
            <a:avLst/>
          </a:prstGeom>
          <a:solidFill>
            <a:srgbClr val="EBF5F8"/>
          </a:solidFill>
          <a:ln w="12700">
            <a:solidFill>
              <a:srgbClr val="2A7D8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1883664"/>
            <a:ext cx="3657600" cy="256032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188366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2  —  Apply Snowflake Compression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68680" y="2157984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5C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 GB  ÷  3.5  (Snowflake columnar auto-compression ratio)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8680" y="2432304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102 GB  ÷  3.5  =  29 GB stored in Snowflake  (70% smaller)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971800"/>
            <a:ext cx="420624" cy="420624"/>
          </a:xfrm>
          <a:prstGeom prst="ellipse">
            <a:avLst/>
          </a:prstGeom>
          <a:solidFill>
            <a:srgbClr val="2A8FA0"/>
          </a:solidFill>
          <a:ln w="12700">
            <a:solidFill>
              <a:srgbClr val="2A8F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971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38328" y="3447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8FA0"/>
                </a:solidFill>
              </a:rPr>
              <a:t>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4672" y="2834640"/>
            <a:ext cx="11064240" cy="822960"/>
          </a:xfrm>
          <a:prstGeom prst="rect">
            <a:avLst/>
          </a:prstGeom>
          <a:solidFill>
            <a:srgbClr val="EBF5F8"/>
          </a:solidFill>
          <a:ln w="12700">
            <a:solidFill>
              <a:srgbClr val="2A8F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4672" y="2834640"/>
            <a:ext cx="3657600" cy="256032"/>
          </a:xfrm>
          <a:prstGeom prst="rect">
            <a:avLst/>
          </a:prstGeom>
          <a:solidFill>
            <a:srgbClr val="2A8FA0"/>
          </a:solidFill>
          <a:ln w="12700">
            <a:solidFill>
              <a:srgbClr val="2A8F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283464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3  —  Apply Column Selectivity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68680" y="3108960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5C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Snowflake reads only queried columns — not the full row width like Oracle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68680" y="33832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29 GB  ×  15% column selectivity  =  4.4 GB  (reading 3 cols of 20)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922776"/>
            <a:ext cx="420624" cy="420624"/>
          </a:xfrm>
          <a:prstGeom prst="ellipse">
            <a:avLst/>
          </a:prstGeom>
          <a:solidFill>
            <a:srgbClr val="3AA0B5"/>
          </a:solidFill>
          <a:ln w="12700">
            <a:solidFill>
              <a:srgbClr val="3AA0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922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38328" y="4398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A0B5"/>
                </a:solidFill>
              </a:rPr>
              <a:t>↓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4672" y="3785616"/>
            <a:ext cx="11064240" cy="822960"/>
          </a:xfrm>
          <a:prstGeom prst="rect">
            <a:avLst/>
          </a:prstGeom>
          <a:solidFill>
            <a:srgbClr val="EBF5F8"/>
          </a:solidFill>
          <a:ln w="12700">
            <a:solidFill>
              <a:srgbClr val="3AA0B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04672" y="3785616"/>
            <a:ext cx="3657600" cy="256032"/>
          </a:xfrm>
          <a:prstGeom prst="rect">
            <a:avLst/>
          </a:prstGeom>
          <a:solidFill>
            <a:srgbClr val="3AA0B5"/>
          </a:solidFill>
          <a:ln w="12700">
            <a:solidFill>
              <a:srgbClr val="3AA0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378561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4  —  Apply Partition Pruning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68680" y="4059936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5C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Date-clustered tables skip non-matching micro-partitions entirely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68680" y="4334256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4.4 GB  ×  (1 − 95% pruning)  =  0.22 GB actually scanned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4873752"/>
            <a:ext cx="420624" cy="420624"/>
          </a:xfrm>
          <a:prstGeom prst="ellipse">
            <a:avLst/>
          </a:prstGeom>
          <a:solidFill>
            <a:srgbClr val="4A9BAA"/>
          </a:solidFill>
          <a:ln w="12700">
            <a:solidFill>
              <a:srgbClr val="4A9B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73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04672" y="4736592"/>
            <a:ext cx="11064240" cy="822960"/>
          </a:xfrm>
          <a:prstGeom prst="rect">
            <a:avLst/>
          </a:prstGeom>
          <a:solidFill>
            <a:srgbClr val="EBF5F8"/>
          </a:solidFill>
          <a:ln w="12700">
            <a:solidFill>
              <a:srgbClr val="4A9BA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04672" y="4736592"/>
            <a:ext cx="3657600" cy="256032"/>
          </a:xfrm>
          <a:prstGeom prst="rect">
            <a:avLst/>
          </a:prstGeom>
          <a:solidFill>
            <a:srgbClr val="4A9BAA"/>
          </a:solidFill>
          <a:ln w="12700">
            <a:solidFill>
              <a:srgbClr val="4A9B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" y="473659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5  —  Convert GB Scanned to Dollar Cost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68680" y="5010912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5C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 ÷ 100 GB/min  ÷ 60  ×  4 credits/hr  ×  $7/credit  =  cost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68680" y="5285232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0.22 GB  →  $0.001 per execution  ·  500 job runs/day  =  $0.50/day for one job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5705856"/>
            <a:ext cx="11612880" cy="438912"/>
          </a:xfrm>
          <a:prstGeom prst="rect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5705856"/>
            <a:ext cx="11338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Formula:  disk_reads × 8,192 ÷ 1B   ÷ 3.5   × col%   × (1−pruning%)   ÷ 100 GB/min   ÷ 60   × 4 credits   × $7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6647688"/>
            <a:ext cx="11612880" cy="0"/>
          </a:xfrm>
          <a:prstGeom prst="line">
            <a:avLst/>
          </a:prstGeom>
          <a:noFill/>
          <a:ln w="6350">
            <a:solidFill>
              <a:srgbClr val="C8E6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6675120"/>
            <a:ext cx="1161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Confidential  ·  CFO Review  · 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Pricing Clarification — $7 Per Credit vs $7 Per Hour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49840" y="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0C8D4"/>
                </a:solidFill>
              </a:rPr>
              <a:t>Slide 4 of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1161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3020"/>
                </a:solidFill>
              </a:rPr>
              <a:t>This is the most common misquote in early Snowflake conversations. Confirm before presenting.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32688"/>
            <a:ext cx="11612880" cy="256032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32688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THREE POSSIBLE INTERPRETATIONS OF  '$7'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25296"/>
          <a:ext cx="116128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645920"/>
                <a:gridCol w="2011680"/>
                <a:gridCol w="41148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CREDIT PRICE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XS COST / HR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MEDIUM COST / HR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IMPACT ON DECK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6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$7 per credit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$7 / credit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$7 / hr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5C6B"/>
                          </a:solidFill>
                        </a:rPr>
                        <a:t>$28 / hr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50"/>
                          </a:solidFill>
                        </a:rPr>
                        <a:t>Our numbers are CORRECT  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$7/hr for XS only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$7 / credit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$7 / hr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5C6B"/>
                          </a:solidFill>
                        </a:rPr>
                        <a:t>$28 / hr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50"/>
                          </a:solidFill>
                        </a:rPr>
                        <a:t>Our numbers are CORRECT  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$7/hr flat for any WH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3020"/>
                          </a:solidFill>
                        </a:rPr>
                        <a:t>$1.75 / credit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$7 / hr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03020"/>
                          </a:solidFill>
                        </a:rPr>
                        <a:t>$7 / hr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03020"/>
                          </a:solidFill>
                        </a:rPr>
                        <a:t>All estimates DROP 75%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236976"/>
            <a:ext cx="11612880" cy="256032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" y="3236976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CREDIT CONSUMPTION BY WAREHOUSE SIZE  —  AT $7 PER CREDIT</a:t>
            </a:r>
            <a:endParaRPr lang="en-US" sz="8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529584"/>
          <a:ext cx="116128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2011680"/>
                <a:gridCol w="46634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WAREHOUSE SIZE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CREDITS / HR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COST / HR  @ $7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PLANNED USAGE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6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XS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 credit/hr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$7 / hr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77777"/>
                          </a:solidFill>
                        </a:rPr>
                        <a:t>Dev / QA only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Small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 credits/hr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$14 / hr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77777"/>
                          </a:solidFill>
                        </a:rPr>
                        <a:t>Ad hoc and reporting queries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5C6B"/>
                          </a:solidFill>
                        </a:rPr>
                        <a:t>Medium  ←  PRIMARY BATCH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4 credits/hr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5C6B"/>
                          </a:solidFill>
                        </a:rPr>
                        <a:t>$28 / hr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5C6B"/>
                          </a:solidFill>
                        </a:rPr>
                        <a:t>Main nightly ETL warehouse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Large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 credits/hr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$56 / hr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77777"/>
                          </a:solidFill>
                        </a:rPr>
                        <a:t>Poor migration scenario only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XL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16 credits/hr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$112 / hr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77777"/>
                          </a:solidFill>
                        </a:rPr>
                        <a:t>Not planned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274320" y="6035040"/>
            <a:ext cx="11612880" cy="566928"/>
          </a:xfrm>
          <a:prstGeom prst="rect">
            <a:avLst/>
          </a:prstGeom>
          <a:solidFill>
            <a:srgbClr val="F5F0E0"/>
          </a:solidFill>
          <a:ln w="12700">
            <a:solidFill>
              <a:srgbClr val="C47A1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1480" y="603504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5000"/>
                </a:solidFill>
              </a:rPr>
              <a:t>⚠  Action Required:  Confirm with the Snowflake account team — is $7 per credit or per hour for a specific warehouse? If $7/credit → our $275K estimate stands. If $7/hr for Medium → credit price is $1.75 and all estimates reduce by 75%.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74320" y="6647688"/>
            <a:ext cx="11612880" cy="0"/>
          </a:xfrm>
          <a:prstGeom prst="line">
            <a:avLst/>
          </a:prstGeom>
          <a:noFill/>
          <a:ln w="6350">
            <a:solidFill>
              <a:srgbClr val="C8E6E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4320" y="6675120"/>
            <a:ext cx="1161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Confidential  ·  CFO Review  · 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Part 3 — What Snowflake Will Cost Us Annually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49840" y="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0C8D4"/>
                </a:solidFill>
              </a:rPr>
              <a:t>Slide 5 of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7A8A"/>
                </a:solidFill>
              </a:rPr>
              <a:t>Assumes: $7 per credit  ·  Medium Warehouse = 4 credits/hr = $28/hr  ·  Optimised migration quality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3749040" cy="3822192"/>
          </a:xfrm>
          <a:prstGeom prst="rect">
            <a:avLst/>
          </a:prstGeom>
          <a:solidFill>
            <a:srgbClr val="EBF5F8"/>
          </a:solidFill>
          <a:ln w="12700">
            <a:solidFill>
              <a:srgbClr val="1F5C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3749040" cy="310896"/>
          </a:xfrm>
          <a:prstGeom prst="rect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914400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BUCKET 1 — COMPUTE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126187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48hr Oracle → 12–18hr on Snowflake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159105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× Medium WH to fit 24-hour window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192024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 WH = $28/hr (4 credits × $7)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224942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3" name="Text 11"/>
          <p:cNvSpPr/>
          <p:nvPr/>
        </p:nvSpPr>
        <p:spPr>
          <a:xfrm>
            <a:off x="384048" y="257860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WH × 4 cr × 12 hrs = 96 credits/day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290779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 credits × $7/credit = $672/day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323697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$672 × 22 business days = $14,800/mo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35661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+ 25% dev/QA/ad hoc buffer = $18,500/mo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389534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8" name="Text 16"/>
          <p:cNvSpPr/>
          <p:nvPr/>
        </p:nvSpPr>
        <p:spPr>
          <a:xfrm>
            <a:off x="384048" y="422452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Compute = $220,000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4736592"/>
            <a:ext cx="3749040" cy="329184"/>
          </a:xfrm>
          <a:prstGeom prst="rect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7365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$220,000 / year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51960" y="914400"/>
            <a:ext cx="3749040" cy="3822192"/>
          </a:xfrm>
          <a:prstGeom prst="rect">
            <a:avLst/>
          </a:prstGeom>
          <a:solidFill>
            <a:srgbClr val="EBF5F8"/>
          </a:solidFill>
          <a:ln w="12700">
            <a:solidFill>
              <a:srgbClr val="2A7D8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51960" y="914400"/>
            <a:ext cx="3749040" cy="310896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25112" y="914400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BUCKET 2 — STORAGE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61688" y="126187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TB Oracle data today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61688" y="159105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Snowflake compresses 3–4× columnar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61688" y="192024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TB ÷ 3.5 = ~2 TB in Snowflake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361688" y="224942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8" name="Text 26"/>
          <p:cNvSpPr/>
          <p:nvPr/>
        </p:nvSpPr>
        <p:spPr>
          <a:xfrm>
            <a:off x="4361688" y="257860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TB × $23/TB/month = $46/month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361688" y="290779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30" name="Text 28"/>
          <p:cNvSpPr/>
          <p:nvPr/>
        </p:nvSpPr>
        <p:spPr>
          <a:xfrm>
            <a:off x="4361688" y="323697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Storage = ~$550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361688" y="35661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32" name="Text 30"/>
          <p:cNvSpPr/>
          <p:nvPr/>
        </p:nvSpPr>
        <p:spPr>
          <a:xfrm>
            <a:off x="4361688" y="389534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33" name="Text 31"/>
          <p:cNvSpPr/>
          <p:nvPr/>
        </p:nvSpPr>
        <p:spPr>
          <a:xfrm>
            <a:off x="4361688" y="422452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 vs compute cost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51960" y="4736592"/>
            <a:ext cx="3749040" cy="329184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51960" y="47365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~$550 / year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229600" y="914400"/>
            <a:ext cx="3749040" cy="3822192"/>
          </a:xfrm>
          <a:prstGeom prst="rect">
            <a:avLst/>
          </a:prstGeom>
          <a:solidFill>
            <a:srgbClr val="EBF5F8"/>
          </a:solidFill>
          <a:ln w="12700">
            <a:solidFill>
              <a:srgbClr val="2A8F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29600" y="914400"/>
            <a:ext cx="3749040" cy="310896"/>
          </a:xfrm>
          <a:prstGeom prst="rect">
            <a:avLst/>
          </a:prstGeom>
          <a:solidFill>
            <a:srgbClr val="2A8FA0"/>
          </a:solidFill>
          <a:ln w="12700">
            <a:solidFill>
              <a:srgbClr val="2A8F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02752" y="914400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BUCKET 3 — HIDDEN COSTS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339328" y="126187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Snowflake meters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339328" y="159105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included in WH compute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339328" y="192024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42" name="Text 40"/>
          <p:cNvSpPr/>
          <p:nvPr/>
        </p:nvSpPr>
        <p:spPr>
          <a:xfrm>
            <a:off x="8339328" y="224942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Snowpipe data ingestion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339328" y="257860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Time Travel retention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339328" y="290779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Serverless task execution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339328" y="323697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Materialised view refresh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339328" y="35661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47" name="Text 45"/>
          <p:cNvSpPr/>
          <p:nvPr/>
        </p:nvSpPr>
        <p:spPr>
          <a:xfrm>
            <a:off x="8339328" y="389534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buffer on compute: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339328" y="422452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$220K × 25% = $55,000/yr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229600" y="4736592"/>
            <a:ext cx="3749040" cy="329184"/>
          </a:xfrm>
          <a:prstGeom prst="rect">
            <a:avLst/>
          </a:prstGeom>
          <a:solidFill>
            <a:srgbClr val="2A8FA0"/>
          </a:solidFill>
          <a:ln w="12700">
            <a:solidFill>
              <a:srgbClr val="2A8FA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29600" y="47365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$55,000 / year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274320" y="5193792"/>
            <a:ext cx="11612880" cy="256032"/>
          </a:xfrm>
          <a:prstGeom prst="rect">
            <a:avLst/>
          </a:prstGeom>
          <a:solidFill>
            <a:srgbClr val="4A9BAA"/>
          </a:solidFill>
          <a:ln w="12700">
            <a:solidFill>
              <a:srgbClr val="4A9BA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" y="5193792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TOTAL ANNUAL SNOWFLAKE PLATFORM COST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486400"/>
          <a:ext cx="11612880" cy="914400"/>
        </p:xfrm>
        <a:graphic>
          <a:graphicData uri="http://schemas.openxmlformats.org/drawingml/2006/table">
            <a:tbl>
              <a:tblPr/>
              <a:tblGrid>
                <a:gridCol w="8961120"/>
                <a:gridCol w="265176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COST BUCKET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ANNUAL COST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6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Compute  (optimised migration · 2 × Medium WH · 12 hrs/day)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5C6B"/>
                          </a:solidFill>
                        </a:rPr>
                        <a:t>$220,000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Storage  (6 TB Oracle → 2 TB compressed @ $23/TB/month)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$550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Hidden platform costs  (25% buffer on compute)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$55,000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 ANNUAL SNOWFLAKE COST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~ $275,000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6B"/>
                    </a:solidFill>
                  </a:tcPr>
                </a:tc>
              </a:tr>
            </a:tbl>
          </a:graphicData>
        </a:graphic>
      </p:graphicFrame>
      <p:sp>
        <p:nvSpPr>
          <p:cNvPr id="54" name="Shape 51"/>
          <p:cNvSpPr/>
          <p:nvPr/>
        </p:nvSpPr>
        <p:spPr>
          <a:xfrm>
            <a:off x="274320" y="6647688"/>
            <a:ext cx="11612880" cy="0"/>
          </a:xfrm>
          <a:prstGeom prst="line">
            <a:avLst/>
          </a:prstGeom>
          <a:noFill/>
          <a:ln w="6350">
            <a:solidFill>
              <a:srgbClr val="C8E6E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274320" y="6675120"/>
            <a:ext cx="1161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Confidential  ·  CFO Review  · 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Range Depends on One Thing — Migration Quality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49840" y="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0C8D4"/>
                </a:solidFill>
              </a:rPr>
              <a:t>Slide 6 of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C6B"/>
                </a:solidFill>
              </a:rPr>
              <a:t>Pruning ratio is the single variable that moves cost between $120K and $500K per year. It is entirely within our control.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116128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990088"/>
                <a:gridCol w="2990088"/>
                <a:gridCol w="298094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CONSERVATIVE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3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BASE CASE  ★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OPTIMISTIC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5C6B"/>
                          </a:solidFill>
                        </a:rPr>
                        <a:t>Migration approach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3020"/>
                          </a:solidFill>
                        </a:rPr>
                        <a:t>Lift and shift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5C6B"/>
                          </a:solidFill>
                        </a:rPr>
                        <a:t>Moderate rewrite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50"/>
                          </a:solidFill>
                        </a:rPr>
                        <a:t>Full optimisation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D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5C6B"/>
                          </a:solidFill>
                        </a:rPr>
                        <a:t>PL/SQL redesign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3020"/>
                          </a:solidFill>
                        </a:rPr>
                        <a:t>Minimal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5C6B"/>
                          </a:solidFill>
                        </a:rPr>
                        <a:t>Partial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50"/>
                          </a:solidFill>
                        </a:rPr>
                        <a:t>Complete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5C6B"/>
                          </a:solidFill>
                        </a:rPr>
                        <a:t>Pruning ratio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3020"/>
                          </a:solidFill>
                        </a:rPr>
                        <a:t>20 – 40%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5C6B"/>
                          </a:solidFill>
                        </a:rPr>
                        <a:t>70 – 85%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50"/>
                          </a:solidFill>
                        </a:rPr>
                        <a:t>90 – 97%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D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5C6B"/>
                          </a:solidFill>
                        </a:rPr>
                        <a:t>GB scanned / day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3020"/>
                          </a:solidFill>
                        </a:rPr>
                        <a:t>80 – 100 GB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5C6B"/>
                          </a:solidFill>
                        </a:rPr>
                        <a:t>15 – 35 GB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50"/>
                          </a:solidFill>
                        </a:rPr>
                        <a:t>1 – 5 GB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5C6B"/>
                          </a:solidFill>
                        </a:rPr>
                        <a:t>Warehouse needed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3020"/>
                          </a:solidFill>
                        </a:rPr>
                        <a:t>2 × Large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5C6B"/>
                          </a:solidFill>
                        </a:rPr>
                        <a:t>2 × Medium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50"/>
                          </a:solidFill>
                        </a:rPr>
                        <a:t>1 × Medium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D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5C6B"/>
                          </a:solidFill>
                        </a:rPr>
                        <a:t>Effective rate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3020"/>
                          </a:solidFill>
                        </a:rPr>
                        <a:t>$112/hr (2×$56)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5C6B"/>
                          </a:solidFill>
                        </a:rPr>
                        <a:t>$56/hr (2×$28)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50"/>
                          </a:solidFill>
                        </a:rPr>
                        <a:t>$28/hr (1×$28)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730752"/>
            <a:ext cx="3749040" cy="1956816"/>
          </a:xfrm>
          <a:prstGeom prst="rect">
            <a:avLst/>
          </a:prstGeom>
          <a:solidFill>
            <a:srgbClr val="FFF4F4"/>
          </a:solidFill>
          <a:ln w="12700">
            <a:solidFill>
              <a:srgbClr val="B03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3730752"/>
            <a:ext cx="3749040" cy="292608"/>
          </a:xfrm>
          <a:prstGeom prst="rect">
            <a:avLst/>
          </a:prstGeom>
          <a:solidFill>
            <a:srgbClr val="B03020"/>
          </a:solidFill>
          <a:ln w="12700">
            <a:solidFill>
              <a:srgbClr val="B030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3730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CONSERVATIVE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40599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Snowflake Annual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377440" y="40599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03020"/>
                </a:solidFill>
              </a:rPr>
              <a:t>~$500K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65760" y="44439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Migration Cost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377440" y="444398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2B3C"/>
                </a:solidFill>
              </a:rPr>
              <a:t>$6M one-time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65760" y="48280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Payback Period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377440" y="4828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2B3C"/>
                </a:solidFill>
              </a:rPr>
              <a:t>12 years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65760" y="52120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Risk Level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2377440" y="52120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03020"/>
                </a:solidFill>
              </a:rPr>
              <a:t>HIGH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251960" y="3730752"/>
            <a:ext cx="3749040" cy="1956816"/>
          </a:xfrm>
          <a:prstGeom prst="rect">
            <a:avLst/>
          </a:prstGeom>
          <a:solidFill>
            <a:srgbClr val="EBF5F8"/>
          </a:solidFill>
          <a:ln w="12700">
            <a:solidFill>
              <a:srgbClr val="1F5C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251960" y="3730752"/>
            <a:ext cx="3749040" cy="292608"/>
          </a:xfrm>
          <a:prstGeom prst="rect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51960" y="3730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BASE CASE  ★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343400" y="40599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Snowflake Annual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355080" y="40599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5C6B"/>
                </a:solidFill>
              </a:rPr>
              <a:t>~$275K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343400" y="44439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Migration Cost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355080" y="444398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2B3C"/>
                </a:solidFill>
              </a:rPr>
              <a:t>$4M one-time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343400" y="48280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Payback Period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355080" y="4828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2B3C"/>
                </a:solidFill>
              </a:rPr>
              <a:t>4 years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343400" y="52120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Risk Level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355080" y="52120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5C6B"/>
                </a:solidFill>
              </a:rPr>
              <a:t>MEDIUM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8229600" y="3730752"/>
            <a:ext cx="3749040" cy="1956816"/>
          </a:xfrm>
          <a:prstGeom prst="rect">
            <a:avLst/>
          </a:prstGeom>
          <a:solidFill>
            <a:srgbClr val="F2FDF8"/>
          </a:solidFill>
          <a:ln w="12700">
            <a:solidFill>
              <a:srgbClr val="1A7A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229600" y="3730752"/>
            <a:ext cx="3749040" cy="292608"/>
          </a:xfrm>
          <a:prstGeom prst="rect">
            <a:avLst/>
          </a:prstGeom>
          <a:solidFill>
            <a:srgbClr val="1A7A50"/>
          </a:solidFill>
          <a:ln w="12700">
            <a:solidFill>
              <a:srgbClr val="1A7A5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29600" y="3730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OPTIMISTIC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321040" y="40599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Snowflake Annual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0332720" y="40599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7A50"/>
                </a:solidFill>
              </a:rPr>
              <a:t>~$120K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8321040" y="44439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Migration Cost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10332720" y="444398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2B3C"/>
                </a:solidFill>
              </a:rPr>
              <a:t>$3M one-time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8321040" y="48280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Payback Period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10332720" y="4828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2B3C"/>
                </a:solidFill>
              </a:rPr>
              <a:t>2.3 years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8321040" y="52120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Risk Level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10332720" y="52120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7A50"/>
                </a:solidFill>
              </a:rPr>
              <a:t>LOW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274320" y="5806440"/>
            <a:ext cx="11612880" cy="347472"/>
          </a:xfrm>
          <a:prstGeom prst="rect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84048" y="5806440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At $7 per credit:  Medium WH = $28/hr  ·  Large WH = $56/hr  ·  Poor migration forces larger warehouses — compounding the cost difference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274320" y="6647688"/>
            <a:ext cx="11612880" cy="0"/>
          </a:xfrm>
          <a:prstGeom prst="line">
            <a:avLst/>
          </a:prstGeom>
          <a:noFill/>
          <a:ln w="6350">
            <a:solidFill>
              <a:srgbClr val="C8E6E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74320" y="6675120"/>
            <a:ext cx="1161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Confidential  ·  CFO Review  · 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Executive Summary — What This Means for the Business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49840" y="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0C8D4"/>
                </a:solidFill>
              </a:rPr>
              <a:t>Slide 7 of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5486400" cy="256032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65836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THE NUMBERS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950976"/>
            <a:ext cx="5486400" cy="530352"/>
          </a:xfrm>
          <a:prstGeom prst="rect">
            <a:avLst/>
          </a:prstGeom>
          <a:solidFill>
            <a:srgbClr val="EBF5F8"/>
          </a:solidFill>
          <a:ln w="12700">
            <a:solidFill>
              <a:srgbClr val="C8E6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5097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Pricing basis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08960" y="950976"/>
            <a:ext cx="2578608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47A10"/>
                </a:solidFill>
              </a:rPr>
              <a:t>$7 per credit  (to be confirmed)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536192"/>
            <a:ext cx="5486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5361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Medium WH effective rate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108960" y="1536192"/>
            <a:ext cx="2578608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5C6B"/>
                </a:solidFill>
              </a:rPr>
              <a:t>$28 / hr  (4 credits × $7)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121408"/>
            <a:ext cx="5486400" cy="530352"/>
          </a:xfrm>
          <a:prstGeom prst="rect">
            <a:avLst/>
          </a:prstGeom>
          <a:solidFill>
            <a:srgbClr val="EBF5F8"/>
          </a:solidFill>
          <a:ln w="12700">
            <a:solidFill>
              <a:srgbClr val="C8E6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12140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Oracle all-in cost today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108960" y="2121408"/>
            <a:ext cx="2578608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B3C"/>
                </a:solidFill>
              </a:rPr>
              <a:t>$800K – $2M per year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706624"/>
            <a:ext cx="5486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70662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Snowflake base case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108960" y="2706624"/>
            <a:ext cx="2578608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5C6B"/>
                </a:solidFill>
              </a:rPr>
              <a:t>~$275K per year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291840"/>
            <a:ext cx="5486400" cy="530352"/>
          </a:xfrm>
          <a:prstGeom prst="rect">
            <a:avLst/>
          </a:prstGeom>
          <a:solidFill>
            <a:srgbClr val="EBF5F8"/>
          </a:solidFill>
          <a:ln w="12700">
            <a:solidFill>
              <a:srgbClr val="C8E6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2918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Annual saving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108960" y="3291840"/>
            <a:ext cx="2578608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7A50"/>
                </a:solidFill>
              </a:rPr>
              <a:t>$525K – $1.7M per year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877056"/>
            <a:ext cx="5486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87705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Migration investment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108960" y="3877056"/>
            <a:ext cx="2578608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B3C"/>
                </a:solidFill>
              </a:rPr>
              <a:t>$3M – $6M  (one-time)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462272"/>
            <a:ext cx="5486400" cy="530352"/>
          </a:xfrm>
          <a:prstGeom prst="rect">
            <a:avLst/>
          </a:prstGeom>
          <a:solidFill>
            <a:srgbClr val="EBF5F8"/>
          </a:solidFill>
          <a:ln w="12700">
            <a:solidFill>
              <a:srgbClr val="C8E6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46227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Payback period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108960" y="4462272"/>
            <a:ext cx="2578608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7D8E"/>
                </a:solidFill>
              </a:rPr>
              <a:t>2.3 – 4 years  (base case)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0" y="658368"/>
            <a:ext cx="5943600" cy="256032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16752" y="65836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KEY TAKEAWAYS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943600" y="950976"/>
            <a:ext cx="5943600" cy="841248"/>
          </a:xfrm>
          <a:prstGeom prst="rect">
            <a:avLst/>
          </a:prstGeom>
          <a:solidFill>
            <a:srgbClr val="EBF5F8"/>
          </a:solidFill>
          <a:ln w="12700">
            <a:solidFill>
              <a:srgbClr val="C8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43600" y="950976"/>
            <a:ext cx="64008" cy="841248"/>
          </a:xfrm>
          <a:prstGeom prst="rect">
            <a:avLst/>
          </a:prstGeom>
          <a:solidFill>
            <a:srgbClr val="C47A10"/>
          </a:solidFill>
          <a:ln w="12700">
            <a:solidFill>
              <a:srgbClr val="C47A1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987552"/>
            <a:ext cx="5733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7A10"/>
                </a:solidFill>
              </a:rPr>
              <a:t>$7 is per credit — not per hour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080760" y="1280160"/>
            <a:ext cx="5733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77777"/>
                </a:solidFill>
              </a:rPr>
              <a:t>A Medium warehouse costs $28/hr. This is the most common misquote in early Snowflake pricing conversations.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43600" y="1883664"/>
            <a:ext cx="5943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43600" y="1883664"/>
            <a:ext cx="64008" cy="841248"/>
          </a:xfrm>
          <a:prstGeom prst="rect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1920240"/>
            <a:ext cx="5733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5C6B"/>
                </a:solidFill>
              </a:rPr>
              <a:t>Storage cost is negligible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080760" y="2212848"/>
            <a:ext cx="5733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77777"/>
                </a:solidFill>
              </a:rPr>
              <a:t>6 TB Oracle compresses to 2 TB at $550/year. This is not a storage conversation.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43600" y="2816352"/>
            <a:ext cx="5943600" cy="841248"/>
          </a:xfrm>
          <a:prstGeom prst="rect">
            <a:avLst/>
          </a:prstGeom>
          <a:solidFill>
            <a:srgbClr val="EBF5F8"/>
          </a:solidFill>
          <a:ln w="12700">
            <a:solidFill>
              <a:srgbClr val="C8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943600" y="2816352"/>
            <a:ext cx="64008" cy="841248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0760" y="2852928"/>
            <a:ext cx="5733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7D8E"/>
                </a:solidFill>
              </a:rPr>
              <a:t>Compute is 80% of the Snowflake bill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080760" y="3145536"/>
            <a:ext cx="5733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77777"/>
                </a:solidFill>
              </a:rPr>
              <a:t>Runtime is driven by GB actually scanned — not GB stored. Partition pruning controls this entirely.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943600" y="3749040"/>
            <a:ext cx="5943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943600" y="3749040"/>
            <a:ext cx="64008" cy="841248"/>
          </a:xfrm>
          <a:prstGeom prst="rect">
            <a:avLst/>
          </a:prstGeom>
          <a:solidFill>
            <a:srgbClr val="B03020"/>
          </a:solidFill>
          <a:ln w="12700">
            <a:solidFill>
              <a:srgbClr val="B030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80760" y="3785616"/>
            <a:ext cx="5733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3020"/>
                </a:solidFill>
              </a:rPr>
              <a:t>600 PL/SQL objects are the migration risk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080760" y="4078224"/>
            <a:ext cx="5733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77777"/>
                </a:solidFill>
              </a:rPr>
              <a:t>Poorly rewritten procedures trigger full table scans and push annual cost from $120K to $500K.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943600" y="4681728"/>
            <a:ext cx="5943600" cy="841248"/>
          </a:xfrm>
          <a:prstGeom prst="rect">
            <a:avLst/>
          </a:prstGeom>
          <a:solidFill>
            <a:srgbClr val="EBF5F8"/>
          </a:solidFill>
          <a:ln w="12700">
            <a:solidFill>
              <a:srgbClr val="C8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943600" y="4681728"/>
            <a:ext cx="64008" cy="841248"/>
          </a:xfrm>
          <a:prstGeom prst="rect">
            <a:avLst/>
          </a:prstGeom>
          <a:solidFill>
            <a:srgbClr val="1A7A50"/>
          </a:solidFill>
          <a:ln w="12700">
            <a:solidFill>
              <a:srgbClr val="1A7A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80760" y="4718304"/>
            <a:ext cx="5733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A50"/>
                </a:solidFill>
              </a:rPr>
              <a:t>Sub-3-year payback is achievable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080760" y="5010912"/>
            <a:ext cx="5733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77777"/>
                </a:solidFill>
              </a:rPr>
              <a:t>Requires base case migration quality or better. Proper investment in the rewrite makes this realistic.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74320" y="6053328"/>
            <a:ext cx="11612880" cy="548640"/>
          </a:xfrm>
          <a:prstGeom prst="rect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" y="6053328"/>
            <a:ext cx="114300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"We estimate $275,000/year for Snowflake at $7/credit ($28/hr Medium WH). One-time migration: $3M–$6M. Break even in 4 years. Saving $500K+ annually from year 5 onwards."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6647688"/>
            <a:ext cx="11612880" cy="0"/>
          </a:xfrm>
          <a:prstGeom prst="line">
            <a:avLst/>
          </a:prstGeom>
          <a:noFill/>
          <a:ln w="6350">
            <a:solidFill>
              <a:srgbClr val="C8E6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6675120"/>
            <a:ext cx="1161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Confidential  ·  CFO Review  · 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Open Items — What We Need to Confirm Before Presenting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49840" y="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0C8D4"/>
                </a:solidFill>
              </a:rPr>
              <a:t>Slide 8 of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3020"/>
                </a:solidFill>
              </a:rPr>
              <a:t>Six items must be resolved to lock down the numbers. Items 1 and 2 have the highest impact on the business case.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11612880" cy="914400"/>
        </p:xfrm>
        <a:graphic>
          <a:graphicData uri="http://schemas.openxmlformats.org/drawingml/2006/table">
            <a:tbl>
              <a:tblPr/>
              <a:tblGrid>
                <a:gridCol w="347472"/>
                <a:gridCol w="2834640"/>
                <a:gridCol w="3931920"/>
                <a:gridCol w="2487168"/>
                <a:gridCol w="1371600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OPEN ITEM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WHY IT MATTERS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6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5C6B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B3C"/>
                          </a:solidFill>
                        </a:rPr>
                        <a:t>Confirm $7 = per credit, not per hour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77777"/>
                          </a:solidFill>
                        </a:rPr>
                        <a:t>Changes every cost number by 4× if misunderstood. Highest single impact item in this deck.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7A8A"/>
                          </a:solidFill>
                        </a:rPr>
                        <a:t>Snowflake account team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3020"/>
                          </a:solidFill>
                        </a:rPr>
                        <a:t>CRITICAL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5C6B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B3C"/>
                          </a:solidFill>
                        </a:rPr>
                        <a:t>Oracle all-in annual cost (license + infra + people)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77777"/>
                          </a:solidFill>
                        </a:rPr>
                        <a:t>Foundation of the payback calculation. Without this number no business case exists.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7A8A"/>
                          </a:solidFill>
                        </a:rPr>
                        <a:t>Finance / IT leadership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3020"/>
                          </a:solidFill>
                        </a:rPr>
                        <a:t>CRITICAL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5C6B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B3C"/>
                          </a:solidFill>
                        </a:rPr>
                        <a:t>Column selectivity % for top 20 batch jobs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77777"/>
                          </a:solidFill>
                        </a:rPr>
                        <a:t>Refines Step 3 of formula from estimated 15% to the actual figure from query plans.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7A8A"/>
                          </a:solidFill>
                        </a:rPr>
                        <a:t>Engineering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47A10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5C6B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B3C"/>
                          </a:solidFill>
                        </a:rPr>
                        <a:t>Benchmark top 5 jobs on Snowflake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77777"/>
                          </a:solidFill>
                        </a:rPr>
                        <a:t>Validates formula against real partitions_scanned output. Converts estimate to evidence.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7A8A"/>
                          </a:solidFill>
                        </a:rPr>
                        <a:t>Engineering — Snowflake POC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47A10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5C6B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B3C"/>
                          </a:solidFill>
                        </a:rPr>
                        <a:t>Confirm contracted credit rate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77777"/>
                          </a:solidFill>
                        </a:rPr>
                        <a:t>On-demand list rate vs negotiated enterprise rate can differ 30–40%. Affects all numbers.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7A8A"/>
                          </a:solidFill>
                        </a:rPr>
                        <a:t>Procurement / Snowflake AE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7D8E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8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5C6B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B3C"/>
                          </a:solidFill>
                        </a:rPr>
                        <a:t>Snowflake edition required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77777"/>
                          </a:solidFill>
                        </a:rPr>
                        <a:t>Business Critical adds ~33% to credit price. Likely mandatory for regulatory compliance.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7A8A"/>
                          </a:solidFill>
                        </a:rPr>
                        <a:t>Security / Compliance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7D8E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6163056"/>
            <a:ext cx="11612880" cy="530352"/>
          </a:xfrm>
          <a:prstGeom prst="rect">
            <a:avLst/>
          </a:prstGeom>
          <a:solidFill>
            <a:srgbClr val="EBF5F8"/>
          </a:solidFill>
          <a:ln w="12700">
            <a:solidFill>
              <a:srgbClr val="C8E6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6163056"/>
            <a:ext cx="11430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5C6B"/>
                </a:solidFill>
              </a:rPr>
              <a:t>Once items 1 and 2 are confirmed the deck numbers can be finalised and presented with full confidence.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4320" y="6647688"/>
            <a:ext cx="11612880" cy="0"/>
          </a:xfrm>
          <a:prstGeom prst="line">
            <a:avLst/>
          </a:prstGeom>
          <a:noFill/>
          <a:ln w="6350">
            <a:solidFill>
              <a:srgbClr val="C8E6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6675120"/>
            <a:ext cx="1161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Confidential  ·  CFO Review  · 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2026-05-29T00:13:32Z</dcterms:created>
  <dcterms:modified xsi:type="dcterms:W3CDTF">2026-05-29T00:13:32Z</dcterms:modified>
</cp:coreProperties>
</file>