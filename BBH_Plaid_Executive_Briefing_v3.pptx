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9"/>
    <p:sldId id="259" r:id="rId10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6E8F5"/>
                </a:solidFill>
              </a:rPr>
              <a:t>BBH × PLAID  |  OPEN BANKING INITIATIVE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A3"/>
                </a:solidFill>
              </a:rPr>
              <a:t>EXECUTIVE BRIEFING  ·  June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589520" y="155448"/>
            <a:ext cx="1371600" cy="420624"/>
          </a:xfrm>
          <a:prstGeom prst="rect">
            <a:avLst/>
          </a:prstGeom>
          <a:solidFill>
            <a:srgbClr val="C8651A"/>
          </a:solidFill>
          <a:ln w="12700">
            <a:solidFill>
              <a:srgbClr val="C865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1554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PENDING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APPROVAL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51663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54864" cy="3977640"/>
          </a:xfrm>
          <a:prstGeom prst="rect">
            <a:avLst/>
          </a:prstGeom>
          <a:solidFill>
            <a:srgbClr val="005B7F"/>
          </a:solidFill>
          <a:ln w="12700">
            <a:solidFill>
              <a:srgbClr val="005B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005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0D1B4B"/>
                </a:solidFill>
              </a:rPr>
              <a:t>THE ASK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3898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5B7F"/>
                </a:solidFill>
              </a:rPr>
              <a:t>Enable Open Banking via Plaid Core Exchange (FDX)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2064" y="1773936"/>
            <a:ext cx="164592" cy="164592"/>
          </a:xfrm>
          <a:prstGeom prst="ellipse">
            <a:avLst/>
          </a:prstGeom>
          <a:solidFill>
            <a:srgbClr val="005B7F"/>
          </a:solidFill>
          <a:ln w="12700">
            <a:solidFill>
              <a:srgbClr val="005B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71907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Integrate BBH Capital Partners accounts with Plaid's Core Exchange, exposing read-only FDX/OFX account data to authorized fintech applications via OAuth 2.0.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2064" y="2459736"/>
            <a:ext cx="164592" cy="164592"/>
          </a:xfrm>
          <a:prstGeom prst="ellipse">
            <a:avLst/>
          </a:prstGeom>
          <a:solidFill>
            <a:srgbClr val="005B7F"/>
          </a:solidFill>
          <a:ln w="12700">
            <a:solidFill>
              <a:srgbClr val="005B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40487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Allow clients to grant consent through Plaid Link, enabling secure data sharing without exposing BBH credentials.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2064" y="3145536"/>
            <a:ext cx="164592" cy="164592"/>
          </a:xfrm>
          <a:prstGeom prst="ellipse">
            <a:avLst/>
          </a:prstGeom>
          <a:solidFill>
            <a:srgbClr val="005B7F"/>
          </a:solidFill>
          <a:ln w="12700">
            <a:solidFill>
              <a:srgbClr val="005B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09067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Scope limited to account holdings, balances, transactions, and contact data — payments and asset transfers explicitly excluded.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3886200"/>
            <a:ext cx="4782312" cy="256032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136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D1B4B"/>
                </a:solidFill>
              </a:rPr>
              <a:t>DECISIONS REQUIRED FROM LEADERSHIP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2920" y="4224528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651A"/>
                </a:solidFill>
              </a:rPr>
              <a:t xml:space="preserve">▸  </a:t>
            </a:r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ARB approval of architecture &amp; security design (conditional approval acceptable to unblock engineering)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443484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651A"/>
                </a:solidFill>
              </a:rPr>
              <a:t xml:space="preserve">▸  </a:t>
            </a:r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Legal escalation: General Counsel, Head of Risk, CISO sign-off on Plaid Terms and Conditions gaps &amp; FDX indemnity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464515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651A"/>
                </a:solidFill>
              </a:rPr>
              <a:t xml:space="preserve">▸  </a:t>
            </a:r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Business leader acceptance of data custody and privacy risk before endpoint goes live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0D1B4B"/>
                </a:solidFill>
              </a:rPr>
              <a:t>WHERE WE ARE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23560" y="1389888"/>
            <a:ext cx="3291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23560" y="1389888"/>
            <a:ext cx="54864" cy="109728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1481328"/>
            <a:ext cx="1783080" cy="201168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4813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IN PROGRESS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797296" y="148132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Architecture &amp; Design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97296" y="17739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FA3"/>
                </a:solidFill>
              </a:rPr>
              <a:t>End-to-end OAuth 2.0 flow, FDX/OFX inbound schema, outbound Plaid hub, and STRIDE threat model are fully documented.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23560" y="2615184"/>
            <a:ext cx="3291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23560" y="2615184"/>
            <a:ext cx="54864" cy="10972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0" y="2706624"/>
            <a:ext cx="1783080" cy="2011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270662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SUBMITTED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5797296" y="2706624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ARB Review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797296" y="299923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FA3"/>
                </a:solidFill>
              </a:rPr>
              <a:t>Formal ARB submission complete. Security controls, infrastructure Q&amp;A, and NYDFS compliance analysis presented for Board sign-off.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623560" y="3840480"/>
            <a:ext cx="3291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623560" y="3840480"/>
            <a:ext cx="54864" cy="1097280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49440" y="3931920"/>
            <a:ext cx="1783080" cy="201168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39319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ESCALATION REQUIRED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5797296" y="393192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Legal Review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797296" y="42245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FA3"/>
                </a:solidFill>
              </a:rPr>
              <a:t>BBH Legal completed initial review of Plaid Data Partner Terms and FDX API License. Material gaps identified — cannot execute Terms and Conditions until resolved.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B7FA3"/>
                </a:solidFill>
              </a:rPr>
              <a:t>CONFIDENTIAL  ·  BBH Capital Partners Technology  ·  Plaid / FDX ARB Submission  ·  v4.2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6E8F5"/>
                </a:solidFill>
              </a:rPr>
              <a:t>RISKS, CONCERNS  &amp; 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9319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E7A"/>
                </a:solidFill>
              </a:rPr>
              <a:t>BBH × PLAID OPEN BANKING INITIATIVE  ·  June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571232" y="137160"/>
            <a:ext cx="1389888" cy="402336"/>
          </a:xfrm>
          <a:prstGeom prst="rect">
            <a:avLst/>
          </a:prstGeom>
          <a:solidFill>
            <a:srgbClr val="C8651A"/>
          </a:solidFill>
          <a:ln w="12700">
            <a:solidFill>
              <a:srgbClr val="C865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71232" y="13716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PENDING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APPROVAL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64592" y="804672"/>
            <a:ext cx="2852928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804672"/>
            <a:ext cx="54864" cy="31272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" y="804672"/>
            <a:ext cx="2798064" cy="34747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841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LEGAL CONCERNS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3464" y="1252728"/>
            <a:ext cx="45720" cy="12801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1216152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No BBH Skin-in-the-Game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93192" y="1408176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Plaid has no direct regulatory obligation to BBH clients — accountability gap if data is misused.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83464" y="1792224"/>
            <a:ext cx="45720" cy="12801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1755648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Terms and Conditions Gaps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93192" y="1947672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Current simple-letter agreement insufficient. Need stronger BBH–Plaid terms mirroring the Addepar-style Terms and Conditions with liability caps and indemnity parity.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83464" y="2331720"/>
            <a:ext cx="45720" cy="12801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295144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Regulatory Ambiguity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93192" y="2487168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Unclear which party bears NYDFS, CCPA, and GDPR regulatory duties over client data. Compliance responsibility gaps must be resolved pre-launch.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83464" y="2871216"/>
            <a:ext cx="45720" cy="12801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2834640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Private Bank Privacy Risk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93192" y="302666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PB clients expect heightened data protection. Exposing data through a third-party intermediary conflicts with those expectations.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83464" y="3410712"/>
            <a:ext cx="45720" cy="12801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337413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Business Buy-in Required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93192" y="3566160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Business owners must formally accept the risk. Endpoint cannot go live until Terms and Conditions and cyber security issues are fully resolved.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145536" y="804672"/>
            <a:ext cx="2852928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45536" y="804672"/>
            <a:ext cx="54864" cy="3127248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804672"/>
            <a:ext cx="2798064" cy="347472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841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SECURITY CONCERNS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64408" y="1252728"/>
            <a:ext cx="45720" cy="128016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74136" y="1216152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Phishing &amp; Spoofing Risk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74136" y="1408176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Users enter credentials into Plaid's portal bearing BBH branding — adversaries can clone the portal to harvest credentials. Plaid's anti-spoofing controls must be validated.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64408" y="1792224"/>
            <a:ext cx="45720" cy="128016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74136" y="1755648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MFA &amp; NYDFS 500.12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74136" y="1947672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Plaid must operate within BBH's MFA requirements and Risk-Based Step-up Authentication controls per NYDFS Part 500.12 regulations.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64408" y="2331720"/>
            <a:ext cx="45720" cy="128016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74136" y="2295144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Independent Kill Switch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74136" y="2487168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BBH must be able to block Plaid access instantly without impacting direct user logins — geo-blocking by country/region also required.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264408" y="2871216"/>
            <a:ext cx="45720" cy="128016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74136" y="2834640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Log Access &amp; SIEM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74136" y="302666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BBH requires access to Plaid's system admin logs and user auth details, authentication log ingestion into Splunk/SIEM, and RSA risk tool integration.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64408" y="3410712"/>
            <a:ext cx="45720" cy="128016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74136" y="337413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DFS / SOC Obligations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374136" y="3566160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DFS audit trail requirements and SOC compliance implications of delegating auth flows to a third-party intermediary must be assessed and documented.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126480" y="804672"/>
            <a:ext cx="2852928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804672"/>
            <a:ext cx="54864" cy="3127248"/>
          </a:xfrm>
          <a:prstGeom prst="rect">
            <a:avLst/>
          </a:prstGeom>
          <a:solidFill>
            <a:srgbClr val="7A5A1A"/>
          </a:solidFill>
          <a:ln w="12700">
            <a:solidFill>
              <a:srgbClr val="7A5A1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81344" y="804672"/>
            <a:ext cx="2798064" cy="347472"/>
          </a:xfrm>
          <a:prstGeom prst="rect">
            <a:avLst/>
          </a:prstGeom>
          <a:solidFill>
            <a:srgbClr val="7A5A1A"/>
          </a:solidFill>
          <a:ln w="12700">
            <a:solidFill>
              <a:srgbClr val="7A5A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2784" y="841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DATA MOVEMENT CONCERNS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45352" y="1252728"/>
            <a:ext cx="45720" cy="128016"/>
          </a:xfrm>
          <a:prstGeom prst="rect">
            <a:avLst/>
          </a:prstGeom>
          <a:solidFill>
            <a:srgbClr val="7A5A1A"/>
          </a:solidFill>
          <a:ln w="12700">
            <a:solidFill>
              <a:srgbClr val="7A5A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5080" y="1216152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Persistent Data Caching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355080" y="1408176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Plaid caches identity data, account/routing numbers, and raw transactions. Retention continues up to 30 days post-revocation — extending BBH's exposure window.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245352" y="1792224"/>
            <a:ext cx="45720" cy="128016"/>
          </a:xfrm>
          <a:prstGeom prst="rect">
            <a:avLst/>
          </a:prstGeom>
          <a:solidFill>
            <a:srgbClr val="7A5A1A"/>
          </a:solidFill>
          <a:ln w="12700">
            <a:solidFill>
              <a:srgbClr val="7A5A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55080" y="1755648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Ongoing Refresh Cycle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355080" y="1947672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Plaid performs periodic refreshes every 4–6 hours without explicit BBH initiation — data is continuously pulled and held outside BBH's perimeter.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245352" y="2331720"/>
            <a:ext cx="45720" cy="128016"/>
          </a:xfrm>
          <a:prstGeom prst="rect">
            <a:avLst/>
          </a:prstGeom>
          <a:solidFill>
            <a:srgbClr val="7A5A1A"/>
          </a:solidFill>
          <a:ln w="12700">
            <a:solidFill>
              <a:srgbClr val="7A5A1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2295144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Data Enrichment Outside BBH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355080" y="2487168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Plaid enriches transaction data (merchant names, category labels, overrides) independently — transformations occur outside BBH's control or audit trail.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245352" y="2871216"/>
            <a:ext cx="45720" cy="128016"/>
          </a:xfrm>
          <a:prstGeom prst="rect">
            <a:avLst/>
          </a:prstGeom>
          <a:solidFill>
            <a:srgbClr val="7A5A1A"/>
          </a:solidFill>
          <a:ln w="12700">
            <a:solidFill>
              <a:srgbClr val="7A5A1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55080" y="2834640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NYDFS / CCPA / GDPR Gap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355080" y="302666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Plaid's confidentiality obligations fall below BBH standards. Data residency and processing jurisdiction are unaddressed in the current agreement.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245352" y="3410712"/>
            <a:ext cx="45720" cy="128016"/>
          </a:xfrm>
          <a:prstGeom prst="rect">
            <a:avLst/>
          </a:prstGeom>
          <a:solidFill>
            <a:srgbClr val="7A5A1A"/>
          </a:solidFill>
          <a:ln w="12700">
            <a:solidFill>
              <a:srgbClr val="7A5A1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55080" y="337413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Encryption: Adequate but Unenforceable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355080" y="3566160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Plaid uses AES-256 at rest and TLS 1.2+ in transit — technically sound, but these commitments are not enforceable under the current Terms and Conditions.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64592" y="4005072"/>
            <a:ext cx="8814816" cy="8046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256032" y="40782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D6E8F5"/>
                </a:solidFill>
              </a:rPr>
              <a:t>NEXT STEPS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554480" y="4187952"/>
            <a:ext cx="256032" cy="25603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554480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865376" y="412394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6E8F5"/>
                </a:solidFill>
              </a:rPr>
              <a:t>ARB Decision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865376" y="4352544"/>
            <a:ext cx="1472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Conditional approval with legal carve-out to unblock engineering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383280" y="4114800"/>
            <a:ext cx="0" cy="585216"/>
          </a:xfrm>
          <a:prstGeom prst="line">
            <a:avLst/>
          </a:prstGeom>
          <a:noFill/>
          <a:ln w="6350">
            <a:solidFill>
              <a:srgbClr val="2A3B6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465576" y="4187952"/>
            <a:ext cx="256032" cy="25603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65576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776472" y="412394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6E8F5"/>
                </a:solidFill>
              </a:rPr>
              <a:t>Legal Escalation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776472" y="4352544"/>
            <a:ext cx="1472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GC, Head of Risk &amp; CISO sign-off on Terms and Conditions gaps, liability caps, indemnity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294376" y="4114800"/>
            <a:ext cx="0" cy="585216"/>
          </a:xfrm>
          <a:prstGeom prst="line">
            <a:avLst/>
          </a:prstGeom>
          <a:noFill/>
          <a:ln w="6350">
            <a:solidFill>
              <a:srgbClr val="2A3B6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376672" y="4187952"/>
            <a:ext cx="256032" cy="256032"/>
          </a:xfrm>
          <a:prstGeom prst="ellipse">
            <a:avLst/>
          </a:prstGeom>
          <a:solidFill>
            <a:srgbClr val="C8651A"/>
          </a:solidFill>
          <a:ln w="12700">
            <a:solidFill>
              <a:srgbClr val="C8651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76672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687568" y="412394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6E8F5"/>
                </a:solidFill>
              </a:rPr>
              <a:t>Plaid / FDX Negotiation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687568" y="4352544"/>
            <a:ext cx="1472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Mutual liability caps, NYDFS/CCPA processing terms, mandatory arbitration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7205472" y="4114800"/>
            <a:ext cx="0" cy="585216"/>
          </a:xfrm>
          <a:prstGeom prst="line">
            <a:avLst/>
          </a:prstGeom>
          <a:noFill/>
          <a:ln w="6350">
            <a:solidFill>
              <a:srgbClr val="2A3B6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287768" y="4187952"/>
            <a:ext cx="256032" cy="256032"/>
          </a:xfrm>
          <a:prstGeom prst="ellipse">
            <a:avLst/>
          </a:prstGeom>
          <a:solidFill>
            <a:srgbClr val="005B7F"/>
          </a:solidFill>
          <a:ln w="12700">
            <a:solidFill>
              <a:srgbClr val="005B7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287768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598664" y="412394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6E8F5"/>
                </a:solidFill>
              </a:rPr>
              <a:t>Pilot Scope Definition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598664" y="4352544"/>
            <a:ext cx="1472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Restrict to Private Bank clients only to limit initial data exposure scope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A5E7A"/>
                </a:solidFill>
              </a:rPr>
              <a:t>CONFIDENTIAL  ·  BBH Capital Partners Technology  ·  Plaid / FDX ARB Submission  ·  v4.2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0972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PLAID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02336" y="5029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9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× PLAID OPEN BANKING INITIATIVE  ·  June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479792" y="201168"/>
            <a:ext cx="1280160" cy="438912"/>
          </a:xfrm>
          <a:prstGeom prst="rect">
            <a:avLst/>
          </a:prstGeom>
          <a:solidFill>
            <a:srgbClr val="C8651A"/>
          </a:solidFill>
          <a:ln/>
        </p:spPr>
      </p:sp>
      <p:sp>
        <p:nvSpPr>
          <p:cNvPr id="6" name="Text 4"/>
          <p:cNvSpPr/>
          <p:nvPr/>
        </p:nvSpPr>
        <p:spPr>
          <a:xfrm>
            <a:off x="7479792" y="20116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4048" y="48737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BBH Capital Partners Technology  ·  Plaid / FDX ARB Submission  ·  v4.2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1078992"/>
            <a:ext cx="3977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1298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NETWORK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591056"/>
            <a:ext cx="3456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is an open-banking connectivity layer that links a consumer's financial accounts to third-party fintech apps — without sharing bank credentials with those apps.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42032"/>
            <a:ext cx="365760" cy="365760"/>
          </a:xfrm>
          <a:prstGeom prst="ellipse">
            <a:avLst/>
          </a:prstGeom>
          <a:solidFill>
            <a:srgbClr val="005B7F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15184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52144" y="250545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hub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52144" y="2761488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account, balance &amp; transaction data across thousands of institutions into one FDX/OFX feed.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58368" y="3273552"/>
            <a:ext cx="365760" cy="365760"/>
          </a:xfrm>
          <a:prstGeom prst="ellipse">
            <a:avLst/>
          </a:prstGeom>
          <a:solidFill>
            <a:srgbClr val="1A6B7A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46704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52144" y="323697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broker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152144" y="3493008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Link lets the client authorize sharing; the app receives a token, never BBH login credentials.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58368" y="4005072"/>
            <a:ext cx="365760" cy="365760"/>
          </a:xfrm>
          <a:prstGeom prst="ellipse">
            <a:avLst/>
          </a:prstGeom>
          <a:solidFill>
            <a:srgbClr val="1A7A4A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78224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52144" y="39684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distribution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52144" y="4224528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fintech apps read the data via Plaid's APIs — BBH exposes one endpoint, not many bespoke integrations.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4617720" y="1298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DATA FLOW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617720" y="1682496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36592" y="1810512"/>
            <a:ext cx="347472" cy="347472"/>
          </a:xfrm>
          <a:prstGeom prst="ellipse">
            <a:avLst/>
          </a:prstGeom>
          <a:solidFill>
            <a:srgbClr val="005B7F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1874520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30368" y="174650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Client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5230368" y="1965960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Initiates sharing in a fintech app &amp; selects BBH.</a:t>
            </a:r>
            <a:endParaRPr lang="en-US" sz="9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629400" y="2295144"/>
            <a:ext cx="146304" cy="146304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617720" y="2450592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36592" y="2578608"/>
            <a:ext cx="347472" cy="347472"/>
          </a:xfrm>
          <a:prstGeom prst="ellipse">
            <a:avLst/>
          </a:prstGeom>
          <a:solidFill>
            <a:srgbClr val="0D1B4B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2642616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30368" y="2514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Plaid Link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230368" y="273405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authenticates; consent captured, no credentials passed to the app.</a:t>
            </a:r>
            <a:endParaRPr lang="en-US" sz="9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629400" y="3063240"/>
            <a:ext cx="146304" cy="146304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4617720" y="3218688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4736592" y="3346704"/>
            <a:ext cx="347472" cy="347472"/>
          </a:xfrm>
          <a:prstGeom prst="ellipse">
            <a:avLst/>
          </a:prstGeom>
          <a:solidFill>
            <a:srgbClr val="1A7A4A"/>
          </a:solidFill>
          <a:ln/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9744" y="3410712"/>
            <a:ext cx="201168" cy="20116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230368" y="32826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BBH Core Exchange</a:t>
            </a:r>
            <a:endParaRPr lang="en-US" sz="1150" dirty="0"/>
          </a:p>
        </p:txBody>
      </p:sp>
      <p:sp>
        <p:nvSpPr>
          <p:cNvPr id="40" name="Text 30"/>
          <p:cNvSpPr/>
          <p:nvPr/>
        </p:nvSpPr>
        <p:spPr>
          <a:xfrm>
            <a:off x="5230368" y="350215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read-only FDX/OFX holdings, balances, transactions, contact data.</a:t>
            </a:r>
            <a:endParaRPr lang="en-US" sz="90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6629400" y="3831336"/>
            <a:ext cx="146304" cy="146304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4617720" y="3986784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3" name="Shape 32"/>
          <p:cNvSpPr/>
          <p:nvPr/>
        </p:nvSpPr>
        <p:spPr>
          <a:xfrm>
            <a:off x="4736592" y="4114800"/>
            <a:ext cx="347472" cy="347472"/>
          </a:xfrm>
          <a:prstGeom prst="ellipse">
            <a:avLst/>
          </a:prstGeom>
          <a:solidFill>
            <a:srgbClr val="1A6B7A"/>
          </a:solidFill>
          <a:ln/>
        </p:spPr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9744" y="4178808"/>
            <a:ext cx="201168" cy="201168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5230368" y="40507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Fintech App</a:t>
            </a:r>
            <a:endParaRPr lang="en-US" sz="1150" dirty="0"/>
          </a:p>
        </p:txBody>
      </p:sp>
      <p:sp>
        <p:nvSpPr>
          <p:cNvPr id="46" name="Text 34"/>
          <p:cNvSpPr/>
          <p:nvPr/>
        </p:nvSpPr>
        <p:spPr>
          <a:xfrm>
            <a:off x="5230368" y="427024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data via Plaid token. Payments &amp; transfers excluded.</a:t>
            </a:r>
            <a:endParaRPr lang="en-US" sz="900" dirty="0"/>
          </a:p>
        </p:txBody>
      </p:sp>
      <p:sp>
        <p:nvSpPr>
          <p:cNvPr id="47" name="Shape 35"/>
          <p:cNvSpPr/>
          <p:nvPr/>
        </p:nvSpPr>
        <p:spPr>
          <a:xfrm>
            <a:off x="384048" y="4572000"/>
            <a:ext cx="8394192" cy="0"/>
          </a:xfrm>
          <a:prstGeom prst="rect">
            <a:avLst/>
          </a:prstGeom>
          <a:solidFill>
            <a:srgbClr val="F4F7F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0972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DESIGN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02336" y="5029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9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AUTHENTICATION METHOD  ·  WHAT WE ARE ASKING LEADERSHIP TO APPROVE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479792" y="201168"/>
            <a:ext cx="1280160" cy="438912"/>
          </a:xfrm>
          <a:prstGeom prst="rect">
            <a:avLst/>
          </a:prstGeom>
          <a:solidFill>
            <a:srgbClr val="C8651A"/>
          </a:solidFill>
          <a:ln/>
        </p:spPr>
      </p:sp>
      <p:sp>
        <p:nvSpPr>
          <p:cNvPr id="6" name="Text 4"/>
          <p:cNvSpPr/>
          <p:nvPr/>
        </p:nvSpPr>
        <p:spPr>
          <a:xfrm>
            <a:off x="7479792" y="20116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4048" y="48737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BBH Capital Partners Technology  ·  Plaid / FDX ARB Submission  ·  v4.2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4048" y="10607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5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AUTHENTICATION METHOD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37160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17904"/>
            <a:ext cx="420624" cy="420624"/>
          </a:xfrm>
          <a:prstGeom prst="ellipse">
            <a:avLst/>
          </a:prstGeom>
          <a:solidFill>
            <a:srgbClr val="0D1B4B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600200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14813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Systematic, bot-based authentication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19568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drives login programmatically on the client's behalf via an automated agent against a BBH-branded portal — a departure from today's human-only, interactive login. OAuth 2.0 tokens replace credential reuse, but the auth event is machine-initiated.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384048" y="267004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12064" y="2825496"/>
            <a:ext cx="347472" cy="347472"/>
          </a:xfrm>
          <a:prstGeom prst="ellipse">
            <a:avLst/>
          </a:prstGeom>
          <a:solidFill>
            <a:srgbClr val="1A6B7A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" y="2903220"/>
            <a:ext cx="192024" cy="1920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87552" y="274320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2.0, not credentials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87552" y="2980944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7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consents once; BBH issues a scoped token. The app never sees the BBH password.</a:t>
            </a:r>
            <a:endParaRPr lang="en-US" sz="870" dirty="0"/>
          </a:p>
        </p:txBody>
      </p:sp>
      <p:sp>
        <p:nvSpPr>
          <p:cNvPr id="19" name="Shape 15"/>
          <p:cNvSpPr/>
          <p:nvPr/>
        </p:nvSpPr>
        <p:spPr>
          <a:xfrm>
            <a:off x="384048" y="340156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12064" y="3557016"/>
            <a:ext cx="347472" cy="347472"/>
          </a:xfrm>
          <a:prstGeom prst="ellipse">
            <a:avLst/>
          </a:prstGeom>
          <a:solidFill>
            <a:srgbClr val="C8651A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3634740"/>
            <a:ext cx="192024" cy="1920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87552" y="347472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Machine-initiated logins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987552" y="3712464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7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periodic auth — new vector vs. interactive sessions. Requires bot-aware controls.</a:t>
            </a:r>
            <a:endParaRPr lang="en-US" sz="870" dirty="0"/>
          </a:p>
        </p:txBody>
      </p:sp>
      <p:sp>
        <p:nvSpPr>
          <p:cNvPr id="24" name="Shape 19"/>
          <p:cNvSpPr/>
          <p:nvPr/>
        </p:nvSpPr>
        <p:spPr>
          <a:xfrm>
            <a:off x="384048" y="413308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12064" y="4288536"/>
            <a:ext cx="347472" cy="347472"/>
          </a:xfrm>
          <a:prstGeom prst="ellipse">
            <a:avLst/>
          </a:prstGeom>
          <a:solidFill>
            <a:srgbClr val="1A7A4A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" y="4366260"/>
            <a:ext cx="192024" cy="19202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87552" y="420624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&amp; risk controls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987552" y="4443984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70" dirty="0">
                <a:solidFill>
                  <a:srgbClr val="47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and risk-based step-up per NYDFS 500.12 must apply to the automated flow, not just humans.</a:t>
            </a:r>
            <a:endParaRPr lang="en-US" sz="870" dirty="0"/>
          </a:p>
        </p:txBody>
      </p:sp>
      <p:sp>
        <p:nvSpPr>
          <p:cNvPr id="29" name="Shape 23"/>
          <p:cNvSpPr/>
          <p:nvPr/>
        </p:nvSpPr>
        <p:spPr>
          <a:xfrm>
            <a:off x="4754880" y="1060704"/>
            <a:ext cx="4023360" cy="371246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0" name="Text 24"/>
          <p:cNvSpPr/>
          <p:nvPr/>
        </p:nvSpPr>
        <p:spPr>
          <a:xfrm>
            <a:off x="4956048" y="12070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ASKING RICK / McCABE TO APPROVE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4956048" y="1755648"/>
            <a:ext cx="402336" cy="402336"/>
          </a:xfrm>
          <a:prstGeom prst="ellipse">
            <a:avLst/>
          </a:prstGeom>
          <a:solidFill>
            <a:srgbClr val="C8651A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1847088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486400" y="1719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auth method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5486400" y="199339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systematic, bot-based authentication against a BBH-branded portal as an accepted design pattern.</a:t>
            </a:r>
            <a:endParaRPr lang="en-US" sz="920" dirty="0"/>
          </a:p>
        </p:txBody>
      </p:sp>
      <p:sp>
        <p:nvSpPr>
          <p:cNvPr id="35" name="Shape 28"/>
          <p:cNvSpPr/>
          <p:nvPr/>
        </p:nvSpPr>
        <p:spPr>
          <a:xfrm>
            <a:off x="4956048" y="2505456"/>
            <a:ext cx="402336" cy="402336"/>
          </a:xfrm>
          <a:prstGeom prst="ellipse">
            <a:avLst/>
          </a:prstGeom>
          <a:solidFill>
            <a:srgbClr val="1A6B7A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2596896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48640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Terms &amp; Conditions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5486400" y="27432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Plaid Terms and Conditions / FDX license posture — including the open gaps flagged for legal escalation.</a:t>
            </a:r>
            <a:endParaRPr lang="en-US" sz="920" dirty="0"/>
          </a:p>
        </p:txBody>
      </p:sp>
      <p:sp>
        <p:nvSpPr>
          <p:cNvPr id="39" name="Shape 31"/>
          <p:cNvSpPr/>
          <p:nvPr/>
        </p:nvSpPr>
        <p:spPr>
          <a:xfrm>
            <a:off x="4956048" y="3255264"/>
            <a:ext cx="402336" cy="402336"/>
          </a:xfrm>
          <a:prstGeom prst="ellipse">
            <a:avLst/>
          </a:prstGeom>
          <a:solidFill>
            <a:srgbClr val="C28A2E"/>
          </a:solidFill>
          <a:ln/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488" y="3346704"/>
            <a:ext cx="219456" cy="219456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486400" y="3218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posture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5486400" y="349300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that read-only PB client data transits and is cached by a third-party intermediary outside BBH's perimeter.</a:t>
            </a:r>
            <a:endParaRPr lang="en-US" sz="920" dirty="0"/>
          </a:p>
        </p:txBody>
      </p:sp>
      <p:sp>
        <p:nvSpPr>
          <p:cNvPr id="43" name="Shape 34"/>
          <p:cNvSpPr/>
          <p:nvPr/>
        </p:nvSpPr>
        <p:spPr>
          <a:xfrm>
            <a:off x="4956048" y="4005072"/>
            <a:ext cx="402336" cy="402336"/>
          </a:xfrm>
          <a:prstGeom prst="ellipse">
            <a:avLst/>
          </a:prstGeom>
          <a:solidFill>
            <a:srgbClr val="B5483A"/>
          </a:solidFill>
          <a:ln/>
        </p:spPr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7488" y="4096512"/>
            <a:ext cx="219456" cy="219456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486400" y="3968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risk tolerance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5486400" y="424281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a higher residual-risk tolerance to unblock the pilot ahead of full Terms and Conditions closure.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BBH x Plaid Open Banking – Executive Briefing</dc:title>
  <dc:subject>PptxGenJS Presentation</dc:subject>
  <dc:creator>PptxGenJS</dc:creator>
  <cp:lastModifiedBy>PptxGenJS</cp:lastModifiedBy>
  <cp:revision>1</cp:revision>
  <dcterms:created xsi:type="dcterms:W3CDTF">2026-06-03T14:45:35Z</dcterms:created>
  <dcterms:modified xsi:type="dcterms:W3CDTF">2026-06-03T14:45:35Z</dcterms:modified>
</cp:coreProperties>
</file>