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028090"/>
          </a:solidFill>
          <a:ln w="12700">
            <a:solidFill>
              <a:srgbClr val="028090"/>
            </a:solidFill>
            <a:prstDash val="solid"/>
          </a:ln>
        </p:spPr>
      </p:sp>
      <p:sp>
        <p:nvSpPr>
          <p:cNvPr id="3" name="Shape 1"/>
          <p:cNvSpPr/>
          <p:nvPr/>
        </p:nvSpPr>
        <p:spPr>
          <a:xfrm>
            <a:off x="182880" y="0"/>
            <a:ext cx="8961120" cy="64008"/>
          </a:xfrm>
          <a:prstGeom prst="rect">
            <a:avLst/>
          </a:prstGeom>
          <a:solidFill>
            <a:srgbClr val="00A896"/>
          </a:solidFill>
          <a:ln w="12700">
            <a:solidFill>
              <a:srgbClr val="00A896"/>
            </a:solidFill>
            <a:prstDash val="solid"/>
          </a:ln>
        </p:spPr>
      </p:sp>
      <p:sp>
        <p:nvSpPr>
          <p:cNvPr id="4" name="Shape 2"/>
          <p:cNvSpPr/>
          <p:nvPr/>
        </p:nvSpPr>
        <p:spPr>
          <a:xfrm>
            <a:off x="6217920" y="274320"/>
            <a:ext cx="4114800" cy="4114800"/>
          </a:xfrm>
          <a:prstGeom prst="ellipse">
            <a:avLst/>
          </a:prstGeom>
          <a:solidFill>
            <a:srgbClr val="028090">
              <a:alpha val="9000"/>
            </a:srgbClr>
          </a:solidFill>
          <a:ln w="12700">
            <a:solidFill>
              <a:srgbClr val="028090">
                <a:alpha val="22000"/>
              </a:srgbClr>
            </a:solidFill>
            <a:prstDash val="solid"/>
          </a:ln>
        </p:spPr>
      </p:sp>
      <p:sp>
        <p:nvSpPr>
          <p:cNvPr id="5" name="Shape 3"/>
          <p:cNvSpPr/>
          <p:nvPr/>
        </p:nvSpPr>
        <p:spPr>
          <a:xfrm>
            <a:off x="7132320" y="1097280"/>
            <a:ext cx="2560320" cy="2560320"/>
          </a:xfrm>
          <a:prstGeom prst="ellipse">
            <a:avLst/>
          </a:prstGeom>
          <a:solidFill>
            <a:srgbClr val="00A896">
              <a:alpha val="14000"/>
            </a:srgbClr>
          </a:solidFill>
          <a:ln w="12700">
            <a:solidFill>
              <a:srgbClr val="00A896">
                <a:alpha val="28000"/>
              </a:srgbClr>
            </a:solidFill>
            <a:prstDash val="solid"/>
          </a:ln>
        </p:spPr>
      </p:sp>
      <p:sp>
        <p:nvSpPr>
          <p:cNvPr id="6" name="Shape 4"/>
          <p:cNvSpPr/>
          <p:nvPr/>
        </p:nvSpPr>
        <p:spPr>
          <a:xfrm>
            <a:off x="384048" y="384048"/>
            <a:ext cx="2377440" cy="420624"/>
          </a:xfrm>
          <a:prstGeom prst="rect">
            <a:avLst>
              <a:gd name="adj" fmla="val 8696"/>
            </a:avLst>
          </a:prstGeom>
          <a:solidFill>
            <a:srgbClr val="028090"/>
          </a:solidFill>
          <a:ln w="12700">
            <a:solidFill>
              <a:srgbClr val="028090"/>
            </a:solidFill>
            <a:prstDash val="solid"/>
          </a:ln>
        </p:spPr>
      </p:sp>
      <p:sp>
        <p:nvSpPr>
          <p:cNvPr id="7" name="Text 5"/>
          <p:cNvSpPr/>
          <p:nvPr/>
        </p:nvSpPr>
        <p:spPr>
          <a:xfrm>
            <a:off x="384048" y="384048"/>
            <a:ext cx="2377440" cy="420624"/>
          </a:xfrm>
          <a:prstGeom prst="rect">
            <a:avLst/>
          </a:prstGeom>
          <a:noFill/>
          <a:ln/>
        </p:spPr>
        <p:txBody>
          <a:bodyPr wrap="square" lIns="0" tIns="0" rIns="0" bIns="0" rtlCol="0" anchor="ctr"/>
          <a:lstStyle/>
          <a:p>
            <a:pPr algn="ctr" indent="0" marL="0">
              <a:buNone/>
            </a:pPr>
            <a:r>
              <a:rPr lang="en-US" sz="800" b="1" spc="60" kern="0" dirty="0">
                <a:solidFill>
                  <a:srgbClr val="FFFFFF"/>
                </a:solidFill>
              </a:rPr>
              <a:t>BBH ENTERPRISE ARCHITECTURE</a:t>
            </a:r>
            <a:endParaRPr lang="en-US" sz="800" dirty="0"/>
          </a:p>
        </p:txBody>
      </p:sp>
      <p:sp>
        <p:nvSpPr>
          <p:cNvPr id="8" name="Text 6"/>
          <p:cNvSpPr/>
          <p:nvPr/>
        </p:nvSpPr>
        <p:spPr>
          <a:xfrm>
            <a:off x="384048" y="987552"/>
            <a:ext cx="7315200" cy="146304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Open Banking</a:t>
            </a:r>
            <a:endParaRPr lang="en-US" sz="4000" dirty="0"/>
          </a:p>
          <a:p>
            <a:pPr indent="0" marL="0">
              <a:buNone/>
            </a:pPr>
            <a:r>
              <a:rPr lang="en-US" sz="4000" b="1" dirty="0">
                <a:solidFill>
                  <a:srgbClr val="FFFFFF"/>
                </a:solidFill>
                <a:latin typeface="Calibri" pitchFamily="34" charset="0"/>
                <a:ea typeface="Calibri" pitchFamily="34" charset="-122"/>
                <a:cs typeface="Calibri" pitchFamily="34" charset="-120"/>
              </a:rPr>
              <a:t>Data Exchange Architecture</a:t>
            </a:r>
            <a:endParaRPr lang="en-US" sz="4000" dirty="0"/>
          </a:p>
        </p:txBody>
      </p:sp>
      <p:sp>
        <p:nvSpPr>
          <p:cNvPr id="9" name="Text 7"/>
          <p:cNvSpPr/>
          <p:nvPr/>
        </p:nvSpPr>
        <p:spPr>
          <a:xfrm>
            <a:off x="384048" y="2542032"/>
            <a:ext cx="7132320" cy="402336"/>
          </a:xfrm>
          <a:prstGeom prst="rect">
            <a:avLst/>
          </a:prstGeom>
          <a:noFill/>
          <a:ln/>
        </p:spPr>
        <p:txBody>
          <a:bodyPr wrap="square" rtlCol="0" anchor="ctr"/>
          <a:lstStyle/>
          <a:p>
            <a:pPr indent="0" marL="0">
              <a:buNone/>
            </a:pPr>
            <a:r>
              <a:rPr lang="en-US" sz="1500" dirty="0">
                <a:solidFill>
                  <a:srgbClr val="02C39A"/>
                </a:solidFill>
                <a:latin typeface="Calibri" pitchFamily="34" charset="0"/>
                <a:ea typeface="Calibri" pitchFamily="34" charset="-122"/>
                <a:cs typeface="Calibri" pitchFamily="34" charset="-120"/>
              </a:rPr>
              <a:t>BBH × Plaid Integration | Architecture Review Board Presentation</a:t>
            </a:r>
            <a:endParaRPr lang="en-US" sz="1500" dirty="0"/>
          </a:p>
        </p:txBody>
      </p:sp>
      <p:sp>
        <p:nvSpPr>
          <p:cNvPr id="10" name="Shape 8"/>
          <p:cNvSpPr/>
          <p:nvPr/>
        </p:nvSpPr>
        <p:spPr>
          <a:xfrm>
            <a:off x="384048" y="3035808"/>
            <a:ext cx="5029200" cy="36576"/>
          </a:xfrm>
          <a:prstGeom prst="rect">
            <a:avLst/>
          </a:prstGeom>
          <a:solidFill>
            <a:srgbClr val="028090"/>
          </a:solidFill>
          <a:ln w="12700">
            <a:solidFill>
              <a:srgbClr val="028090"/>
            </a:solidFill>
            <a:prstDash val="solid"/>
          </a:ln>
        </p:spPr>
      </p:sp>
      <p:sp>
        <p:nvSpPr>
          <p:cNvPr id="11" name="Text 9"/>
          <p:cNvSpPr/>
          <p:nvPr/>
        </p:nvSpPr>
        <p:spPr>
          <a:xfrm>
            <a:off x="384048" y="3145536"/>
            <a:ext cx="8229600" cy="292608"/>
          </a:xfrm>
          <a:prstGeom prst="rect">
            <a:avLst/>
          </a:prstGeom>
          <a:noFill/>
          <a:ln/>
        </p:spPr>
        <p:txBody>
          <a:bodyPr wrap="square" rtlCol="0" anchor="ctr"/>
          <a:lstStyle/>
          <a:p>
            <a:pPr indent="0" marL="0">
              <a:buNone/>
            </a:pPr>
            <a:r>
              <a:rPr lang="en-US" sz="1050" b="1" dirty="0">
                <a:solidFill>
                  <a:srgbClr val="8FA3A8"/>
                </a:solidFill>
                <a:latin typeface="Calibri" pitchFamily="34" charset="0"/>
                <a:ea typeface="Calibri" pitchFamily="34" charset="-122"/>
                <a:cs typeface="Calibri" pitchFamily="34" charset="-120"/>
              </a:rPr>
              <a:t>Presented by:  </a:t>
            </a:r>
            <a:pPr indent="0" marL="0">
              <a:buNone/>
            </a:pPr>
            <a:r>
              <a:rPr lang="en-US" sz="1050" dirty="0">
                <a:solidFill>
                  <a:srgbClr val="8FA3A8"/>
                </a:solidFill>
                <a:latin typeface="Calibri" pitchFamily="34" charset="0"/>
                <a:ea typeface="Calibri" pitchFamily="34" charset="-122"/>
                <a:cs typeface="Calibri" pitchFamily="34" charset="-120"/>
              </a:rPr>
              <a:t>BBH Solution Architecture &amp; Enterprise Architecture  </a:t>
            </a:r>
            <a:pPr indent="0" marL="0">
              <a:buNone/>
            </a:pPr>
            <a:r>
              <a:rPr lang="en-US" sz="1050" dirty="0">
                <a:solidFill>
                  <a:srgbClr val="028090"/>
                </a:solidFill>
                <a:latin typeface="Calibri" pitchFamily="34" charset="0"/>
                <a:ea typeface="Calibri" pitchFamily="34" charset="-122"/>
                <a:cs typeface="Calibri" pitchFamily="34" charset="-120"/>
              </a:rPr>
              <a:t> |  </a:t>
            </a:r>
            <a:pPr indent="0" marL="0">
              <a:buNone/>
            </a:pPr>
            <a:r>
              <a:rPr lang="en-US" sz="1050" dirty="0">
                <a:solidFill>
                  <a:srgbClr val="8FA3A8"/>
                </a:solidFill>
                <a:latin typeface="Calibri" pitchFamily="34" charset="0"/>
                <a:ea typeface="Calibri" pitchFamily="34" charset="-122"/>
                <a:cs typeface="Calibri" pitchFamily="34" charset="-120"/>
              </a:rPr>
              <a:t>March 2026</a:t>
            </a:r>
            <a:endParaRPr lang="en-US" sz="1050" dirty="0"/>
          </a:p>
        </p:txBody>
      </p:sp>
      <p:sp>
        <p:nvSpPr>
          <p:cNvPr id="12" name="Text 10"/>
          <p:cNvSpPr/>
          <p:nvPr/>
        </p:nvSpPr>
        <p:spPr>
          <a:xfrm>
            <a:off x="384048" y="3493008"/>
            <a:ext cx="8229600" cy="292608"/>
          </a:xfrm>
          <a:prstGeom prst="rect">
            <a:avLst/>
          </a:prstGeom>
          <a:noFill/>
          <a:ln/>
        </p:spPr>
        <p:txBody>
          <a:bodyPr wrap="square" rtlCol="0" anchor="ctr"/>
          <a:lstStyle/>
          <a:p>
            <a:pPr indent="0" marL="0">
              <a:buNone/>
            </a:pPr>
            <a:r>
              <a:rPr lang="en-US" sz="1050" b="1" dirty="0">
                <a:solidFill>
                  <a:srgbClr val="8FA3A8"/>
                </a:solidFill>
                <a:latin typeface="Calibri" pitchFamily="34" charset="0"/>
                <a:ea typeface="Calibri" pitchFamily="34" charset="-122"/>
                <a:cs typeface="Calibri" pitchFamily="34" charset="-120"/>
              </a:rPr>
              <a:t>Classification:  </a:t>
            </a:r>
            <a:pPr indent="0" marL="0">
              <a:buNone/>
            </a:pPr>
            <a:r>
              <a:rPr lang="en-US" sz="1050" dirty="0">
                <a:solidFill>
                  <a:srgbClr val="8FA3A8"/>
                </a:solidFill>
                <a:latin typeface="Calibri" pitchFamily="34" charset="0"/>
                <a:ea typeface="Calibri" pitchFamily="34" charset="-122"/>
                <a:cs typeface="Calibri" pitchFamily="34" charset="-120"/>
              </a:rPr>
              <a:t>Confidential &amp; Proprietary  </a:t>
            </a:r>
            <a:pPr indent="0" marL="0">
              <a:buNone/>
            </a:pPr>
            <a:r>
              <a:rPr lang="en-US" sz="1050" dirty="0">
                <a:solidFill>
                  <a:srgbClr val="028090"/>
                </a:solidFill>
                <a:latin typeface="Calibri" pitchFamily="34" charset="0"/>
                <a:ea typeface="Calibri" pitchFamily="34" charset="-122"/>
                <a:cs typeface="Calibri" pitchFamily="34" charset="-120"/>
              </a:rPr>
              <a:t> |  </a:t>
            </a:r>
            <a:pPr indent="0" marL="0">
              <a:buNone/>
            </a:pPr>
            <a:r>
              <a:rPr lang="en-US" sz="1050" b="1" dirty="0">
                <a:solidFill>
                  <a:srgbClr val="8FA3A8"/>
                </a:solidFill>
                <a:latin typeface="Calibri" pitchFamily="34" charset="0"/>
                <a:ea typeface="Calibri" pitchFamily="34" charset="-122"/>
                <a:cs typeface="Calibri" pitchFamily="34" charset="-120"/>
              </a:rPr>
              <a:t>Audience:  </a:t>
            </a:r>
            <a:pPr indent="0" marL="0">
              <a:buNone/>
            </a:pPr>
            <a:r>
              <a:rPr lang="en-US" sz="1050" dirty="0">
                <a:solidFill>
                  <a:srgbClr val="8FA3A8"/>
                </a:solidFill>
                <a:latin typeface="Calibri" pitchFamily="34" charset="0"/>
                <a:ea typeface="Calibri" pitchFamily="34" charset="-122"/>
                <a:cs typeface="Calibri" pitchFamily="34" charset="-120"/>
              </a:rPr>
              <a:t>Architecture Review Board · CISO · Risk</a:t>
            </a:r>
            <a:endParaRPr lang="en-US" sz="1050" dirty="0"/>
          </a:p>
        </p:txBody>
      </p:sp>
      <p:sp>
        <p:nvSpPr>
          <p:cNvPr id="13" name="Shape 11"/>
          <p:cNvSpPr/>
          <p:nvPr/>
        </p:nvSpPr>
        <p:spPr>
          <a:xfrm>
            <a:off x="0" y="4773168"/>
            <a:ext cx="9144000" cy="370332"/>
          </a:xfrm>
          <a:prstGeom prst="rect">
            <a:avLst/>
          </a:prstGeom>
          <a:solidFill>
            <a:srgbClr val="1A2F4E"/>
          </a:solidFill>
          <a:ln w="12700">
            <a:solidFill>
              <a:srgbClr val="1A2F4E"/>
            </a:solidFill>
            <a:prstDash val="solid"/>
          </a:ln>
        </p:spPr>
      </p:sp>
      <p:sp>
        <p:nvSpPr>
          <p:cNvPr id="14" name="Text 12"/>
          <p:cNvSpPr/>
          <p:nvPr/>
        </p:nvSpPr>
        <p:spPr>
          <a:xfrm>
            <a:off x="320040" y="4786884"/>
            <a:ext cx="8503920" cy="310896"/>
          </a:xfrm>
          <a:prstGeom prst="rect">
            <a:avLst/>
          </a:prstGeom>
          <a:noFill/>
          <a:ln/>
        </p:spPr>
        <p:txBody>
          <a:bodyPr wrap="square" rtlCol="0" anchor="ctr"/>
          <a:lstStyle/>
          <a:p>
            <a:pPr indent="0" marL="0">
              <a:buNone/>
            </a:pPr>
            <a:r>
              <a:rPr lang="en-US" sz="850" dirty="0">
                <a:solidFill>
                  <a:srgbClr val="8FA3A8"/>
                </a:solidFill>
              </a:rPr>
              <a:t>© 2026 Brown Brothers Harriman &amp; Co. | Confidential &amp; Proprietary | Not to be reproduced without the explicit consent of BBH &amp; Co.</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9"/>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A1628"/>
          </a:solidFill>
          <a:ln w="12700">
            <a:solidFill>
              <a:srgbClr val="0A1628"/>
            </a:solidFill>
            <a:prstDash val="solid"/>
          </a:ln>
        </p:spPr>
      </p:sp>
      <p:sp>
        <p:nvSpPr>
          <p:cNvPr id="3" name="Shape 1"/>
          <p:cNvSpPr/>
          <p:nvPr/>
        </p:nvSpPr>
        <p:spPr>
          <a:xfrm>
            <a:off x="0" y="749808"/>
            <a:ext cx="9144000" cy="54864"/>
          </a:xfrm>
          <a:prstGeom prst="rect">
            <a:avLst/>
          </a:prstGeom>
          <a:solidFill>
            <a:srgbClr val="028090"/>
          </a:solidFill>
          <a:ln w="12700">
            <a:solidFill>
              <a:srgbClr val="028090"/>
            </a:solidFill>
            <a:prstDash val="solid"/>
          </a:ln>
        </p:spPr>
      </p:sp>
      <p:sp>
        <p:nvSpPr>
          <p:cNvPr id="4" name="Text 2"/>
          <p:cNvSpPr/>
          <p:nvPr/>
        </p:nvSpPr>
        <p:spPr>
          <a:xfrm>
            <a:off x="365760" y="0"/>
            <a:ext cx="8229600" cy="749808"/>
          </a:xfrm>
          <a:prstGeom prst="rect">
            <a:avLst/>
          </a:prstGeom>
          <a:noFill/>
          <a:ln/>
        </p:spPr>
        <p:txBody>
          <a:bodyPr wrap="square" rtlCol="0" anchor="ctr"/>
          <a:lstStyle/>
          <a:p>
            <a:pPr indent="0" marL="0">
              <a:buNone/>
            </a:pPr>
            <a:r>
              <a:rPr lang="en-US" sz="2400" b="1" spc="100" kern="0" dirty="0">
                <a:solidFill>
                  <a:srgbClr val="FFFFFF"/>
                </a:solidFill>
                <a:latin typeface="Calibri" pitchFamily="34" charset="0"/>
                <a:ea typeface="Calibri" pitchFamily="34" charset="-122"/>
                <a:cs typeface="Calibri" pitchFamily="34" charset="-120"/>
              </a:rPr>
              <a:t>TABLE OF CONTENTS</a:t>
            </a:r>
            <a:endParaRPr lang="en-US" sz="2400" dirty="0"/>
          </a:p>
        </p:txBody>
      </p:sp>
      <p:sp>
        <p:nvSpPr>
          <p:cNvPr id="5" name="Shape 3"/>
          <p:cNvSpPr/>
          <p:nvPr/>
        </p:nvSpPr>
        <p:spPr>
          <a:xfrm>
            <a:off x="320040" y="969264"/>
            <a:ext cx="8503920" cy="512064"/>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6" name="Shape 4"/>
          <p:cNvSpPr/>
          <p:nvPr/>
        </p:nvSpPr>
        <p:spPr>
          <a:xfrm>
            <a:off x="320040" y="969264"/>
            <a:ext cx="530352" cy="512064"/>
          </a:xfrm>
          <a:prstGeom prst="rect">
            <a:avLst/>
          </a:prstGeom>
          <a:solidFill>
            <a:srgbClr val="028090"/>
          </a:solidFill>
          <a:ln w="12700">
            <a:solidFill>
              <a:srgbClr val="028090"/>
            </a:solidFill>
            <a:prstDash val="solid"/>
          </a:ln>
        </p:spPr>
      </p:sp>
      <p:sp>
        <p:nvSpPr>
          <p:cNvPr id="7" name="Text 5"/>
          <p:cNvSpPr/>
          <p:nvPr/>
        </p:nvSpPr>
        <p:spPr>
          <a:xfrm>
            <a:off x="320040" y="969264"/>
            <a:ext cx="530352" cy="512064"/>
          </a:xfrm>
          <a:prstGeom prst="rect">
            <a:avLst/>
          </a:prstGeom>
          <a:noFill/>
          <a:ln/>
        </p:spPr>
        <p:txBody>
          <a:bodyPr wrap="square" lIns="0" tIns="0" rIns="0" bIns="0" rtlCol="0" anchor="ctr"/>
          <a:lstStyle/>
          <a:p>
            <a:pPr algn="ctr" indent="0" marL="0">
              <a:buNone/>
            </a:pPr>
            <a:r>
              <a:rPr lang="en-US" sz="1500" b="1" dirty="0">
                <a:solidFill>
                  <a:srgbClr val="FFFFFF"/>
                </a:solidFill>
              </a:rPr>
              <a:t>01</a:t>
            </a:r>
            <a:endParaRPr lang="en-US" sz="1500" dirty="0"/>
          </a:p>
        </p:txBody>
      </p:sp>
      <p:sp>
        <p:nvSpPr>
          <p:cNvPr id="8" name="Text 6"/>
          <p:cNvSpPr/>
          <p:nvPr/>
        </p:nvSpPr>
        <p:spPr>
          <a:xfrm>
            <a:off x="969264" y="1005840"/>
            <a:ext cx="7726680" cy="219456"/>
          </a:xfrm>
          <a:prstGeom prst="rect">
            <a:avLst/>
          </a:prstGeom>
          <a:noFill/>
          <a:ln/>
        </p:spPr>
        <p:txBody>
          <a:bodyPr wrap="square" rtlCol="0" anchor="ctr"/>
          <a:lstStyle/>
          <a:p>
            <a:pPr indent="0" marL="0">
              <a:buNone/>
            </a:pPr>
            <a:r>
              <a:rPr lang="en-US" sz="1150" b="1" dirty="0">
                <a:solidFill>
                  <a:srgbClr val="0A1628"/>
                </a:solidFill>
                <a:latin typeface="Calibri" pitchFamily="34" charset="0"/>
                <a:ea typeface="Calibri" pitchFamily="34" charset="-122"/>
                <a:cs typeface="Calibri" pitchFamily="34" charset="-120"/>
              </a:rPr>
              <a:t>Executive Summary — What is Plaid &amp; Why BBH</a:t>
            </a:r>
            <a:endParaRPr lang="en-US" sz="1150" dirty="0"/>
          </a:p>
        </p:txBody>
      </p:sp>
      <p:sp>
        <p:nvSpPr>
          <p:cNvPr id="9" name="Text 7"/>
          <p:cNvSpPr/>
          <p:nvPr/>
        </p:nvSpPr>
        <p:spPr>
          <a:xfrm>
            <a:off x="969264" y="1252728"/>
            <a:ext cx="7726680" cy="182880"/>
          </a:xfrm>
          <a:prstGeom prst="rect">
            <a:avLst/>
          </a:prstGeom>
          <a:noFill/>
          <a:ln/>
        </p:spPr>
        <p:txBody>
          <a:bodyPr wrap="square" rtlCol="0" anchor="ctr"/>
          <a:lstStyle/>
          <a:p>
            <a:pPr indent="0" marL="0">
              <a:buNone/>
            </a:pPr>
            <a:r>
              <a:rPr lang="en-US" sz="900" dirty="0">
                <a:solidFill>
                  <a:srgbClr val="8FA3A8"/>
                </a:solidFill>
                <a:latin typeface="Calibri" pitchFamily="34" charset="0"/>
                <a:ea typeface="Calibri" pitchFamily="34" charset="-122"/>
                <a:cs typeface="Calibri" pitchFamily="34" charset="-120"/>
              </a:rPr>
              <a:t>Platform overview · 12,000+ institution network · Open banking strategic value</a:t>
            </a:r>
            <a:endParaRPr lang="en-US" sz="900" dirty="0"/>
          </a:p>
        </p:txBody>
      </p:sp>
      <p:sp>
        <p:nvSpPr>
          <p:cNvPr id="10" name="Shape 8"/>
          <p:cNvSpPr/>
          <p:nvPr/>
        </p:nvSpPr>
        <p:spPr>
          <a:xfrm>
            <a:off x="320040" y="1531620"/>
            <a:ext cx="8503920" cy="512064"/>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11" name="Shape 9"/>
          <p:cNvSpPr/>
          <p:nvPr/>
        </p:nvSpPr>
        <p:spPr>
          <a:xfrm>
            <a:off x="320040" y="1531620"/>
            <a:ext cx="530352" cy="512064"/>
          </a:xfrm>
          <a:prstGeom prst="rect">
            <a:avLst/>
          </a:prstGeom>
          <a:solidFill>
            <a:srgbClr val="1A2F4E"/>
          </a:solidFill>
          <a:ln w="12700">
            <a:solidFill>
              <a:srgbClr val="1A2F4E"/>
            </a:solidFill>
            <a:prstDash val="solid"/>
          </a:ln>
        </p:spPr>
      </p:sp>
      <p:sp>
        <p:nvSpPr>
          <p:cNvPr id="12" name="Text 10"/>
          <p:cNvSpPr/>
          <p:nvPr/>
        </p:nvSpPr>
        <p:spPr>
          <a:xfrm>
            <a:off x="320040" y="1531620"/>
            <a:ext cx="530352" cy="512064"/>
          </a:xfrm>
          <a:prstGeom prst="rect">
            <a:avLst/>
          </a:prstGeom>
          <a:noFill/>
          <a:ln/>
        </p:spPr>
        <p:txBody>
          <a:bodyPr wrap="square" lIns="0" tIns="0" rIns="0" bIns="0" rtlCol="0" anchor="ctr"/>
          <a:lstStyle/>
          <a:p>
            <a:pPr algn="ctr" indent="0" marL="0">
              <a:buNone/>
            </a:pPr>
            <a:r>
              <a:rPr lang="en-US" sz="1500" b="1" dirty="0">
                <a:solidFill>
                  <a:srgbClr val="FFFFFF"/>
                </a:solidFill>
              </a:rPr>
              <a:t>02</a:t>
            </a:r>
            <a:endParaRPr lang="en-US" sz="1500" dirty="0"/>
          </a:p>
        </p:txBody>
      </p:sp>
      <p:sp>
        <p:nvSpPr>
          <p:cNvPr id="13" name="Text 11"/>
          <p:cNvSpPr/>
          <p:nvPr/>
        </p:nvSpPr>
        <p:spPr>
          <a:xfrm>
            <a:off x="969264" y="1568196"/>
            <a:ext cx="7726680" cy="219456"/>
          </a:xfrm>
          <a:prstGeom prst="rect">
            <a:avLst/>
          </a:prstGeom>
          <a:noFill/>
          <a:ln/>
        </p:spPr>
        <p:txBody>
          <a:bodyPr wrap="square" rtlCol="0" anchor="ctr"/>
          <a:lstStyle/>
          <a:p>
            <a:pPr indent="0" marL="0">
              <a:buNone/>
            </a:pPr>
            <a:r>
              <a:rPr lang="en-US" sz="1150" b="1" dirty="0">
                <a:solidFill>
                  <a:srgbClr val="0A1628"/>
                </a:solidFill>
                <a:latin typeface="Calibri" pitchFamily="34" charset="0"/>
                <a:ea typeface="Calibri" pitchFamily="34" charset="-122"/>
                <a:cs typeface="Calibri" pitchFamily="34" charset="-120"/>
              </a:rPr>
              <a:t>BBH Data Exchange — Outbound Architecture</a:t>
            </a:r>
            <a:endParaRPr lang="en-US" sz="1150" dirty="0"/>
          </a:p>
        </p:txBody>
      </p:sp>
      <p:sp>
        <p:nvSpPr>
          <p:cNvPr id="14" name="Text 12"/>
          <p:cNvSpPr/>
          <p:nvPr/>
        </p:nvSpPr>
        <p:spPr>
          <a:xfrm>
            <a:off x="969264" y="1815084"/>
            <a:ext cx="7726680" cy="182880"/>
          </a:xfrm>
          <a:prstGeom prst="rect">
            <a:avLst/>
          </a:prstGeom>
          <a:noFill/>
          <a:ln/>
        </p:spPr>
        <p:txBody>
          <a:bodyPr wrap="square" rtlCol="0" anchor="ctr"/>
          <a:lstStyle/>
          <a:p>
            <a:pPr indent="0" marL="0">
              <a:buNone/>
            </a:pPr>
            <a:r>
              <a:rPr lang="en-US" sz="900" dirty="0">
                <a:solidFill>
                  <a:srgbClr val="8FA3A8"/>
                </a:solidFill>
                <a:latin typeface="Calibri" pitchFamily="34" charset="0"/>
                <a:ea typeface="Calibri" pitchFamily="34" charset="-122"/>
                <a:cs typeface="Calibri" pitchFamily="34" charset="-120"/>
              </a:rPr>
              <a:t>Plaid as data exchange hub · Standardized schema · Security &amp; consent model</a:t>
            </a:r>
            <a:endParaRPr lang="en-US" sz="900" dirty="0"/>
          </a:p>
        </p:txBody>
      </p:sp>
      <p:sp>
        <p:nvSpPr>
          <p:cNvPr id="15" name="Shape 13"/>
          <p:cNvSpPr/>
          <p:nvPr/>
        </p:nvSpPr>
        <p:spPr>
          <a:xfrm>
            <a:off x="320040" y="2093976"/>
            <a:ext cx="8503920" cy="512064"/>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16" name="Shape 14"/>
          <p:cNvSpPr/>
          <p:nvPr/>
        </p:nvSpPr>
        <p:spPr>
          <a:xfrm>
            <a:off x="320040" y="2093976"/>
            <a:ext cx="530352" cy="512064"/>
          </a:xfrm>
          <a:prstGeom prst="rect">
            <a:avLst/>
          </a:prstGeom>
          <a:solidFill>
            <a:srgbClr val="028090"/>
          </a:solidFill>
          <a:ln w="12700">
            <a:solidFill>
              <a:srgbClr val="028090"/>
            </a:solidFill>
            <a:prstDash val="solid"/>
          </a:ln>
        </p:spPr>
      </p:sp>
      <p:sp>
        <p:nvSpPr>
          <p:cNvPr id="17" name="Text 15"/>
          <p:cNvSpPr/>
          <p:nvPr/>
        </p:nvSpPr>
        <p:spPr>
          <a:xfrm>
            <a:off x="320040" y="2093976"/>
            <a:ext cx="530352" cy="512064"/>
          </a:xfrm>
          <a:prstGeom prst="rect">
            <a:avLst/>
          </a:prstGeom>
          <a:noFill/>
          <a:ln/>
        </p:spPr>
        <p:txBody>
          <a:bodyPr wrap="square" lIns="0" tIns="0" rIns="0" bIns="0" rtlCol="0" anchor="ctr"/>
          <a:lstStyle/>
          <a:p>
            <a:pPr algn="ctr" indent="0" marL="0">
              <a:buNone/>
            </a:pPr>
            <a:r>
              <a:rPr lang="en-US" sz="1500" b="1" dirty="0">
                <a:solidFill>
                  <a:srgbClr val="FFFFFF"/>
                </a:solidFill>
              </a:rPr>
              <a:t>03</a:t>
            </a:r>
            <a:endParaRPr lang="en-US" sz="1500" dirty="0"/>
          </a:p>
        </p:txBody>
      </p:sp>
      <p:sp>
        <p:nvSpPr>
          <p:cNvPr id="18" name="Text 16"/>
          <p:cNvSpPr/>
          <p:nvPr/>
        </p:nvSpPr>
        <p:spPr>
          <a:xfrm>
            <a:off x="969264" y="2130552"/>
            <a:ext cx="7726680" cy="219456"/>
          </a:xfrm>
          <a:prstGeom prst="rect">
            <a:avLst/>
          </a:prstGeom>
          <a:noFill/>
          <a:ln/>
        </p:spPr>
        <p:txBody>
          <a:bodyPr wrap="square" rtlCol="0" anchor="ctr"/>
          <a:lstStyle/>
          <a:p>
            <a:pPr indent="0" marL="0">
              <a:buNone/>
            </a:pPr>
            <a:r>
              <a:rPr lang="en-US" sz="1150" b="1" dirty="0">
                <a:solidFill>
                  <a:srgbClr val="0A1628"/>
                </a:solidFill>
                <a:latin typeface="Calibri" pitchFamily="34" charset="0"/>
                <a:ea typeface="Calibri" pitchFamily="34" charset="-122"/>
                <a:cs typeface="Calibri" pitchFamily="34" charset="-120"/>
              </a:rPr>
              <a:t>BBH Data Exchange — Inbound Architecture</a:t>
            </a:r>
            <a:endParaRPr lang="en-US" sz="1150" dirty="0"/>
          </a:p>
        </p:txBody>
      </p:sp>
      <p:sp>
        <p:nvSpPr>
          <p:cNvPr id="19" name="Text 17"/>
          <p:cNvSpPr/>
          <p:nvPr/>
        </p:nvSpPr>
        <p:spPr>
          <a:xfrm>
            <a:off x="969264" y="2377440"/>
            <a:ext cx="7726680" cy="182880"/>
          </a:xfrm>
          <a:prstGeom prst="rect">
            <a:avLst/>
          </a:prstGeom>
          <a:noFill/>
          <a:ln/>
        </p:spPr>
        <p:txBody>
          <a:bodyPr wrap="square" rtlCol="0" anchor="ctr"/>
          <a:lstStyle/>
          <a:p>
            <a:pPr indent="0" marL="0">
              <a:buNone/>
            </a:pPr>
            <a:r>
              <a:rPr lang="en-US" sz="900" dirty="0">
                <a:solidFill>
                  <a:srgbClr val="8FA3A8"/>
                </a:solidFill>
                <a:latin typeface="Calibri" pitchFamily="34" charset="0"/>
                <a:ea typeface="Calibri" pitchFamily="34" charset="-122"/>
                <a:cs typeface="Calibri" pitchFamily="34" charset="-120"/>
              </a:rPr>
              <a:t>FDX/OFX ingestion · DMZ perimeter · CP Services · Internal data stores</a:t>
            </a:r>
            <a:endParaRPr lang="en-US" sz="900" dirty="0"/>
          </a:p>
        </p:txBody>
      </p:sp>
      <p:sp>
        <p:nvSpPr>
          <p:cNvPr id="20" name="Shape 18"/>
          <p:cNvSpPr/>
          <p:nvPr/>
        </p:nvSpPr>
        <p:spPr>
          <a:xfrm>
            <a:off x="320040" y="2656332"/>
            <a:ext cx="8503920" cy="512064"/>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21" name="Shape 19"/>
          <p:cNvSpPr/>
          <p:nvPr/>
        </p:nvSpPr>
        <p:spPr>
          <a:xfrm>
            <a:off x="320040" y="2656332"/>
            <a:ext cx="530352" cy="512064"/>
          </a:xfrm>
          <a:prstGeom prst="rect">
            <a:avLst/>
          </a:prstGeom>
          <a:solidFill>
            <a:srgbClr val="1A2F4E"/>
          </a:solidFill>
          <a:ln w="12700">
            <a:solidFill>
              <a:srgbClr val="1A2F4E"/>
            </a:solidFill>
            <a:prstDash val="solid"/>
          </a:ln>
        </p:spPr>
      </p:sp>
      <p:sp>
        <p:nvSpPr>
          <p:cNvPr id="22" name="Text 20"/>
          <p:cNvSpPr/>
          <p:nvPr/>
        </p:nvSpPr>
        <p:spPr>
          <a:xfrm>
            <a:off x="320040" y="2656332"/>
            <a:ext cx="530352" cy="512064"/>
          </a:xfrm>
          <a:prstGeom prst="rect">
            <a:avLst/>
          </a:prstGeom>
          <a:noFill/>
          <a:ln/>
        </p:spPr>
        <p:txBody>
          <a:bodyPr wrap="square" lIns="0" tIns="0" rIns="0" bIns="0" rtlCol="0" anchor="ctr"/>
          <a:lstStyle/>
          <a:p>
            <a:pPr algn="ctr" indent="0" marL="0">
              <a:buNone/>
            </a:pPr>
            <a:r>
              <a:rPr lang="en-US" sz="1500" b="1" dirty="0">
                <a:solidFill>
                  <a:srgbClr val="FFFFFF"/>
                </a:solidFill>
              </a:rPr>
              <a:t>04</a:t>
            </a:r>
            <a:endParaRPr lang="en-US" sz="1500" dirty="0"/>
          </a:p>
        </p:txBody>
      </p:sp>
      <p:sp>
        <p:nvSpPr>
          <p:cNvPr id="23" name="Text 21"/>
          <p:cNvSpPr/>
          <p:nvPr/>
        </p:nvSpPr>
        <p:spPr>
          <a:xfrm>
            <a:off x="969264" y="2692908"/>
            <a:ext cx="7726680" cy="219456"/>
          </a:xfrm>
          <a:prstGeom prst="rect">
            <a:avLst/>
          </a:prstGeom>
          <a:noFill/>
          <a:ln/>
        </p:spPr>
        <p:txBody>
          <a:bodyPr wrap="square" rtlCol="0" anchor="ctr"/>
          <a:lstStyle/>
          <a:p>
            <a:pPr indent="0" marL="0">
              <a:buNone/>
            </a:pPr>
            <a:r>
              <a:rPr lang="en-US" sz="1150" b="1" dirty="0">
                <a:solidFill>
                  <a:srgbClr val="0A1628"/>
                </a:solidFill>
                <a:latin typeface="Calibri" pitchFamily="34" charset="0"/>
                <a:ea typeface="Calibri" pitchFamily="34" charset="-122"/>
                <a:cs typeface="Calibri" pitchFamily="34" charset="-120"/>
              </a:rPr>
              <a:t>Integration Flow — OAuth 2.0 &amp; Token Exchange</a:t>
            </a:r>
            <a:endParaRPr lang="en-US" sz="1150" dirty="0"/>
          </a:p>
        </p:txBody>
      </p:sp>
      <p:sp>
        <p:nvSpPr>
          <p:cNvPr id="24" name="Text 22"/>
          <p:cNvSpPr/>
          <p:nvPr/>
        </p:nvSpPr>
        <p:spPr>
          <a:xfrm>
            <a:off x="969264" y="2939796"/>
            <a:ext cx="7726680" cy="182880"/>
          </a:xfrm>
          <a:prstGeom prst="rect">
            <a:avLst/>
          </a:prstGeom>
          <a:noFill/>
          <a:ln/>
        </p:spPr>
        <p:txBody>
          <a:bodyPr wrap="square" rtlCol="0" anchor="ctr"/>
          <a:lstStyle/>
          <a:p>
            <a:pPr indent="0" marL="0">
              <a:buNone/>
            </a:pPr>
            <a:r>
              <a:rPr lang="en-US" sz="900" dirty="0">
                <a:solidFill>
                  <a:srgbClr val="8FA3A8"/>
                </a:solidFill>
                <a:latin typeface="Calibri" pitchFamily="34" charset="0"/>
                <a:ea typeface="Calibri" pitchFamily="34" charset="-122"/>
                <a:cs typeface="Calibri" pitchFamily="34" charset="-120"/>
              </a:rPr>
              <a:t>Authentication workflow · Public-to-access token exchange · Data access patterns</a:t>
            </a:r>
            <a:endParaRPr lang="en-US" sz="900" dirty="0"/>
          </a:p>
        </p:txBody>
      </p:sp>
      <p:sp>
        <p:nvSpPr>
          <p:cNvPr id="25" name="Shape 23"/>
          <p:cNvSpPr/>
          <p:nvPr/>
        </p:nvSpPr>
        <p:spPr>
          <a:xfrm>
            <a:off x="320040" y="3218688"/>
            <a:ext cx="8503920" cy="512064"/>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26" name="Shape 24"/>
          <p:cNvSpPr/>
          <p:nvPr/>
        </p:nvSpPr>
        <p:spPr>
          <a:xfrm>
            <a:off x="320040" y="3218688"/>
            <a:ext cx="530352" cy="512064"/>
          </a:xfrm>
          <a:prstGeom prst="rect">
            <a:avLst/>
          </a:prstGeom>
          <a:solidFill>
            <a:srgbClr val="028090"/>
          </a:solidFill>
          <a:ln w="12700">
            <a:solidFill>
              <a:srgbClr val="028090"/>
            </a:solidFill>
            <a:prstDash val="solid"/>
          </a:ln>
        </p:spPr>
      </p:sp>
      <p:sp>
        <p:nvSpPr>
          <p:cNvPr id="27" name="Text 25"/>
          <p:cNvSpPr/>
          <p:nvPr/>
        </p:nvSpPr>
        <p:spPr>
          <a:xfrm>
            <a:off x="320040" y="3218688"/>
            <a:ext cx="530352" cy="512064"/>
          </a:xfrm>
          <a:prstGeom prst="rect">
            <a:avLst/>
          </a:prstGeom>
          <a:noFill/>
          <a:ln/>
        </p:spPr>
        <p:txBody>
          <a:bodyPr wrap="square" lIns="0" tIns="0" rIns="0" bIns="0" rtlCol="0" anchor="ctr"/>
          <a:lstStyle/>
          <a:p>
            <a:pPr algn="ctr" indent="0" marL="0">
              <a:buNone/>
            </a:pPr>
            <a:r>
              <a:rPr lang="en-US" sz="1500" b="1" dirty="0">
                <a:solidFill>
                  <a:srgbClr val="FFFFFF"/>
                </a:solidFill>
              </a:rPr>
              <a:t>05</a:t>
            </a:r>
            <a:endParaRPr lang="en-US" sz="1500" dirty="0"/>
          </a:p>
        </p:txBody>
      </p:sp>
      <p:sp>
        <p:nvSpPr>
          <p:cNvPr id="28" name="Text 26"/>
          <p:cNvSpPr/>
          <p:nvPr/>
        </p:nvSpPr>
        <p:spPr>
          <a:xfrm>
            <a:off x="969264" y="3255264"/>
            <a:ext cx="7726680" cy="219456"/>
          </a:xfrm>
          <a:prstGeom prst="rect">
            <a:avLst/>
          </a:prstGeom>
          <a:noFill/>
          <a:ln/>
        </p:spPr>
        <p:txBody>
          <a:bodyPr wrap="square" rtlCol="0" anchor="ctr"/>
          <a:lstStyle/>
          <a:p>
            <a:pPr indent="0" marL="0">
              <a:buNone/>
            </a:pPr>
            <a:r>
              <a:rPr lang="en-US" sz="1150" b="1" dirty="0">
                <a:solidFill>
                  <a:srgbClr val="0A1628"/>
                </a:solidFill>
                <a:latin typeface="Calibri" pitchFamily="34" charset="0"/>
                <a:ea typeface="Calibri" pitchFamily="34" charset="-122"/>
                <a:cs typeface="Calibri" pitchFamily="34" charset="-120"/>
              </a:rPr>
              <a:t>Security Architecture — Key Controls</a:t>
            </a:r>
            <a:endParaRPr lang="en-US" sz="1150" dirty="0"/>
          </a:p>
        </p:txBody>
      </p:sp>
      <p:sp>
        <p:nvSpPr>
          <p:cNvPr id="29" name="Text 27"/>
          <p:cNvSpPr/>
          <p:nvPr/>
        </p:nvSpPr>
        <p:spPr>
          <a:xfrm>
            <a:off x="969264" y="3502152"/>
            <a:ext cx="7726680" cy="182880"/>
          </a:xfrm>
          <a:prstGeom prst="rect">
            <a:avLst/>
          </a:prstGeom>
          <a:noFill/>
          <a:ln/>
        </p:spPr>
        <p:txBody>
          <a:bodyPr wrap="square" rtlCol="0" anchor="ctr"/>
          <a:lstStyle/>
          <a:p>
            <a:pPr indent="0" marL="0">
              <a:buNone/>
            </a:pPr>
            <a:r>
              <a:rPr lang="en-US" sz="900" dirty="0">
                <a:solidFill>
                  <a:srgbClr val="8FA3A8"/>
                </a:solidFill>
                <a:latin typeface="Calibri" pitchFamily="34" charset="0"/>
                <a:ea typeface="Calibri" pitchFamily="34" charset="-122"/>
                <a:cs typeface="Calibri" pitchFamily="34" charset="-120"/>
              </a:rPr>
              <a:t>No credential storage · Token scoping · MFA · Centralized revocation</a:t>
            </a:r>
            <a:endParaRPr lang="en-US" sz="900" dirty="0"/>
          </a:p>
        </p:txBody>
      </p:sp>
      <p:sp>
        <p:nvSpPr>
          <p:cNvPr id="30" name="Shape 28"/>
          <p:cNvSpPr/>
          <p:nvPr/>
        </p:nvSpPr>
        <p:spPr>
          <a:xfrm>
            <a:off x="320040" y="3781044"/>
            <a:ext cx="8503920" cy="512064"/>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31" name="Shape 29"/>
          <p:cNvSpPr/>
          <p:nvPr/>
        </p:nvSpPr>
        <p:spPr>
          <a:xfrm>
            <a:off x="320040" y="3781044"/>
            <a:ext cx="530352" cy="512064"/>
          </a:xfrm>
          <a:prstGeom prst="rect">
            <a:avLst/>
          </a:prstGeom>
          <a:solidFill>
            <a:srgbClr val="1A2F4E"/>
          </a:solidFill>
          <a:ln w="12700">
            <a:solidFill>
              <a:srgbClr val="1A2F4E"/>
            </a:solidFill>
            <a:prstDash val="solid"/>
          </a:ln>
        </p:spPr>
      </p:sp>
      <p:sp>
        <p:nvSpPr>
          <p:cNvPr id="32" name="Text 30"/>
          <p:cNvSpPr/>
          <p:nvPr/>
        </p:nvSpPr>
        <p:spPr>
          <a:xfrm>
            <a:off x="320040" y="3781044"/>
            <a:ext cx="530352" cy="512064"/>
          </a:xfrm>
          <a:prstGeom prst="rect">
            <a:avLst/>
          </a:prstGeom>
          <a:noFill/>
          <a:ln/>
        </p:spPr>
        <p:txBody>
          <a:bodyPr wrap="square" lIns="0" tIns="0" rIns="0" bIns="0" rtlCol="0" anchor="ctr"/>
          <a:lstStyle/>
          <a:p>
            <a:pPr algn="ctr" indent="0" marL="0">
              <a:buNone/>
            </a:pPr>
            <a:r>
              <a:rPr lang="en-US" sz="1500" b="1" dirty="0">
                <a:solidFill>
                  <a:srgbClr val="FFFFFF"/>
                </a:solidFill>
              </a:rPr>
              <a:t>06</a:t>
            </a:r>
            <a:endParaRPr lang="en-US" sz="1500" dirty="0"/>
          </a:p>
        </p:txBody>
      </p:sp>
      <p:sp>
        <p:nvSpPr>
          <p:cNvPr id="33" name="Text 31"/>
          <p:cNvSpPr/>
          <p:nvPr/>
        </p:nvSpPr>
        <p:spPr>
          <a:xfrm>
            <a:off x="969264" y="3817620"/>
            <a:ext cx="7726680" cy="219456"/>
          </a:xfrm>
          <a:prstGeom prst="rect">
            <a:avLst/>
          </a:prstGeom>
          <a:noFill/>
          <a:ln/>
        </p:spPr>
        <p:txBody>
          <a:bodyPr wrap="square" rtlCol="0" anchor="ctr"/>
          <a:lstStyle/>
          <a:p>
            <a:pPr indent="0" marL="0">
              <a:buNone/>
            </a:pPr>
            <a:r>
              <a:rPr lang="en-US" sz="1150" b="1" dirty="0">
                <a:solidFill>
                  <a:srgbClr val="0A1628"/>
                </a:solidFill>
                <a:latin typeface="Calibri" pitchFamily="34" charset="0"/>
                <a:ea typeface="Calibri" pitchFamily="34" charset="-122"/>
                <a:cs typeface="Calibri" pitchFamily="34" charset="-120"/>
              </a:rPr>
              <a:t>STRIDE Threat Model — Cyber Risk Assessment</a:t>
            </a:r>
            <a:endParaRPr lang="en-US" sz="1150" dirty="0"/>
          </a:p>
        </p:txBody>
      </p:sp>
      <p:sp>
        <p:nvSpPr>
          <p:cNvPr id="34" name="Text 32"/>
          <p:cNvSpPr/>
          <p:nvPr/>
        </p:nvSpPr>
        <p:spPr>
          <a:xfrm>
            <a:off x="969264" y="4064508"/>
            <a:ext cx="7726680" cy="182880"/>
          </a:xfrm>
          <a:prstGeom prst="rect">
            <a:avLst/>
          </a:prstGeom>
          <a:noFill/>
          <a:ln/>
        </p:spPr>
        <p:txBody>
          <a:bodyPr wrap="square" rtlCol="0" anchor="ctr"/>
          <a:lstStyle/>
          <a:p>
            <a:pPr indent="0" marL="0">
              <a:buNone/>
            </a:pPr>
            <a:r>
              <a:rPr lang="en-US" sz="900" dirty="0">
                <a:solidFill>
                  <a:srgbClr val="8FA3A8"/>
                </a:solidFill>
                <a:latin typeface="Calibri" pitchFamily="34" charset="0"/>
                <a:ea typeface="Calibri" pitchFamily="34" charset="-122"/>
                <a:cs typeface="Calibri" pitchFamily="34" charset="-120"/>
              </a:rPr>
              <a:t>Spoofing · Tampering · Repudiation · Info Disclosure · DoS · Elevation</a:t>
            </a:r>
            <a:endParaRPr lang="en-US" sz="900" dirty="0"/>
          </a:p>
        </p:txBody>
      </p:sp>
      <p:sp>
        <p:nvSpPr>
          <p:cNvPr id="35" name="Shape 33"/>
          <p:cNvSpPr/>
          <p:nvPr/>
        </p:nvSpPr>
        <p:spPr>
          <a:xfrm>
            <a:off x="320040" y="4343400"/>
            <a:ext cx="8503920" cy="512064"/>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36" name="Shape 34"/>
          <p:cNvSpPr/>
          <p:nvPr/>
        </p:nvSpPr>
        <p:spPr>
          <a:xfrm>
            <a:off x="320040" y="4343400"/>
            <a:ext cx="530352" cy="512064"/>
          </a:xfrm>
          <a:prstGeom prst="rect">
            <a:avLst/>
          </a:prstGeom>
          <a:solidFill>
            <a:srgbClr val="028090"/>
          </a:solidFill>
          <a:ln w="12700">
            <a:solidFill>
              <a:srgbClr val="028090"/>
            </a:solidFill>
            <a:prstDash val="solid"/>
          </a:ln>
        </p:spPr>
      </p:sp>
      <p:sp>
        <p:nvSpPr>
          <p:cNvPr id="37" name="Text 35"/>
          <p:cNvSpPr/>
          <p:nvPr/>
        </p:nvSpPr>
        <p:spPr>
          <a:xfrm>
            <a:off x="320040" y="4343400"/>
            <a:ext cx="530352" cy="512064"/>
          </a:xfrm>
          <a:prstGeom prst="rect">
            <a:avLst/>
          </a:prstGeom>
          <a:noFill/>
          <a:ln/>
        </p:spPr>
        <p:txBody>
          <a:bodyPr wrap="square" lIns="0" tIns="0" rIns="0" bIns="0" rtlCol="0" anchor="ctr"/>
          <a:lstStyle/>
          <a:p>
            <a:pPr algn="ctr" indent="0" marL="0">
              <a:buNone/>
            </a:pPr>
            <a:r>
              <a:rPr lang="en-US" sz="1500" b="1" dirty="0">
                <a:solidFill>
                  <a:srgbClr val="FFFFFF"/>
                </a:solidFill>
              </a:rPr>
              <a:t>07</a:t>
            </a:r>
            <a:endParaRPr lang="en-US" sz="1500" dirty="0"/>
          </a:p>
        </p:txBody>
      </p:sp>
      <p:sp>
        <p:nvSpPr>
          <p:cNvPr id="38" name="Text 36"/>
          <p:cNvSpPr/>
          <p:nvPr/>
        </p:nvSpPr>
        <p:spPr>
          <a:xfrm>
            <a:off x="969264" y="4379976"/>
            <a:ext cx="7726680" cy="219456"/>
          </a:xfrm>
          <a:prstGeom prst="rect">
            <a:avLst/>
          </a:prstGeom>
          <a:noFill/>
          <a:ln/>
        </p:spPr>
        <p:txBody>
          <a:bodyPr wrap="square" rtlCol="0" anchor="ctr"/>
          <a:lstStyle/>
          <a:p>
            <a:pPr indent="0" marL="0">
              <a:buNone/>
            </a:pPr>
            <a:r>
              <a:rPr lang="en-US" sz="1150" b="1" dirty="0">
                <a:solidFill>
                  <a:srgbClr val="0A1628"/>
                </a:solidFill>
                <a:latin typeface="Calibri" pitchFamily="34" charset="0"/>
                <a:ea typeface="Calibri" pitchFamily="34" charset="-122"/>
                <a:cs typeface="Calibri" pitchFamily="34" charset="-120"/>
              </a:rPr>
              <a:t>Infrastructure Security — Questions &amp; Responses</a:t>
            </a:r>
            <a:endParaRPr lang="en-US" sz="1150" dirty="0"/>
          </a:p>
        </p:txBody>
      </p:sp>
      <p:sp>
        <p:nvSpPr>
          <p:cNvPr id="39" name="Text 37"/>
          <p:cNvSpPr/>
          <p:nvPr/>
        </p:nvSpPr>
        <p:spPr>
          <a:xfrm>
            <a:off x="969264" y="4626864"/>
            <a:ext cx="7726680" cy="182880"/>
          </a:xfrm>
          <a:prstGeom prst="rect">
            <a:avLst/>
          </a:prstGeom>
          <a:noFill/>
          <a:ln/>
        </p:spPr>
        <p:txBody>
          <a:bodyPr wrap="square" rtlCol="0" anchor="ctr"/>
          <a:lstStyle/>
          <a:p>
            <a:pPr indent="0" marL="0">
              <a:buNone/>
            </a:pPr>
            <a:r>
              <a:rPr lang="en-US" sz="900" dirty="0">
                <a:solidFill>
                  <a:srgbClr val="8FA3A8"/>
                </a:solidFill>
                <a:latin typeface="Calibri" pitchFamily="34" charset="0"/>
                <a:ea typeface="Calibri" pitchFamily="34" charset="-122"/>
                <a:cs typeface="Calibri" pitchFamily="34" charset="-120"/>
              </a:rPr>
              <a:t>Phishing · NYDFS 500.12 MFA · Geo-blocking · IP headers · SIEM log ingestion</a:t>
            </a:r>
            <a:endParaRPr lang="en-US" sz="900" dirty="0"/>
          </a:p>
        </p:txBody>
      </p:sp>
      <p:sp>
        <p:nvSpPr>
          <p:cNvPr id="40" name="Shape 38"/>
          <p:cNvSpPr/>
          <p:nvPr/>
        </p:nvSpPr>
        <p:spPr>
          <a:xfrm>
            <a:off x="0" y="4864608"/>
            <a:ext cx="9144000" cy="278892"/>
          </a:xfrm>
          <a:prstGeom prst="rect">
            <a:avLst/>
          </a:prstGeom>
          <a:solidFill>
            <a:srgbClr val="0A1628"/>
          </a:solidFill>
          <a:ln w="12700">
            <a:solidFill>
              <a:srgbClr val="0A1628"/>
            </a:solidFill>
            <a:prstDash val="solid"/>
          </a:ln>
        </p:spPr>
      </p:sp>
      <p:sp>
        <p:nvSpPr>
          <p:cNvPr id="41" name="Text 39"/>
          <p:cNvSpPr/>
          <p:nvPr/>
        </p:nvSpPr>
        <p:spPr>
          <a:xfrm>
            <a:off x="320040" y="4878324"/>
            <a:ext cx="7772400" cy="237744"/>
          </a:xfrm>
          <a:prstGeom prst="rect">
            <a:avLst/>
          </a:prstGeom>
          <a:noFill/>
          <a:ln/>
        </p:spPr>
        <p:txBody>
          <a:bodyPr wrap="square" rtlCol="0" anchor="ctr"/>
          <a:lstStyle/>
          <a:p>
            <a:pPr indent="0" marL="0">
              <a:buNone/>
            </a:pPr>
            <a:r>
              <a:rPr lang="en-US" sz="850" dirty="0">
                <a:solidFill>
                  <a:srgbClr val="8FA3A8"/>
                </a:solidFill>
              </a:rPr>
              <a:t>BBH × Plaid | Architecture Review Board | Confidential &amp; Proprietary</a:t>
            </a:r>
            <a:endParaRPr lang="en-US" sz="850" dirty="0"/>
          </a:p>
        </p:txBody>
      </p:sp>
      <p:sp>
        <p:nvSpPr>
          <p:cNvPr id="42" name="Text 40"/>
          <p:cNvSpPr/>
          <p:nvPr/>
        </p:nvSpPr>
        <p:spPr>
          <a:xfrm>
            <a:off x="8503920" y="4878324"/>
            <a:ext cx="457200" cy="237744"/>
          </a:xfrm>
          <a:prstGeom prst="rect">
            <a:avLst/>
          </a:prstGeom>
          <a:noFill/>
          <a:ln/>
        </p:spPr>
        <p:txBody>
          <a:bodyPr wrap="square" rtlCol="0" anchor="ctr"/>
          <a:lstStyle/>
          <a:p>
            <a:pPr algn="r" indent="0" marL="0">
              <a:buNone/>
            </a:pPr>
            <a:r>
              <a:rPr lang="en-US" sz="850" dirty="0">
                <a:solidFill>
                  <a:srgbClr val="8FA3A8"/>
                </a:solidFill>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028090"/>
          </a:solidFill>
          <a:ln w="12700">
            <a:solidFill>
              <a:srgbClr val="028090"/>
            </a:solidFill>
            <a:prstDash val="solid"/>
          </a:ln>
        </p:spPr>
      </p:sp>
      <p:sp>
        <p:nvSpPr>
          <p:cNvPr id="3" name="Shape 1"/>
          <p:cNvSpPr/>
          <p:nvPr/>
        </p:nvSpPr>
        <p:spPr>
          <a:xfrm>
            <a:off x="182880" y="0"/>
            <a:ext cx="8961120" cy="54864"/>
          </a:xfrm>
          <a:prstGeom prst="rect">
            <a:avLst/>
          </a:prstGeom>
          <a:solidFill>
            <a:srgbClr val="02C39A"/>
          </a:solidFill>
          <a:ln w="12700">
            <a:solidFill>
              <a:srgbClr val="02C39A"/>
            </a:solidFill>
            <a:prstDash val="solid"/>
          </a:ln>
        </p:spPr>
      </p:sp>
      <p:sp>
        <p:nvSpPr>
          <p:cNvPr id="4" name="Shape 2"/>
          <p:cNvSpPr/>
          <p:nvPr/>
        </p:nvSpPr>
        <p:spPr>
          <a:xfrm>
            <a:off x="6400800" y="-731520"/>
            <a:ext cx="3840480" cy="3840480"/>
          </a:xfrm>
          <a:prstGeom prst="ellipse">
            <a:avLst/>
          </a:prstGeom>
          <a:solidFill>
            <a:srgbClr val="028090">
              <a:alpha val="9000"/>
            </a:srgbClr>
          </a:solidFill>
          <a:ln w="12700">
            <a:solidFill>
              <a:srgbClr val="028090">
                <a:alpha val="20000"/>
              </a:srgbClr>
            </a:solidFill>
            <a:prstDash val="solid"/>
          </a:ln>
        </p:spPr>
      </p:sp>
      <p:sp>
        <p:nvSpPr>
          <p:cNvPr id="5" name="Shape 3"/>
          <p:cNvSpPr/>
          <p:nvPr/>
        </p:nvSpPr>
        <p:spPr>
          <a:xfrm>
            <a:off x="7223760" y="91440"/>
            <a:ext cx="2377440" cy="2377440"/>
          </a:xfrm>
          <a:prstGeom prst="ellipse">
            <a:avLst/>
          </a:prstGeom>
          <a:solidFill>
            <a:srgbClr val="00A896">
              <a:alpha val="14000"/>
            </a:srgbClr>
          </a:solidFill>
          <a:ln w="12700">
            <a:solidFill>
              <a:srgbClr val="00A896">
                <a:alpha val="25000"/>
              </a:srgbClr>
            </a:solidFill>
            <a:prstDash val="solid"/>
          </a:ln>
        </p:spPr>
      </p:sp>
      <p:sp>
        <p:nvSpPr>
          <p:cNvPr id="6" name="Shape 4"/>
          <p:cNvSpPr/>
          <p:nvPr/>
        </p:nvSpPr>
        <p:spPr>
          <a:xfrm>
            <a:off x="365760" y="182880"/>
            <a:ext cx="2011680" cy="329184"/>
          </a:xfrm>
          <a:prstGeom prst="rect">
            <a:avLst>
              <a:gd name="adj" fmla="val 11111"/>
            </a:avLst>
          </a:prstGeom>
          <a:solidFill>
            <a:srgbClr val="028090"/>
          </a:solidFill>
          <a:ln w="12700">
            <a:solidFill>
              <a:srgbClr val="028090"/>
            </a:solidFill>
            <a:prstDash val="solid"/>
          </a:ln>
        </p:spPr>
      </p:sp>
      <p:sp>
        <p:nvSpPr>
          <p:cNvPr id="7" name="Text 5"/>
          <p:cNvSpPr/>
          <p:nvPr/>
        </p:nvSpPr>
        <p:spPr>
          <a:xfrm>
            <a:off x="365760" y="182880"/>
            <a:ext cx="2011680" cy="329184"/>
          </a:xfrm>
          <a:prstGeom prst="rect">
            <a:avLst/>
          </a:prstGeom>
          <a:noFill/>
          <a:ln/>
        </p:spPr>
        <p:txBody>
          <a:bodyPr wrap="square" lIns="0" tIns="0" rIns="0" bIns="0" rtlCol="0" anchor="ctr"/>
          <a:lstStyle/>
          <a:p>
            <a:pPr algn="ctr" indent="0" marL="0">
              <a:buNone/>
            </a:pPr>
            <a:r>
              <a:rPr lang="en-US" sz="800" b="1" spc="60" kern="0" dirty="0">
                <a:solidFill>
                  <a:srgbClr val="FFFFFF"/>
                </a:solidFill>
              </a:rPr>
              <a:t>EXECUTIVE SUMMARY</a:t>
            </a:r>
            <a:endParaRPr lang="en-US" sz="800" dirty="0"/>
          </a:p>
        </p:txBody>
      </p:sp>
      <p:sp>
        <p:nvSpPr>
          <p:cNvPr id="8" name="Text 6"/>
          <p:cNvSpPr/>
          <p:nvPr/>
        </p:nvSpPr>
        <p:spPr>
          <a:xfrm>
            <a:off x="365760" y="603504"/>
            <a:ext cx="8229600" cy="621792"/>
          </a:xfrm>
          <a:prstGeom prst="rect">
            <a:avLst/>
          </a:prstGeom>
          <a:noFill/>
          <a:ln/>
        </p:spPr>
        <p:txBody>
          <a:bodyPr wrap="square"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What is Plaid?</a:t>
            </a:r>
            <a:endParaRPr lang="en-US" sz="3800" dirty="0"/>
          </a:p>
        </p:txBody>
      </p:sp>
      <p:sp>
        <p:nvSpPr>
          <p:cNvPr id="9" name="Text 7"/>
          <p:cNvSpPr/>
          <p:nvPr/>
        </p:nvSpPr>
        <p:spPr>
          <a:xfrm>
            <a:off x="365760" y="1261872"/>
            <a:ext cx="6858000" cy="347472"/>
          </a:xfrm>
          <a:prstGeom prst="rect">
            <a:avLst/>
          </a:prstGeom>
          <a:noFill/>
          <a:ln/>
        </p:spPr>
        <p:txBody>
          <a:bodyPr wrap="square" rtlCol="0" anchor="ctr"/>
          <a:lstStyle/>
          <a:p>
            <a:pPr indent="0" marL="0">
              <a:buNone/>
            </a:pPr>
            <a:r>
              <a:rPr lang="en-US" sz="1350" dirty="0">
                <a:solidFill>
                  <a:srgbClr val="02C39A"/>
                </a:solidFill>
                <a:latin typeface="Calibri" pitchFamily="34" charset="0"/>
                <a:ea typeface="Calibri" pitchFamily="34" charset="-122"/>
                <a:cs typeface="Calibri" pitchFamily="34" charset="-120"/>
              </a:rPr>
              <a:t>Why BBH is onboarding Plaid as our Open Banking data exchange layer</a:t>
            </a:r>
            <a:endParaRPr lang="en-US" sz="1350" dirty="0"/>
          </a:p>
        </p:txBody>
      </p:sp>
      <p:sp>
        <p:nvSpPr>
          <p:cNvPr id="10" name="Shape 8"/>
          <p:cNvSpPr/>
          <p:nvPr/>
        </p:nvSpPr>
        <p:spPr>
          <a:xfrm>
            <a:off x="365760" y="1691640"/>
            <a:ext cx="8412480" cy="36576"/>
          </a:xfrm>
          <a:prstGeom prst="rect">
            <a:avLst/>
          </a:prstGeom>
          <a:solidFill>
            <a:srgbClr val="028090"/>
          </a:solidFill>
          <a:ln w="12700">
            <a:solidFill>
              <a:srgbClr val="028090"/>
            </a:solidFill>
            <a:prstDash val="solid"/>
          </a:ln>
        </p:spPr>
      </p:sp>
      <p:sp>
        <p:nvSpPr>
          <p:cNvPr id="11" name="Shape 9"/>
          <p:cNvSpPr/>
          <p:nvPr/>
        </p:nvSpPr>
        <p:spPr>
          <a:xfrm>
            <a:off x="365760" y="1792224"/>
            <a:ext cx="8412480" cy="713232"/>
          </a:xfrm>
          <a:prstGeom prst="rect">
            <a:avLst/>
          </a:prstGeom>
          <a:solidFill>
            <a:srgbClr val="0D2035"/>
          </a:solidFill>
          <a:ln w="10160">
            <a:solidFill>
              <a:srgbClr val="028090"/>
            </a:solidFill>
            <a:prstDash val="solid"/>
          </a:ln>
        </p:spPr>
      </p:sp>
      <p:sp>
        <p:nvSpPr>
          <p:cNvPr id="12" name="Text 10"/>
          <p:cNvSpPr/>
          <p:nvPr/>
        </p:nvSpPr>
        <p:spPr>
          <a:xfrm>
            <a:off x="502920" y="1847088"/>
            <a:ext cx="1920240" cy="329184"/>
          </a:xfrm>
          <a:prstGeom prst="rect">
            <a:avLst/>
          </a:prstGeom>
          <a:noFill/>
          <a:ln/>
        </p:spPr>
        <p:txBody>
          <a:bodyPr wrap="square" rtlCol="0" anchor="ctr"/>
          <a:lstStyle/>
          <a:p>
            <a:pPr algn="ctr" indent="0" marL="0">
              <a:buNone/>
            </a:pPr>
            <a:r>
              <a:rPr lang="en-US" sz="2000" b="1" dirty="0">
                <a:solidFill>
                  <a:srgbClr val="02C39A"/>
                </a:solidFill>
                <a:latin typeface="Calibri" pitchFamily="34" charset="0"/>
                <a:ea typeface="Calibri" pitchFamily="34" charset="-122"/>
                <a:cs typeface="Calibri" pitchFamily="34" charset="-120"/>
              </a:rPr>
              <a:t>12,000+</a:t>
            </a:r>
            <a:endParaRPr lang="en-US" sz="2000" dirty="0"/>
          </a:p>
        </p:txBody>
      </p:sp>
      <p:sp>
        <p:nvSpPr>
          <p:cNvPr id="13" name="Text 11"/>
          <p:cNvSpPr/>
          <p:nvPr/>
        </p:nvSpPr>
        <p:spPr>
          <a:xfrm>
            <a:off x="502920" y="2194560"/>
            <a:ext cx="1920240" cy="201168"/>
          </a:xfrm>
          <a:prstGeom prst="rect">
            <a:avLst/>
          </a:prstGeom>
          <a:noFill/>
          <a:ln/>
        </p:spPr>
        <p:txBody>
          <a:bodyPr wrap="square" rtlCol="0" anchor="ctr"/>
          <a:lstStyle/>
          <a:p>
            <a:pPr algn="ctr" indent="0" marL="0">
              <a:buNone/>
            </a:pPr>
            <a:r>
              <a:rPr lang="en-US" sz="800" dirty="0">
                <a:solidFill>
                  <a:srgbClr val="8FA3A8"/>
                </a:solidFill>
                <a:latin typeface="Calibri" pitchFamily="34" charset="0"/>
                <a:ea typeface="Calibri" pitchFamily="34" charset="-122"/>
                <a:cs typeface="Calibri" pitchFamily="34" charset="-120"/>
              </a:rPr>
              <a:t>Financial Institutions</a:t>
            </a:r>
            <a:endParaRPr lang="en-US" sz="800" dirty="0"/>
          </a:p>
        </p:txBody>
      </p:sp>
      <p:sp>
        <p:nvSpPr>
          <p:cNvPr id="14" name="Shape 12"/>
          <p:cNvSpPr/>
          <p:nvPr/>
        </p:nvSpPr>
        <p:spPr>
          <a:xfrm>
            <a:off x="2459736" y="1901952"/>
            <a:ext cx="18288" cy="457200"/>
          </a:xfrm>
          <a:prstGeom prst="rect">
            <a:avLst/>
          </a:prstGeom>
          <a:solidFill>
            <a:srgbClr val="028090"/>
          </a:solidFill>
          <a:ln w="12700">
            <a:solidFill>
              <a:srgbClr val="028090"/>
            </a:solidFill>
            <a:prstDash val="solid"/>
          </a:ln>
        </p:spPr>
      </p:sp>
      <p:sp>
        <p:nvSpPr>
          <p:cNvPr id="15" name="Text 13"/>
          <p:cNvSpPr/>
          <p:nvPr/>
        </p:nvSpPr>
        <p:spPr>
          <a:xfrm>
            <a:off x="2606040" y="1847088"/>
            <a:ext cx="1920240" cy="329184"/>
          </a:xfrm>
          <a:prstGeom prst="rect">
            <a:avLst/>
          </a:prstGeom>
          <a:noFill/>
          <a:ln/>
        </p:spPr>
        <p:txBody>
          <a:bodyPr wrap="square" rtlCol="0" anchor="ctr"/>
          <a:lstStyle/>
          <a:p>
            <a:pPr algn="ctr" indent="0" marL="0">
              <a:buNone/>
            </a:pPr>
            <a:r>
              <a:rPr lang="en-US" sz="2000" b="1" dirty="0">
                <a:solidFill>
                  <a:srgbClr val="02C39A"/>
                </a:solidFill>
                <a:latin typeface="Calibri" pitchFamily="34" charset="0"/>
                <a:ea typeface="Calibri" pitchFamily="34" charset="-122"/>
                <a:cs typeface="Calibri" pitchFamily="34" charset="-120"/>
              </a:rPr>
              <a:t>8,000+</a:t>
            </a:r>
            <a:endParaRPr lang="en-US" sz="2000" dirty="0"/>
          </a:p>
        </p:txBody>
      </p:sp>
      <p:sp>
        <p:nvSpPr>
          <p:cNvPr id="16" name="Text 14"/>
          <p:cNvSpPr/>
          <p:nvPr/>
        </p:nvSpPr>
        <p:spPr>
          <a:xfrm>
            <a:off x="2606040" y="2194560"/>
            <a:ext cx="1920240" cy="201168"/>
          </a:xfrm>
          <a:prstGeom prst="rect">
            <a:avLst/>
          </a:prstGeom>
          <a:noFill/>
          <a:ln/>
        </p:spPr>
        <p:txBody>
          <a:bodyPr wrap="square" rtlCol="0" anchor="ctr"/>
          <a:lstStyle/>
          <a:p>
            <a:pPr algn="ctr" indent="0" marL="0">
              <a:buNone/>
            </a:pPr>
            <a:r>
              <a:rPr lang="en-US" sz="800" dirty="0">
                <a:solidFill>
                  <a:srgbClr val="8FA3A8"/>
                </a:solidFill>
                <a:latin typeface="Calibri" pitchFamily="34" charset="0"/>
                <a:ea typeface="Calibri" pitchFamily="34" charset="-122"/>
                <a:cs typeface="Calibri" pitchFamily="34" charset="-120"/>
              </a:rPr>
              <a:t>Fintech Apps Connected</a:t>
            </a:r>
            <a:endParaRPr lang="en-US" sz="800" dirty="0"/>
          </a:p>
        </p:txBody>
      </p:sp>
      <p:sp>
        <p:nvSpPr>
          <p:cNvPr id="17" name="Shape 15"/>
          <p:cNvSpPr/>
          <p:nvPr/>
        </p:nvSpPr>
        <p:spPr>
          <a:xfrm>
            <a:off x="4562856" y="1901952"/>
            <a:ext cx="18288" cy="457200"/>
          </a:xfrm>
          <a:prstGeom prst="rect">
            <a:avLst/>
          </a:prstGeom>
          <a:solidFill>
            <a:srgbClr val="028090"/>
          </a:solidFill>
          <a:ln w="12700">
            <a:solidFill>
              <a:srgbClr val="028090"/>
            </a:solidFill>
            <a:prstDash val="solid"/>
          </a:ln>
        </p:spPr>
      </p:sp>
      <p:sp>
        <p:nvSpPr>
          <p:cNvPr id="18" name="Text 16"/>
          <p:cNvSpPr/>
          <p:nvPr/>
        </p:nvSpPr>
        <p:spPr>
          <a:xfrm>
            <a:off x="4709160" y="1847088"/>
            <a:ext cx="1920240" cy="329184"/>
          </a:xfrm>
          <a:prstGeom prst="rect">
            <a:avLst/>
          </a:prstGeom>
          <a:noFill/>
          <a:ln/>
        </p:spPr>
        <p:txBody>
          <a:bodyPr wrap="square" rtlCol="0" anchor="ctr"/>
          <a:lstStyle/>
          <a:p>
            <a:pPr algn="ctr" indent="0" marL="0">
              <a:buNone/>
            </a:pPr>
            <a:r>
              <a:rPr lang="en-US" sz="2000" b="1" dirty="0">
                <a:solidFill>
                  <a:srgbClr val="02C39A"/>
                </a:solidFill>
                <a:latin typeface="Calibri" pitchFamily="34" charset="0"/>
                <a:ea typeface="Calibri" pitchFamily="34" charset="-122"/>
                <a:cs typeface="Calibri" pitchFamily="34" charset="-120"/>
              </a:rPr>
              <a:t>200M+</a:t>
            </a:r>
            <a:endParaRPr lang="en-US" sz="2000" dirty="0"/>
          </a:p>
        </p:txBody>
      </p:sp>
      <p:sp>
        <p:nvSpPr>
          <p:cNvPr id="19" name="Text 17"/>
          <p:cNvSpPr/>
          <p:nvPr/>
        </p:nvSpPr>
        <p:spPr>
          <a:xfrm>
            <a:off x="4709160" y="2194560"/>
            <a:ext cx="1920240" cy="201168"/>
          </a:xfrm>
          <a:prstGeom prst="rect">
            <a:avLst/>
          </a:prstGeom>
          <a:noFill/>
          <a:ln/>
        </p:spPr>
        <p:txBody>
          <a:bodyPr wrap="square" rtlCol="0" anchor="ctr"/>
          <a:lstStyle/>
          <a:p>
            <a:pPr algn="ctr" indent="0" marL="0">
              <a:buNone/>
            </a:pPr>
            <a:r>
              <a:rPr lang="en-US" sz="800" dirty="0">
                <a:solidFill>
                  <a:srgbClr val="8FA3A8"/>
                </a:solidFill>
                <a:latin typeface="Calibri" pitchFamily="34" charset="0"/>
                <a:ea typeface="Calibri" pitchFamily="34" charset="-122"/>
                <a:cs typeface="Calibri" pitchFamily="34" charset="-120"/>
              </a:rPr>
              <a:t>Consumer Accounts Linked</a:t>
            </a:r>
            <a:endParaRPr lang="en-US" sz="800" dirty="0"/>
          </a:p>
        </p:txBody>
      </p:sp>
      <p:sp>
        <p:nvSpPr>
          <p:cNvPr id="20" name="Shape 18"/>
          <p:cNvSpPr/>
          <p:nvPr/>
        </p:nvSpPr>
        <p:spPr>
          <a:xfrm>
            <a:off x="6665976" y="1901952"/>
            <a:ext cx="18288" cy="457200"/>
          </a:xfrm>
          <a:prstGeom prst="rect">
            <a:avLst/>
          </a:prstGeom>
          <a:solidFill>
            <a:srgbClr val="028090"/>
          </a:solidFill>
          <a:ln w="12700">
            <a:solidFill>
              <a:srgbClr val="028090"/>
            </a:solidFill>
            <a:prstDash val="solid"/>
          </a:ln>
        </p:spPr>
      </p:sp>
      <p:sp>
        <p:nvSpPr>
          <p:cNvPr id="21" name="Text 19"/>
          <p:cNvSpPr/>
          <p:nvPr/>
        </p:nvSpPr>
        <p:spPr>
          <a:xfrm>
            <a:off x="6812280" y="1847088"/>
            <a:ext cx="1920240" cy="329184"/>
          </a:xfrm>
          <a:prstGeom prst="rect">
            <a:avLst/>
          </a:prstGeom>
          <a:noFill/>
          <a:ln/>
        </p:spPr>
        <p:txBody>
          <a:bodyPr wrap="square" rtlCol="0" anchor="ctr"/>
          <a:lstStyle/>
          <a:p>
            <a:pPr algn="ctr" indent="0" marL="0">
              <a:buNone/>
            </a:pPr>
            <a:r>
              <a:rPr lang="en-US" sz="2000" b="1" dirty="0">
                <a:solidFill>
                  <a:srgbClr val="02C39A"/>
                </a:solidFill>
                <a:latin typeface="Calibri" pitchFamily="34" charset="0"/>
                <a:ea typeface="Calibri" pitchFamily="34" charset="-122"/>
                <a:cs typeface="Calibri" pitchFamily="34" charset="-120"/>
              </a:rPr>
              <a:t>99.9%</a:t>
            </a:r>
            <a:endParaRPr lang="en-US" sz="2000" dirty="0"/>
          </a:p>
        </p:txBody>
      </p:sp>
      <p:sp>
        <p:nvSpPr>
          <p:cNvPr id="22" name="Text 20"/>
          <p:cNvSpPr/>
          <p:nvPr/>
        </p:nvSpPr>
        <p:spPr>
          <a:xfrm>
            <a:off x="6812280" y="2194560"/>
            <a:ext cx="1920240" cy="201168"/>
          </a:xfrm>
          <a:prstGeom prst="rect">
            <a:avLst/>
          </a:prstGeom>
          <a:noFill/>
          <a:ln/>
        </p:spPr>
        <p:txBody>
          <a:bodyPr wrap="square" rtlCol="0" anchor="ctr"/>
          <a:lstStyle/>
          <a:p>
            <a:pPr algn="ctr" indent="0" marL="0">
              <a:buNone/>
            </a:pPr>
            <a:r>
              <a:rPr lang="en-US" sz="800" dirty="0">
                <a:solidFill>
                  <a:srgbClr val="8FA3A8"/>
                </a:solidFill>
                <a:latin typeface="Calibri" pitchFamily="34" charset="0"/>
                <a:ea typeface="Calibri" pitchFamily="34" charset="-122"/>
                <a:cs typeface="Calibri" pitchFamily="34" charset="-120"/>
              </a:rPr>
              <a:t>Platform Uptime SLA</a:t>
            </a:r>
            <a:endParaRPr lang="en-US" sz="800" dirty="0"/>
          </a:p>
        </p:txBody>
      </p:sp>
      <p:sp>
        <p:nvSpPr>
          <p:cNvPr id="23" name="Shape 21"/>
          <p:cNvSpPr/>
          <p:nvPr/>
        </p:nvSpPr>
        <p:spPr>
          <a:xfrm>
            <a:off x="274320" y="2633472"/>
            <a:ext cx="2761488" cy="2084832"/>
          </a:xfrm>
          <a:prstGeom prst="rect">
            <a:avLst/>
          </a:prstGeom>
          <a:solidFill>
            <a:srgbClr val="0D2035"/>
          </a:solidFill>
          <a:ln w="10160">
            <a:solidFill>
              <a:srgbClr val="028090"/>
            </a:solidFill>
            <a:prstDash val="solid"/>
          </a:ln>
        </p:spPr>
      </p:sp>
      <p:sp>
        <p:nvSpPr>
          <p:cNvPr id="24" name="Shape 22"/>
          <p:cNvSpPr/>
          <p:nvPr/>
        </p:nvSpPr>
        <p:spPr>
          <a:xfrm>
            <a:off x="274320" y="2633472"/>
            <a:ext cx="2761488" cy="301752"/>
          </a:xfrm>
          <a:prstGeom prst="rect">
            <a:avLst/>
          </a:prstGeom>
          <a:solidFill>
            <a:srgbClr val="028090"/>
          </a:solidFill>
          <a:ln w="12700">
            <a:solidFill>
              <a:srgbClr val="028090"/>
            </a:solidFill>
            <a:prstDash val="solid"/>
          </a:ln>
        </p:spPr>
      </p:sp>
      <p:sp>
        <p:nvSpPr>
          <p:cNvPr id="25" name="Text 23"/>
          <p:cNvSpPr/>
          <p:nvPr/>
        </p:nvSpPr>
        <p:spPr>
          <a:xfrm>
            <a:off x="274320" y="2633472"/>
            <a:ext cx="2761488" cy="301752"/>
          </a:xfrm>
          <a:prstGeom prst="rect">
            <a:avLst/>
          </a:prstGeom>
          <a:noFill/>
          <a:ln/>
        </p:spPr>
        <p:txBody>
          <a:bodyPr wrap="square" lIns="0" tIns="0" rIns="0" bIns="0" rtlCol="0" anchor="ctr"/>
          <a:lstStyle/>
          <a:p>
            <a:pPr algn="ctr" indent="0" marL="0">
              <a:buNone/>
            </a:pPr>
            <a:r>
              <a:rPr lang="en-US" sz="900" b="1" spc="80" kern="0" dirty="0">
                <a:solidFill>
                  <a:srgbClr val="FFFFFF"/>
                </a:solidFill>
                <a:latin typeface="Calibri" pitchFamily="34" charset="0"/>
                <a:ea typeface="Calibri" pitchFamily="34" charset="-122"/>
                <a:cs typeface="Calibri" pitchFamily="34" charset="-120"/>
              </a:rPr>
              <a:t>WHAT PLAID PROVIDES</a:t>
            </a:r>
            <a:endParaRPr lang="en-US" sz="900" dirty="0"/>
          </a:p>
        </p:txBody>
      </p:sp>
      <p:sp>
        <p:nvSpPr>
          <p:cNvPr id="26" name="Shape 24"/>
          <p:cNvSpPr/>
          <p:nvPr/>
        </p:nvSpPr>
        <p:spPr>
          <a:xfrm>
            <a:off x="365760" y="3044952"/>
            <a:ext cx="118872" cy="118872"/>
          </a:xfrm>
          <a:prstGeom prst="ellipse">
            <a:avLst/>
          </a:prstGeom>
          <a:solidFill>
            <a:srgbClr val="028090"/>
          </a:solidFill>
          <a:ln w="12700">
            <a:solidFill>
              <a:srgbClr val="028090"/>
            </a:solidFill>
            <a:prstDash val="solid"/>
          </a:ln>
        </p:spPr>
      </p:sp>
      <p:sp>
        <p:nvSpPr>
          <p:cNvPr id="27" name="Text 25"/>
          <p:cNvSpPr/>
          <p:nvPr/>
        </p:nvSpPr>
        <p:spPr>
          <a:xfrm>
            <a:off x="548640" y="2999232"/>
            <a:ext cx="2423160" cy="173736"/>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Universal Bank Connectivity</a:t>
            </a:r>
            <a:endParaRPr lang="en-US" sz="850" dirty="0"/>
          </a:p>
        </p:txBody>
      </p:sp>
      <p:sp>
        <p:nvSpPr>
          <p:cNvPr id="28" name="Text 26"/>
          <p:cNvSpPr/>
          <p:nvPr/>
        </p:nvSpPr>
        <p:spPr>
          <a:xfrm>
            <a:off x="548640" y="3172968"/>
            <a:ext cx="2423160" cy="164592"/>
          </a:xfrm>
          <a:prstGeom prst="rect">
            <a:avLst/>
          </a:prstGeom>
          <a:noFill/>
          <a:ln/>
        </p:spPr>
        <p:txBody>
          <a:bodyPr wrap="square" rtlCol="0" anchor="ctr"/>
          <a:lstStyle/>
          <a:p>
            <a:pPr indent="0" marL="0">
              <a:buNone/>
            </a:pPr>
            <a:r>
              <a:rPr lang="en-US" sz="750" dirty="0">
                <a:solidFill>
                  <a:srgbClr val="9DB8BF"/>
                </a:solidFill>
                <a:latin typeface="Calibri" pitchFamily="34" charset="0"/>
                <a:ea typeface="Calibri" pitchFamily="34" charset="-122"/>
                <a:cs typeface="Calibri" pitchFamily="34" charset="-120"/>
              </a:rPr>
              <a:t>Single API connecting to 12,000+ US &amp; global institutions. No per-bank integrations required.</a:t>
            </a:r>
            <a:endParaRPr lang="en-US" sz="750" dirty="0"/>
          </a:p>
        </p:txBody>
      </p:sp>
      <p:sp>
        <p:nvSpPr>
          <p:cNvPr id="29" name="Shape 27"/>
          <p:cNvSpPr/>
          <p:nvPr/>
        </p:nvSpPr>
        <p:spPr>
          <a:xfrm>
            <a:off x="365760" y="3401568"/>
            <a:ext cx="118872" cy="118872"/>
          </a:xfrm>
          <a:prstGeom prst="ellipse">
            <a:avLst/>
          </a:prstGeom>
          <a:solidFill>
            <a:srgbClr val="028090"/>
          </a:solidFill>
          <a:ln w="12700">
            <a:solidFill>
              <a:srgbClr val="028090"/>
            </a:solidFill>
            <a:prstDash val="solid"/>
          </a:ln>
        </p:spPr>
      </p:sp>
      <p:sp>
        <p:nvSpPr>
          <p:cNvPr id="30" name="Text 28"/>
          <p:cNvSpPr/>
          <p:nvPr/>
        </p:nvSpPr>
        <p:spPr>
          <a:xfrm>
            <a:off x="548640" y="3355848"/>
            <a:ext cx="2423160" cy="173736"/>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OFX/FDX-Aligned Data Schema</a:t>
            </a:r>
            <a:endParaRPr lang="en-US" sz="850" dirty="0"/>
          </a:p>
        </p:txBody>
      </p:sp>
      <p:sp>
        <p:nvSpPr>
          <p:cNvPr id="31" name="Text 29"/>
          <p:cNvSpPr/>
          <p:nvPr/>
        </p:nvSpPr>
        <p:spPr>
          <a:xfrm>
            <a:off x="548640" y="3529584"/>
            <a:ext cx="2423160" cy="164592"/>
          </a:xfrm>
          <a:prstGeom prst="rect">
            <a:avLst/>
          </a:prstGeom>
          <a:noFill/>
          <a:ln/>
        </p:spPr>
        <p:txBody>
          <a:bodyPr wrap="square" rtlCol="0" anchor="ctr"/>
          <a:lstStyle/>
          <a:p>
            <a:pPr indent="0" marL="0">
              <a:buNone/>
            </a:pPr>
            <a:r>
              <a:rPr lang="en-US" sz="750" dirty="0">
                <a:solidFill>
                  <a:srgbClr val="9DB8BF"/>
                </a:solidFill>
                <a:latin typeface="Calibri" pitchFamily="34" charset="0"/>
                <a:ea typeface="Calibri" pitchFamily="34" charset="-122"/>
                <a:cs typeface="Calibri" pitchFamily="34" charset="-120"/>
              </a:rPr>
              <a:t>Normalized JSON for accounts, balances &amp; transactions. Industry-standard format, ready for downstream.</a:t>
            </a:r>
            <a:endParaRPr lang="en-US" sz="750" dirty="0"/>
          </a:p>
        </p:txBody>
      </p:sp>
      <p:sp>
        <p:nvSpPr>
          <p:cNvPr id="32" name="Shape 30"/>
          <p:cNvSpPr/>
          <p:nvPr/>
        </p:nvSpPr>
        <p:spPr>
          <a:xfrm>
            <a:off x="365760" y="3758184"/>
            <a:ext cx="118872" cy="118872"/>
          </a:xfrm>
          <a:prstGeom prst="ellipse">
            <a:avLst/>
          </a:prstGeom>
          <a:solidFill>
            <a:srgbClr val="028090"/>
          </a:solidFill>
          <a:ln w="12700">
            <a:solidFill>
              <a:srgbClr val="028090"/>
            </a:solidFill>
            <a:prstDash val="solid"/>
          </a:ln>
        </p:spPr>
      </p:sp>
      <p:sp>
        <p:nvSpPr>
          <p:cNvPr id="33" name="Text 31"/>
          <p:cNvSpPr/>
          <p:nvPr/>
        </p:nvSpPr>
        <p:spPr>
          <a:xfrm>
            <a:off x="548640" y="3712464"/>
            <a:ext cx="2423160" cy="173736"/>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OAuth 2.0 Tokenized Access</a:t>
            </a:r>
            <a:endParaRPr lang="en-US" sz="850" dirty="0"/>
          </a:p>
        </p:txBody>
      </p:sp>
      <p:sp>
        <p:nvSpPr>
          <p:cNvPr id="34" name="Text 32"/>
          <p:cNvSpPr/>
          <p:nvPr/>
        </p:nvSpPr>
        <p:spPr>
          <a:xfrm>
            <a:off x="548640" y="3886200"/>
            <a:ext cx="2423160" cy="164592"/>
          </a:xfrm>
          <a:prstGeom prst="rect">
            <a:avLst/>
          </a:prstGeom>
          <a:noFill/>
          <a:ln/>
        </p:spPr>
        <p:txBody>
          <a:bodyPr wrap="square" rtlCol="0" anchor="ctr"/>
          <a:lstStyle/>
          <a:p>
            <a:pPr indent="0" marL="0">
              <a:buNone/>
            </a:pPr>
            <a:r>
              <a:rPr lang="en-US" sz="750" dirty="0">
                <a:solidFill>
                  <a:srgbClr val="9DB8BF"/>
                </a:solidFill>
                <a:latin typeface="Calibri" pitchFamily="34" charset="0"/>
                <a:ea typeface="Calibri" pitchFamily="34" charset="-122"/>
                <a:cs typeface="Calibri" pitchFamily="34" charset="-120"/>
              </a:rPr>
              <a:t>Zero credential storage. Scoped, revocable tokens. No BBH credentials ever leave the institution.</a:t>
            </a:r>
            <a:endParaRPr lang="en-US" sz="750" dirty="0"/>
          </a:p>
        </p:txBody>
      </p:sp>
      <p:sp>
        <p:nvSpPr>
          <p:cNvPr id="35" name="Shape 33"/>
          <p:cNvSpPr/>
          <p:nvPr/>
        </p:nvSpPr>
        <p:spPr>
          <a:xfrm>
            <a:off x="365760" y="4114800"/>
            <a:ext cx="118872" cy="118872"/>
          </a:xfrm>
          <a:prstGeom prst="ellipse">
            <a:avLst/>
          </a:prstGeom>
          <a:solidFill>
            <a:srgbClr val="028090"/>
          </a:solidFill>
          <a:ln w="12700">
            <a:solidFill>
              <a:srgbClr val="028090"/>
            </a:solidFill>
            <a:prstDash val="solid"/>
          </a:ln>
        </p:spPr>
      </p:sp>
      <p:sp>
        <p:nvSpPr>
          <p:cNvPr id="36" name="Text 34"/>
          <p:cNvSpPr/>
          <p:nvPr/>
        </p:nvSpPr>
        <p:spPr>
          <a:xfrm>
            <a:off x="548640" y="4069080"/>
            <a:ext cx="2423160" cy="173736"/>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Real-Time Event Webhooks</a:t>
            </a:r>
            <a:endParaRPr lang="en-US" sz="850" dirty="0"/>
          </a:p>
        </p:txBody>
      </p:sp>
      <p:sp>
        <p:nvSpPr>
          <p:cNvPr id="37" name="Text 35"/>
          <p:cNvSpPr/>
          <p:nvPr/>
        </p:nvSpPr>
        <p:spPr>
          <a:xfrm>
            <a:off x="548640" y="4242816"/>
            <a:ext cx="2423160" cy="164592"/>
          </a:xfrm>
          <a:prstGeom prst="rect">
            <a:avLst/>
          </a:prstGeom>
          <a:noFill/>
          <a:ln/>
        </p:spPr>
        <p:txBody>
          <a:bodyPr wrap="square" rtlCol="0" anchor="ctr"/>
          <a:lstStyle/>
          <a:p>
            <a:pPr indent="0" marL="0">
              <a:buNone/>
            </a:pPr>
            <a:r>
              <a:rPr lang="en-US" sz="750" dirty="0">
                <a:solidFill>
                  <a:srgbClr val="9DB8BF"/>
                </a:solidFill>
                <a:latin typeface="Calibri" pitchFamily="34" charset="0"/>
                <a:ea typeface="Calibri" pitchFamily="34" charset="-122"/>
                <a:cs typeface="Calibri" pitchFamily="34" charset="-120"/>
              </a:rPr>
              <a:t>Push delivery of auth events, balance changes, MFA completions and token lifecycle changes.</a:t>
            </a:r>
            <a:endParaRPr lang="en-US" sz="750" dirty="0"/>
          </a:p>
        </p:txBody>
      </p:sp>
      <p:sp>
        <p:nvSpPr>
          <p:cNvPr id="38" name="Shape 36"/>
          <p:cNvSpPr/>
          <p:nvPr/>
        </p:nvSpPr>
        <p:spPr>
          <a:xfrm>
            <a:off x="365760" y="4471416"/>
            <a:ext cx="118872" cy="118872"/>
          </a:xfrm>
          <a:prstGeom prst="ellipse">
            <a:avLst/>
          </a:prstGeom>
          <a:solidFill>
            <a:srgbClr val="028090"/>
          </a:solidFill>
          <a:ln w="12700">
            <a:solidFill>
              <a:srgbClr val="028090"/>
            </a:solidFill>
            <a:prstDash val="solid"/>
          </a:ln>
        </p:spPr>
      </p:sp>
      <p:sp>
        <p:nvSpPr>
          <p:cNvPr id="39" name="Text 37"/>
          <p:cNvSpPr/>
          <p:nvPr/>
        </p:nvSpPr>
        <p:spPr>
          <a:xfrm>
            <a:off x="548640" y="4425696"/>
            <a:ext cx="2423160" cy="173736"/>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SIEM-Ready Audit Trail</a:t>
            </a:r>
            <a:endParaRPr lang="en-US" sz="850" dirty="0"/>
          </a:p>
        </p:txBody>
      </p:sp>
      <p:sp>
        <p:nvSpPr>
          <p:cNvPr id="40" name="Text 38"/>
          <p:cNvSpPr/>
          <p:nvPr/>
        </p:nvSpPr>
        <p:spPr>
          <a:xfrm>
            <a:off x="548640" y="4599432"/>
            <a:ext cx="2423160" cy="164592"/>
          </a:xfrm>
          <a:prstGeom prst="rect">
            <a:avLst/>
          </a:prstGeom>
          <a:noFill/>
          <a:ln/>
        </p:spPr>
        <p:txBody>
          <a:bodyPr wrap="square" rtlCol="0" anchor="ctr"/>
          <a:lstStyle/>
          <a:p>
            <a:pPr indent="0" marL="0">
              <a:buNone/>
            </a:pPr>
            <a:r>
              <a:rPr lang="en-US" sz="750" dirty="0">
                <a:solidFill>
                  <a:srgbClr val="9DB8BF"/>
                </a:solidFill>
                <a:latin typeface="Calibri" pitchFamily="34" charset="0"/>
                <a:ea typeface="Calibri" pitchFamily="34" charset="-122"/>
                <a:cs typeface="Calibri" pitchFamily="34" charset="-120"/>
              </a:rPr>
              <a:t>Full token creation, MFA, and revocation event log — ingestible into Splunk or equivalent SIEM.</a:t>
            </a:r>
            <a:endParaRPr lang="en-US" sz="750" dirty="0"/>
          </a:p>
        </p:txBody>
      </p:sp>
      <p:sp>
        <p:nvSpPr>
          <p:cNvPr id="41" name="Shape 39"/>
          <p:cNvSpPr/>
          <p:nvPr/>
        </p:nvSpPr>
        <p:spPr>
          <a:xfrm>
            <a:off x="3172968" y="2633472"/>
            <a:ext cx="2761488" cy="2084832"/>
          </a:xfrm>
          <a:prstGeom prst="rect">
            <a:avLst/>
          </a:prstGeom>
          <a:solidFill>
            <a:srgbClr val="0D2035"/>
          </a:solidFill>
          <a:ln w="10160">
            <a:solidFill>
              <a:srgbClr val="00A896"/>
            </a:solidFill>
            <a:prstDash val="solid"/>
          </a:ln>
        </p:spPr>
      </p:sp>
      <p:sp>
        <p:nvSpPr>
          <p:cNvPr id="42" name="Shape 40"/>
          <p:cNvSpPr/>
          <p:nvPr/>
        </p:nvSpPr>
        <p:spPr>
          <a:xfrm>
            <a:off x="3172968" y="2633472"/>
            <a:ext cx="2761488" cy="301752"/>
          </a:xfrm>
          <a:prstGeom prst="rect">
            <a:avLst/>
          </a:prstGeom>
          <a:solidFill>
            <a:srgbClr val="00A896"/>
          </a:solidFill>
          <a:ln w="12700">
            <a:solidFill>
              <a:srgbClr val="00A896"/>
            </a:solidFill>
            <a:prstDash val="solid"/>
          </a:ln>
        </p:spPr>
      </p:sp>
      <p:sp>
        <p:nvSpPr>
          <p:cNvPr id="43" name="Text 41"/>
          <p:cNvSpPr/>
          <p:nvPr/>
        </p:nvSpPr>
        <p:spPr>
          <a:xfrm>
            <a:off x="3172968" y="2633472"/>
            <a:ext cx="2761488" cy="301752"/>
          </a:xfrm>
          <a:prstGeom prst="rect">
            <a:avLst/>
          </a:prstGeom>
          <a:noFill/>
          <a:ln/>
        </p:spPr>
        <p:txBody>
          <a:bodyPr wrap="square" lIns="0" tIns="0" rIns="0" bIns="0" rtlCol="0" anchor="ctr"/>
          <a:lstStyle/>
          <a:p>
            <a:pPr algn="ctr" indent="0" marL="0">
              <a:buNone/>
            </a:pPr>
            <a:r>
              <a:rPr lang="en-US" sz="900" b="1" spc="80" kern="0" dirty="0">
                <a:solidFill>
                  <a:srgbClr val="FFFFFF"/>
                </a:solidFill>
                <a:latin typeface="Calibri" pitchFamily="34" charset="0"/>
                <a:ea typeface="Calibri" pitchFamily="34" charset="-122"/>
                <a:cs typeface="Calibri" pitchFamily="34" charset="-120"/>
              </a:rPr>
              <a:t>WHY BBH IS ONBOARDING</a:t>
            </a:r>
            <a:endParaRPr lang="en-US" sz="900" dirty="0"/>
          </a:p>
        </p:txBody>
      </p:sp>
      <p:sp>
        <p:nvSpPr>
          <p:cNvPr id="44" name="Shape 42"/>
          <p:cNvSpPr/>
          <p:nvPr/>
        </p:nvSpPr>
        <p:spPr>
          <a:xfrm>
            <a:off x="3264408" y="3044952"/>
            <a:ext cx="118872" cy="118872"/>
          </a:xfrm>
          <a:prstGeom prst="ellipse">
            <a:avLst/>
          </a:prstGeom>
          <a:solidFill>
            <a:srgbClr val="00A896"/>
          </a:solidFill>
          <a:ln w="12700">
            <a:solidFill>
              <a:srgbClr val="00A896"/>
            </a:solidFill>
            <a:prstDash val="solid"/>
          </a:ln>
        </p:spPr>
      </p:sp>
      <p:sp>
        <p:nvSpPr>
          <p:cNvPr id="45" name="Text 43"/>
          <p:cNvSpPr/>
          <p:nvPr/>
        </p:nvSpPr>
        <p:spPr>
          <a:xfrm>
            <a:off x="3447288" y="2999232"/>
            <a:ext cx="2423160" cy="173736"/>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Client-Driven Demand</a:t>
            </a:r>
            <a:endParaRPr lang="en-US" sz="850" dirty="0"/>
          </a:p>
        </p:txBody>
      </p:sp>
      <p:sp>
        <p:nvSpPr>
          <p:cNvPr id="46" name="Text 44"/>
          <p:cNvSpPr/>
          <p:nvPr/>
        </p:nvSpPr>
        <p:spPr>
          <a:xfrm>
            <a:off x="3447288" y="3172968"/>
            <a:ext cx="2423160" cy="164592"/>
          </a:xfrm>
          <a:prstGeom prst="rect">
            <a:avLst/>
          </a:prstGeom>
          <a:noFill/>
          <a:ln/>
        </p:spPr>
        <p:txBody>
          <a:bodyPr wrap="square" rtlCol="0" anchor="ctr"/>
          <a:lstStyle/>
          <a:p>
            <a:pPr indent="0" marL="0">
              <a:buNone/>
            </a:pPr>
            <a:r>
              <a:rPr lang="en-US" sz="750" dirty="0">
                <a:solidFill>
                  <a:srgbClr val="9DB8BF"/>
                </a:solidFill>
                <a:latin typeface="Calibri" pitchFamily="34" charset="0"/>
                <a:ea typeface="Calibri" pitchFamily="34" charset="-122"/>
                <a:cs typeface="Calibri" pitchFamily="34" charset="-120"/>
              </a:rPr>
              <a:t>BBH clients require seamless data sharing with wealth apps (Addepar, Orion, Chime, BofA portals).</a:t>
            </a:r>
            <a:endParaRPr lang="en-US" sz="750" dirty="0"/>
          </a:p>
        </p:txBody>
      </p:sp>
      <p:sp>
        <p:nvSpPr>
          <p:cNvPr id="47" name="Shape 45"/>
          <p:cNvSpPr/>
          <p:nvPr/>
        </p:nvSpPr>
        <p:spPr>
          <a:xfrm>
            <a:off x="3264408" y="3401568"/>
            <a:ext cx="118872" cy="118872"/>
          </a:xfrm>
          <a:prstGeom prst="ellipse">
            <a:avLst/>
          </a:prstGeom>
          <a:solidFill>
            <a:srgbClr val="00A896"/>
          </a:solidFill>
          <a:ln w="12700">
            <a:solidFill>
              <a:srgbClr val="00A896"/>
            </a:solidFill>
            <a:prstDash val="solid"/>
          </a:ln>
        </p:spPr>
      </p:sp>
      <p:sp>
        <p:nvSpPr>
          <p:cNvPr id="48" name="Text 46"/>
          <p:cNvSpPr/>
          <p:nvPr/>
        </p:nvSpPr>
        <p:spPr>
          <a:xfrm>
            <a:off x="3447288" y="3355848"/>
            <a:ext cx="2423160" cy="173736"/>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Eliminate N×M Complexity</a:t>
            </a:r>
            <a:endParaRPr lang="en-US" sz="850" dirty="0"/>
          </a:p>
        </p:txBody>
      </p:sp>
      <p:sp>
        <p:nvSpPr>
          <p:cNvPr id="49" name="Text 47"/>
          <p:cNvSpPr/>
          <p:nvPr/>
        </p:nvSpPr>
        <p:spPr>
          <a:xfrm>
            <a:off x="3447288" y="3529584"/>
            <a:ext cx="2423160" cy="164592"/>
          </a:xfrm>
          <a:prstGeom prst="rect">
            <a:avLst/>
          </a:prstGeom>
          <a:noFill/>
          <a:ln/>
        </p:spPr>
        <p:txBody>
          <a:bodyPr wrap="square" rtlCol="0" anchor="ctr"/>
          <a:lstStyle/>
          <a:p>
            <a:pPr indent="0" marL="0">
              <a:buNone/>
            </a:pPr>
            <a:r>
              <a:rPr lang="en-US" sz="750" dirty="0">
                <a:solidFill>
                  <a:srgbClr val="9DB8BF"/>
                </a:solidFill>
                <a:latin typeface="Calibri" pitchFamily="34" charset="0"/>
                <a:ea typeface="Calibri" pitchFamily="34" charset="-122"/>
                <a:cs typeface="Calibri" pitchFamily="34" charset="-120"/>
              </a:rPr>
              <a:t>Replace hundreds of point-to-point connections with one governed, monitored integration layer.</a:t>
            </a:r>
            <a:endParaRPr lang="en-US" sz="750" dirty="0"/>
          </a:p>
        </p:txBody>
      </p:sp>
      <p:sp>
        <p:nvSpPr>
          <p:cNvPr id="50" name="Shape 48"/>
          <p:cNvSpPr/>
          <p:nvPr/>
        </p:nvSpPr>
        <p:spPr>
          <a:xfrm>
            <a:off x="3264408" y="3758184"/>
            <a:ext cx="118872" cy="118872"/>
          </a:xfrm>
          <a:prstGeom prst="ellipse">
            <a:avLst/>
          </a:prstGeom>
          <a:solidFill>
            <a:srgbClr val="00A896"/>
          </a:solidFill>
          <a:ln w="12700">
            <a:solidFill>
              <a:srgbClr val="00A896"/>
            </a:solidFill>
            <a:prstDash val="solid"/>
          </a:ln>
        </p:spPr>
      </p:sp>
      <p:sp>
        <p:nvSpPr>
          <p:cNvPr id="51" name="Text 49"/>
          <p:cNvSpPr/>
          <p:nvPr/>
        </p:nvSpPr>
        <p:spPr>
          <a:xfrm>
            <a:off x="3447288" y="3712464"/>
            <a:ext cx="2423160" cy="173736"/>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Regulatory Compliance</a:t>
            </a:r>
            <a:endParaRPr lang="en-US" sz="850" dirty="0"/>
          </a:p>
        </p:txBody>
      </p:sp>
      <p:sp>
        <p:nvSpPr>
          <p:cNvPr id="52" name="Text 50"/>
          <p:cNvSpPr/>
          <p:nvPr/>
        </p:nvSpPr>
        <p:spPr>
          <a:xfrm>
            <a:off x="3447288" y="3886200"/>
            <a:ext cx="2423160" cy="164592"/>
          </a:xfrm>
          <a:prstGeom prst="rect">
            <a:avLst/>
          </a:prstGeom>
          <a:noFill/>
          <a:ln/>
        </p:spPr>
        <p:txBody>
          <a:bodyPr wrap="square" rtlCol="0" anchor="ctr"/>
          <a:lstStyle/>
          <a:p>
            <a:pPr indent="0" marL="0">
              <a:buNone/>
            </a:pPr>
            <a:r>
              <a:rPr lang="en-US" sz="750" dirty="0">
                <a:solidFill>
                  <a:srgbClr val="9DB8BF"/>
                </a:solidFill>
                <a:latin typeface="Calibri" pitchFamily="34" charset="0"/>
                <a:ea typeface="Calibri" pitchFamily="34" charset="-122"/>
                <a:cs typeface="Calibri" pitchFamily="34" charset="-120"/>
              </a:rPr>
              <a:t>NYDFS 500.12, FDX open banking mandates, and SEC data-sharing rules require a compliant API layer.</a:t>
            </a:r>
            <a:endParaRPr lang="en-US" sz="750" dirty="0"/>
          </a:p>
        </p:txBody>
      </p:sp>
      <p:sp>
        <p:nvSpPr>
          <p:cNvPr id="53" name="Shape 51"/>
          <p:cNvSpPr/>
          <p:nvPr/>
        </p:nvSpPr>
        <p:spPr>
          <a:xfrm>
            <a:off x="3264408" y="4114800"/>
            <a:ext cx="118872" cy="118872"/>
          </a:xfrm>
          <a:prstGeom prst="ellipse">
            <a:avLst/>
          </a:prstGeom>
          <a:solidFill>
            <a:srgbClr val="00A896"/>
          </a:solidFill>
          <a:ln w="12700">
            <a:solidFill>
              <a:srgbClr val="00A896"/>
            </a:solidFill>
            <a:prstDash val="solid"/>
          </a:ln>
        </p:spPr>
      </p:sp>
      <p:sp>
        <p:nvSpPr>
          <p:cNvPr id="54" name="Text 52"/>
          <p:cNvSpPr/>
          <p:nvPr/>
        </p:nvSpPr>
        <p:spPr>
          <a:xfrm>
            <a:off x="3447288" y="4069080"/>
            <a:ext cx="2423160" cy="173736"/>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Accelerate Product Delivery</a:t>
            </a:r>
            <a:endParaRPr lang="en-US" sz="850" dirty="0"/>
          </a:p>
        </p:txBody>
      </p:sp>
      <p:sp>
        <p:nvSpPr>
          <p:cNvPr id="55" name="Text 53"/>
          <p:cNvSpPr/>
          <p:nvPr/>
        </p:nvSpPr>
        <p:spPr>
          <a:xfrm>
            <a:off x="3447288" y="4242816"/>
            <a:ext cx="2423160" cy="164592"/>
          </a:xfrm>
          <a:prstGeom prst="rect">
            <a:avLst/>
          </a:prstGeom>
          <a:noFill/>
          <a:ln/>
        </p:spPr>
        <p:txBody>
          <a:bodyPr wrap="square" rtlCol="0" anchor="ctr"/>
          <a:lstStyle/>
          <a:p>
            <a:pPr indent="0" marL="0">
              <a:buNone/>
            </a:pPr>
            <a:r>
              <a:rPr lang="en-US" sz="750" dirty="0">
                <a:solidFill>
                  <a:srgbClr val="9DB8BF"/>
                </a:solidFill>
                <a:latin typeface="Calibri" pitchFamily="34" charset="0"/>
                <a:ea typeface="Calibri" pitchFamily="34" charset="-122"/>
                <a:cs typeface="Calibri" pitchFamily="34" charset="-120"/>
              </a:rPr>
              <a:t>Launch open banking capabilities without per-institution build cycles. Weeks, not months.</a:t>
            </a:r>
            <a:endParaRPr lang="en-US" sz="750" dirty="0"/>
          </a:p>
        </p:txBody>
      </p:sp>
      <p:sp>
        <p:nvSpPr>
          <p:cNvPr id="56" name="Shape 54"/>
          <p:cNvSpPr/>
          <p:nvPr/>
        </p:nvSpPr>
        <p:spPr>
          <a:xfrm>
            <a:off x="3264408" y="4471416"/>
            <a:ext cx="118872" cy="118872"/>
          </a:xfrm>
          <a:prstGeom prst="ellipse">
            <a:avLst/>
          </a:prstGeom>
          <a:solidFill>
            <a:srgbClr val="00A896"/>
          </a:solidFill>
          <a:ln w="12700">
            <a:solidFill>
              <a:srgbClr val="00A896"/>
            </a:solidFill>
            <a:prstDash val="solid"/>
          </a:ln>
        </p:spPr>
      </p:sp>
      <p:sp>
        <p:nvSpPr>
          <p:cNvPr id="57" name="Text 55"/>
          <p:cNvSpPr/>
          <p:nvPr/>
        </p:nvSpPr>
        <p:spPr>
          <a:xfrm>
            <a:off x="3447288" y="4425696"/>
            <a:ext cx="2423160" cy="173736"/>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Governed Data Exchange</a:t>
            </a:r>
            <a:endParaRPr lang="en-US" sz="850" dirty="0"/>
          </a:p>
        </p:txBody>
      </p:sp>
      <p:sp>
        <p:nvSpPr>
          <p:cNvPr id="58" name="Text 56"/>
          <p:cNvSpPr/>
          <p:nvPr/>
        </p:nvSpPr>
        <p:spPr>
          <a:xfrm>
            <a:off x="3447288" y="4599432"/>
            <a:ext cx="2423160" cy="164592"/>
          </a:xfrm>
          <a:prstGeom prst="rect">
            <a:avLst/>
          </a:prstGeom>
          <a:noFill/>
          <a:ln/>
        </p:spPr>
        <p:txBody>
          <a:bodyPr wrap="square" rtlCol="0" anchor="ctr"/>
          <a:lstStyle/>
          <a:p>
            <a:pPr indent="0" marL="0">
              <a:buNone/>
            </a:pPr>
            <a:r>
              <a:rPr lang="en-US" sz="750" dirty="0">
                <a:solidFill>
                  <a:srgbClr val="9DB8BF"/>
                </a:solidFill>
                <a:latin typeface="Calibri" pitchFamily="34" charset="0"/>
                <a:ea typeface="Calibri" pitchFamily="34" charset="-122"/>
                <a:cs typeface="Calibri" pitchFamily="34" charset="-120"/>
              </a:rPr>
              <a:t>Centralized control point for all external data sharing — monitored, auditable, and revocable.</a:t>
            </a:r>
            <a:endParaRPr lang="en-US" sz="750" dirty="0"/>
          </a:p>
        </p:txBody>
      </p:sp>
      <p:sp>
        <p:nvSpPr>
          <p:cNvPr id="59" name="Shape 57"/>
          <p:cNvSpPr/>
          <p:nvPr/>
        </p:nvSpPr>
        <p:spPr>
          <a:xfrm>
            <a:off x="6071616" y="2633472"/>
            <a:ext cx="2761488" cy="2084832"/>
          </a:xfrm>
          <a:prstGeom prst="rect">
            <a:avLst/>
          </a:prstGeom>
          <a:solidFill>
            <a:srgbClr val="0D2035"/>
          </a:solidFill>
          <a:ln w="10160">
            <a:solidFill>
              <a:srgbClr val="F0A500"/>
            </a:solidFill>
            <a:prstDash val="solid"/>
          </a:ln>
        </p:spPr>
      </p:sp>
      <p:sp>
        <p:nvSpPr>
          <p:cNvPr id="60" name="Shape 58"/>
          <p:cNvSpPr/>
          <p:nvPr/>
        </p:nvSpPr>
        <p:spPr>
          <a:xfrm>
            <a:off x="6071616" y="2633472"/>
            <a:ext cx="2761488" cy="301752"/>
          </a:xfrm>
          <a:prstGeom prst="rect">
            <a:avLst/>
          </a:prstGeom>
          <a:solidFill>
            <a:srgbClr val="F0A500"/>
          </a:solidFill>
          <a:ln w="12700">
            <a:solidFill>
              <a:srgbClr val="F0A500"/>
            </a:solidFill>
            <a:prstDash val="solid"/>
          </a:ln>
        </p:spPr>
      </p:sp>
      <p:sp>
        <p:nvSpPr>
          <p:cNvPr id="61" name="Text 59"/>
          <p:cNvSpPr/>
          <p:nvPr/>
        </p:nvSpPr>
        <p:spPr>
          <a:xfrm>
            <a:off x="6071616" y="2633472"/>
            <a:ext cx="2761488" cy="301752"/>
          </a:xfrm>
          <a:prstGeom prst="rect">
            <a:avLst/>
          </a:prstGeom>
          <a:noFill/>
          <a:ln/>
        </p:spPr>
        <p:txBody>
          <a:bodyPr wrap="square" lIns="0" tIns="0" rIns="0" bIns="0" rtlCol="0" anchor="ctr"/>
          <a:lstStyle/>
          <a:p>
            <a:pPr algn="ctr" indent="0" marL="0">
              <a:buNone/>
            </a:pPr>
            <a:r>
              <a:rPr lang="en-US" sz="900" b="1" spc="80" kern="0" dirty="0">
                <a:solidFill>
                  <a:srgbClr val="FFFFFF"/>
                </a:solidFill>
                <a:latin typeface="Calibri" pitchFamily="34" charset="0"/>
                <a:ea typeface="Calibri" pitchFamily="34" charset="-122"/>
                <a:cs typeface="Calibri" pitchFamily="34" charset="-120"/>
              </a:rPr>
              <a:t>STRATEGIC VALUE TO BBH</a:t>
            </a:r>
            <a:endParaRPr lang="en-US" sz="900" dirty="0"/>
          </a:p>
        </p:txBody>
      </p:sp>
      <p:sp>
        <p:nvSpPr>
          <p:cNvPr id="62" name="Shape 60"/>
          <p:cNvSpPr/>
          <p:nvPr/>
        </p:nvSpPr>
        <p:spPr>
          <a:xfrm>
            <a:off x="6163056" y="3044952"/>
            <a:ext cx="118872" cy="118872"/>
          </a:xfrm>
          <a:prstGeom prst="ellipse">
            <a:avLst/>
          </a:prstGeom>
          <a:solidFill>
            <a:srgbClr val="F0A500"/>
          </a:solidFill>
          <a:ln w="12700">
            <a:solidFill>
              <a:srgbClr val="F0A500"/>
            </a:solidFill>
            <a:prstDash val="solid"/>
          </a:ln>
        </p:spPr>
      </p:sp>
      <p:sp>
        <p:nvSpPr>
          <p:cNvPr id="63" name="Text 61"/>
          <p:cNvSpPr/>
          <p:nvPr/>
        </p:nvSpPr>
        <p:spPr>
          <a:xfrm>
            <a:off x="6345936" y="2999232"/>
            <a:ext cx="2423160" cy="173736"/>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Competitive Necessity</a:t>
            </a:r>
            <a:endParaRPr lang="en-US" sz="850" dirty="0"/>
          </a:p>
        </p:txBody>
      </p:sp>
      <p:sp>
        <p:nvSpPr>
          <p:cNvPr id="64" name="Text 62"/>
          <p:cNvSpPr/>
          <p:nvPr/>
        </p:nvSpPr>
        <p:spPr>
          <a:xfrm>
            <a:off x="6345936" y="3172968"/>
            <a:ext cx="2423160" cy="164592"/>
          </a:xfrm>
          <a:prstGeom prst="rect">
            <a:avLst/>
          </a:prstGeom>
          <a:noFill/>
          <a:ln/>
        </p:spPr>
        <p:txBody>
          <a:bodyPr wrap="square" rtlCol="0" anchor="ctr"/>
          <a:lstStyle/>
          <a:p>
            <a:pPr indent="0" marL="0">
              <a:buNone/>
            </a:pPr>
            <a:r>
              <a:rPr lang="en-US" sz="750" dirty="0">
                <a:solidFill>
                  <a:srgbClr val="9DB8BF"/>
                </a:solidFill>
                <a:latin typeface="Calibri" pitchFamily="34" charset="0"/>
                <a:ea typeface="Calibri" pitchFamily="34" charset="-122"/>
                <a:cs typeface="Calibri" pitchFamily="34" charset="-120"/>
              </a:rPr>
              <a:t>JPMorgan, BofA, and Citi already offer open banking APIs. BBH must provide equivalent access.</a:t>
            </a:r>
            <a:endParaRPr lang="en-US" sz="750" dirty="0"/>
          </a:p>
        </p:txBody>
      </p:sp>
      <p:sp>
        <p:nvSpPr>
          <p:cNvPr id="65" name="Shape 63"/>
          <p:cNvSpPr/>
          <p:nvPr/>
        </p:nvSpPr>
        <p:spPr>
          <a:xfrm>
            <a:off x="6163056" y="3401568"/>
            <a:ext cx="118872" cy="118872"/>
          </a:xfrm>
          <a:prstGeom prst="ellipse">
            <a:avLst/>
          </a:prstGeom>
          <a:solidFill>
            <a:srgbClr val="F0A500"/>
          </a:solidFill>
          <a:ln w="12700">
            <a:solidFill>
              <a:srgbClr val="F0A500"/>
            </a:solidFill>
            <a:prstDash val="solid"/>
          </a:ln>
        </p:spPr>
      </p:sp>
      <p:sp>
        <p:nvSpPr>
          <p:cNvPr id="66" name="Text 64"/>
          <p:cNvSpPr/>
          <p:nvPr/>
        </p:nvSpPr>
        <p:spPr>
          <a:xfrm>
            <a:off x="6345936" y="3355848"/>
            <a:ext cx="2423160" cy="173736"/>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Operational Efficiency</a:t>
            </a:r>
            <a:endParaRPr lang="en-US" sz="850" dirty="0"/>
          </a:p>
        </p:txBody>
      </p:sp>
      <p:sp>
        <p:nvSpPr>
          <p:cNvPr id="67" name="Text 65"/>
          <p:cNvSpPr/>
          <p:nvPr/>
        </p:nvSpPr>
        <p:spPr>
          <a:xfrm>
            <a:off x="6345936" y="3529584"/>
            <a:ext cx="2423160" cy="164592"/>
          </a:xfrm>
          <a:prstGeom prst="rect">
            <a:avLst/>
          </a:prstGeom>
          <a:noFill/>
          <a:ln/>
        </p:spPr>
        <p:txBody>
          <a:bodyPr wrap="square" rtlCol="0" anchor="ctr"/>
          <a:lstStyle/>
          <a:p>
            <a:pPr indent="0" marL="0">
              <a:buNone/>
            </a:pPr>
            <a:r>
              <a:rPr lang="en-US" sz="750" dirty="0">
                <a:solidFill>
                  <a:srgbClr val="9DB8BF"/>
                </a:solidFill>
                <a:latin typeface="Calibri" pitchFamily="34" charset="0"/>
                <a:ea typeface="Calibri" pitchFamily="34" charset="-122"/>
                <a:cs typeface="Calibri" pitchFamily="34" charset="-120"/>
              </a:rPr>
              <a:t>Consolidate integration maintenance for 1,000+ downstream consumers into a single managed layer.</a:t>
            </a:r>
            <a:endParaRPr lang="en-US" sz="750" dirty="0"/>
          </a:p>
        </p:txBody>
      </p:sp>
      <p:sp>
        <p:nvSpPr>
          <p:cNvPr id="68" name="Shape 66"/>
          <p:cNvSpPr/>
          <p:nvPr/>
        </p:nvSpPr>
        <p:spPr>
          <a:xfrm>
            <a:off x="6163056" y="3758184"/>
            <a:ext cx="118872" cy="118872"/>
          </a:xfrm>
          <a:prstGeom prst="ellipse">
            <a:avLst/>
          </a:prstGeom>
          <a:solidFill>
            <a:srgbClr val="F0A500"/>
          </a:solidFill>
          <a:ln w="12700">
            <a:solidFill>
              <a:srgbClr val="F0A500"/>
            </a:solidFill>
            <a:prstDash val="solid"/>
          </a:ln>
        </p:spPr>
      </p:sp>
      <p:sp>
        <p:nvSpPr>
          <p:cNvPr id="69" name="Text 67"/>
          <p:cNvSpPr/>
          <p:nvPr/>
        </p:nvSpPr>
        <p:spPr>
          <a:xfrm>
            <a:off x="6345936" y="3712464"/>
            <a:ext cx="2423160" cy="173736"/>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Risk Reduction</a:t>
            </a:r>
            <a:endParaRPr lang="en-US" sz="850" dirty="0"/>
          </a:p>
        </p:txBody>
      </p:sp>
      <p:sp>
        <p:nvSpPr>
          <p:cNvPr id="70" name="Text 68"/>
          <p:cNvSpPr/>
          <p:nvPr/>
        </p:nvSpPr>
        <p:spPr>
          <a:xfrm>
            <a:off x="6345936" y="3886200"/>
            <a:ext cx="2423160" cy="164592"/>
          </a:xfrm>
          <a:prstGeom prst="rect">
            <a:avLst/>
          </a:prstGeom>
          <a:noFill/>
          <a:ln/>
        </p:spPr>
        <p:txBody>
          <a:bodyPr wrap="square" rtlCol="0" anchor="ctr"/>
          <a:lstStyle/>
          <a:p>
            <a:pPr indent="0" marL="0">
              <a:buNone/>
            </a:pPr>
            <a:r>
              <a:rPr lang="en-US" sz="750" dirty="0">
                <a:solidFill>
                  <a:srgbClr val="9DB8BF"/>
                </a:solidFill>
                <a:latin typeface="Calibri" pitchFamily="34" charset="0"/>
                <a:ea typeface="Calibri" pitchFamily="34" charset="-122"/>
                <a:cs typeface="Calibri" pitchFamily="34" charset="-120"/>
              </a:rPr>
              <a:t>Centralized revocation and token scoping eliminates credential-sharing risk across all channels.</a:t>
            </a:r>
            <a:endParaRPr lang="en-US" sz="750" dirty="0"/>
          </a:p>
        </p:txBody>
      </p:sp>
      <p:sp>
        <p:nvSpPr>
          <p:cNvPr id="71" name="Shape 69"/>
          <p:cNvSpPr/>
          <p:nvPr/>
        </p:nvSpPr>
        <p:spPr>
          <a:xfrm>
            <a:off x="6163056" y="4114800"/>
            <a:ext cx="118872" cy="118872"/>
          </a:xfrm>
          <a:prstGeom prst="ellipse">
            <a:avLst/>
          </a:prstGeom>
          <a:solidFill>
            <a:srgbClr val="F0A500"/>
          </a:solidFill>
          <a:ln w="12700">
            <a:solidFill>
              <a:srgbClr val="F0A500"/>
            </a:solidFill>
            <a:prstDash val="solid"/>
          </a:ln>
        </p:spPr>
      </p:sp>
      <p:sp>
        <p:nvSpPr>
          <p:cNvPr id="72" name="Text 70"/>
          <p:cNvSpPr/>
          <p:nvPr/>
        </p:nvSpPr>
        <p:spPr>
          <a:xfrm>
            <a:off x="6345936" y="4069080"/>
            <a:ext cx="2423160" cy="173736"/>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Audit &amp; Governance Uplift</a:t>
            </a:r>
            <a:endParaRPr lang="en-US" sz="850" dirty="0"/>
          </a:p>
        </p:txBody>
      </p:sp>
      <p:sp>
        <p:nvSpPr>
          <p:cNvPr id="73" name="Text 71"/>
          <p:cNvSpPr/>
          <p:nvPr/>
        </p:nvSpPr>
        <p:spPr>
          <a:xfrm>
            <a:off x="6345936" y="4242816"/>
            <a:ext cx="2423160" cy="164592"/>
          </a:xfrm>
          <a:prstGeom prst="rect">
            <a:avLst/>
          </a:prstGeom>
          <a:noFill/>
          <a:ln/>
        </p:spPr>
        <p:txBody>
          <a:bodyPr wrap="square" rtlCol="0" anchor="ctr"/>
          <a:lstStyle/>
          <a:p>
            <a:pPr indent="0" marL="0">
              <a:buNone/>
            </a:pPr>
            <a:r>
              <a:rPr lang="en-US" sz="750" dirty="0">
                <a:solidFill>
                  <a:srgbClr val="9DB8BF"/>
                </a:solidFill>
                <a:latin typeface="Calibri" pitchFamily="34" charset="0"/>
                <a:ea typeface="Calibri" pitchFamily="34" charset="-122"/>
                <a:cs typeface="Calibri" pitchFamily="34" charset="-120"/>
              </a:rPr>
              <a:t>Full lifecycle event logging closes audit gaps and strengthens BBH's regulatory posture.</a:t>
            </a:r>
            <a:endParaRPr lang="en-US" sz="750" dirty="0"/>
          </a:p>
        </p:txBody>
      </p:sp>
      <p:sp>
        <p:nvSpPr>
          <p:cNvPr id="74" name="Shape 72"/>
          <p:cNvSpPr/>
          <p:nvPr/>
        </p:nvSpPr>
        <p:spPr>
          <a:xfrm>
            <a:off x="6163056" y="4471416"/>
            <a:ext cx="118872" cy="118872"/>
          </a:xfrm>
          <a:prstGeom prst="ellipse">
            <a:avLst/>
          </a:prstGeom>
          <a:solidFill>
            <a:srgbClr val="F0A500"/>
          </a:solidFill>
          <a:ln w="12700">
            <a:solidFill>
              <a:srgbClr val="F0A500"/>
            </a:solidFill>
            <a:prstDash val="solid"/>
          </a:ln>
        </p:spPr>
      </p:sp>
      <p:sp>
        <p:nvSpPr>
          <p:cNvPr id="75" name="Text 73"/>
          <p:cNvSpPr/>
          <p:nvPr/>
        </p:nvSpPr>
        <p:spPr>
          <a:xfrm>
            <a:off x="6345936" y="4425696"/>
            <a:ext cx="2423160" cy="173736"/>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Future-Proof Architecture</a:t>
            </a:r>
            <a:endParaRPr lang="en-US" sz="850" dirty="0"/>
          </a:p>
        </p:txBody>
      </p:sp>
      <p:sp>
        <p:nvSpPr>
          <p:cNvPr id="76" name="Text 74"/>
          <p:cNvSpPr/>
          <p:nvPr/>
        </p:nvSpPr>
        <p:spPr>
          <a:xfrm>
            <a:off x="6345936" y="4599432"/>
            <a:ext cx="2423160" cy="164592"/>
          </a:xfrm>
          <a:prstGeom prst="rect">
            <a:avLst/>
          </a:prstGeom>
          <a:noFill/>
          <a:ln/>
        </p:spPr>
        <p:txBody>
          <a:bodyPr wrap="square" rtlCol="0" anchor="ctr"/>
          <a:lstStyle/>
          <a:p>
            <a:pPr indent="0" marL="0">
              <a:buNone/>
            </a:pPr>
            <a:r>
              <a:rPr lang="en-US" sz="750" dirty="0">
                <a:solidFill>
                  <a:srgbClr val="9DB8BF"/>
                </a:solidFill>
                <a:latin typeface="Calibri" pitchFamily="34" charset="0"/>
                <a:ea typeface="Calibri" pitchFamily="34" charset="-122"/>
                <a:cs typeface="Calibri" pitchFamily="34" charset="-120"/>
              </a:rPr>
              <a:t>FDX/open banking standards ensure the platform remains interoperable as mandates evolve.</a:t>
            </a:r>
            <a:endParaRPr lang="en-US" sz="750" dirty="0"/>
          </a:p>
        </p:txBody>
      </p:sp>
      <p:sp>
        <p:nvSpPr>
          <p:cNvPr id="77" name="Shape 75"/>
          <p:cNvSpPr/>
          <p:nvPr/>
        </p:nvSpPr>
        <p:spPr>
          <a:xfrm>
            <a:off x="0" y="4864608"/>
            <a:ext cx="9144000" cy="278892"/>
          </a:xfrm>
          <a:prstGeom prst="rect">
            <a:avLst/>
          </a:prstGeom>
          <a:solidFill>
            <a:srgbClr val="1A2F4E"/>
          </a:solidFill>
          <a:ln w="12700">
            <a:solidFill>
              <a:srgbClr val="1A2F4E"/>
            </a:solidFill>
            <a:prstDash val="solid"/>
          </a:ln>
        </p:spPr>
      </p:sp>
      <p:sp>
        <p:nvSpPr>
          <p:cNvPr id="78" name="Text 76"/>
          <p:cNvSpPr/>
          <p:nvPr/>
        </p:nvSpPr>
        <p:spPr>
          <a:xfrm>
            <a:off x="320040" y="4878324"/>
            <a:ext cx="7772400" cy="237744"/>
          </a:xfrm>
          <a:prstGeom prst="rect">
            <a:avLst/>
          </a:prstGeom>
          <a:noFill/>
          <a:ln/>
        </p:spPr>
        <p:txBody>
          <a:bodyPr wrap="square" rtlCol="0" anchor="ctr"/>
          <a:lstStyle/>
          <a:p>
            <a:pPr indent="0" marL="0">
              <a:buNone/>
            </a:pPr>
            <a:r>
              <a:rPr lang="en-US" sz="850" dirty="0">
                <a:solidFill>
                  <a:srgbClr val="8FA3A8"/>
                </a:solidFill>
              </a:rPr>
              <a:t>BBH × Plaid | Architecture Review Board | Confidential &amp; Proprietary</a:t>
            </a:r>
            <a:endParaRPr lang="en-US" sz="850" dirty="0"/>
          </a:p>
        </p:txBody>
      </p:sp>
      <p:sp>
        <p:nvSpPr>
          <p:cNvPr id="79" name="Text 77"/>
          <p:cNvSpPr/>
          <p:nvPr/>
        </p:nvSpPr>
        <p:spPr>
          <a:xfrm>
            <a:off x="8503920" y="4878324"/>
            <a:ext cx="457200" cy="237744"/>
          </a:xfrm>
          <a:prstGeom prst="rect">
            <a:avLst/>
          </a:prstGeom>
          <a:noFill/>
          <a:ln/>
        </p:spPr>
        <p:txBody>
          <a:bodyPr wrap="square" rtlCol="0" anchor="ctr"/>
          <a:lstStyle/>
          <a:p>
            <a:pPr algn="r" indent="0" marL="0">
              <a:buNone/>
            </a:pPr>
            <a:r>
              <a:rPr lang="en-US" sz="850" dirty="0">
                <a:solidFill>
                  <a:srgbClr val="8FA3A8"/>
                </a:solidFill>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9"/>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A1628"/>
          </a:solidFill>
          <a:ln w="12700">
            <a:solidFill>
              <a:srgbClr val="0A1628"/>
            </a:solidFill>
            <a:prstDash val="solid"/>
          </a:ln>
        </p:spPr>
      </p:sp>
      <p:sp>
        <p:nvSpPr>
          <p:cNvPr id="3" name="Shape 1"/>
          <p:cNvSpPr/>
          <p:nvPr/>
        </p:nvSpPr>
        <p:spPr>
          <a:xfrm>
            <a:off x="0" y="749808"/>
            <a:ext cx="9144000" cy="54864"/>
          </a:xfrm>
          <a:prstGeom prst="rect">
            <a:avLst/>
          </a:prstGeom>
          <a:solidFill>
            <a:srgbClr val="028090"/>
          </a:solidFill>
          <a:ln w="12700">
            <a:solidFill>
              <a:srgbClr val="028090"/>
            </a:solidFill>
            <a:prstDash val="solid"/>
          </a:ln>
        </p:spPr>
      </p:sp>
      <p:sp>
        <p:nvSpPr>
          <p:cNvPr id="4" name="Text 2"/>
          <p:cNvSpPr/>
          <p:nvPr/>
        </p:nvSpPr>
        <p:spPr>
          <a:xfrm>
            <a:off x="365760" y="0"/>
            <a:ext cx="7315200" cy="7498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BBH Data Exchange — Outbound Architecture</a:t>
            </a:r>
            <a:endParaRPr lang="en-US" sz="2200" dirty="0"/>
          </a:p>
        </p:txBody>
      </p:sp>
      <p:sp>
        <p:nvSpPr>
          <p:cNvPr id="5" name="Shape 3"/>
          <p:cNvSpPr/>
          <p:nvPr/>
        </p:nvSpPr>
        <p:spPr>
          <a:xfrm>
            <a:off x="7516368" y="146304"/>
            <a:ext cx="1389888" cy="457200"/>
          </a:xfrm>
          <a:prstGeom prst="rect">
            <a:avLst>
              <a:gd name="adj" fmla="val 8000"/>
            </a:avLst>
          </a:prstGeom>
          <a:solidFill>
            <a:srgbClr val="028090"/>
          </a:solidFill>
          <a:ln w="12700">
            <a:solidFill>
              <a:srgbClr val="028090"/>
            </a:solidFill>
            <a:prstDash val="solid"/>
          </a:ln>
        </p:spPr>
      </p:sp>
      <p:sp>
        <p:nvSpPr>
          <p:cNvPr id="6" name="Text 4"/>
          <p:cNvSpPr/>
          <p:nvPr/>
        </p:nvSpPr>
        <p:spPr>
          <a:xfrm>
            <a:off x="7516368" y="146304"/>
            <a:ext cx="1389888" cy="457200"/>
          </a:xfrm>
          <a:prstGeom prst="rect">
            <a:avLst/>
          </a:prstGeom>
          <a:noFill/>
          <a:ln/>
        </p:spPr>
        <p:txBody>
          <a:bodyPr wrap="square" lIns="0" tIns="0" rIns="0" bIns="0" rtlCol="0" anchor="ctr"/>
          <a:lstStyle/>
          <a:p>
            <a:pPr algn="ctr" indent="0" marL="0">
              <a:buNone/>
            </a:pPr>
            <a:r>
              <a:rPr lang="en-US" sz="850" b="1" spc="50" kern="0" dirty="0">
                <a:solidFill>
                  <a:srgbClr val="FFFFFF"/>
                </a:solidFill>
              </a:rPr>
              <a:t>OUTBOUND</a:t>
            </a:r>
            <a:endParaRPr lang="en-US" sz="850" dirty="0"/>
          </a:p>
        </p:txBody>
      </p:sp>
      <p:sp>
        <p:nvSpPr>
          <p:cNvPr id="7" name="Shape 5"/>
          <p:cNvSpPr/>
          <p:nvPr/>
        </p:nvSpPr>
        <p:spPr>
          <a:xfrm>
            <a:off x="274320" y="896112"/>
            <a:ext cx="3017520" cy="3858768"/>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8" name="Shape 6"/>
          <p:cNvSpPr/>
          <p:nvPr/>
        </p:nvSpPr>
        <p:spPr>
          <a:xfrm>
            <a:off x="274320" y="896112"/>
            <a:ext cx="3017520" cy="329184"/>
          </a:xfrm>
          <a:prstGeom prst="rect">
            <a:avLst/>
          </a:prstGeom>
          <a:solidFill>
            <a:srgbClr val="028090"/>
          </a:solidFill>
          <a:ln w="12700">
            <a:solidFill>
              <a:srgbClr val="028090"/>
            </a:solidFill>
            <a:prstDash val="solid"/>
          </a:ln>
        </p:spPr>
      </p:sp>
      <p:sp>
        <p:nvSpPr>
          <p:cNvPr id="9" name="Text 7"/>
          <p:cNvSpPr/>
          <p:nvPr/>
        </p:nvSpPr>
        <p:spPr>
          <a:xfrm>
            <a:off x="274320" y="896112"/>
            <a:ext cx="3017520" cy="329184"/>
          </a:xfrm>
          <a:prstGeom prst="rect">
            <a:avLst/>
          </a:prstGeom>
          <a:noFill/>
          <a:ln/>
        </p:spPr>
        <p:txBody>
          <a:bodyPr wrap="square" lIns="0" tIns="0" rIns="0" bIns="0" rtlCol="0" anchor="ctr"/>
          <a:lstStyle/>
          <a:p>
            <a:pPr algn="ctr" indent="0" marL="0">
              <a:buNone/>
            </a:pPr>
            <a:r>
              <a:rPr lang="en-US" sz="900" b="1" spc="80" kern="0" dirty="0">
                <a:solidFill>
                  <a:srgbClr val="FFFFFF"/>
                </a:solidFill>
              </a:rPr>
              <a:t>ARCHITECTURAL DESIGN RATIONALE</a:t>
            </a:r>
            <a:endParaRPr lang="en-US" sz="900" dirty="0"/>
          </a:p>
        </p:txBody>
      </p:sp>
      <p:sp>
        <p:nvSpPr>
          <p:cNvPr id="10" name="Shape 8"/>
          <p:cNvSpPr/>
          <p:nvPr/>
        </p:nvSpPr>
        <p:spPr>
          <a:xfrm>
            <a:off x="347472" y="1371600"/>
            <a:ext cx="54864" cy="457200"/>
          </a:xfrm>
          <a:prstGeom prst="rect">
            <a:avLst/>
          </a:prstGeom>
          <a:solidFill>
            <a:srgbClr val="02C39A"/>
          </a:solidFill>
          <a:ln w="12700">
            <a:solidFill>
              <a:srgbClr val="02C39A"/>
            </a:solidFill>
            <a:prstDash val="solid"/>
          </a:ln>
        </p:spPr>
      </p:sp>
      <p:sp>
        <p:nvSpPr>
          <p:cNvPr id="11" name="Text 9"/>
          <p:cNvSpPr/>
          <p:nvPr/>
        </p:nvSpPr>
        <p:spPr>
          <a:xfrm>
            <a:off x="493776" y="1353312"/>
            <a:ext cx="2706624" cy="219456"/>
          </a:xfrm>
          <a:prstGeom prst="rect">
            <a:avLst/>
          </a:prstGeom>
          <a:noFill/>
          <a:ln/>
        </p:spPr>
        <p:txBody>
          <a:bodyPr wrap="square" rtlCol="0" anchor="ctr"/>
          <a:lstStyle/>
          <a:p>
            <a:pPr indent="0" marL="0">
              <a:buNone/>
            </a:pPr>
            <a:r>
              <a:rPr lang="en-US" sz="950" b="1" dirty="0">
                <a:solidFill>
                  <a:srgbClr val="0A1628"/>
                </a:solidFill>
                <a:latin typeface="Calibri" pitchFamily="34" charset="0"/>
                <a:ea typeface="Calibri" pitchFamily="34" charset="-122"/>
                <a:cs typeface="Calibri" pitchFamily="34" charset="-120"/>
              </a:rPr>
              <a:t>Single Integration Hub</a:t>
            </a:r>
            <a:endParaRPr lang="en-US" sz="950" dirty="0"/>
          </a:p>
        </p:txBody>
      </p:sp>
      <p:sp>
        <p:nvSpPr>
          <p:cNvPr id="12" name="Text 10"/>
          <p:cNvSpPr/>
          <p:nvPr/>
        </p:nvSpPr>
        <p:spPr>
          <a:xfrm>
            <a:off x="493776" y="1572768"/>
            <a:ext cx="2706624" cy="329184"/>
          </a:xfrm>
          <a:prstGeom prst="rect">
            <a:avLst/>
          </a:prstGeom>
          <a:noFill/>
          <a:ln/>
        </p:spPr>
        <p:txBody>
          <a:bodyPr wrap="square" rtlCol="0" anchor="ctr"/>
          <a:lstStyle/>
          <a:p>
            <a:pPr indent="0" marL="0">
              <a:buNone/>
            </a:pPr>
            <a:r>
              <a:rPr lang="en-US" sz="850" dirty="0">
                <a:solidFill>
                  <a:srgbClr val="3D5260"/>
                </a:solidFill>
                <a:latin typeface="Calibri" pitchFamily="34" charset="0"/>
                <a:ea typeface="Calibri" pitchFamily="34" charset="-122"/>
                <a:cs typeface="Calibri" pitchFamily="34" charset="-120"/>
              </a:rPr>
              <a:t>One governed Plaid channel replaces hundreds of direct bank connections. Dramatically reduces operational attack surface.</a:t>
            </a:r>
            <a:endParaRPr lang="en-US" sz="850" dirty="0"/>
          </a:p>
        </p:txBody>
      </p:sp>
      <p:sp>
        <p:nvSpPr>
          <p:cNvPr id="13" name="Shape 11"/>
          <p:cNvSpPr/>
          <p:nvPr/>
        </p:nvSpPr>
        <p:spPr>
          <a:xfrm>
            <a:off x="347472" y="2029968"/>
            <a:ext cx="54864" cy="457200"/>
          </a:xfrm>
          <a:prstGeom prst="rect">
            <a:avLst/>
          </a:prstGeom>
          <a:solidFill>
            <a:srgbClr val="02C39A"/>
          </a:solidFill>
          <a:ln w="12700">
            <a:solidFill>
              <a:srgbClr val="02C39A"/>
            </a:solidFill>
            <a:prstDash val="solid"/>
          </a:ln>
        </p:spPr>
      </p:sp>
      <p:sp>
        <p:nvSpPr>
          <p:cNvPr id="14" name="Text 12"/>
          <p:cNvSpPr/>
          <p:nvPr/>
        </p:nvSpPr>
        <p:spPr>
          <a:xfrm>
            <a:off x="493776" y="2011680"/>
            <a:ext cx="2706624" cy="219456"/>
          </a:xfrm>
          <a:prstGeom prst="rect">
            <a:avLst/>
          </a:prstGeom>
          <a:noFill/>
          <a:ln/>
        </p:spPr>
        <p:txBody>
          <a:bodyPr wrap="square" rtlCol="0" anchor="ctr"/>
          <a:lstStyle/>
          <a:p>
            <a:pPr indent="0" marL="0">
              <a:buNone/>
            </a:pPr>
            <a:r>
              <a:rPr lang="en-US" sz="950" b="1" dirty="0">
                <a:solidFill>
                  <a:srgbClr val="0A1628"/>
                </a:solidFill>
                <a:latin typeface="Calibri" pitchFamily="34" charset="0"/>
                <a:ea typeface="Calibri" pitchFamily="34" charset="-122"/>
                <a:cs typeface="Calibri" pitchFamily="34" charset="-120"/>
              </a:rPr>
              <a:t>OFX/FDX Standardized Schema</a:t>
            </a:r>
            <a:endParaRPr lang="en-US" sz="950" dirty="0"/>
          </a:p>
        </p:txBody>
      </p:sp>
      <p:sp>
        <p:nvSpPr>
          <p:cNvPr id="15" name="Text 13"/>
          <p:cNvSpPr/>
          <p:nvPr/>
        </p:nvSpPr>
        <p:spPr>
          <a:xfrm>
            <a:off x="493776" y="2231136"/>
            <a:ext cx="2706624" cy="329184"/>
          </a:xfrm>
          <a:prstGeom prst="rect">
            <a:avLst/>
          </a:prstGeom>
          <a:noFill/>
          <a:ln/>
        </p:spPr>
        <p:txBody>
          <a:bodyPr wrap="square" rtlCol="0" anchor="ctr"/>
          <a:lstStyle/>
          <a:p>
            <a:pPr indent="0" marL="0">
              <a:buNone/>
            </a:pPr>
            <a:r>
              <a:rPr lang="en-US" sz="850" dirty="0">
                <a:solidFill>
                  <a:srgbClr val="3D5260"/>
                </a:solidFill>
                <a:latin typeface="Calibri" pitchFamily="34" charset="0"/>
                <a:ea typeface="Calibri" pitchFamily="34" charset="-122"/>
                <a:cs typeface="Calibri" pitchFamily="34" charset="-120"/>
              </a:rPr>
              <a:t>Normalized JSON payloads for accounts, transactions, and balances. Eliminates per-institution data transformation logic.</a:t>
            </a:r>
            <a:endParaRPr lang="en-US" sz="850" dirty="0"/>
          </a:p>
        </p:txBody>
      </p:sp>
      <p:sp>
        <p:nvSpPr>
          <p:cNvPr id="16" name="Shape 14"/>
          <p:cNvSpPr/>
          <p:nvPr/>
        </p:nvSpPr>
        <p:spPr>
          <a:xfrm>
            <a:off x="347472" y="2688336"/>
            <a:ext cx="54864" cy="457200"/>
          </a:xfrm>
          <a:prstGeom prst="rect">
            <a:avLst/>
          </a:prstGeom>
          <a:solidFill>
            <a:srgbClr val="02C39A"/>
          </a:solidFill>
          <a:ln w="12700">
            <a:solidFill>
              <a:srgbClr val="02C39A"/>
            </a:solidFill>
            <a:prstDash val="solid"/>
          </a:ln>
        </p:spPr>
      </p:sp>
      <p:sp>
        <p:nvSpPr>
          <p:cNvPr id="17" name="Text 15"/>
          <p:cNvSpPr/>
          <p:nvPr/>
        </p:nvSpPr>
        <p:spPr>
          <a:xfrm>
            <a:off x="493776" y="2670048"/>
            <a:ext cx="2706624" cy="219456"/>
          </a:xfrm>
          <a:prstGeom prst="rect">
            <a:avLst/>
          </a:prstGeom>
          <a:noFill/>
          <a:ln/>
        </p:spPr>
        <p:txBody>
          <a:bodyPr wrap="square" rtlCol="0" anchor="ctr"/>
          <a:lstStyle/>
          <a:p>
            <a:pPr indent="0" marL="0">
              <a:buNone/>
            </a:pPr>
            <a:r>
              <a:rPr lang="en-US" sz="950" b="1" dirty="0">
                <a:solidFill>
                  <a:srgbClr val="0A1628"/>
                </a:solidFill>
                <a:latin typeface="Calibri" pitchFamily="34" charset="0"/>
                <a:ea typeface="Calibri" pitchFamily="34" charset="-122"/>
                <a:cs typeface="Calibri" pitchFamily="34" charset="-120"/>
              </a:rPr>
              <a:t>OAuth 2.0 + Token Isolation</a:t>
            </a:r>
            <a:endParaRPr lang="en-US" sz="950" dirty="0"/>
          </a:p>
        </p:txBody>
      </p:sp>
      <p:sp>
        <p:nvSpPr>
          <p:cNvPr id="18" name="Text 16"/>
          <p:cNvSpPr/>
          <p:nvPr/>
        </p:nvSpPr>
        <p:spPr>
          <a:xfrm>
            <a:off x="493776" y="2889504"/>
            <a:ext cx="2706624" cy="329184"/>
          </a:xfrm>
          <a:prstGeom prst="rect">
            <a:avLst/>
          </a:prstGeom>
          <a:noFill/>
          <a:ln/>
        </p:spPr>
        <p:txBody>
          <a:bodyPr wrap="square" rtlCol="0" anchor="ctr"/>
          <a:lstStyle/>
          <a:p>
            <a:pPr indent="0" marL="0">
              <a:buNone/>
            </a:pPr>
            <a:r>
              <a:rPr lang="en-US" sz="850" dirty="0">
                <a:solidFill>
                  <a:srgbClr val="3D5260"/>
                </a:solidFill>
                <a:latin typeface="Calibri" pitchFamily="34" charset="0"/>
                <a:ea typeface="Calibri" pitchFamily="34" charset="-122"/>
                <a:cs typeface="Calibri" pitchFamily="34" charset="-120"/>
              </a:rPr>
              <a:t>No BBH credentials transit the Plaid layer. Scoped, short-lived tokens are revocable at any time by BBH.</a:t>
            </a:r>
            <a:endParaRPr lang="en-US" sz="850" dirty="0"/>
          </a:p>
        </p:txBody>
      </p:sp>
      <p:sp>
        <p:nvSpPr>
          <p:cNvPr id="19" name="Shape 17"/>
          <p:cNvSpPr/>
          <p:nvPr/>
        </p:nvSpPr>
        <p:spPr>
          <a:xfrm>
            <a:off x="347472" y="3346704"/>
            <a:ext cx="54864" cy="457200"/>
          </a:xfrm>
          <a:prstGeom prst="rect">
            <a:avLst/>
          </a:prstGeom>
          <a:solidFill>
            <a:srgbClr val="02C39A"/>
          </a:solidFill>
          <a:ln w="12700">
            <a:solidFill>
              <a:srgbClr val="02C39A"/>
            </a:solidFill>
            <a:prstDash val="solid"/>
          </a:ln>
        </p:spPr>
      </p:sp>
      <p:sp>
        <p:nvSpPr>
          <p:cNvPr id="20" name="Text 18"/>
          <p:cNvSpPr/>
          <p:nvPr/>
        </p:nvSpPr>
        <p:spPr>
          <a:xfrm>
            <a:off x="493776" y="3328416"/>
            <a:ext cx="2706624" cy="219456"/>
          </a:xfrm>
          <a:prstGeom prst="rect">
            <a:avLst/>
          </a:prstGeom>
          <a:noFill/>
          <a:ln/>
        </p:spPr>
        <p:txBody>
          <a:bodyPr wrap="square" rtlCol="0" anchor="ctr"/>
          <a:lstStyle/>
          <a:p>
            <a:pPr indent="0" marL="0">
              <a:buNone/>
            </a:pPr>
            <a:r>
              <a:rPr lang="en-US" sz="950" b="1" dirty="0">
                <a:solidFill>
                  <a:srgbClr val="0A1628"/>
                </a:solidFill>
                <a:latin typeface="Calibri" pitchFamily="34" charset="0"/>
                <a:ea typeface="Calibri" pitchFamily="34" charset="-122"/>
                <a:cs typeface="Calibri" pitchFamily="34" charset="-120"/>
              </a:rPr>
              <a:t>Zero Credential Exposure</a:t>
            </a:r>
            <a:endParaRPr lang="en-US" sz="950" dirty="0"/>
          </a:p>
        </p:txBody>
      </p:sp>
      <p:sp>
        <p:nvSpPr>
          <p:cNvPr id="21" name="Text 19"/>
          <p:cNvSpPr/>
          <p:nvPr/>
        </p:nvSpPr>
        <p:spPr>
          <a:xfrm>
            <a:off x="493776" y="3547872"/>
            <a:ext cx="2706624" cy="329184"/>
          </a:xfrm>
          <a:prstGeom prst="rect">
            <a:avLst/>
          </a:prstGeom>
          <a:noFill/>
          <a:ln/>
        </p:spPr>
        <p:txBody>
          <a:bodyPr wrap="square" rtlCol="0" anchor="ctr"/>
          <a:lstStyle/>
          <a:p>
            <a:pPr indent="0" marL="0">
              <a:buNone/>
            </a:pPr>
            <a:r>
              <a:rPr lang="en-US" sz="850" dirty="0">
                <a:solidFill>
                  <a:srgbClr val="3D5260"/>
                </a:solidFill>
                <a:latin typeface="Calibri" pitchFamily="34" charset="0"/>
                <a:ea typeface="Calibri" pitchFamily="34" charset="-122"/>
                <a:cs typeface="Calibri" pitchFamily="34" charset="-120"/>
              </a:rPr>
              <a:t>Plaid Link encrypts all user inputs. Raw credentials are never stored, forwarded, or accessible to any third party.</a:t>
            </a:r>
            <a:endParaRPr lang="en-US" sz="850" dirty="0"/>
          </a:p>
        </p:txBody>
      </p:sp>
      <p:sp>
        <p:nvSpPr>
          <p:cNvPr id="22" name="Shape 20"/>
          <p:cNvSpPr/>
          <p:nvPr/>
        </p:nvSpPr>
        <p:spPr>
          <a:xfrm>
            <a:off x="347472" y="4005072"/>
            <a:ext cx="54864" cy="457200"/>
          </a:xfrm>
          <a:prstGeom prst="rect">
            <a:avLst/>
          </a:prstGeom>
          <a:solidFill>
            <a:srgbClr val="02C39A"/>
          </a:solidFill>
          <a:ln w="12700">
            <a:solidFill>
              <a:srgbClr val="02C39A"/>
            </a:solidFill>
            <a:prstDash val="solid"/>
          </a:ln>
        </p:spPr>
      </p:sp>
      <p:sp>
        <p:nvSpPr>
          <p:cNvPr id="23" name="Text 21"/>
          <p:cNvSpPr/>
          <p:nvPr/>
        </p:nvSpPr>
        <p:spPr>
          <a:xfrm>
            <a:off x="493776" y="3986784"/>
            <a:ext cx="2706624" cy="219456"/>
          </a:xfrm>
          <a:prstGeom prst="rect">
            <a:avLst/>
          </a:prstGeom>
          <a:noFill/>
          <a:ln/>
        </p:spPr>
        <p:txBody>
          <a:bodyPr wrap="square" rtlCol="0" anchor="ctr"/>
          <a:lstStyle/>
          <a:p>
            <a:pPr indent="0" marL="0">
              <a:buNone/>
            </a:pPr>
            <a:r>
              <a:rPr lang="en-US" sz="950" b="1" dirty="0">
                <a:solidFill>
                  <a:srgbClr val="0A1628"/>
                </a:solidFill>
                <a:latin typeface="Calibri" pitchFamily="34" charset="0"/>
                <a:ea typeface="Calibri" pitchFamily="34" charset="-122"/>
                <a:cs typeface="Calibri" pitchFamily="34" charset="-120"/>
              </a:rPr>
              <a:t>Handles Scale &amp; Reliability</a:t>
            </a:r>
            <a:endParaRPr lang="en-US" sz="950" dirty="0"/>
          </a:p>
        </p:txBody>
      </p:sp>
      <p:sp>
        <p:nvSpPr>
          <p:cNvPr id="24" name="Text 22"/>
          <p:cNvSpPr/>
          <p:nvPr/>
        </p:nvSpPr>
        <p:spPr>
          <a:xfrm>
            <a:off x="493776" y="4206240"/>
            <a:ext cx="2706624" cy="329184"/>
          </a:xfrm>
          <a:prstGeom prst="rect">
            <a:avLst/>
          </a:prstGeom>
          <a:noFill/>
          <a:ln/>
        </p:spPr>
        <p:txBody>
          <a:bodyPr wrap="square" rtlCol="0" anchor="ctr"/>
          <a:lstStyle/>
          <a:p>
            <a:pPr indent="0" marL="0">
              <a:buNone/>
            </a:pPr>
            <a:r>
              <a:rPr lang="en-US" sz="850" dirty="0">
                <a:solidFill>
                  <a:srgbClr val="3D5260"/>
                </a:solidFill>
                <a:latin typeface="Calibri" pitchFamily="34" charset="0"/>
                <a:ea typeface="Calibri" pitchFamily="34" charset="-122"/>
                <a:cs typeface="Calibri" pitchFamily="34" charset="-120"/>
              </a:rPr>
              <a:t>Plaid manages rate limiting, retries, and institution-level failover. BBH inherits enterprise-grade reliability.</a:t>
            </a:r>
            <a:endParaRPr lang="en-US" sz="850" dirty="0"/>
          </a:p>
        </p:txBody>
      </p:sp>
      <p:sp>
        <p:nvSpPr>
          <p:cNvPr id="25" name="Shape 23"/>
          <p:cNvSpPr/>
          <p:nvPr/>
        </p:nvSpPr>
        <p:spPr>
          <a:xfrm>
            <a:off x="3493008" y="896112"/>
            <a:ext cx="1389888" cy="3858768"/>
          </a:xfrm>
          <a:prstGeom prst="rect">
            <a:avLst/>
          </a:prstGeom>
          <a:solidFill>
            <a:srgbClr val="FFFFFF"/>
          </a:solidFill>
          <a:ln w="9525">
            <a:solidFill>
              <a:srgbClr val="E8EEF0"/>
            </a:solidFill>
            <a:prstDash val="solid"/>
          </a:ln>
        </p:spPr>
      </p:sp>
      <p:sp>
        <p:nvSpPr>
          <p:cNvPr id="26" name="Shape 24"/>
          <p:cNvSpPr/>
          <p:nvPr/>
        </p:nvSpPr>
        <p:spPr>
          <a:xfrm>
            <a:off x="3493008" y="896112"/>
            <a:ext cx="1389888" cy="274320"/>
          </a:xfrm>
          <a:prstGeom prst="rect">
            <a:avLst/>
          </a:prstGeom>
          <a:solidFill>
            <a:srgbClr val="C8EAE8"/>
          </a:solidFill>
          <a:ln w="12700">
            <a:solidFill>
              <a:srgbClr val="C8EAE8"/>
            </a:solidFill>
            <a:prstDash val="solid"/>
          </a:ln>
        </p:spPr>
      </p:sp>
      <p:sp>
        <p:nvSpPr>
          <p:cNvPr id="27" name="Text 25"/>
          <p:cNvSpPr/>
          <p:nvPr/>
        </p:nvSpPr>
        <p:spPr>
          <a:xfrm>
            <a:off x="3493008" y="896112"/>
            <a:ext cx="1389888" cy="274320"/>
          </a:xfrm>
          <a:prstGeom prst="rect">
            <a:avLst/>
          </a:prstGeom>
          <a:noFill/>
          <a:ln/>
        </p:spPr>
        <p:txBody>
          <a:bodyPr wrap="square" lIns="0" tIns="0" rIns="0" bIns="0" rtlCol="0" anchor="ctr"/>
          <a:lstStyle/>
          <a:p>
            <a:pPr algn="ctr" indent="0" marL="0">
              <a:buNone/>
            </a:pPr>
            <a:r>
              <a:rPr lang="en-US" sz="850" b="1" dirty="0">
                <a:solidFill>
                  <a:srgbClr val="028090"/>
                </a:solidFill>
              </a:rPr>
              <a:t>Fintech Apps</a:t>
            </a:r>
            <a:endParaRPr lang="en-US" sz="850" dirty="0"/>
          </a:p>
        </p:txBody>
      </p:sp>
      <p:sp>
        <p:nvSpPr>
          <p:cNvPr id="28" name="Shape 26"/>
          <p:cNvSpPr/>
          <p:nvPr/>
        </p:nvSpPr>
        <p:spPr>
          <a:xfrm>
            <a:off x="3566160" y="1261872"/>
            <a:ext cx="1243584" cy="384048"/>
          </a:xfrm>
          <a:prstGeom prst="rect">
            <a:avLst/>
          </a:prstGeom>
          <a:solidFill>
            <a:srgbClr val="F4F8F9"/>
          </a:solidFill>
          <a:ln w="9525">
            <a:solidFill>
              <a:srgbClr val="C8EAE8"/>
            </a:solidFill>
            <a:prstDash val="solid"/>
          </a:ln>
        </p:spPr>
      </p:sp>
      <p:sp>
        <p:nvSpPr>
          <p:cNvPr id="29" name="Text 27"/>
          <p:cNvSpPr/>
          <p:nvPr/>
        </p:nvSpPr>
        <p:spPr>
          <a:xfrm>
            <a:off x="3566160" y="1261872"/>
            <a:ext cx="1243584" cy="384048"/>
          </a:xfrm>
          <a:prstGeom prst="rect">
            <a:avLst/>
          </a:prstGeom>
          <a:noFill/>
          <a:ln/>
        </p:spPr>
        <p:txBody>
          <a:bodyPr wrap="square" lIns="0" tIns="0" rIns="0" bIns="0" rtlCol="0" anchor="ctr"/>
          <a:lstStyle/>
          <a:p>
            <a:pPr algn="ctr" indent="0" marL="0">
              <a:buNone/>
            </a:pPr>
            <a:r>
              <a:rPr lang="en-US" sz="850" dirty="0">
                <a:solidFill>
                  <a:srgbClr val="0A1628"/>
                </a:solidFill>
                <a:latin typeface="Calibri" pitchFamily="34" charset="0"/>
                <a:ea typeface="Calibri" pitchFamily="34" charset="-122"/>
                <a:cs typeface="Calibri" pitchFamily="34" charset="-120"/>
              </a:rPr>
              <a:t>Addepar</a:t>
            </a:r>
            <a:endParaRPr lang="en-US" sz="850" dirty="0"/>
          </a:p>
        </p:txBody>
      </p:sp>
      <p:sp>
        <p:nvSpPr>
          <p:cNvPr id="30" name="Shape 28"/>
          <p:cNvSpPr/>
          <p:nvPr/>
        </p:nvSpPr>
        <p:spPr>
          <a:xfrm>
            <a:off x="3566160" y="1792224"/>
            <a:ext cx="1243584" cy="384048"/>
          </a:xfrm>
          <a:prstGeom prst="rect">
            <a:avLst/>
          </a:prstGeom>
          <a:solidFill>
            <a:srgbClr val="F4F8F9"/>
          </a:solidFill>
          <a:ln w="9525">
            <a:solidFill>
              <a:srgbClr val="C8EAE8"/>
            </a:solidFill>
            <a:prstDash val="solid"/>
          </a:ln>
        </p:spPr>
      </p:sp>
      <p:sp>
        <p:nvSpPr>
          <p:cNvPr id="31" name="Text 29"/>
          <p:cNvSpPr/>
          <p:nvPr/>
        </p:nvSpPr>
        <p:spPr>
          <a:xfrm>
            <a:off x="3566160" y="1792224"/>
            <a:ext cx="1243584" cy="384048"/>
          </a:xfrm>
          <a:prstGeom prst="rect">
            <a:avLst/>
          </a:prstGeom>
          <a:noFill/>
          <a:ln/>
        </p:spPr>
        <p:txBody>
          <a:bodyPr wrap="square" lIns="0" tIns="0" rIns="0" bIns="0" rtlCol="0" anchor="ctr"/>
          <a:lstStyle/>
          <a:p>
            <a:pPr algn="ctr" indent="0" marL="0">
              <a:buNone/>
            </a:pPr>
            <a:r>
              <a:rPr lang="en-US" sz="850" dirty="0">
                <a:solidFill>
                  <a:srgbClr val="0A1628"/>
                </a:solidFill>
                <a:latin typeface="Calibri" pitchFamily="34" charset="0"/>
                <a:ea typeface="Calibri" pitchFamily="34" charset="-122"/>
                <a:cs typeface="Calibri" pitchFamily="34" charset="-120"/>
              </a:rPr>
              <a:t>Chime</a:t>
            </a:r>
            <a:endParaRPr lang="en-US" sz="850" dirty="0"/>
          </a:p>
        </p:txBody>
      </p:sp>
      <p:sp>
        <p:nvSpPr>
          <p:cNvPr id="32" name="Shape 30"/>
          <p:cNvSpPr/>
          <p:nvPr/>
        </p:nvSpPr>
        <p:spPr>
          <a:xfrm>
            <a:off x="3566160" y="2322576"/>
            <a:ext cx="1243584" cy="384048"/>
          </a:xfrm>
          <a:prstGeom prst="rect">
            <a:avLst/>
          </a:prstGeom>
          <a:solidFill>
            <a:srgbClr val="F4F8F9"/>
          </a:solidFill>
          <a:ln w="9525">
            <a:solidFill>
              <a:srgbClr val="C8EAE8"/>
            </a:solidFill>
            <a:prstDash val="solid"/>
          </a:ln>
        </p:spPr>
      </p:sp>
      <p:sp>
        <p:nvSpPr>
          <p:cNvPr id="33" name="Text 31"/>
          <p:cNvSpPr/>
          <p:nvPr/>
        </p:nvSpPr>
        <p:spPr>
          <a:xfrm>
            <a:off x="3566160" y="2322576"/>
            <a:ext cx="1243584" cy="384048"/>
          </a:xfrm>
          <a:prstGeom prst="rect">
            <a:avLst/>
          </a:prstGeom>
          <a:noFill/>
          <a:ln/>
        </p:spPr>
        <p:txBody>
          <a:bodyPr wrap="square" lIns="0" tIns="0" rIns="0" bIns="0" rtlCol="0" anchor="ctr"/>
          <a:lstStyle/>
          <a:p>
            <a:pPr algn="ctr" indent="0" marL="0">
              <a:buNone/>
            </a:pPr>
            <a:r>
              <a:rPr lang="en-US" sz="850" dirty="0">
                <a:solidFill>
                  <a:srgbClr val="0A1628"/>
                </a:solidFill>
                <a:latin typeface="Calibri" pitchFamily="34" charset="0"/>
                <a:ea typeface="Calibri" pitchFamily="34" charset="-122"/>
                <a:cs typeface="Calibri" pitchFamily="34" charset="-120"/>
              </a:rPr>
              <a:t>Venmo</a:t>
            </a:r>
            <a:endParaRPr lang="en-US" sz="850" dirty="0"/>
          </a:p>
        </p:txBody>
      </p:sp>
      <p:sp>
        <p:nvSpPr>
          <p:cNvPr id="34" name="Shape 32"/>
          <p:cNvSpPr/>
          <p:nvPr/>
        </p:nvSpPr>
        <p:spPr>
          <a:xfrm>
            <a:off x="3566160" y="2852928"/>
            <a:ext cx="1243584" cy="384048"/>
          </a:xfrm>
          <a:prstGeom prst="rect">
            <a:avLst/>
          </a:prstGeom>
          <a:solidFill>
            <a:srgbClr val="F4F8F9"/>
          </a:solidFill>
          <a:ln w="9525">
            <a:solidFill>
              <a:srgbClr val="C8EAE8"/>
            </a:solidFill>
            <a:prstDash val="solid"/>
          </a:ln>
        </p:spPr>
      </p:sp>
      <p:sp>
        <p:nvSpPr>
          <p:cNvPr id="35" name="Text 33"/>
          <p:cNvSpPr/>
          <p:nvPr/>
        </p:nvSpPr>
        <p:spPr>
          <a:xfrm>
            <a:off x="3566160" y="2852928"/>
            <a:ext cx="1243584" cy="384048"/>
          </a:xfrm>
          <a:prstGeom prst="rect">
            <a:avLst/>
          </a:prstGeom>
          <a:noFill/>
          <a:ln/>
        </p:spPr>
        <p:txBody>
          <a:bodyPr wrap="square" lIns="0" tIns="0" rIns="0" bIns="0" rtlCol="0" anchor="ctr"/>
          <a:lstStyle/>
          <a:p>
            <a:pPr algn="ctr" indent="0" marL="0">
              <a:buNone/>
            </a:pPr>
            <a:r>
              <a:rPr lang="en-US" sz="850" dirty="0">
                <a:solidFill>
                  <a:srgbClr val="0A1628"/>
                </a:solidFill>
                <a:latin typeface="Calibri" pitchFamily="34" charset="0"/>
                <a:ea typeface="Calibri" pitchFamily="34" charset="-122"/>
                <a:cs typeface="Calibri" pitchFamily="34" charset="-120"/>
              </a:rPr>
              <a:t>QuickBooks</a:t>
            </a:r>
            <a:endParaRPr lang="en-US" sz="850" dirty="0"/>
          </a:p>
        </p:txBody>
      </p:sp>
      <p:sp>
        <p:nvSpPr>
          <p:cNvPr id="36" name="Shape 34"/>
          <p:cNvSpPr/>
          <p:nvPr/>
        </p:nvSpPr>
        <p:spPr>
          <a:xfrm>
            <a:off x="3566160" y="3383280"/>
            <a:ext cx="1243584" cy="384048"/>
          </a:xfrm>
          <a:prstGeom prst="rect">
            <a:avLst/>
          </a:prstGeom>
          <a:solidFill>
            <a:srgbClr val="E8EEF0"/>
          </a:solidFill>
          <a:ln w="9525">
            <a:solidFill>
              <a:srgbClr val="8FA3A8"/>
            </a:solidFill>
            <a:prstDash val="solid"/>
          </a:ln>
        </p:spPr>
      </p:sp>
      <p:sp>
        <p:nvSpPr>
          <p:cNvPr id="37" name="Text 35"/>
          <p:cNvSpPr/>
          <p:nvPr/>
        </p:nvSpPr>
        <p:spPr>
          <a:xfrm>
            <a:off x="3566160" y="3383280"/>
            <a:ext cx="1243584" cy="219456"/>
          </a:xfrm>
          <a:prstGeom prst="rect">
            <a:avLst/>
          </a:prstGeom>
          <a:noFill/>
          <a:ln/>
        </p:spPr>
        <p:txBody>
          <a:bodyPr wrap="square" lIns="0" tIns="0" rIns="0" bIns="0" rtlCol="0" anchor="ctr"/>
          <a:lstStyle/>
          <a:p>
            <a:pPr algn="ctr" indent="0" marL="0">
              <a:buNone/>
            </a:pPr>
            <a:r>
              <a:rPr lang="en-US" sz="850" dirty="0">
                <a:solidFill>
                  <a:srgbClr val="8FA3A8"/>
                </a:solidFill>
                <a:latin typeface="Calibri" pitchFamily="34" charset="0"/>
                <a:ea typeface="Calibri" pitchFamily="34" charset="-122"/>
                <a:cs typeface="Calibri" pitchFamily="34" charset="-120"/>
              </a:rPr>
              <a:t>Non-Plaid App</a:t>
            </a:r>
            <a:endParaRPr lang="en-US" sz="850" dirty="0"/>
          </a:p>
        </p:txBody>
      </p:sp>
      <p:sp>
        <p:nvSpPr>
          <p:cNvPr id="38" name="Shape 36"/>
          <p:cNvSpPr/>
          <p:nvPr/>
        </p:nvSpPr>
        <p:spPr>
          <a:xfrm>
            <a:off x="3621024" y="3602736"/>
            <a:ext cx="1133856" cy="155448"/>
          </a:xfrm>
          <a:prstGeom prst="rect">
            <a:avLst/>
          </a:prstGeom>
          <a:solidFill>
            <a:srgbClr val="FEF3CD"/>
          </a:solidFill>
          <a:ln w="6350">
            <a:solidFill>
              <a:srgbClr val="F0A500"/>
            </a:solidFill>
            <a:prstDash val="solid"/>
          </a:ln>
        </p:spPr>
      </p:sp>
      <p:sp>
        <p:nvSpPr>
          <p:cNvPr id="39" name="Text 37"/>
          <p:cNvSpPr/>
          <p:nvPr/>
        </p:nvSpPr>
        <p:spPr>
          <a:xfrm>
            <a:off x="3621024" y="3602736"/>
            <a:ext cx="1133856" cy="155448"/>
          </a:xfrm>
          <a:prstGeom prst="rect">
            <a:avLst/>
          </a:prstGeom>
          <a:noFill/>
          <a:ln/>
        </p:spPr>
        <p:txBody>
          <a:bodyPr wrap="square" lIns="0" tIns="0" rIns="0" bIns="0" rtlCol="0" anchor="ctr"/>
          <a:lstStyle/>
          <a:p>
            <a:pPr algn="ctr" indent="0" marL="0">
              <a:buNone/>
            </a:pPr>
            <a:r>
              <a:rPr lang="en-US" sz="700" dirty="0">
                <a:solidFill>
                  <a:srgbClr val="7A4F00"/>
                </a:solidFill>
              </a:rPr>
              <a:t>Not via Plaid</a:t>
            </a:r>
            <a:endParaRPr lang="en-US" sz="700" dirty="0"/>
          </a:p>
        </p:txBody>
      </p:sp>
      <p:sp>
        <p:nvSpPr>
          <p:cNvPr id="40" name="Shape 38"/>
          <p:cNvSpPr/>
          <p:nvPr/>
        </p:nvSpPr>
        <p:spPr>
          <a:xfrm>
            <a:off x="3566160" y="3913632"/>
            <a:ext cx="1243584" cy="384048"/>
          </a:xfrm>
          <a:prstGeom prst="rect">
            <a:avLst/>
          </a:prstGeom>
          <a:solidFill>
            <a:srgbClr val="F4F8F9"/>
          </a:solidFill>
          <a:ln w="9525">
            <a:solidFill>
              <a:srgbClr val="C8EAE8"/>
            </a:solidFill>
            <a:prstDash val="solid"/>
          </a:ln>
        </p:spPr>
      </p:sp>
      <p:sp>
        <p:nvSpPr>
          <p:cNvPr id="41" name="Text 39"/>
          <p:cNvSpPr/>
          <p:nvPr/>
        </p:nvSpPr>
        <p:spPr>
          <a:xfrm>
            <a:off x="3566160" y="3913632"/>
            <a:ext cx="1243584" cy="384048"/>
          </a:xfrm>
          <a:prstGeom prst="rect">
            <a:avLst/>
          </a:prstGeom>
          <a:noFill/>
          <a:ln/>
        </p:spPr>
        <p:txBody>
          <a:bodyPr wrap="square" lIns="0" tIns="0" rIns="0" bIns="0" rtlCol="0" anchor="ctr"/>
          <a:lstStyle/>
          <a:p>
            <a:pPr algn="ctr" indent="0" marL="0">
              <a:buNone/>
            </a:pPr>
            <a:r>
              <a:rPr lang="en-US" sz="850" dirty="0">
                <a:solidFill>
                  <a:srgbClr val="0A1628"/>
                </a:solidFill>
                <a:latin typeface="Calibri" pitchFamily="34" charset="0"/>
                <a:ea typeface="Calibri" pitchFamily="34" charset="-122"/>
                <a:cs typeface="Calibri" pitchFamily="34" charset="-120"/>
              </a:rPr>
              <a:t>Bank of America</a:t>
            </a:r>
            <a:endParaRPr lang="en-US" sz="850" dirty="0"/>
          </a:p>
        </p:txBody>
      </p:sp>
      <p:sp>
        <p:nvSpPr>
          <p:cNvPr id="42" name="Text 40"/>
          <p:cNvSpPr/>
          <p:nvPr/>
        </p:nvSpPr>
        <p:spPr>
          <a:xfrm>
            <a:off x="4901184" y="2514600"/>
            <a:ext cx="347472" cy="274320"/>
          </a:xfrm>
          <a:prstGeom prst="rect">
            <a:avLst/>
          </a:prstGeom>
          <a:noFill/>
          <a:ln/>
        </p:spPr>
        <p:txBody>
          <a:bodyPr wrap="square" rtlCol="0" anchor="ctr"/>
          <a:lstStyle/>
          <a:p>
            <a:pPr algn="ctr" indent="0" marL="0">
              <a:buNone/>
            </a:pPr>
            <a:r>
              <a:rPr lang="en-US" sz="1600" dirty="0">
                <a:solidFill>
                  <a:srgbClr val="028090"/>
                </a:solidFill>
              </a:rPr>
              <a:t>→</a:t>
            </a:r>
            <a:endParaRPr lang="en-US" sz="1600" dirty="0"/>
          </a:p>
        </p:txBody>
      </p:sp>
      <p:sp>
        <p:nvSpPr>
          <p:cNvPr id="43" name="Shape 41"/>
          <p:cNvSpPr/>
          <p:nvPr/>
        </p:nvSpPr>
        <p:spPr>
          <a:xfrm>
            <a:off x="5266944" y="2340864"/>
            <a:ext cx="694944" cy="694944"/>
          </a:xfrm>
          <a:prstGeom prst="ellipse">
            <a:avLst/>
          </a:prstGeom>
          <a:solidFill>
            <a:srgbClr val="0A1628"/>
          </a:solidFill>
          <a:ln w="19050">
            <a:solidFill>
              <a:srgbClr val="028090"/>
            </a:solidFill>
            <a:prstDash val="solid"/>
          </a:ln>
        </p:spPr>
      </p:sp>
      <p:sp>
        <p:nvSpPr>
          <p:cNvPr id="44" name="Text 42"/>
          <p:cNvSpPr/>
          <p:nvPr/>
        </p:nvSpPr>
        <p:spPr>
          <a:xfrm>
            <a:off x="5266944" y="2340864"/>
            <a:ext cx="694944" cy="694944"/>
          </a:xfrm>
          <a:prstGeom prst="rect">
            <a:avLst/>
          </a:prstGeom>
          <a:noFill/>
          <a:ln/>
        </p:spPr>
        <p:txBody>
          <a:bodyPr wrap="square" lIns="0" tIns="0" rIns="0" bIns="0" rtlCol="0" anchor="ctr"/>
          <a:lstStyle/>
          <a:p>
            <a:pPr algn="ctr" indent="0" marL="0">
              <a:buNone/>
            </a:pPr>
            <a:r>
              <a:rPr lang="en-US" sz="750" b="1" dirty="0">
                <a:solidFill>
                  <a:srgbClr val="FFFFFF"/>
                </a:solidFill>
              </a:rPr>
              <a:t>PLAID</a:t>
            </a:r>
            <a:endParaRPr lang="en-US" sz="750" dirty="0"/>
          </a:p>
        </p:txBody>
      </p:sp>
      <p:sp>
        <p:nvSpPr>
          <p:cNvPr id="45" name="Text 43"/>
          <p:cNvSpPr/>
          <p:nvPr/>
        </p:nvSpPr>
        <p:spPr>
          <a:xfrm>
            <a:off x="5943600" y="2468880"/>
            <a:ext cx="347472" cy="347472"/>
          </a:xfrm>
          <a:prstGeom prst="rect">
            <a:avLst/>
          </a:prstGeom>
          <a:noFill/>
          <a:ln/>
        </p:spPr>
        <p:txBody>
          <a:bodyPr wrap="square" rtlCol="0" anchor="ctr"/>
          <a:lstStyle/>
          <a:p>
            <a:pPr algn="ctr" indent="0" marL="0">
              <a:buNone/>
            </a:pPr>
            <a:r>
              <a:rPr lang="en-US" sz="1400" dirty="0">
                <a:solidFill>
                  <a:srgbClr val="0A1628"/>
                </a:solidFill>
              </a:rPr>
              <a:t>⟺</a:t>
            </a:r>
            <a:endParaRPr lang="en-US" sz="1400" dirty="0"/>
          </a:p>
        </p:txBody>
      </p:sp>
      <p:sp>
        <p:nvSpPr>
          <p:cNvPr id="46" name="Shape 44"/>
          <p:cNvSpPr/>
          <p:nvPr/>
        </p:nvSpPr>
        <p:spPr>
          <a:xfrm>
            <a:off x="6309360" y="896112"/>
            <a:ext cx="530352" cy="3858768"/>
          </a:xfrm>
          <a:prstGeom prst="rect">
            <a:avLst/>
          </a:prstGeom>
          <a:solidFill>
            <a:srgbClr val="028090"/>
          </a:solidFill>
          <a:ln w="12700">
            <a:solidFill>
              <a:srgbClr val="028090"/>
            </a:solidFill>
            <a:prstDash val="solid"/>
          </a:ln>
        </p:spPr>
      </p:sp>
      <p:sp>
        <p:nvSpPr>
          <p:cNvPr id="47" name="Text 45"/>
          <p:cNvSpPr/>
          <p:nvPr/>
        </p:nvSpPr>
        <p:spPr>
          <a:xfrm>
            <a:off x="6309360" y="896112"/>
            <a:ext cx="530352" cy="502920"/>
          </a:xfrm>
          <a:prstGeom prst="rect">
            <a:avLst/>
          </a:prstGeom>
          <a:noFill/>
          <a:ln/>
        </p:spPr>
        <p:txBody>
          <a:bodyPr wrap="square" lIns="0" tIns="0" rIns="0" bIns="0" rtlCol="0" anchor="ctr"/>
          <a:lstStyle/>
          <a:p>
            <a:pPr algn="ctr" indent="0" marL="0">
              <a:buNone/>
            </a:pPr>
            <a:r>
              <a:rPr lang="en-US" sz="1100" b="1" dirty="0">
                <a:solidFill>
                  <a:srgbClr val="FFFFFF"/>
                </a:solidFill>
              </a:rPr>
              <a:t>B</a:t>
            </a:r>
            <a:endParaRPr lang="en-US" sz="1100" dirty="0"/>
          </a:p>
        </p:txBody>
      </p:sp>
      <p:sp>
        <p:nvSpPr>
          <p:cNvPr id="48" name="Text 46"/>
          <p:cNvSpPr/>
          <p:nvPr/>
        </p:nvSpPr>
        <p:spPr>
          <a:xfrm>
            <a:off x="6309360" y="1399032"/>
            <a:ext cx="530352" cy="502920"/>
          </a:xfrm>
          <a:prstGeom prst="rect">
            <a:avLst/>
          </a:prstGeom>
          <a:noFill/>
          <a:ln/>
        </p:spPr>
        <p:txBody>
          <a:bodyPr wrap="square" lIns="0" tIns="0" rIns="0" bIns="0" rtlCol="0" anchor="ctr"/>
          <a:lstStyle/>
          <a:p>
            <a:pPr algn="ctr" indent="0" marL="0">
              <a:buNone/>
            </a:pPr>
            <a:r>
              <a:rPr lang="en-US" sz="1100" b="1" dirty="0">
                <a:solidFill>
                  <a:srgbClr val="FFFFFF"/>
                </a:solidFill>
              </a:rPr>
              <a:t>B</a:t>
            </a:r>
            <a:endParaRPr lang="en-US" sz="1100" dirty="0"/>
          </a:p>
        </p:txBody>
      </p:sp>
      <p:sp>
        <p:nvSpPr>
          <p:cNvPr id="49" name="Text 47"/>
          <p:cNvSpPr/>
          <p:nvPr/>
        </p:nvSpPr>
        <p:spPr>
          <a:xfrm>
            <a:off x="6309360" y="1901952"/>
            <a:ext cx="530352" cy="502920"/>
          </a:xfrm>
          <a:prstGeom prst="rect">
            <a:avLst/>
          </a:prstGeom>
          <a:noFill/>
          <a:ln/>
        </p:spPr>
        <p:txBody>
          <a:bodyPr wrap="square" lIns="0" tIns="0" rIns="0" bIns="0" rtlCol="0" anchor="ctr"/>
          <a:lstStyle/>
          <a:p>
            <a:pPr algn="ctr" indent="0" marL="0">
              <a:buNone/>
            </a:pPr>
            <a:r>
              <a:rPr lang="en-US" sz="1100" b="1" dirty="0">
                <a:solidFill>
                  <a:srgbClr val="FFFFFF"/>
                </a:solidFill>
              </a:rPr>
              <a:t>H</a:t>
            </a:r>
            <a:endParaRPr lang="en-US" sz="1100" dirty="0"/>
          </a:p>
        </p:txBody>
      </p:sp>
      <p:sp>
        <p:nvSpPr>
          <p:cNvPr id="50" name="Text 48"/>
          <p:cNvSpPr/>
          <p:nvPr/>
        </p:nvSpPr>
        <p:spPr>
          <a:xfrm>
            <a:off x="6309360" y="2404872"/>
            <a:ext cx="530352" cy="502920"/>
          </a:xfrm>
          <a:prstGeom prst="rect">
            <a:avLst/>
          </a:prstGeom>
          <a:noFill/>
          <a:ln/>
        </p:spPr>
        <p:txBody>
          <a:bodyPr wrap="square" lIns="0" tIns="0" rIns="0" bIns="0" rtlCol="0" anchor="ctr"/>
          <a:lstStyle/>
          <a:p>
            <a:pPr algn="ctr" indent="0" marL="0">
              <a:buNone/>
            </a:pPr>
            <a:r>
              <a:rPr lang="en-US" sz="1100" b="1" dirty="0">
                <a:solidFill>
                  <a:srgbClr val="FFFFFF"/>
                </a:solidFill>
              </a:rPr>
              <a:t> </a:t>
            </a:r>
            <a:endParaRPr lang="en-US" sz="1100" dirty="0"/>
          </a:p>
        </p:txBody>
      </p:sp>
      <p:sp>
        <p:nvSpPr>
          <p:cNvPr id="51" name="Text 49"/>
          <p:cNvSpPr/>
          <p:nvPr/>
        </p:nvSpPr>
        <p:spPr>
          <a:xfrm>
            <a:off x="6309360" y="2907792"/>
            <a:ext cx="530352" cy="502920"/>
          </a:xfrm>
          <a:prstGeom prst="rect">
            <a:avLst/>
          </a:prstGeom>
          <a:noFill/>
          <a:ln/>
        </p:spPr>
        <p:txBody>
          <a:bodyPr wrap="square" lIns="0" tIns="0" rIns="0" bIns="0" rtlCol="0" anchor="ctr"/>
          <a:lstStyle/>
          <a:p>
            <a:pPr algn="ctr" indent="0" marL="0">
              <a:buNone/>
            </a:pPr>
            <a:r>
              <a:rPr lang="en-US" sz="1100" b="1" dirty="0">
                <a:solidFill>
                  <a:srgbClr val="FFFFFF"/>
                </a:solidFill>
              </a:rPr>
              <a:t>D</a:t>
            </a:r>
            <a:endParaRPr lang="en-US" sz="1100" dirty="0"/>
          </a:p>
        </p:txBody>
      </p:sp>
      <p:sp>
        <p:nvSpPr>
          <p:cNvPr id="52" name="Text 50"/>
          <p:cNvSpPr/>
          <p:nvPr/>
        </p:nvSpPr>
        <p:spPr>
          <a:xfrm>
            <a:off x="6309360" y="3410712"/>
            <a:ext cx="530352" cy="502920"/>
          </a:xfrm>
          <a:prstGeom prst="rect">
            <a:avLst/>
          </a:prstGeom>
          <a:noFill/>
          <a:ln/>
        </p:spPr>
        <p:txBody>
          <a:bodyPr wrap="square" lIns="0" tIns="0" rIns="0" bIns="0" rtlCol="0" anchor="ctr"/>
          <a:lstStyle/>
          <a:p>
            <a:pPr algn="ctr" indent="0" marL="0">
              <a:buNone/>
            </a:pPr>
            <a:r>
              <a:rPr lang="en-US" sz="1100" b="1" dirty="0">
                <a:solidFill>
                  <a:srgbClr val="FFFFFF"/>
                </a:solidFill>
              </a:rPr>
              <a:t>M</a:t>
            </a:r>
            <a:endParaRPr lang="en-US" sz="1100" dirty="0"/>
          </a:p>
        </p:txBody>
      </p:sp>
      <p:sp>
        <p:nvSpPr>
          <p:cNvPr id="53" name="Text 51"/>
          <p:cNvSpPr/>
          <p:nvPr/>
        </p:nvSpPr>
        <p:spPr>
          <a:xfrm>
            <a:off x="6309360" y="3913632"/>
            <a:ext cx="530352" cy="502920"/>
          </a:xfrm>
          <a:prstGeom prst="rect">
            <a:avLst/>
          </a:prstGeom>
          <a:noFill/>
          <a:ln/>
        </p:spPr>
        <p:txBody>
          <a:bodyPr wrap="square" lIns="0" tIns="0" rIns="0" bIns="0" rtlCol="0" anchor="ctr"/>
          <a:lstStyle/>
          <a:p>
            <a:pPr algn="ctr" indent="0" marL="0">
              <a:buNone/>
            </a:pPr>
            <a:r>
              <a:rPr lang="en-US" sz="1100" b="1" dirty="0">
                <a:solidFill>
                  <a:srgbClr val="FFFFFF"/>
                </a:solidFill>
              </a:rPr>
              <a:t>Z</a:t>
            </a:r>
            <a:endParaRPr lang="en-US" sz="1100" dirty="0"/>
          </a:p>
        </p:txBody>
      </p:sp>
      <p:sp>
        <p:nvSpPr>
          <p:cNvPr id="54" name="Shape 52"/>
          <p:cNvSpPr/>
          <p:nvPr/>
        </p:nvSpPr>
        <p:spPr>
          <a:xfrm>
            <a:off x="6858000" y="896112"/>
            <a:ext cx="502920" cy="3858768"/>
          </a:xfrm>
          <a:prstGeom prst="rect">
            <a:avLst/>
          </a:prstGeom>
          <a:solidFill>
            <a:srgbClr val="00A896"/>
          </a:solidFill>
          <a:ln w="12700">
            <a:solidFill>
              <a:srgbClr val="00A896"/>
            </a:solidFill>
            <a:prstDash val="solid"/>
          </a:ln>
        </p:spPr>
      </p:sp>
      <p:sp>
        <p:nvSpPr>
          <p:cNvPr id="55" name="Text 53"/>
          <p:cNvSpPr/>
          <p:nvPr/>
        </p:nvSpPr>
        <p:spPr>
          <a:xfrm>
            <a:off x="6858000" y="896112"/>
            <a:ext cx="502920" cy="438912"/>
          </a:xfrm>
          <a:prstGeom prst="rect">
            <a:avLst/>
          </a:prstGeom>
          <a:noFill/>
          <a:ln/>
        </p:spPr>
        <p:txBody>
          <a:bodyPr wrap="square" lIns="0" tIns="0" rIns="0" bIns="0" rtlCol="0" anchor="ctr"/>
          <a:lstStyle/>
          <a:p>
            <a:pPr algn="ctr" indent="0" marL="0">
              <a:buNone/>
            </a:pPr>
            <a:r>
              <a:rPr lang="en-US" sz="1000" b="1" dirty="0">
                <a:solidFill>
                  <a:srgbClr val="FFFFFF"/>
                </a:solidFill>
              </a:rPr>
              <a:t>B</a:t>
            </a:r>
            <a:endParaRPr lang="en-US" sz="1000" dirty="0"/>
          </a:p>
        </p:txBody>
      </p:sp>
      <p:sp>
        <p:nvSpPr>
          <p:cNvPr id="56" name="Text 54"/>
          <p:cNvSpPr/>
          <p:nvPr/>
        </p:nvSpPr>
        <p:spPr>
          <a:xfrm>
            <a:off x="6858000" y="1335024"/>
            <a:ext cx="502920" cy="438912"/>
          </a:xfrm>
          <a:prstGeom prst="rect">
            <a:avLst/>
          </a:prstGeom>
          <a:noFill/>
          <a:ln/>
        </p:spPr>
        <p:txBody>
          <a:bodyPr wrap="square" lIns="0" tIns="0" rIns="0" bIns="0" rtlCol="0" anchor="ctr"/>
          <a:lstStyle/>
          <a:p>
            <a:pPr algn="ctr" indent="0" marL="0">
              <a:buNone/>
            </a:pPr>
            <a:r>
              <a:rPr lang="en-US" sz="1000" b="1" dirty="0">
                <a:solidFill>
                  <a:srgbClr val="FFFFFF"/>
                </a:solidFill>
              </a:rPr>
              <a:t>B</a:t>
            </a:r>
            <a:endParaRPr lang="en-US" sz="1000" dirty="0"/>
          </a:p>
        </p:txBody>
      </p:sp>
      <p:sp>
        <p:nvSpPr>
          <p:cNvPr id="57" name="Text 55"/>
          <p:cNvSpPr/>
          <p:nvPr/>
        </p:nvSpPr>
        <p:spPr>
          <a:xfrm>
            <a:off x="6858000" y="1773936"/>
            <a:ext cx="502920" cy="438912"/>
          </a:xfrm>
          <a:prstGeom prst="rect">
            <a:avLst/>
          </a:prstGeom>
          <a:noFill/>
          <a:ln/>
        </p:spPr>
        <p:txBody>
          <a:bodyPr wrap="square" lIns="0" tIns="0" rIns="0" bIns="0" rtlCol="0" anchor="ctr"/>
          <a:lstStyle/>
          <a:p>
            <a:pPr algn="ctr" indent="0" marL="0">
              <a:buNone/>
            </a:pPr>
            <a:r>
              <a:rPr lang="en-US" sz="1000" b="1" dirty="0">
                <a:solidFill>
                  <a:srgbClr val="FFFFFF"/>
                </a:solidFill>
              </a:rPr>
              <a:t>H</a:t>
            </a:r>
            <a:endParaRPr lang="en-US" sz="1000" dirty="0"/>
          </a:p>
        </p:txBody>
      </p:sp>
      <p:sp>
        <p:nvSpPr>
          <p:cNvPr id="58" name="Text 56"/>
          <p:cNvSpPr/>
          <p:nvPr/>
        </p:nvSpPr>
        <p:spPr>
          <a:xfrm>
            <a:off x="6858000" y="2212848"/>
            <a:ext cx="502920" cy="438912"/>
          </a:xfrm>
          <a:prstGeom prst="rect">
            <a:avLst/>
          </a:prstGeom>
          <a:noFill/>
          <a:ln/>
        </p:spPr>
        <p:txBody>
          <a:bodyPr wrap="square" lIns="0" tIns="0" rIns="0" bIns="0" rtlCol="0" anchor="ctr"/>
          <a:lstStyle/>
          <a:p>
            <a:pPr algn="ctr" indent="0" marL="0">
              <a:buNone/>
            </a:pPr>
            <a:r>
              <a:rPr lang="en-US" sz="1000" b="1" dirty="0">
                <a:solidFill>
                  <a:srgbClr val="FFFFFF"/>
                </a:solidFill>
              </a:rPr>
              <a:t> </a:t>
            </a:r>
            <a:endParaRPr lang="en-US" sz="1000" dirty="0"/>
          </a:p>
        </p:txBody>
      </p:sp>
      <p:sp>
        <p:nvSpPr>
          <p:cNvPr id="59" name="Text 57"/>
          <p:cNvSpPr/>
          <p:nvPr/>
        </p:nvSpPr>
        <p:spPr>
          <a:xfrm>
            <a:off x="6858000" y="2651760"/>
            <a:ext cx="502920" cy="438912"/>
          </a:xfrm>
          <a:prstGeom prst="rect">
            <a:avLst/>
          </a:prstGeom>
          <a:noFill/>
          <a:ln/>
        </p:spPr>
        <p:txBody>
          <a:bodyPr wrap="square" lIns="0" tIns="0" rIns="0" bIns="0" rtlCol="0" anchor="ctr"/>
          <a:lstStyle/>
          <a:p>
            <a:pPr algn="ctr" indent="0" marL="0">
              <a:buNone/>
            </a:pPr>
            <a:r>
              <a:rPr lang="en-US" sz="1000" b="1" dirty="0">
                <a:solidFill>
                  <a:srgbClr val="FFFFFF"/>
                </a:solidFill>
              </a:rPr>
              <a:t>A</a:t>
            </a:r>
            <a:endParaRPr lang="en-US" sz="1000" dirty="0"/>
          </a:p>
        </p:txBody>
      </p:sp>
      <p:sp>
        <p:nvSpPr>
          <p:cNvPr id="60" name="Text 58"/>
          <p:cNvSpPr/>
          <p:nvPr/>
        </p:nvSpPr>
        <p:spPr>
          <a:xfrm>
            <a:off x="6858000" y="3090672"/>
            <a:ext cx="502920" cy="438912"/>
          </a:xfrm>
          <a:prstGeom prst="rect">
            <a:avLst/>
          </a:prstGeom>
          <a:noFill/>
          <a:ln/>
        </p:spPr>
        <p:txBody>
          <a:bodyPr wrap="square" lIns="0" tIns="0" rIns="0" bIns="0" rtlCol="0" anchor="ctr"/>
          <a:lstStyle/>
          <a:p>
            <a:pPr algn="ctr" indent="0" marL="0">
              <a:buNone/>
            </a:pPr>
            <a:r>
              <a:rPr lang="en-US" sz="1000" b="1" dirty="0">
                <a:solidFill>
                  <a:srgbClr val="FFFFFF"/>
                </a:solidFill>
              </a:rPr>
              <a:t>u</a:t>
            </a:r>
            <a:endParaRPr lang="en-US" sz="1000" dirty="0"/>
          </a:p>
        </p:txBody>
      </p:sp>
      <p:sp>
        <p:nvSpPr>
          <p:cNvPr id="61" name="Text 59"/>
          <p:cNvSpPr/>
          <p:nvPr/>
        </p:nvSpPr>
        <p:spPr>
          <a:xfrm>
            <a:off x="6858000" y="3529584"/>
            <a:ext cx="502920" cy="438912"/>
          </a:xfrm>
          <a:prstGeom prst="rect">
            <a:avLst/>
          </a:prstGeom>
          <a:noFill/>
          <a:ln/>
        </p:spPr>
        <p:txBody>
          <a:bodyPr wrap="square" lIns="0" tIns="0" rIns="0" bIns="0" rtlCol="0" anchor="ctr"/>
          <a:lstStyle/>
          <a:p>
            <a:pPr algn="ctr" indent="0" marL="0">
              <a:buNone/>
            </a:pPr>
            <a:r>
              <a:rPr lang="en-US" sz="1000" b="1" dirty="0">
                <a:solidFill>
                  <a:srgbClr val="FFFFFF"/>
                </a:solidFill>
              </a:rPr>
              <a:t>T</a:t>
            </a:r>
            <a:endParaRPr lang="en-US" sz="1000" dirty="0"/>
          </a:p>
        </p:txBody>
      </p:sp>
      <p:sp>
        <p:nvSpPr>
          <p:cNvPr id="62" name="Text 60"/>
          <p:cNvSpPr/>
          <p:nvPr/>
        </p:nvSpPr>
        <p:spPr>
          <a:xfrm>
            <a:off x="6858000" y="3968496"/>
            <a:ext cx="502920" cy="438912"/>
          </a:xfrm>
          <a:prstGeom prst="rect">
            <a:avLst/>
          </a:prstGeom>
          <a:noFill/>
          <a:ln/>
        </p:spPr>
        <p:txBody>
          <a:bodyPr wrap="square" lIns="0" tIns="0" rIns="0" bIns="0" rtlCol="0" anchor="ctr"/>
          <a:lstStyle/>
          <a:p>
            <a:pPr algn="ctr" indent="0" marL="0">
              <a:buNone/>
            </a:pPr>
            <a:r>
              <a:rPr lang="en-US" sz="1000" b="1" dirty="0">
                <a:solidFill>
                  <a:srgbClr val="FFFFFF"/>
                </a:solidFill>
              </a:rPr>
              <a:t>h</a:t>
            </a:r>
            <a:endParaRPr lang="en-US" sz="1000" dirty="0"/>
          </a:p>
        </p:txBody>
      </p:sp>
      <p:sp>
        <p:nvSpPr>
          <p:cNvPr id="63" name="Shape 61"/>
          <p:cNvSpPr/>
          <p:nvPr/>
        </p:nvSpPr>
        <p:spPr>
          <a:xfrm>
            <a:off x="7379208" y="896112"/>
            <a:ext cx="502920" cy="3858768"/>
          </a:xfrm>
          <a:prstGeom prst="rect">
            <a:avLst/>
          </a:prstGeom>
          <a:solidFill>
            <a:srgbClr val="02C39A"/>
          </a:solidFill>
          <a:ln w="12700">
            <a:solidFill>
              <a:srgbClr val="02C39A"/>
            </a:solidFill>
            <a:prstDash val="solid"/>
          </a:ln>
        </p:spPr>
      </p:sp>
      <p:sp>
        <p:nvSpPr>
          <p:cNvPr id="64" name="Text 62"/>
          <p:cNvSpPr/>
          <p:nvPr/>
        </p:nvSpPr>
        <p:spPr>
          <a:xfrm>
            <a:off x="7379208" y="896112"/>
            <a:ext cx="502920" cy="530352"/>
          </a:xfrm>
          <a:prstGeom prst="rect">
            <a:avLst/>
          </a:prstGeom>
          <a:noFill/>
          <a:ln/>
        </p:spPr>
        <p:txBody>
          <a:bodyPr wrap="square" lIns="0" tIns="0" rIns="0" bIns="0" rtlCol="0" anchor="ctr"/>
          <a:lstStyle/>
          <a:p>
            <a:pPr algn="ctr" indent="0" marL="0">
              <a:buNone/>
            </a:pPr>
            <a:r>
              <a:rPr lang="en-US" sz="1100" b="1" dirty="0">
                <a:solidFill>
                  <a:srgbClr val="0A1628"/>
                </a:solidFill>
              </a:rPr>
              <a:t>G</a:t>
            </a:r>
            <a:endParaRPr lang="en-US" sz="1100" dirty="0"/>
          </a:p>
        </p:txBody>
      </p:sp>
      <p:sp>
        <p:nvSpPr>
          <p:cNvPr id="65" name="Text 63"/>
          <p:cNvSpPr/>
          <p:nvPr/>
        </p:nvSpPr>
        <p:spPr>
          <a:xfrm>
            <a:off x="7379208" y="1426464"/>
            <a:ext cx="502920" cy="530352"/>
          </a:xfrm>
          <a:prstGeom prst="rect">
            <a:avLst/>
          </a:prstGeom>
          <a:noFill/>
          <a:ln/>
        </p:spPr>
        <p:txBody>
          <a:bodyPr wrap="square" lIns="0" tIns="0" rIns="0" bIns="0" rtlCol="0" anchor="ctr"/>
          <a:lstStyle/>
          <a:p>
            <a:pPr algn="ctr" indent="0" marL="0">
              <a:buNone/>
            </a:pPr>
            <a:r>
              <a:rPr lang="en-US" sz="1100" b="1" dirty="0">
                <a:solidFill>
                  <a:srgbClr val="0A1628"/>
                </a:solidFill>
              </a:rPr>
              <a:t>A</a:t>
            </a:r>
            <a:endParaRPr lang="en-US" sz="1100" dirty="0"/>
          </a:p>
        </p:txBody>
      </p:sp>
      <p:sp>
        <p:nvSpPr>
          <p:cNvPr id="66" name="Text 64"/>
          <p:cNvSpPr/>
          <p:nvPr/>
        </p:nvSpPr>
        <p:spPr>
          <a:xfrm>
            <a:off x="7379208" y="1956816"/>
            <a:ext cx="502920" cy="530352"/>
          </a:xfrm>
          <a:prstGeom prst="rect">
            <a:avLst/>
          </a:prstGeom>
          <a:noFill/>
          <a:ln/>
        </p:spPr>
        <p:txBody>
          <a:bodyPr wrap="square" lIns="0" tIns="0" rIns="0" bIns="0" rtlCol="0" anchor="ctr"/>
          <a:lstStyle/>
          <a:p>
            <a:pPr algn="ctr" indent="0" marL="0">
              <a:buNone/>
            </a:pPr>
            <a:r>
              <a:rPr lang="en-US" sz="1100" b="1" dirty="0">
                <a:solidFill>
                  <a:srgbClr val="0A1628"/>
                </a:solidFill>
              </a:rPr>
              <a:t>T</a:t>
            </a:r>
            <a:endParaRPr lang="en-US" sz="1100" dirty="0"/>
          </a:p>
        </p:txBody>
      </p:sp>
      <p:sp>
        <p:nvSpPr>
          <p:cNvPr id="67" name="Text 65"/>
          <p:cNvSpPr/>
          <p:nvPr/>
        </p:nvSpPr>
        <p:spPr>
          <a:xfrm>
            <a:off x="7379208" y="2487168"/>
            <a:ext cx="502920" cy="530352"/>
          </a:xfrm>
          <a:prstGeom prst="rect">
            <a:avLst/>
          </a:prstGeom>
          <a:noFill/>
          <a:ln/>
        </p:spPr>
        <p:txBody>
          <a:bodyPr wrap="square" lIns="0" tIns="0" rIns="0" bIns="0" rtlCol="0" anchor="ctr"/>
          <a:lstStyle/>
          <a:p>
            <a:pPr algn="ctr" indent="0" marL="0">
              <a:buNone/>
            </a:pPr>
            <a:r>
              <a:rPr lang="en-US" sz="1100" b="1" dirty="0">
                <a:solidFill>
                  <a:srgbClr val="0A1628"/>
                </a:solidFill>
              </a:rPr>
              <a:t>E</a:t>
            </a:r>
            <a:endParaRPr lang="en-US" sz="1100" dirty="0"/>
          </a:p>
        </p:txBody>
      </p:sp>
      <p:sp>
        <p:nvSpPr>
          <p:cNvPr id="68" name="Text 66"/>
          <p:cNvSpPr/>
          <p:nvPr/>
        </p:nvSpPr>
        <p:spPr>
          <a:xfrm>
            <a:off x="7379208" y="3017520"/>
            <a:ext cx="502920" cy="530352"/>
          </a:xfrm>
          <a:prstGeom prst="rect">
            <a:avLst/>
          </a:prstGeom>
          <a:noFill/>
          <a:ln/>
        </p:spPr>
        <p:txBody>
          <a:bodyPr wrap="square" lIns="0" tIns="0" rIns="0" bIns="0" rtlCol="0" anchor="ctr"/>
          <a:lstStyle/>
          <a:p>
            <a:pPr algn="ctr" indent="0" marL="0">
              <a:buNone/>
            </a:pPr>
            <a:r>
              <a:rPr lang="en-US" sz="1100" b="1" dirty="0">
                <a:solidFill>
                  <a:srgbClr val="0A1628"/>
                </a:solidFill>
              </a:rPr>
              <a:t>W</a:t>
            </a:r>
            <a:endParaRPr lang="en-US" sz="1100" dirty="0"/>
          </a:p>
        </p:txBody>
      </p:sp>
      <p:sp>
        <p:nvSpPr>
          <p:cNvPr id="69" name="Text 67"/>
          <p:cNvSpPr/>
          <p:nvPr/>
        </p:nvSpPr>
        <p:spPr>
          <a:xfrm>
            <a:off x="7379208" y="3547872"/>
            <a:ext cx="502920" cy="530352"/>
          </a:xfrm>
          <a:prstGeom prst="rect">
            <a:avLst/>
          </a:prstGeom>
          <a:noFill/>
          <a:ln/>
        </p:spPr>
        <p:txBody>
          <a:bodyPr wrap="square" lIns="0" tIns="0" rIns="0" bIns="0" rtlCol="0" anchor="ctr"/>
          <a:lstStyle/>
          <a:p>
            <a:pPr algn="ctr" indent="0" marL="0">
              <a:buNone/>
            </a:pPr>
            <a:r>
              <a:rPr lang="en-US" sz="1100" b="1" dirty="0">
                <a:solidFill>
                  <a:srgbClr val="0A1628"/>
                </a:solidFill>
              </a:rPr>
              <a:t>A</a:t>
            </a:r>
            <a:endParaRPr lang="en-US" sz="1100" dirty="0"/>
          </a:p>
        </p:txBody>
      </p:sp>
      <p:sp>
        <p:nvSpPr>
          <p:cNvPr id="70" name="Text 68"/>
          <p:cNvSpPr/>
          <p:nvPr/>
        </p:nvSpPr>
        <p:spPr>
          <a:xfrm>
            <a:off x="7379208" y="4078224"/>
            <a:ext cx="502920" cy="530352"/>
          </a:xfrm>
          <a:prstGeom prst="rect">
            <a:avLst/>
          </a:prstGeom>
          <a:noFill/>
          <a:ln/>
        </p:spPr>
        <p:txBody>
          <a:bodyPr wrap="square" lIns="0" tIns="0" rIns="0" bIns="0" rtlCol="0" anchor="ctr"/>
          <a:lstStyle/>
          <a:p>
            <a:pPr algn="ctr" indent="0" marL="0">
              <a:buNone/>
            </a:pPr>
            <a:r>
              <a:rPr lang="en-US" sz="1100" b="1" dirty="0">
                <a:solidFill>
                  <a:srgbClr val="0A1628"/>
                </a:solidFill>
              </a:rPr>
              <a:t>Y</a:t>
            </a:r>
            <a:endParaRPr lang="en-US" sz="1100" dirty="0"/>
          </a:p>
        </p:txBody>
      </p:sp>
      <p:sp>
        <p:nvSpPr>
          <p:cNvPr id="71" name="Shape 69"/>
          <p:cNvSpPr/>
          <p:nvPr/>
        </p:nvSpPr>
        <p:spPr>
          <a:xfrm>
            <a:off x="7900416" y="896112"/>
            <a:ext cx="969264" cy="3858768"/>
          </a:xfrm>
          <a:prstGeom prst="rect">
            <a:avLst/>
          </a:prstGeom>
          <a:solidFill>
            <a:srgbClr val="FFFFFF"/>
          </a:solidFill>
          <a:ln w="9525">
            <a:solidFill>
              <a:srgbClr val="E8EEF0"/>
            </a:solidFill>
            <a:prstDash val="solid"/>
          </a:ln>
        </p:spPr>
      </p:sp>
      <p:sp>
        <p:nvSpPr>
          <p:cNvPr id="72" name="Shape 70"/>
          <p:cNvSpPr/>
          <p:nvPr/>
        </p:nvSpPr>
        <p:spPr>
          <a:xfrm>
            <a:off x="7900416" y="896112"/>
            <a:ext cx="969264" cy="256032"/>
          </a:xfrm>
          <a:prstGeom prst="rect">
            <a:avLst/>
          </a:prstGeom>
          <a:solidFill>
            <a:srgbClr val="0A1628"/>
          </a:solidFill>
          <a:ln w="12700">
            <a:solidFill>
              <a:srgbClr val="0A1628"/>
            </a:solidFill>
            <a:prstDash val="solid"/>
          </a:ln>
        </p:spPr>
      </p:sp>
      <p:sp>
        <p:nvSpPr>
          <p:cNvPr id="73" name="Text 71"/>
          <p:cNvSpPr/>
          <p:nvPr/>
        </p:nvSpPr>
        <p:spPr>
          <a:xfrm>
            <a:off x="7900416" y="896112"/>
            <a:ext cx="969264" cy="256032"/>
          </a:xfrm>
          <a:prstGeom prst="rect">
            <a:avLst/>
          </a:prstGeom>
          <a:noFill/>
          <a:ln/>
        </p:spPr>
        <p:txBody>
          <a:bodyPr wrap="square" lIns="0" tIns="0" rIns="0" bIns="0" rtlCol="0" anchor="ctr"/>
          <a:lstStyle/>
          <a:p>
            <a:pPr algn="ctr" indent="0" marL="0">
              <a:buNone/>
            </a:pPr>
            <a:r>
              <a:rPr lang="en-US" sz="850" b="1" dirty="0">
                <a:solidFill>
                  <a:srgbClr val="FFFFFF"/>
                </a:solidFill>
              </a:rPr>
              <a:t>BBH</a:t>
            </a:r>
            <a:endParaRPr lang="en-US" sz="850" dirty="0"/>
          </a:p>
        </p:txBody>
      </p:sp>
      <p:sp>
        <p:nvSpPr>
          <p:cNvPr id="74" name="Shape 72"/>
          <p:cNvSpPr/>
          <p:nvPr/>
        </p:nvSpPr>
        <p:spPr>
          <a:xfrm>
            <a:off x="7955280" y="1234440"/>
            <a:ext cx="859536" cy="274320"/>
          </a:xfrm>
          <a:prstGeom prst="rect">
            <a:avLst/>
          </a:prstGeom>
          <a:solidFill>
            <a:srgbClr val="C8EAE8"/>
          </a:solidFill>
          <a:ln w="12700">
            <a:solidFill>
              <a:srgbClr val="C8EAE8"/>
            </a:solidFill>
            <a:prstDash val="solid"/>
          </a:ln>
        </p:spPr>
      </p:sp>
      <p:sp>
        <p:nvSpPr>
          <p:cNvPr id="75" name="Text 73"/>
          <p:cNvSpPr/>
          <p:nvPr/>
        </p:nvSpPr>
        <p:spPr>
          <a:xfrm>
            <a:off x="7955280" y="1234440"/>
            <a:ext cx="859536" cy="274320"/>
          </a:xfrm>
          <a:prstGeom prst="rect">
            <a:avLst/>
          </a:prstGeom>
          <a:noFill/>
          <a:ln/>
        </p:spPr>
        <p:txBody>
          <a:bodyPr wrap="square" lIns="0" tIns="0" rIns="0" bIns="0" rtlCol="0" anchor="ctr"/>
          <a:lstStyle/>
          <a:p>
            <a:pPr algn="ctr" indent="0" marL="0">
              <a:buNone/>
            </a:pPr>
            <a:r>
              <a:rPr lang="en-US" sz="750" b="1" dirty="0">
                <a:solidFill>
                  <a:srgbClr val="028090"/>
                </a:solidFill>
              </a:rPr>
              <a:t>OFX/FDX Format</a:t>
            </a:r>
            <a:endParaRPr lang="en-US" sz="750" dirty="0"/>
          </a:p>
        </p:txBody>
      </p:sp>
      <p:sp>
        <p:nvSpPr>
          <p:cNvPr id="76" name="Shape 74"/>
          <p:cNvSpPr/>
          <p:nvPr/>
        </p:nvSpPr>
        <p:spPr>
          <a:xfrm>
            <a:off x="7955280" y="1591056"/>
            <a:ext cx="859536" cy="274320"/>
          </a:xfrm>
          <a:prstGeom prst="rect">
            <a:avLst/>
          </a:prstGeom>
          <a:solidFill>
            <a:srgbClr val="E8EEF0"/>
          </a:solidFill>
          <a:ln w="12700">
            <a:solidFill>
              <a:srgbClr val="E8EEF0"/>
            </a:solidFill>
            <a:prstDash val="solid"/>
          </a:ln>
        </p:spPr>
      </p:sp>
      <p:sp>
        <p:nvSpPr>
          <p:cNvPr id="77" name="Text 75"/>
          <p:cNvSpPr/>
          <p:nvPr/>
        </p:nvSpPr>
        <p:spPr>
          <a:xfrm>
            <a:off x="7955280" y="1591056"/>
            <a:ext cx="859536" cy="274320"/>
          </a:xfrm>
          <a:prstGeom prst="rect">
            <a:avLst/>
          </a:prstGeom>
          <a:noFill/>
          <a:ln/>
        </p:spPr>
        <p:txBody>
          <a:bodyPr wrap="square" lIns="0" tIns="0" rIns="0" bIns="0" rtlCol="0" anchor="ctr"/>
          <a:lstStyle/>
          <a:p>
            <a:pPr algn="ctr" indent="0" marL="0">
              <a:buNone/>
            </a:pPr>
            <a:r>
              <a:rPr lang="en-US" sz="750" b="1" dirty="0">
                <a:solidFill>
                  <a:srgbClr val="0A1628"/>
                </a:solidFill>
              </a:rPr>
              <a:t>CP Services</a:t>
            </a:r>
            <a:endParaRPr lang="en-US" sz="750" dirty="0"/>
          </a:p>
        </p:txBody>
      </p:sp>
      <p:sp>
        <p:nvSpPr>
          <p:cNvPr id="78" name="Shape 76"/>
          <p:cNvSpPr/>
          <p:nvPr/>
        </p:nvSpPr>
        <p:spPr>
          <a:xfrm>
            <a:off x="7955280" y="1947672"/>
            <a:ext cx="859536" cy="274320"/>
          </a:xfrm>
          <a:prstGeom prst="rect">
            <a:avLst/>
          </a:prstGeom>
          <a:solidFill>
            <a:srgbClr val="E8EEF0"/>
          </a:solidFill>
          <a:ln w="12700">
            <a:solidFill>
              <a:srgbClr val="E8EEF0"/>
            </a:solidFill>
            <a:prstDash val="solid"/>
          </a:ln>
        </p:spPr>
      </p:sp>
      <p:sp>
        <p:nvSpPr>
          <p:cNvPr id="79" name="Text 77"/>
          <p:cNvSpPr/>
          <p:nvPr/>
        </p:nvSpPr>
        <p:spPr>
          <a:xfrm>
            <a:off x="7955280" y="1947672"/>
            <a:ext cx="859536" cy="274320"/>
          </a:xfrm>
          <a:prstGeom prst="rect">
            <a:avLst/>
          </a:prstGeom>
          <a:noFill/>
          <a:ln/>
        </p:spPr>
        <p:txBody>
          <a:bodyPr wrap="square" lIns="0" tIns="0" rIns="0" bIns="0" rtlCol="0" anchor="ctr"/>
          <a:lstStyle/>
          <a:p>
            <a:pPr algn="ctr" indent="0" marL="0">
              <a:buNone/>
            </a:pPr>
            <a:r>
              <a:rPr lang="en-US" sz="750" b="1" dirty="0">
                <a:solidFill>
                  <a:srgbClr val="0A1628"/>
                </a:solidFill>
              </a:rPr>
              <a:t>Services</a:t>
            </a:r>
            <a:endParaRPr lang="en-US" sz="750" dirty="0"/>
          </a:p>
        </p:txBody>
      </p:sp>
      <p:sp>
        <p:nvSpPr>
          <p:cNvPr id="80" name="Shape 78"/>
          <p:cNvSpPr/>
          <p:nvPr/>
        </p:nvSpPr>
        <p:spPr>
          <a:xfrm>
            <a:off x="7955280" y="2359152"/>
            <a:ext cx="859536" cy="274320"/>
          </a:xfrm>
          <a:prstGeom prst="ellipse">
            <a:avLst/>
          </a:prstGeom>
          <a:solidFill>
            <a:srgbClr val="028090"/>
          </a:solidFill>
          <a:ln w="12700">
            <a:solidFill>
              <a:srgbClr val="028090"/>
            </a:solidFill>
            <a:prstDash val="solid"/>
          </a:ln>
        </p:spPr>
      </p:sp>
      <p:sp>
        <p:nvSpPr>
          <p:cNvPr id="81" name="Text 79"/>
          <p:cNvSpPr/>
          <p:nvPr/>
        </p:nvSpPr>
        <p:spPr>
          <a:xfrm>
            <a:off x="7955280" y="2359152"/>
            <a:ext cx="859536" cy="274320"/>
          </a:xfrm>
          <a:prstGeom prst="rect">
            <a:avLst/>
          </a:prstGeom>
          <a:noFill/>
          <a:ln/>
        </p:spPr>
        <p:txBody>
          <a:bodyPr wrap="square" lIns="0" tIns="0" rIns="0" bIns="0" rtlCol="0" anchor="ctr"/>
          <a:lstStyle/>
          <a:p>
            <a:pPr algn="ctr" indent="0" marL="0">
              <a:buNone/>
            </a:pPr>
            <a:r>
              <a:rPr lang="en-US" sz="700" dirty="0">
                <a:solidFill>
                  <a:srgbClr val="FFFFFF"/>
                </a:solidFill>
              </a:rPr>
              <a:t>PB DataWarehouse</a:t>
            </a:r>
            <a:endParaRPr lang="en-US" sz="700" dirty="0"/>
          </a:p>
        </p:txBody>
      </p:sp>
      <p:sp>
        <p:nvSpPr>
          <p:cNvPr id="82" name="Shape 80"/>
          <p:cNvSpPr/>
          <p:nvPr/>
        </p:nvSpPr>
        <p:spPr>
          <a:xfrm>
            <a:off x="7955280" y="2743200"/>
            <a:ext cx="859536" cy="274320"/>
          </a:xfrm>
          <a:prstGeom prst="ellipse">
            <a:avLst/>
          </a:prstGeom>
          <a:solidFill>
            <a:srgbClr val="028090"/>
          </a:solidFill>
          <a:ln w="12700">
            <a:solidFill>
              <a:srgbClr val="028090"/>
            </a:solidFill>
            <a:prstDash val="solid"/>
          </a:ln>
        </p:spPr>
      </p:sp>
      <p:sp>
        <p:nvSpPr>
          <p:cNvPr id="83" name="Text 81"/>
          <p:cNvSpPr/>
          <p:nvPr/>
        </p:nvSpPr>
        <p:spPr>
          <a:xfrm>
            <a:off x="7955280" y="2743200"/>
            <a:ext cx="859536" cy="274320"/>
          </a:xfrm>
          <a:prstGeom prst="rect">
            <a:avLst/>
          </a:prstGeom>
          <a:noFill/>
          <a:ln/>
        </p:spPr>
        <p:txBody>
          <a:bodyPr wrap="square" lIns="0" tIns="0" rIns="0" bIns="0" rtlCol="0" anchor="ctr"/>
          <a:lstStyle/>
          <a:p>
            <a:pPr algn="ctr" indent="0" marL="0">
              <a:buNone/>
            </a:pPr>
            <a:r>
              <a:rPr lang="en-US" sz="700" dirty="0">
                <a:solidFill>
                  <a:srgbClr val="FFFFFF"/>
                </a:solidFill>
              </a:rPr>
              <a:t>IM Datastore</a:t>
            </a:r>
            <a:endParaRPr lang="en-US" sz="700" dirty="0"/>
          </a:p>
        </p:txBody>
      </p:sp>
      <p:sp>
        <p:nvSpPr>
          <p:cNvPr id="84" name="Shape 82"/>
          <p:cNvSpPr/>
          <p:nvPr/>
        </p:nvSpPr>
        <p:spPr>
          <a:xfrm>
            <a:off x="7955280" y="3127248"/>
            <a:ext cx="859536" cy="274320"/>
          </a:xfrm>
          <a:prstGeom prst="ellipse">
            <a:avLst/>
          </a:prstGeom>
          <a:solidFill>
            <a:srgbClr val="028090"/>
          </a:solidFill>
          <a:ln w="12700">
            <a:solidFill>
              <a:srgbClr val="028090"/>
            </a:solidFill>
            <a:prstDash val="solid"/>
          </a:ln>
        </p:spPr>
      </p:sp>
      <p:sp>
        <p:nvSpPr>
          <p:cNvPr id="85" name="Text 83"/>
          <p:cNvSpPr/>
          <p:nvPr/>
        </p:nvSpPr>
        <p:spPr>
          <a:xfrm>
            <a:off x="7955280" y="3127248"/>
            <a:ext cx="859536" cy="274320"/>
          </a:xfrm>
          <a:prstGeom prst="rect">
            <a:avLst/>
          </a:prstGeom>
          <a:noFill/>
          <a:ln/>
        </p:spPr>
        <p:txBody>
          <a:bodyPr wrap="square" lIns="0" tIns="0" rIns="0" bIns="0" rtlCol="0" anchor="ctr"/>
          <a:lstStyle/>
          <a:p>
            <a:pPr algn="ctr" indent="0" marL="0">
              <a:buNone/>
            </a:pPr>
            <a:r>
              <a:rPr lang="en-US" sz="700" dirty="0">
                <a:solidFill>
                  <a:srgbClr val="FFFFFF"/>
                </a:solidFill>
              </a:rPr>
              <a:t>BBH DataStore</a:t>
            </a:r>
            <a:endParaRPr lang="en-US" sz="700" dirty="0"/>
          </a:p>
        </p:txBody>
      </p:sp>
      <p:sp>
        <p:nvSpPr>
          <p:cNvPr id="86" name="Shape 84"/>
          <p:cNvSpPr/>
          <p:nvPr/>
        </p:nvSpPr>
        <p:spPr>
          <a:xfrm>
            <a:off x="0" y="4864608"/>
            <a:ext cx="9144000" cy="278892"/>
          </a:xfrm>
          <a:prstGeom prst="rect">
            <a:avLst/>
          </a:prstGeom>
          <a:solidFill>
            <a:srgbClr val="0A1628"/>
          </a:solidFill>
          <a:ln w="12700">
            <a:solidFill>
              <a:srgbClr val="0A1628"/>
            </a:solidFill>
            <a:prstDash val="solid"/>
          </a:ln>
        </p:spPr>
      </p:sp>
      <p:sp>
        <p:nvSpPr>
          <p:cNvPr id="87" name="Text 85"/>
          <p:cNvSpPr/>
          <p:nvPr/>
        </p:nvSpPr>
        <p:spPr>
          <a:xfrm>
            <a:off x="320040" y="4878324"/>
            <a:ext cx="7772400" cy="237744"/>
          </a:xfrm>
          <a:prstGeom prst="rect">
            <a:avLst/>
          </a:prstGeom>
          <a:noFill/>
          <a:ln/>
        </p:spPr>
        <p:txBody>
          <a:bodyPr wrap="square" rtlCol="0" anchor="ctr"/>
          <a:lstStyle/>
          <a:p>
            <a:pPr indent="0" marL="0">
              <a:buNone/>
            </a:pPr>
            <a:r>
              <a:rPr lang="en-US" sz="850" dirty="0">
                <a:solidFill>
                  <a:srgbClr val="8FA3A8"/>
                </a:solidFill>
              </a:rPr>
              <a:t>BBH × Plaid | Architecture Review Board | Confidential &amp; Proprietary</a:t>
            </a:r>
            <a:endParaRPr lang="en-US" sz="850" dirty="0"/>
          </a:p>
        </p:txBody>
      </p:sp>
      <p:sp>
        <p:nvSpPr>
          <p:cNvPr id="88" name="Text 86"/>
          <p:cNvSpPr/>
          <p:nvPr/>
        </p:nvSpPr>
        <p:spPr>
          <a:xfrm>
            <a:off x="8503920" y="4878324"/>
            <a:ext cx="457200" cy="237744"/>
          </a:xfrm>
          <a:prstGeom prst="rect">
            <a:avLst/>
          </a:prstGeom>
          <a:noFill/>
          <a:ln/>
        </p:spPr>
        <p:txBody>
          <a:bodyPr wrap="square" rtlCol="0" anchor="ctr"/>
          <a:lstStyle/>
          <a:p>
            <a:pPr algn="r" indent="0" marL="0">
              <a:buNone/>
            </a:pPr>
            <a:r>
              <a:rPr lang="en-US" sz="850" dirty="0">
                <a:solidFill>
                  <a:srgbClr val="8FA3A8"/>
                </a:solidFill>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9"/>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A1628"/>
          </a:solidFill>
          <a:ln w="12700">
            <a:solidFill>
              <a:srgbClr val="0A1628"/>
            </a:solidFill>
            <a:prstDash val="solid"/>
          </a:ln>
        </p:spPr>
      </p:sp>
      <p:sp>
        <p:nvSpPr>
          <p:cNvPr id="3" name="Shape 1"/>
          <p:cNvSpPr/>
          <p:nvPr/>
        </p:nvSpPr>
        <p:spPr>
          <a:xfrm>
            <a:off x="0" y="749808"/>
            <a:ext cx="9144000" cy="54864"/>
          </a:xfrm>
          <a:prstGeom prst="rect">
            <a:avLst/>
          </a:prstGeom>
          <a:solidFill>
            <a:srgbClr val="00A896"/>
          </a:solidFill>
          <a:ln w="12700">
            <a:solidFill>
              <a:srgbClr val="00A896"/>
            </a:solidFill>
            <a:prstDash val="solid"/>
          </a:ln>
        </p:spPr>
      </p:sp>
      <p:sp>
        <p:nvSpPr>
          <p:cNvPr id="4" name="Text 2"/>
          <p:cNvSpPr/>
          <p:nvPr/>
        </p:nvSpPr>
        <p:spPr>
          <a:xfrm>
            <a:off x="365760" y="0"/>
            <a:ext cx="7315200" cy="7498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BBH Data Exchange — Inbound Architecture</a:t>
            </a:r>
            <a:endParaRPr lang="en-US" sz="2200" dirty="0"/>
          </a:p>
        </p:txBody>
      </p:sp>
      <p:sp>
        <p:nvSpPr>
          <p:cNvPr id="5" name="Shape 3"/>
          <p:cNvSpPr/>
          <p:nvPr/>
        </p:nvSpPr>
        <p:spPr>
          <a:xfrm>
            <a:off x="7516368" y="146304"/>
            <a:ext cx="1389888" cy="457200"/>
          </a:xfrm>
          <a:prstGeom prst="rect">
            <a:avLst>
              <a:gd name="adj" fmla="val 8000"/>
            </a:avLst>
          </a:prstGeom>
          <a:solidFill>
            <a:srgbClr val="00A896"/>
          </a:solidFill>
          <a:ln w="12700">
            <a:solidFill>
              <a:srgbClr val="00A896"/>
            </a:solidFill>
            <a:prstDash val="solid"/>
          </a:ln>
        </p:spPr>
      </p:sp>
      <p:sp>
        <p:nvSpPr>
          <p:cNvPr id="6" name="Text 4"/>
          <p:cNvSpPr/>
          <p:nvPr/>
        </p:nvSpPr>
        <p:spPr>
          <a:xfrm>
            <a:off x="7516368" y="146304"/>
            <a:ext cx="1389888" cy="457200"/>
          </a:xfrm>
          <a:prstGeom prst="rect">
            <a:avLst/>
          </a:prstGeom>
          <a:noFill/>
          <a:ln/>
        </p:spPr>
        <p:txBody>
          <a:bodyPr wrap="square" lIns="0" tIns="0" rIns="0" bIns="0" rtlCol="0" anchor="ctr"/>
          <a:lstStyle/>
          <a:p>
            <a:pPr algn="ctr" indent="0" marL="0">
              <a:buNone/>
            </a:pPr>
            <a:r>
              <a:rPr lang="en-US" sz="850" b="1" spc="50" kern="0" dirty="0">
                <a:solidFill>
                  <a:srgbClr val="FFFFFF"/>
                </a:solidFill>
              </a:rPr>
              <a:t>INBOUND</a:t>
            </a:r>
            <a:endParaRPr lang="en-US" sz="850" dirty="0"/>
          </a:p>
        </p:txBody>
      </p:sp>
      <p:sp>
        <p:nvSpPr>
          <p:cNvPr id="7" name="Shape 5"/>
          <p:cNvSpPr/>
          <p:nvPr/>
        </p:nvSpPr>
        <p:spPr>
          <a:xfrm>
            <a:off x="274320" y="896112"/>
            <a:ext cx="3017520" cy="3858768"/>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8" name="Shape 6"/>
          <p:cNvSpPr/>
          <p:nvPr/>
        </p:nvSpPr>
        <p:spPr>
          <a:xfrm>
            <a:off x="274320" y="896112"/>
            <a:ext cx="3017520" cy="329184"/>
          </a:xfrm>
          <a:prstGeom prst="rect">
            <a:avLst/>
          </a:prstGeom>
          <a:solidFill>
            <a:srgbClr val="00A896"/>
          </a:solidFill>
          <a:ln w="12700">
            <a:solidFill>
              <a:srgbClr val="00A896"/>
            </a:solidFill>
            <a:prstDash val="solid"/>
          </a:ln>
        </p:spPr>
      </p:sp>
      <p:sp>
        <p:nvSpPr>
          <p:cNvPr id="9" name="Text 7"/>
          <p:cNvSpPr/>
          <p:nvPr/>
        </p:nvSpPr>
        <p:spPr>
          <a:xfrm>
            <a:off x="274320" y="896112"/>
            <a:ext cx="3017520" cy="329184"/>
          </a:xfrm>
          <a:prstGeom prst="rect">
            <a:avLst/>
          </a:prstGeom>
          <a:noFill/>
          <a:ln/>
        </p:spPr>
        <p:txBody>
          <a:bodyPr wrap="square" lIns="0" tIns="0" rIns="0" bIns="0" rtlCol="0" anchor="ctr"/>
          <a:lstStyle/>
          <a:p>
            <a:pPr algn="ctr" indent="0" marL="0">
              <a:buNone/>
            </a:pPr>
            <a:r>
              <a:rPr lang="en-US" sz="900" b="1" spc="80" kern="0" dirty="0">
                <a:solidFill>
                  <a:srgbClr val="FFFFFF"/>
                </a:solidFill>
              </a:rPr>
              <a:t>INBOUND DESIGN PRINCIPLES</a:t>
            </a:r>
            <a:endParaRPr lang="en-US" sz="900" dirty="0"/>
          </a:p>
        </p:txBody>
      </p:sp>
      <p:sp>
        <p:nvSpPr>
          <p:cNvPr id="10" name="Shape 8"/>
          <p:cNvSpPr/>
          <p:nvPr/>
        </p:nvSpPr>
        <p:spPr>
          <a:xfrm>
            <a:off x="347472" y="1371600"/>
            <a:ext cx="54864" cy="457200"/>
          </a:xfrm>
          <a:prstGeom prst="rect">
            <a:avLst/>
          </a:prstGeom>
          <a:solidFill>
            <a:srgbClr val="00A896"/>
          </a:solidFill>
          <a:ln w="12700">
            <a:solidFill>
              <a:srgbClr val="00A896"/>
            </a:solidFill>
            <a:prstDash val="solid"/>
          </a:ln>
        </p:spPr>
      </p:sp>
      <p:sp>
        <p:nvSpPr>
          <p:cNvPr id="11" name="Text 9"/>
          <p:cNvSpPr/>
          <p:nvPr/>
        </p:nvSpPr>
        <p:spPr>
          <a:xfrm>
            <a:off x="493776" y="1353312"/>
            <a:ext cx="2706624" cy="219456"/>
          </a:xfrm>
          <a:prstGeom prst="rect">
            <a:avLst/>
          </a:prstGeom>
          <a:noFill/>
          <a:ln/>
        </p:spPr>
        <p:txBody>
          <a:bodyPr wrap="square" rtlCol="0" anchor="ctr"/>
          <a:lstStyle/>
          <a:p>
            <a:pPr indent="0" marL="0">
              <a:buNone/>
            </a:pPr>
            <a:r>
              <a:rPr lang="en-US" sz="950" b="1" dirty="0">
                <a:solidFill>
                  <a:srgbClr val="0A1628"/>
                </a:solidFill>
                <a:latin typeface="Calibri" pitchFamily="34" charset="0"/>
                <a:ea typeface="Calibri" pitchFamily="34" charset="-122"/>
                <a:cs typeface="Calibri" pitchFamily="34" charset="-120"/>
              </a:rPr>
              <a:t>OFX/FDX Enforcement at Edge</a:t>
            </a:r>
            <a:endParaRPr lang="en-US" sz="950" dirty="0"/>
          </a:p>
        </p:txBody>
      </p:sp>
      <p:sp>
        <p:nvSpPr>
          <p:cNvPr id="12" name="Text 10"/>
          <p:cNvSpPr/>
          <p:nvPr/>
        </p:nvSpPr>
        <p:spPr>
          <a:xfrm>
            <a:off x="493776" y="1572768"/>
            <a:ext cx="2706624" cy="329184"/>
          </a:xfrm>
          <a:prstGeom prst="rect">
            <a:avLst/>
          </a:prstGeom>
          <a:noFill/>
          <a:ln/>
        </p:spPr>
        <p:txBody>
          <a:bodyPr wrap="square" rtlCol="0" anchor="ctr"/>
          <a:lstStyle/>
          <a:p>
            <a:pPr indent="0" marL="0">
              <a:buNone/>
            </a:pPr>
            <a:r>
              <a:rPr lang="en-US" sz="850" dirty="0">
                <a:solidFill>
                  <a:srgbClr val="3D5260"/>
                </a:solidFill>
                <a:latin typeface="Calibri" pitchFamily="34" charset="0"/>
                <a:ea typeface="Calibri" pitchFamily="34" charset="-122"/>
                <a:cs typeface="Calibri" pitchFamily="34" charset="-120"/>
              </a:rPr>
              <a:t>All inbound payloads from Plaid are validated against OFX/FDX schema at the API Gateway before any internal routing.</a:t>
            </a:r>
            <a:endParaRPr lang="en-US" sz="850" dirty="0"/>
          </a:p>
        </p:txBody>
      </p:sp>
      <p:sp>
        <p:nvSpPr>
          <p:cNvPr id="13" name="Shape 11"/>
          <p:cNvSpPr/>
          <p:nvPr/>
        </p:nvSpPr>
        <p:spPr>
          <a:xfrm>
            <a:off x="347472" y="2029968"/>
            <a:ext cx="54864" cy="457200"/>
          </a:xfrm>
          <a:prstGeom prst="rect">
            <a:avLst/>
          </a:prstGeom>
          <a:solidFill>
            <a:srgbClr val="00A896"/>
          </a:solidFill>
          <a:ln w="12700">
            <a:solidFill>
              <a:srgbClr val="00A896"/>
            </a:solidFill>
            <a:prstDash val="solid"/>
          </a:ln>
        </p:spPr>
      </p:sp>
      <p:sp>
        <p:nvSpPr>
          <p:cNvPr id="14" name="Text 12"/>
          <p:cNvSpPr/>
          <p:nvPr/>
        </p:nvSpPr>
        <p:spPr>
          <a:xfrm>
            <a:off x="493776" y="2011680"/>
            <a:ext cx="2706624" cy="219456"/>
          </a:xfrm>
          <a:prstGeom prst="rect">
            <a:avLst/>
          </a:prstGeom>
          <a:noFill/>
          <a:ln/>
        </p:spPr>
        <p:txBody>
          <a:bodyPr wrap="square" rtlCol="0" anchor="ctr"/>
          <a:lstStyle/>
          <a:p>
            <a:pPr indent="0" marL="0">
              <a:buNone/>
            </a:pPr>
            <a:r>
              <a:rPr lang="en-US" sz="950" b="1" dirty="0">
                <a:solidFill>
                  <a:srgbClr val="0A1628"/>
                </a:solidFill>
                <a:latin typeface="Calibri" pitchFamily="34" charset="0"/>
                <a:ea typeface="Calibri" pitchFamily="34" charset="-122"/>
                <a:cs typeface="Calibri" pitchFamily="34" charset="-120"/>
              </a:rPr>
              <a:t>DMZ Security Perimeter</a:t>
            </a:r>
            <a:endParaRPr lang="en-US" sz="950" dirty="0"/>
          </a:p>
        </p:txBody>
      </p:sp>
      <p:sp>
        <p:nvSpPr>
          <p:cNvPr id="15" name="Text 13"/>
          <p:cNvSpPr/>
          <p:nvPr/>
        </p:nvSpPr>
        <p:spPr>
          <a:xfrm>
            <a:off x="493776" y="2231136"/>
            <a:ext cx="2706624" cy="329184"/>
          </a:xfrm>
          <a:prstGeom prst="rect">
            <a:avLst/>
          </a:prstGeom>
          <a:noFill/>
          <a:ln/>
        </p:spPr>
        <p:txBody>
          <a:bodyPr wrap="square" rtlCol="0" anchor="ctr"/>
          <a:lstStyle/>
          <a:p>
            <a:pPr indent="0" marL="0">
              <a:buNone/>
            </a:pPr>
            <a:r>
              <a:rPr lang="en-US" sz="850" dirty="0">
                <a:solidFill>
                  <a:srgbClr val="3D5260"/>
                </a:solidFill>
                <a:latin typeface="Calibri" pitchFamily="34" charset="0"/>
                <a:ea typeface="Calibri" pitchFamily="34" charset="-122"/>
                <a:cs typeface="Calibri" pitchFamily="34" charset="-120"/>
              </a:rPr>
              <a:t>BBH DMZ enforces hard isolation. No inbound Plaid data reaches internal services without explicit policy clearance.</a:t>
            </a:r>
            <a:endParaRPr lang="en-US" sz="850" dirty="0"/>
          </a:p>
        </p:txBody>
      </p:sp>
      <p:sp>
        <p:nvSpPr>
          <p:cNvPr id="16" name="Shape 14"/>
          <p:cNvSpPr/>
          <p:nvPr/>
        </p:nvSpPr>
        <p:spPr>
          <a:xfrm>
            <a:off x="347472" y="2688336"/>
            <a:ext cx="54864" cy="457200"/>
          </a:xfrm>
          <a:prstGeom prst="rect">
            <a:avLst/>
          </a:prstGeom>
          <a:solidFill>
            <a:srgbClr val="00A896"/>
          </a:solidFill>
          <a:ln w="12700">
            <a:solidFill>
              <a:srgbClr val="00A896"/>
            </a:solidFill>
            <a:prstDash val="solid"/>
          </a:ln>
        </p:spPr>
      </p:sp>
      <p:sp>
        <p:nvSpPr>
          <p:cNvPr id="17" name="Text 15"/>
          <p:cNvSpPr/>
          <p:nvPr/>
        </p:nvSpPr>
        <p:spPr>
          <a:xfrm>
            <a:off x="493776" y="2670048"/>
            <a:ext cx="2706624" cy="219456"/>
          </a:xfrm>
          <a:prstGeom prst="rect">
            <a:avLst/>
          </a:prstGeom>
          <a:noFill/>
          <a:ln/>
        </p:spPr>
        <p:txBody>
          <a:bodyPr wrap="square" rtlCol="0" anchor="ctr"/>
          <a:lstStyle/>
          <a:p>
            <a:pPr indent="0" marL="0">
              <a:buNone/>
            </a:pPr>
            <a:r>
              <a:rPr lang="en-US" sz="950" b="1" dirty="0">
                <a:solidFill>
                  <a:srgbClr val="0A1628"/>
                </a:solidFill>
                <a:latin typeface="Calibri" pitchFamily="34" charset="0"/>
                <a:ea typeface="Calibri" pitchFamily="34" charset="-122"/>
                <a:cs typeface="Calibri" pitchFamily="34" charset="-120"/>
              </a:rPr>
              <a:t>PingFederate Auth Validation</a:t>
            </a:r>
            <a:endParaRPr lang="en-US" sz="950" dirty="0"/>
          </a:p>
        </p:txBody>
      </p:sp>
      <p:sp>
        <p:nvSpPr>
          <p:cNvPr id="18" name="Text 16"/>
          <p:cNvSpPr/>
          <p:nvPr/>
        </p:nvSpPr>
        <p:spPr>
          <a:xfrm>
            <a:off x="493776" y="2889504"/>
            <a:ext cx="2706624" cy="329184"/>
          </a:xfrm>
          <a:prstGeom prst="rect">
            <a:avLst/>
          </a:prstGeom>
          <a:noFill/>
          <a:ln/>
        </p:spPr>
        <p:txBody>
          <a:bodyPr wrap="square" rtlCol="0" anchor="ctr"/>
          <a:lstStyle/>
          <a:p>
            <a:pPr indent="0" marL="0">
              <a:buNone/>
            </a:pPr>
            <a:r>
              <a:rPr lang="en-US" sz="850" dirty="0">
                <a:solidFill>
                  <a:srgbClr val="3D5260"/>
                </a:solidFill>
                <a:latin typeface="Calibri" pitchFamily="34" charset="0"/>
                <a:ea typeface="Calibri" pitchFamily="34" charset="-122"/>
                <a:cs typeface="Calibri" pitchFamily="34" charset="-120"/>
              </a:rPr>
              <a:t>Every inbound token is validated by BBH PingFederate. Expired or revoked tokens are rejected at the auth boundary.</a:t>
            </a:r>
            <a:endParaRPr lang="en-US" sz="850" dirty="0"/>
          </a:p>
        </p:txBody>
      </p:sp>
      <p:sp>
        <p:nvSpPr>
          <p:cNvPr id="19" name="Shape 17"/>
          <p:cNvSpPr/>
          <p:nvPr/>
        </p:nvSpPr>
        <p:spPr>
          <a:xfrm>
            <a:off x="347472" y="3346704"/>
            <a:ext cx="54864" cy="457200"/>
          </a:xfrm>
          <a:prstGeom prst="rect">
            <a:avLst/>
          </a:prstGeom>
          <a:solidFill>
            <a:srgbClr val="00A896"/>
          </a:solidFill>
          <a:ln w="12700">
            <a:solidFill>
              <a:srgbClr val="00A896"/>
            </a:solidFill>
            <a:prstDash val="solid"/>
          </a:ln>
        </p:spPr>
      </p:sp>
      <p:sp>
        <p:nvSpPr>
          <p:cNvPr id="20" name="Text 18"/>
          <p:cNvSpPr/>
          <p:nvPr/>
        </p:nvSpPr>
        <p:spPr>
          <a:xfrm>
            <a:off x="493776" y="3328416"/>
            <a:ext cx="2706624" cy="219456"/>
          </a:xfrm>
          <a:prstGeom prst="rect">
            <a:avLst/>
          </a:prstGeom>
          <a:noFill/>
          <a:ln/>
        </p:spPr>
        <p:txBody>
          <a:bodyPr wrap="square" rtlCol="0" anchor="ctr"/>
          <a:lstStyle/>
          <a:p>
            <a:pPr indent="0" marL="0">
              <a:buNone/>
            </a:pPr>
            <a:r>
              <a:rPr lang="en-US" sz="950" b="1" dirty="0">
                <a:solidFill>
                  <a:srgbClr val="0A1628"/>
                </a:solidFill>
                <a:latin typeface="Calibri" pitchFamily="34" charset="0"/>
                <a:ea typeface="Calibri" pitchFamily="34" charset="-122"/>
                <a:cs typeface="Calibri" pitchFamily="34" charset="-120"/>
              </a:rPr>
              <a:t>Multi-Store Routing Logic</a:t>
            </a:r>
            <a:endParaRPr lang="en-US" sz="950" dirty="0"/>
          </a:p>
        </p:txBody>
      </p:sp>
      <p:sp>
        <p:nvSpPr>
          <p:cNvPr id="21" name="Text 19"/>
          <p:cNvSpPr/>
          <p:nvPr/>
        </p:nvSpPr>
        <p:spPr>
          <a:xfrm>
            <a:off x="493776" y="3547872"/>
            <a:ext cx="2706624" cy="329184"/>
          </a:xfrm>
          <a:prstGeom prst="rect">
            <a:avLst/>
          </a:prstGeom>
          <a:noFill/>
          <a:ln/>
        </p:spPr>
        <p:txBody>
          <a:bodyPr wrap="square" rtlCol="0" anchor="ctr"/>
          <a:lstStyle/>
          <a:p>
            <a:pPr indent="0" marL="0">
              <a:buNone/>
            </a:pPr>
            <a:r>
              <a:rPr lang="en-US" sz="850" dirty="0">
                <a:solidFill>
                  <a:srgbClr val="3D5260"/>
                </a:solidFill>
                <a:latin typeface="Calibri" pitchFamily="34" charset="0"/>
                <a:ea typeface="Calibri" pitchFamily="34" charset="-122"/>
                <a:cs typeface="Calibri" pitchFamily="34" charset="-120"/>
              </a:rPr>
              <a:t>Inbound data is routed to PB DataWarehouse, IM Datastore, or BBH DataStore based on asset class and consumer rules.</a:t>
            </a:r>
            <a:endParaRPr lang="en-US" sz="850" dirty="0"/>
          </a:p>
        </p:txBody>
      </p:sp>
      <p:sp>
        <p:nvSpPr>
          <p:cNvPr id="22" name="Shape 20"/>
          <p:cNvSpPr/>
          <p:nvPr/>
        </p:nvSpPr>
        <p:spPr>
          <a:xfrm>
            <a:off x="347472" y="4005072"/>
            <a:ext cx="54864" cy="457200"/>
          </a:xfrm>
          <a:prstGeom prst="rect">
            <a:avLst/>
          </a:prstGeom>
          <a:solidFill>
            <a:srgbClr val="00A896"/>
          </a:solidFill>
          <a:ln w="12700">
            <a:solidFill>
              <a:srgbClr val="00A896"/>
            </a:solidFill>
            <a:prstDash val="solid"/>
          </a:ln>
        </p:spPr>
      </p:sp>
      <p:sp>
        <p:nvSpPr>
          <p:cNvPr id="23" name="Text 21"/>
          <p:cNvSpPr/>
          <p:nvPr/>
        </p:nvSpPr>
        <p:spPr>
          <a:xfrm>
            <a:off x="493776" y="3986784"/>
            <a:ext cx="2706624" cy="219456"/>
          </a:xfrm>
          <a:prstGeom prst="rect">
            <a:avLst/>
          </a:prstGeom>
          <a:noFill/>
          <a:ln/>
        </p:spPr>
        <p:txBody>
          <a:bodyPr wrap="square" rtlCol="0" anchor="ctr"/>
          <a:lstStyle/>
          <a:p>
            <a:pPr indent="0" marL="0">
              <a:buNone/>
            </a:pPr>
            <a:r>
              <a:rPr lang="en-US" sz="950" b="1" dirty="0">
                <a:solidFill>
                  <a:srgbClr val="0A1628"/>
                </a:solidFill>
                <a:latin typeface="Calibri" pitchFamily="34" charset="0"/>
                <a:ea typeface="Calibri" pitchFamily="34" charset="-122"/>
                <a:cs typeface="Calibri" pitchFamily="34" charset="-120"/>
              </a:rPr>
              <a:t>CP Services Fan-Out</a:t>
            </a:r>
            <a:endParaRPr lang="en-US" sz="950" dirty="0"/>
          </a:p>
        </p:txBody>
      </p:sp>
      <p:sp>
        <p:nvSpPr>
          <p:cNvPr id="24" name="Text 22"/>
          <p:cNvSpPr/>
          <p:nvPr/>
        </p:nvSpPr>
        <p:spPr>
          <a:xfrm>
            <a:off x="493776" y="4206240"/>
            <a:ext cx="2706624" cy="329184"/>
          </a:xfrm>
          <a:prstGeom prst="rect">
            <a:avLst/>
          </a:prstGeom>
          <a:noFill/>
          <a:ln/>
        </p:spPr>
        <p:txBody>
          <a:bodyPr wrap="square" rtlCol="0" anchor="ctr"/>
          <a:lstStyle/>
          <a:p>
            <a:pPr indent="0" marL="0">
              <a:buNone/>
            </a:pPr>
            <a:r>
              <a:rPr lang="en-US" sz="850" dirty="0">
                <a:solidFill>
                  <a:srgbClr val="3D5260"/>
                </a:solidFill>
                <a:latin typeface="Calibri" pitchFamily="34" charset="0"/>
                <a:ea typeface="Calibri" pitchFamily="34" charset="-122"/>
                <a:cs typeface="Calibri" pitchFamily="34" charset="-120"/>
              </a:rPr>
              <a:t>CP Services acts as the internal fan-out bus — distributing normalized data to all downstream BBH consumers.</a:t>
            </a:r>
            <a:endParaRPr lang="en-US" sz="850" dirty="0"/>
          </a:p>
        </p:txBody>
      </p:sp>
      <p:sp>
        <p:nvSpPr>
          <p:cNvPr id="25" name="Shape 23"/>
          <p:cNvSpPr/>
          <p:nvPr/>
        </p:nvSpPr>
        <p:spPr>
          <a:xfrm>
            <a:off x="3493008" y="896112"/>
            <a:ext cx="1389888" cy="3858768"/>
          </a:xfrm>
          <a:prstGeom prst="rect">
            <a:avLst/>
          </a:prstGeom>
          <a:solidFill>
            <a:srgbClr val="FFFFFF"/>
          </a:solidFill>
          <a:ln w="9525">
            <a:solidFill>
              <a:srgbClr val="E8EEF0"/>
            </a:solidFill>
            <a:prstDash val="solid"/>
          </a:ln>
        </p:spPr>
      </p:sp>
      <p:sp>
        <p:nvSpPr>
          <p:cNvPr id="26" name="Shape 24"/>
          <p:cNvSpPr/>
          <p:nvPr/>
        </p:nvSpPr>
        <p:spPr>
          <a:xfrm>
            <a:off x="3493008" y="896112"/>
            <a:ext cx="1389888" cy="274320"/>
          </a:xfrm>
          <a:prstGeom prst="rect">
            <a:avLst/>
          </a:prstGeom>
          <a:solidFill>
            <a:srgbClr val="C8EAE8"/>
          </a:solidFill>
          <a:ln w="12700">
            <a:solidFill>
              <a:srgbClr val="C8EAE8"/>
            </a:solidFill>
            <a:prstDash val="solid"/>
          </a:ln>
        </p:spPr>
      </p:sp>
      <p:sp>
        <p:nvSpPr>
          <p:cNvPr id="27" name="Text 25"/>
          <p:cNvSpPr/>
          <p:nvPr/>
        </p:nvSpPr>
        <p:spPr>
          <a:xfrm>
            <a:off x="3493008" y="896112"/>
            <a:ext cx="1389888" cy="274320"/>
          </a:xfrm>
          <a:prstGeom prst="rect">
            <a:avLst/>
          </a:prstGeom>
          <a:noFill/>
          <a:ln/>
        </p:spPr>
        <p:txBody>
          <a:bodyPr wrap="square" lIns="0" tIns="0" rIns="0" bIns="0" rtlCol="0" anchor="ctr"/>
          <a:lstStyle/>
          <a:p>
            <a:pPr algn="ctr" indent="0" marL="0">
              <a:buNone/>
            </a:pPr>
            <a:r>
              <a:rPr lang="en-US" sz="850" b="1" dirty="0">
                <a:solidFill>
                  <a:srgbClr val="028090"/>
                </a:solidFill>
              </a:rPr>
              <a:t>External Sources</a:t>
            </a:r>
            <a:endParaRPr lang="en-US" sz="850" dirty="0"/>
          </a:p>
        </p:txBody>
      </p:sp>
      <p:sp>
        <p:nvSpPr>
          <p:cNvPr id="28" name="Shape 26"/>
          <p:cNvSpPr/>
          <p:nvPr/>
        </p:nvSpPr>
        <p:spPr>
          <a:xfrm>
            <a:off x="3566160" y="1261872"/>
            <a:ext cx="1243584" cy="402336"/>
          </a:xfrm>
          <a:prstGeom prst="rect">
            <a:avLst/>
          </a:prstGeom>
          <a:solidFill>
            <a:srgbClr val="F4F8F9"/>
          </a:solidFill>
          <a:ln w="9525">
            <a:solidFill>
              <a:srgbClr val="C8EAE8"/>
            </a:solidFill>
            <a:prstDash val="solid"/>
          </a:ln>
        </p:spPr>
      </p:sp>
      <p:sp>
        <p:nvSpPr>
          <p:cNvPr id="29" name="Text 27"/>
          <p:cNvSpPr/>
          <p:nvPr/>
        </p:nvSpPr>
        <p:spPr>
          <a:xfrm>
            <a:off x="3566160" y="1261872"/>
            <a:ext cx="1243584" cy="402336"/>
          </a:xfrm>
          <a:prstGeom prst="rect">
            <a:avLst/>
          </a:prstGeom>
          <a:noFill/>
          <a:ln/>
        </p:spPr>
        <p:txBody>
          <a:bodyPr wrap="square" lIns="0" tIns="0" rIns="0" bIns="0" rtlCol="0" anchor="ctr"/>
          <a:lstStyle/>
          <a:p>
            <a:pPr algn="ctr" indent="0" marL="0">
              <a:buNone/>
            </a:pPr>
            <a:r>
              <a:rPr lang="en-US" sz="850" dirty="0">
                <a:solidFill>
                  <a:srgbClr val="0A1628"/>
                </a:solidFill>
                <a:latin typeface="Calibri" pitchFamily="34" charset="0"/>
                <a:ea typeface="Calibri" pitchFamily="34" charset="-122"/>
                <a:cs typeface="Calibri" pitchFamily="34" charset="-120"/>
              </a:rPr>
              <a:t>Financial Institutions</a:t>
            </a:r>
            <a:endParaRPr lang="en-US" sz="850" dirty="0"/>
          </a:p>
        </p:txBody>
      </p:sp>
      <p:sp>
        <p:nvSpPr>
          <p:cNvPr id="30" name="Shape 28"/>
          <p:cNvSpPr/>
          <p:nvPr/>
        </p:nvSpPr>
        <p:spPr>
          <a:xfrm>
            <a:off x="3566160" y="1792224"/>
            <a:ext cx="1243584" cy="402336"/>
          </a:xfrm>
          <a:prstGeom prst="rect">
            <a:avLst/>
          </a:prstGeom>
          <a:solidFill>
            <a:srgbClr val="F4F8F9"/>
          </a:solidFill>
          <a:ln w="9525">
            <a:solidFill>
              <a:srgbClr val="C8EAE8"/>
            </a:solidFill>
            <a:prstDash val="solid"/>
          </a:ln>
        </p:spPr>
      </p:sp>
      <p:sp>
        <p:nvSpPr>
          <p:cNvPr id="31" name="Text 29"/>
          <p:cNvSpPr/>
          <p:nvPr/>
        </p:nvSpPr>
        <p:spPr>
          <a:xfrm>
            <a:off x="3566160" y="1792224"/>
            <a:ext cx="1243584" cy="402336"/>
          </a:xfrm>
          <a:prstGeom prst="rect">
            <a:avLst/>
          </a:prstGeom>
          <a:noFill/>
          <a:ln/>
        </p:spPr>
        <p:txBody>
          <a:bodyPr wrap="square" lIns="0" tIns="0" rIns="0" bIns="0" rtlCol="0" anchor="ctr"/>
          <a:lstStyle/>
          <a:p>
            <a:pPr algn="ctr" indent="0" marL="0">
              <a:buNone/>
            </a:pPr>
            <a:r>
              <a:rPr lang="en-US" sz="850" dirty="0">
                <a:solidFill>
                  <a:srgbClr val="0A1628"/>
                </a:solidFill>
                <a:latin typeface="Calibri" pitchFamily="34" charset="0"/>
                <a:ea typeface="Calibri" pitchFamily="34" charset="-122"/>
                <a:cs typeface="Calibri" pitchFamily="34" charset="-120"/>
              </a:rPr>
              <a:t>Brokerage Accounts</a:t>
            </a:r>
            <a:endParaRPr lang="en-US" sz="850" dirty="0"/>
          </a:p>
        </p:txBody>
      </p:sp>
      <p:sp>
        <p:nvSpPr>
          <p:cNvPr id="32" name="Shape 30"/>
          <p:cNvSpPr/>
          <p:nvPr/>
        </p:nvSpPr>
        <p:spPr>
          <a:xfrm>
            <a:off x="3566160" y="2322576"/>
            <a:ext cx="1243584" cy="402336"/>
          </a:xfrm>
          <a:prstGeom prst="rect">
            <a:avLst/>
          </a:prstGeom>
          <a:solidFill>
            <a:srgbClr val="F4F8F9"/>
          </a:solidFill>
          <a:ln w="9525">
            <a:solidFill>
              <a:srgbClr val="C8EAE8"/>
            </a:solidFill>
            <a:prstDash val="solid"/>
          </a:ln>
        </p:spPr>
      </p:sp>
      <p:sp>
        <p:nvSpPr>
          <p:cNvPr id="33" name="Text 31"/>
          <p:cNvSpPr/>
          <p:nvPr/>
        </p:nvSpPr>
        <p:spPr>
          <a:xfrm>
            <a:off x="3566160" y="2322576"/>
            <a:ext cx="1243584" cy="402336"/>
          </a:xfrm>
          <a:prstGeom prst="rect">
            <a:avLst/>
          </a:prstGeom>
          <a:noFill/>
          <a:ln/>
        </p:spPr>
        <p:txBody>
          <a:bodyPr wrap="square" lIns="0" tIns="0" rIns="0" bIns="0" rtlCol="0" anchor="ctr"/>
          <a:lstStyle/>
          <a:p>
            <a:pPr algn="ctr" indent="0" marL="0">
              <a:buNone/>
            </a:pPr>
            <a:r>
              <a:rPr lang="en-US" sz="850" dirty="0">
                <a:solidFill>
                  <a:srgbClr val="0A1628"/>
                </a:solidFill>
                <a:latin typeface="Calibri" pitchFamily="34" charset="0"/>
                <a:ea typeface="Calibri" pitchFamily="34" charset="-122"/>
                <a:cs typeface="Calibri" pitchFamily="34" charset="-120"/>
              </a:rPr>
              <a:t>401(k) / Retirement</a:t>
            </a:r>
            <a:endParaRPr lang="en-US" sz="850" dirty="0"/>
          </a:p>
        </p:txBody>
      </p:sp>
      <p:sp>
        <p:nvSpPr>
          <p:cNvPr id="34" name="Shape 32"/>
          <p:cNvSpPr/>
          <p:nvPr/>
        </p:nvSpPr>
        <p:spPr>
          <a:xfrm>
            <a:off x="3566160" y="2852928"/>
            <a:ext cx="1243584" cy="402336"/>
          </a:xfrm>
          <a:prstGeom prst="rect">
            <a:avLst/>
          </a:prstGeom>
          <a:solidFill>
            <a:srgbClr val="F4F8F9"/>
          </a:solidFill>
          <a:ln w="9525">
            <a:solidFill>
              <a:srgbClr val="C8EAE8"/>
            </a:solidFill>
            <a:prstDash val="solid"/>
          </a:ln>
        </p:spPr>
      </p:sp>
      <p:sp>
        <p:nvSpPr>
          <p:cNvPr id="35" name="Text 33"/>
          <p:cNvSpPr/>
          <p:nvPr/>
        </p:nvSpPr>
        <p:spPr>
          <a:xfrm>
            <a:off x="3566160" y="2852928"/>
            <a:ext cx="1243584" cy="402336"/>
          </a:xfrm>
          <a:prstGeom prst="rect">
            <a:avLst/>
          </a:prstGeom>
          <a:noFill/>
          <a:ln/>
        </p:spPr>
        <p:txBody>
          <a:bodyPr wrap="square" lIns="0" tIns="0" rIns="0" bIns="0" rtlCol="0" anchor="ctr"/>
          <a:lstStyle/>
          <a:p>
            <a:pPr algn="ctr" indent="0" marL="0">
              <a:buNone/>
            </a:pPr>
            <a:r>
              <a:rPr lang="en-US" sz="850" dirty="0">
                <a:solidFill>
                  <a:srgbClr val="0A1628"/>
                </a:solidFill>
                <a:latin typeface="Calibri" pitchFamily="34" charset="0"/>
                <a:ea typeface="Calibri" pitchFamily="34" charset="-122"/>
                <a:cs typeface="Calibri" pitchFamily="34" charset="-120"/>
              </a:rPr>
              <a:t>Real Estate</a:t>
            </a:r>
            <a:endParaRPr lang="en-US" sz="850" dirty="0"/>
          </a:p>
        </p:txBody>
      </p:sp>
      <p:sp>
        <p:nvSpPr>
          <p:cNvPr id="36" name="Shape 34"/>
          <p:cNvSpPr/>
          <p:nvPr/>
        </p:nvSpPr>
        <p:spPr>
          <a:xfrm>
            <a:off x="3566160" y="3383280"/>
            <a:ext cx="1243584" cy="402336"/>
          </a:xfrm>
          <a:prstGeom prst="rect">
            <a:avLst/>
          </a:prstGeom>
          <a:solidFill>
            <a:srgbClr val="F4F8F9"/>
          </a:solidFill>
          <a:ln w="9525">
            <a:solidFill>
              <a:srgbClr val="C8EAE8"/>
            </a:solidFill>
            <a:prstDash val="solid"/>
          </a:ln>
        </p:spPr>
      </p:sp>
      <p:sp>
        <p:nvSpPr>
          <p:cNvPr id="37" name="Text 35"/>
          <p:cNvSpPr/>
          <p:nvPr/>
        </p:nvSpPr>
        <p:spPr>
          <a:xfrm>
            <a:off x="3566160" y="3383280"/>
            <a:ext cx="1243584" cy="402336"/>
          </a:xfrm>
          <a:prstGeom prst="rect">
            <a:avLst/>
          </a:prstGeom>
          <a:noFill/>
          <a:ln/>
        </p:spPr>
        <p:txBody>
          <a:bodyPr wrap="square" lIns="0" tIns="0" rIns="0" bIns="0" rtlCol="0" anchor="ctr"/>
          <a:lstStyle/>
          <a:p>
            <a:pPr algn="ctr" indent="0" marL="0">
              <a:buNone/>
            </a:pPr>
            <a:r>
              <a:rPr lang="en-US" sz="850" dirty="0">
                <a:solidFill>
                  <a:srgbClr val="0A1628"/>
                </a:solidFill>
                <a:latin typeface="Calibri" pitchFamily="34" charset="0"/>
                <a:ea typeface="Calibri" pitchFamily="34" charset="-122"/>
                <a:cs typeface="Calibri" pitchFamily="34" charset="-120"/>
              </a:rPr>
              <a:t>Crypto Assets</a:t>
            </a:r>
            <a:endParaRPr lang="en-US" sz="850" dirty="0"/>
          </a:p>
        </p:txBody>
      </p:sp>
      <p:sp>
        <p:nvSpPr>
          <p:cNvPr id="38" name="Shape 36"/>
          <p:cNvSpPr/>
          <p:nvPr/>
        </p:nvSpPr>
        <p:spPr>
          <a:xfrm>
            <a:off x="3566160" y="3913632"/>
            <a:ext cx="1243584" cy="402336"/>
          </a:xfrm>
          <a:prstGeom prst="rect">
            <a:avLst/>
          </a:prstGeom>
          <a:solidFill>
            <a:srgbClr val="F4F8F9"/>
          </a:solidFill>
          <a:ln w="9525">
            <a:solidFill>
              <a:srgbClr val="C8EAE8"/>
            </a:solidFill>
            <a:prstDash val="solid"/>
          </a:ln>
        </p:spPr>
      </p:sp>
      <p:sp>
        <p:nvSpPr>
          <p:cNvPr id="39" name="Text 37"/>
          <p:cNvSpPr/>
          <p:nvPr/>
        </p:nvSpPr>
        <p:spPr>
          <a:xfrm>
            <a:off x="3566160" y="3913632"/>
            <a:ext cx="1243584" cy="402336"/>
          </a:xfrm>
          <a:prstGeom prst="rect">
            <a:avLst/>
          </a:prstGeom>
          <a:noFill/>
          <a:ln/>
        </p:spPr>
        <p:txBody>
          <a:bodyPr wrap="square" lIns="0" tIns="0" rIns="0" bIns="0" rtlCol="0" anchor="ctr"/>
          <a:lstStyle/>
          <a:p>
            <a:pPr algn="ctr" indent="0" marL="0">
              <a:buNone/>
            </a:pPr>
            <a:r>
              <a:rPr lang="en-US" sz="850" dirty="0">
                <a:solidFill>
                  <a:srgbClr val="0A1628"/>
                </a:solidFill>
                <a:latin typeface="Calibri" pitchFamily="34" charset="0"/>
                <a:ea typeface="Calibri" pitchFamily="34" charset="-122"/>
                <a:cs typeface="Calibri" pitchFamily="34" charset="-120"/>
              </a:rPr>
              <a:t>Alternative Inv.</a:t>
            </a:r>
            <a:endParaRPr lang="en-US" sz="850" dirty="0"/>
          </a:p>
        </p:txBody>
      </p:sp>
      <p:sp>
        <p:nvSpPr>
          <p:cNvPr id="40" name="Text 38"/>
          <p:cNvSpPr/>
          <p:nvPr/>
        </p:nvSpPr>
        <p:spPr>
          <a:xfrm>
            <a:off x="4901184" y="2514600"/>
            <a:ext cx="347472" cy="274320"/>
          </a:xfrm>
          <a:prstGeom prst="rect">
            <a:avLst/>
          </a:prstGeom>
          <a:noFill/>
          <a:ln/>
        </p:spPr>
        <p:txBody>
          <a:bodyPr wrap="square" rtlCol="0" anchor="ctr"/>
          <a:lstStyle/>
          <a:p>
            <a:pPr algn="ctr" indent="0" marL="0">
              <a:buNone/>
            </a:pPr>
            <a:r>
              <a:rPr lang="en-US" sz="1600" dirty="0">
                <a:solidFill>
                  <a:srgbClr val="00A896"/>
                </a:solidFill>
              </a:rPr>
              <a:t>→</a:t>
            </a:r>
            <a:endParaRPr lang="en-US" sz="1600" dirty="0"/>
          </a:p>
        </p:txBody>
      </p:sp>
      <p:sp>
        <p:nvSpPr>
          <p:cNvPr id="41" name="Shape 39"/>
          <p:cNvSpPr/>
          <p:nvPr/>
        </p:nvSpPr>
        <p:spPr>
          <a:xfrm>
            <a:off x="5266944" y="2340864"/>
            <a:ext cx="694944" cy="694944"/>
          </a:xfrm>
          <a:prstGeom prst="ellipse">
            <a:avLst/>
          </a:prstGeom>
          <a:solidFill>
            <a:srgbClr val="0A1628"/>
          </a:solidFill>
          <a:ln w="19050">
            <a:solidFill>
              <a:srgbClr val="00A896"/>
            </a:solidFill>
            <a:prstDash val="solid"/>
          </a:ln>
        </p:spPr>
      </p:sp>
      <p:sp>
        <p:nvSpPr>
          <p:cNvPr id="42" name="Text 40"/>
          <p:cNvSpPr/>
          <p:nvPr/>
        </p:nvSpPr>
        <p:spPr>
          <a:xfrm>
            <a:off x="5266944" y="2340864"/>
            <a:ext cx="694944" cy="694944"/>
          </a:xfrm>
          <a:prstGeom prst="rect">
            <a:avLst/>
          </a:prstGeom>
          <a:noFill/>
          <a:ln/>
        </p:spPr>
        <p:txBody>
          <a:bodyPr wrap="square" lIns="0" tIns="0" rIns="0" bIns="0" rtlCol="0" anchor="ctr"/>
          <a:lstStyle/>
          <a:p>
            <a:pPr algn="ctr" indent="0" marL="0">
              <a:buNone/>
            </a:pPr>
            <a:r>
              <a:rPr lang="en-US" sz="750" b="1" dirty="0">
                <a:solidFill>
                  <a:srgbClr val="FFFFFF"/>
                </a:solidFill>
              </a:rPr>
              <a:t>PLAID</a:t>
            </a:r>
            <a:endParaRPr lang="en-US" sz="750" dirty="0"/>
          </a:p>
        </p:txBody>
      </p:sp>
      <p:sp>
        <p:nvSpPr>
          <p:cNvPr id="43" name="Text 41"/>
          <p:cNvSpPr/>
          <p:nvPr/>
        </p:nvSpPr>
        <p:spPr>
          <a:xfrm>
            <a:off x="5980176" y="2514600"/>
            <a:ext cx="310896" cy="274320"/>
          </a:xfrm>
          <a:prstGeom prst="rect">
            <a:avLst/>
          </a:prstGeom>
          <a:noFill/>
          <a:ln/>
        </p:spPr>
        <p:txBody>
          <a:bodyPr wrap="square" rtlCol="0" anchor="ctr"/>
          <a:lstStyle/>
          <a:p>
            <a:pPr algn="ctr" indent="0" marL="0">
              <a:buNone/>
            </a:pPr>
            <a:r>
              <a:rPr lang="en-US" sz="1600" dirty="0">
                <a:solidFill>
                  <a:srgbClr val="00A896"/>
                </a:solidFill>
              </a:rPr>
              <a:t>→</a:t>
            </a:r>
            <a:endParaRPr lang="en-US" sz="1600" dirty="0"/>
          </a:p>
        </p:txBody>
      </p:sp>
      <p:sp>
        <p:nvSpPr>
          <p:cNvPr id="44" name="Shape 42"/>
          <p:cNvSpPr/>
          <p:nvPr/>
        </p:nvSpPr>
        <p:spPr>
          <a:xfrm>
            <a:off x="6309360" y="896112"/>
            <a:ext cx="502920" cy="3858768"/>
          </a:xfrm>
          <a:prstGeom prst="rect">
            <a:avLst/>
          </a:prstGeom>
          <a:solidFill>
            <a:srgbClr val="02C39A"/>
          </a:solidFill>
          <a:ln w="12700">
            <a:solidFill>
              <a:srgbClr val="02C39A"/>
            </a:solidFill>
            <a:prstDash val="solid"/>
          </a:ln>
        </p:spPr>
      </p:sp>
      <p:sp>
        <p:nvSpPr>
          <p:cNvPr id="45" name="Text 43"/>
          <p:cNvSpPr/>
          <p:nvPr/>
        </p:nvSpPr>
        <p:spPr>
          <a:xfrm>
            <a:off x="6309360" y="896112"/>
            <a:ext cx="502920" cy="530352"/>
          </a:xfrm>
          <a:prstGeom prst="rect">
            <a:avLst/>
          </a:prstGeom>
          <a:noFill/>
          <a:ln/>
        </p:spPr>
        <p:txBody>
          <a:bodyPr wrap="square" lIns="0" tIns="0" rIns="0" bIns="0" rtlCol="0" anchor="ctr"/>
          <a:lstStyle/>
          <a:p>
            <a:pPr algn="ctr" indent="0" marL="0">
              <a:buNone/>
            </a:pPr>
            <a:r>
              <a:rPr lang="en-US" sz="1100" b="1" dirty="0">
                <a:solidFill>
                  <a:srgbClr val="0A1628"/>
                </a:solidFill>
              </a:rPr>
              <a:t>G</a:t>
            </a:r>
            <a:endParaRPr lang="en-US" sz="1100" dirty="0"/>
          </a:p>
        </p:txBody>
      </p:sp>
      <p:sp>
        <p:nvSpPr>
          <p:cNvPr id="46" name="Text 44"/>
          <p:cNvSpPr/>
          <p:nvPr/>
        </p:nvSpPr>
        <p:spPr>
          <a:xfrm>
            <a:off x="6309360" y="1426464"/>
            <a:ext cx="502920" cy="530352"/>
          </a:xfrm>
          <a:prstGeom prst="rect">
            <a:avLst/>
          </a:prstGeom>
          <a:noFill/>
          <a:ln/>
        </p:spPr>
        <p:txBody>
          <a:bodyPr wrap="square" lIns="0" tIns="0" rIns="0" bIns="0" rtlCol="0" anchor="ctr"/>
          <a:lstStyle/>
          <a:p>
            <a:pPr algn="ctr" indent="0" marL="0">
              <a:buNone/>
            </a:pPr>
            <a:r>
              <a:rPr lang="en-US" sz="1100" b="1" dirty="0">
                <a:solidFill>
                  <a:srgbClr val="0A1628"/>
                </a:solidFill>
              </a:rPr>
              <a:t>A</a:t>
            </a:r>
            <a:endParaRPr lang="en-US" sz="1100" dirty="0"/>
          </a:p>
        </p:txBody>
      </p:sp>
      <p:sp>
        <p:nvSpPr>
          <p:cNvPr id="47" name="Text 45"/>
          <p:cNvSpPr/>
          <p:nvPr/>
        </p:nvSpPr>
        <p:spPr>
          <a:xfrm>
            <a:off x="6309360" y="1956816"/>
            <a:ext cx="502920" cy="530352"/>
          </a:xfrm>
          <a:prstGeom prst="rect">
            <a:avLst/>
          </a:prstGeom>
          <a:noFill/>
          <a:ln/>
        </p:spPr>
        <p:txBody>
          <a:bodyPr wrap="square" lIns="0" tIns="0" rIns="0" bIns="0" rtlCol="0" anchor="ctr"/>
          <a:lstStyle/>
          <a:p>
            <a:pPr algn="ctr" indent="0" marL="0">
              <a:buNone/>
            </a:pPr>
            <a:r>
              <a:rPr lang="en-US" sz="1100" b="1" dirty="0">
                <a:solidFill>
                  <a:srgbClr val="0A1628"/>
                </a:solidFill>
              </a:rPr>
              <a:t>T</a:t>
            </a:r>
            <a:endParaRPr lang="en-US" sz="1100" dirty="0"/>
          </a:p>
        </p:txBody>
      </p:sp>
      <p:sp>
        <p:nvSpPr>
          <p:cNvPr id="48" name="Text 46"/>
          <p:cNvSpPr/>
          <p:nvPr/>
        </p:nvSpPr>
        <p:spPr>
          <a:xfrm>
            <a:off x="6309360" y="2487168"/>
            <a:ext cx="502920" cy="530352"/>
          </a:xfrm>
          <a:prstGeom prst="rect">
            <a:avLst/>
          </a:prstGeom>
          <a:noFill/>
          <a:ln/>
        </p:spPr>
        <p:txBody>
          <a:bodyPr wrap="square" lIns="0" tIns="0" rIns="0" bIns="0" rtlCol="0" anchor="ctr"/>
          <a:lstStyle/>
          <a:p>
            <a:pPr algn="ctr" indent="0" marL="0">
              <a:buNone/>
            </a:pPr>
            <a:r>
              <a:rPr lang="en-US" sz="1100" b="1" dirty="0">
                <a:solidFill>
                  <a:srgbClr val="0A1628"/>
                </a:solidFill>
              </a:rPr>
              <a:t>E</a:t>
            </a:r>
            <a:endParaRPr lang="en-US" sz="1100" dirty="0"/>
          </a:p>
        </p:txBody>
      </p:sp>
      <p:sp>
        <p:nvSpPr>
          <p:cNvPr id="49" name="Text 47"/>
          <p:cNvSpPr/>
          <p:nvPr/>
        </p:nvSpPr>
        <p:spPr>
          <a:xfrm>
            <a:off x="6309360" y="3017520"/>
            <a:ext cx="502920" cy="530352"/>
          </a:xfrm>
          <a:prstGeom prst="rect">
            <a:avLst/>
          </a:prstGeom>
          <a:noFill/>
          <a:ln/>
        </p:spPr>
        <p:txBody>
          <a:bodyPr wrap="square" lIns="0" tIns="0" rIns="0" bIns="0" rtlCol="0" anchor="ctr"/>
          <a:lstStyle/>
          <a:p>
            <a:pPr algn="ctr" indent="0" marL="0">
              <a:buNone/>
            </a:pPr>
            <a:r>
              <a:rPr lang="en-US" sz="1100" b="1" dirty="0">
                <a:solidFill>
                  <a:srgbClr val="0A1628"/>
                </a:solidFill>
              </a:rPr>
              <a:t>W</a:t>
            </a:r>
            <a:endParaRPr lang="en-US" sz="1100" dirty="0"/>
          </a:p>
        </p:txBody>
      </p:sp>
      <p:sp>
        <p:nvSpPr>
          <p:cNvPr id="50" name="Text 48"/>
          <p:cNvSpPr/>
          <p:nvPr/>
        </p:nvSpPr>
        <p:spPr>
          <a:xfrm>
            <a:off x="6309360" y="3547872"/>
            <a:ext cx="502920" cy="530352"/>
          </a:xfrm>
          <a:prstGeom prst="rect">
            <a:avLst/>
          </a:prstGeom>
          <a:noFill/>
          <a:ln/>
        </p:spPr>
        <p:txBody>
          <a:bodyPr wrap="square" lIns="0" tIns="0" rIns="0" bIns="0" rtlCol="0" anchor="ctr"/>
          <a:lstStyle/>
          <a:p>
            <a:pPr algn="ctr" indent="0" marL="0">
              <a:buNone/>
            </a:pPr>
            <a:r>
              <a:rPr lang="en-US" sz="1100" b="1" dirty="0">
                <a:solidFill>
                  <a:srgbClr val="0A1628"/>
                </a:solidFill>
              </a:rPr>
              <a:t>A</a:t>
            </a:r>
            <a:endParaRPr lang="en-US" sz="1100" dirty="0"/>
          </a:p>
        </p:txBody>
      </p:sp>
      <p:sp>
        <p:nvSpPr>
          <p:cNvPr id="51" name="Text 49"/>
          <p:cNvSpPr/>
          <p:nvPr/>
        </p:nvSpPr>
        <p:spPr>
          <a:xfrm>
            <a:off x="6309360" y="4078224"/>
            <a:ext cx="502920" cy="530352"/>
          </a:xfrm>
          <a:prstGeom prst="rect">
            <a:avLst/>
          </a:prstGeom>
          <a:noFill/>
          <a:ln/>
        </p:spPr>
        <p:txBody>
          <a:bodyPr wrap="square" lIns="0" tIns="0" rIns="0" bIns="0" rtlCol="0" anchor="ctr"/>
          <a:lstStyle/>
          <a:p>
            <a:pPr algn="ctr" indent="0" marL="0">
              <a:buNone/>
            </a:pPr>
            <a:r>
              <a:rPr lang="en-US" sz="1100" b="1" dirty="0">
                <a:solidFill>
                  <a:srgbClr val="0A1628"/>
                </a:solidFill>
              </a:rPr>
              <a:t>Y</a:t>
            </a:r>
            <a:endParaRPr lang="en-US" sz="1100" dirty="0"/>
          </a:p>
        </p:txBody>
      </p:sp>
      <p:sp>
        <p:nvSpPr>
          <p:cNvPr id="52" name="Shape 50"/>
          <p:cNvSpPr/>
          <p:nvPr/>
        </p:nvSpPr>
        <p:spPr>
          <a:xfrm>
            <a:off x="6830568" y="896112"/>
            <a:ext cx="502920" cy="3858768"/>
          </a:xfrm>
          <a:prstGeom prst="rect">
            <a:avLst/>
          </a:prstGeom>
          <a:solidFill>
            <a:srgbClr val="00A896"/>
          </a:solidFill>
          <a:ln w="12700">
            <a:solidFill>
              <a:srgbClr val="00A896"/>
            </a:solidFill>
            <a:prstDash val="solid"/>
          </a:ln>
        </p:spPr>
      </p:sp>
      <p:sp>
        <p:nvSpPr>
          <p:cNvPr id="53" name="Text 51"/>
          <p:cNvSpPr/>
          <p:nvPr/>
        </p:nvSpPr>
        <p:spPr>
          <a:xfrm>
            <a:off x="6830568" y="896112"/>
            <a:ext cx="502920" cy="438912"/>
          </a:xfrm>
          <a:prstGeom prst="rect">
            <a:avLst/>
          </a:prstGeom>
          <a:noFill/>
          <a:ln/>
        </p:spPr>
        <p:txBody>
          <a:bodyPr wrap="square" lIns="0" tIns="0" rIns="0" bIns="0" rtlCol="0" anchor="ctr"/>
          <a:lstStyle/>
          <a:p>
            <a:pPr algn="ctr" indent="0" marL="0">
              <a:buNone/>
            </a:pPr>
            <a:r>
              <a:rPr lang="en-US" sz="1000" b="1" dirty="0">
                <a:solidFill>
                  <a:srgbClr val="FFFFFF"/>
                </a:solidFill>
              </a:rPr>
              <a:t>B</a:t>
            </a:r>
            <a:endParaRPr lang="en-US" sz="1000" dirty="0"/>
          </a:p>
        </p:txBody>
      </p:sp>
      <p:sp>
        <p:nvSpPr>
          <p:cNvPr id="54" name="Text 52"/>
          <p:cNvSpPr/>
          <p:nvPr/>
        </p:nvSpPr>
        <p:spPr>
          <a:xfrm>
            <a:off x="6830568" y="1335024"/>
            <a:ext cx="502920" cy="438912"/>
          </a:xfrm>
          <a:prstGeom prst="rect">
            <a:avLst/>
          </a:prstGeom>
          <a:noFill/>
          <a:ln/>
        </p:spPr>
        <p:txBody>
          <a:bodyPr wrap="square" lIns="0" tIns="0" rIns="0" bIns="0" rtlCol="0" anchor="ctr"/>
          <a:lstStyle/>
          <a:p>
            <a:pPr algn="ctr" indent="0" marL="0">
              <a:buNone/>
            </a:pPr>
            <a:r>
              <a:rPr lang="en-US" sz="1000" b="1" dirty="0">
                <a:solidFill>
                  <a:srgbClr val="FFFFFF"/>
                </a:solidFill>
              </a:rPr>
              <a:t>B</a:t>
            </a:r>
            <a:endParaRPr lang="en-US" sz="1000" dirty="0"/>
          </a:p>
        </p:txBody>
      </p:sp>
      <p:sp>
        <p:nvSpPr>
          <p:cNvPr id="55" name="Text 53"/>
          <p:cNvSpPr/>
          <p:nvPr/>
        </p:nvSpPr>
        <p:spPr>
          <a:xfrm>
            <a:off x="6830568" y="1773936"/>
            <a:ext cx="502920" cy="438912"/>
          </a:xfrm>
          <a:prstGeom prst="rect">
            <a:avLst/>
          </a:prstGeom>
          <a:noFill/>
          <a:ln/>
        </p:spPr>
        <p:txBody>
          <a:bodyPr wrap="square" lIns="0" tIns="0" rIns="0" bIns="0" rtlCol="0" anchor="ctr"/>
          <a:lstStyle/>
          <a:p>
            <a:pPr algn="ctr" indent="0" marL="0">
              <a:buNone/>
            </a:pPr>
            <a:r>
              <a:rPr lang="en-US" sz="1000" b="1" dirty="0">
                <a:solidFill>
                  <a:srgbClr val="FFFFFF"/>
                </a:solidFill>
              </a:rPr>
              <a:t>H</a:t>
            </a:r>
            <a:endParaRPr lang="en-US" sz="1000" dirty="0"/>
          </a:p>
        </p:txBody>
      </p:sp>
      <p:sp>
        <p:nvSpPr>
          <p:cNvPr id="56" name="Text 54"/>
          <p:cNvSpPr/>
          <p:nvPr/>
        </p:nvSpPr>
        <p:spPr>
          <a:xfrm>
            <a:off x="6830568" y="2212848"/>
            <a:ext cx="502920" cy="438912"/>
          </a:xfrm>
          <a:prstGeom prst="rect">
            <a:avLst/>
          </a:prstGeom>
          <a:noFill/>
          <a:ln/>
        </p:spPr>
        <p:txBody>
          <a:bodyPr wrap="square" lIns="0" tIns="0" rIns="0" bIns="0" rtlCol="0" anchor="ctr"/>
          <a:lstStyle/>
          <a:p>
            <a:pPr algn="ctr" indent="0" marL="0">
              <a:buNone/>
            </a:pPr>
            <a:r>
              <a:rPr lang="en-US" sz="1000" b="1" dirty="0">
                <a:solidFill>
                  <a:srgbClr val="FFFFFF"/>
                </a:solidFill>
              </a:rPr>
              <a:t> </a:t>
            </a:r>
            <a:endParaRPr lang="en-US" sz="1000" dirty="0"/>
          </a:p>
        </p:txBody>
      </p:sp>
      <p:sp>
        <p:nvSpPr>
          <p:cNvPr id="57" name="Text 55"/>
          <p:cNvSpPr/>
          <p:nvPr/>
        </p:nvSpPr>
        <p:spPr>
          <a:xfrm>
            <a:off x="6830568" y="2651760"/>
            <a:ext cx="502920" cy="438912"/>
          </a:xfrm>
          <a:prstGeom prst="rect">
            <a:avLst/>
          </a:prstGeom>
          <a:noFill/>
          <a:ln/>
        </p:spPr>
        <p:txBody>
          <a:bodyPr wrap="square" lIns="0" tIns="0" rIns="0" bIns="0" rtlCol="0" anchor="ctr"/>
          <a:lstStyle/>
          <a:p>
            <a:pPr algn="ctr" indent="0" marL="0">
              <a:buNone/>
            </a:pPr>
            <a:r>
              <a:rPr lang="en-US" sz="1000" b="1" dirty="0">
                <a:solidFill>
                  <a:srgbClr val="FFFFFF"/>
                </a:solidFill>
              </a:rPr>
              <a:t>A</a:t>
            </a:r>
            <a:endParaRPr lang="en-US" sz="1000" dirty="0"/>
          </a:p>
        </p:txBody>
      </p:sp>
      <p:sp>
        <p:nvSpPr>
          <p:cNvPr id="58" name="Text 56"/>
          <p:cNvSpPr/>
          <p:nvPr/>
        </p:nvSpPr>
        <p:spPr>
          <a:xfrm>
            <a:off x="6830568" y="3090672"/>
            <a:ext cx="502920" cy="438912"/>
          </a:xfrm>
          <a:prstGeom prst="rect">
            <a:avLst/>
          </a:prstGeom>
          <a:noFill/>
          <a:ln/>
        </p:spPr>
        <p:txBody>
          <a:bodyPr wrap="square" lIns="0" tIns="0" rIns="0" bIns="0" rtlCol="0" anchor="ctr"/>
          <a:lstStyle/>
          <a:p>
            <a:pPr algn="ctr" indent="0" marL="0">
              <a:buNone/>
            </a:pPr>
            <a:r>
              <a:rPr lang="en-US" sz="1000" b="1" dirty="0">
                <a:solidFill>
                  <a:srgbClr val="FFFFFF"/>
                </a:solidFill>
              </a:rPr>
              <a:t>u</a:t>
            </a:r>
            <a:endParaRPr lang="en-US" sz="1000" dirty="0"/>
          </a:p>
        </p:txBody>
      </p:sp>
      <p:sp>
        <p:nvSpPr>
          <p:cNvPr id="59" name="Text 57"/>
          <p:cNvSpPr/>
          <p:nvPr/>
        </p:nvSpPr>
        <p:spPr>
          <a:xfrm>
            <a:off x="6830568" y="3529584"/>
            <a:ext cx="502920" cy="438912"/>
          </a:xfrm>
          <a:prstGeom prst="rect">
            <a:avLst/>
          </a:prstGeom>
          <a:noFill/>
          <a:ln/>
        </p:spPr>
        <p:txBody>
          <a:bodyPr wrap="square" lIns="0" tIns="0" rIns="0" bIns="0" rtlCol="0" anchor="ctr"/>
          <a:lstStyle/>
          <a:p>
            <a:pPr algn="ctr" indent="0" marL="0">
              <a:buNone/>
            </a:pPr>
            <a:r>
              <a:rPr lang="en-US" sz="1000" b="1" dirty="0">
                <a:solidFill>
                  <a:srgbClr val="FFFFFF"/>
                </a:solidFill>
              </a:rPr>
              <a:t>T</a:t>
            </a:r>
            <a:endParaRPr lang="en-US" sz="1000" dirty="0"/>
          </a:p>
        </p:txBody>
      </p:sp>
      <p:sp>
        <p:nvSpPr>
          <p:cNvPr id="60" name="Text 58"/>
          <p:cNvSpPr/>
          <p:nvPr/>
        </p:nvSpPr>
        <p:spPr>
          <a:xfrm>
            <a:off x="6830568" y="3968496"/>
            <a:ext cx="502920" cy="438912"/>
          </a:xfrm>
          <a:prstGeom prst="rect">
            <a:avLst/>
          </a:prstGeom>
          <a:noFill/>
          <a:ln/>
        </p:spPr>
        <p:txBody>
          <a:bodyPr wrap="square" lIns="0" tIns="0" rIns="0" bIns="0" rtlCol="0" anchor="ctr"/>
          <a:lstStyle/>
          <a:p>
            <a:pPr algn="ctr" indent="0" marL="0">
              <a:buNone/>
            </a:pPr>
            <a:r>
              <a:rPr lang="en-US" sz="1000" b="1" dirty="0">
                <a:solidFill>
                  <a:srgbClr val="FFFFFF"/>
                </a:solidFill>
              </a:rPr>
              <a:t>h</a:t>
            </a:r>
            <a:endParaRPr lang="en-US" sz="1000" dirty="0"/>
          </a:p>
        </p:txBody>
      </p:sp>
      <p:sp>
        <p:nvSpPr>
          <p:cNvPr id="61" name="Shape 59"/>
          <p:cNvSpPr/>
          <p:nvPr/>
        </p:nvSpPr>
        <p:spPr>
          <a:xfrm>
            <a:off x="7351776" y="896112"/>
            <a:ext cx="530352" cy="3858768"/>
          </a:xfrm>
          <a:prstGeom prst="rect">
            <a:avLst/>
          </a:prstGeom>
          <a:solidFill>
            <a:srgbClr val="028090"/>
          </a:solidFill>
          <a:ln w="12700">
            <a:solidFill>
              <a:srgbClr val="028090"/>
            </a:solidFill>
            <a:prstDash val="solid"/>
          </a:ln>
        </p:spPr>
      </p:sp>
      <p:sp>
        <p:nvSpPr>
          <p:cNvPr id="62" name="Text 60"/>
          <p:cNvSpPr/>
          <p:nvPr/>
        </p:nvSpPr>
        <p:spPr>
          <a:xfrm>
            <a:off x="7351776" y="896112"/>
            <a:ext cx="530352" cy="502920"/>
          </a:xfrm>
          <a:prstGeom prst="rect">
            <a:avLst/>
          </a:prstGeom>
          <a:noFill/>
          <a:ln/>
        </p:spPr>
        <p:txBody>
          <a:bodyPr wrap="square" lIns="0" tIns="0" rIns="0" bIns="0" rtlCol="0" anchor="ctr"/>
          <a:lstStyle/>
          <a:p>
            <a:pPr algn="ctr" indent="0" marL="0">
              <a:buNone/>
            </a:pPr>
            <a:r>
              <a:rPr lang="en-US" sz="1100" b="1" dirty="0">
                <a:solidFill>
                  <a:srgbClr val="FFFFFF"/>
                </a:solidFill>
              </a:rPr>
              <a:t>B</a:t>
            </a:r>
            <a:endParaRPr lang="en-US" sz="1100" dirty="0"/>
          </a:p>
        </p:txBody>
      </p:sp>
      <p:sp>
        <p:nvSpPr>
          <p:cNvPr id="63" name="Text 61"/>
          <p:cNvSpPr/>
          <p:nvPr/>
        </p:nvSpPr>
        <p:spPr>
          <a:xfrm>
            <a:off x="7351776" y="1399032"/>
            <a:ext cx="530352" cy="502920"/>
          </a:xfrm>
          <a:prstGeom prst="rect">
            <a:avLst/>
          </a:prstGeom>
          <a:noFill/>
          <a:ln/>
        </p:spPr>
        <p:txBody>
          <a:bodyPr wrap="square" lIns="0" tIns="0" rIns="0" bIns="0" rtlCol="0" anchor="ctr"/>
          <a:lstStyle/>
          <a:p>
            <a:pPr algn="ctr" indent="0" marL="0">
              <a:buNone/>
            </a:pPr>
            <a:r>
              <a:rPr lang="en-US" sz="1100" b="1" dirty="0">
                <a:solidFill>
                  <a:srgbClr val="FFFFFF"/>
                </a:solidFill>
              </a:rPr>
              <a:t>B</a:t>
            </a:r>
            <a:endParaRPr lang="en-US" sz="1100" dirty="0"/>
          </a:p>
        </p:txBody>
      </p:sp>
      <p:sp>
        <p:nvSpPr>
          <p:cNvPr id="64" name="Text 62"/>
          <p:cNvSpPr/>
          <p:nvPr/>
        </p:nvSpPr>
        <p:spPr>
          <a:xfrm>
            <a:off x="7351776" y="1901952"/>
            <a:ext cx="530352" cy="502920"/>
          </a:xfrm>
          <a:prstGeom prst="rect">
            <a:avLst/>
          </a:prstGeom>
          <a:noFill/>
          <a:ln/>
        </p:spPr>
        <p:txBody>
          <a:bodyPr wrap="square" lIns="0" tIns="0" rIns="0" bIns="0" rtlCol="0" anchor="ctr"/>
          <a:lstStyle/>
          <a:p>
            <a:pPr algn="ctr" indent="0" marL="0">
              <a:buNone/>
            </a:pPr>
            <a:r>
              <a:rPr lang="en-US" sz="1100" b="1" dirty="0">
                <a:solidFill>
                  <a:srgbClr val="FFFFFF"/>
                </a:solidFill>
              </a:rPr>
              <a:t>H</a:t>
            </a:r>
            <a:endParaRPr lang="en-US" sz="1100" dirty="0"/>
          </a:p>
        </p:txBody>
      </p:sp>
      <p:sp>
        <p:nvSpPr>
          <p:cNvPr id="65" name="Text 63"/>
          <p:cNvSpPr/>
          <p:nvPr/>
        </p:nvSpPr>
        <p:spPr>
          <a:xfrm>
            <a:off x="7351776" y="2404872"/>
            <a:ext cx="530352" cy="502920"/>
          </a:xfrm>
          <a:prstGeom prst="rect">
            <a:avLst/>
          </a:prstGeom>
          <a:noFill/>
          <a:ln/>
        </p:spPr>
        <p:txBody>
          <a:bodyPr wrap="square" lIns="0" tIns="0" rIns="0" bIns="0" rtlCol="0" anchor="ctr"/>
          <a:lstStyle/>
          <a:p>
            <a:pPr algn="ctr" indent="0" marL="0">
              <a:buNone/>
            </a:pPr>
            <a:r>
              <a:rPr lang="en-US" sz="1100" b="1" dirty="0">
                <a:solidFill>
                  <a:srgbClr val="FFFFFF"/>
                </a:solidFill>
              </a:rPr>
              <a:t> </a:t>
            </a:r>
            <a:endParaRPr lang="en-US" sz="1100" dirty="0"/>
          </a:p>
        </p:txBody>
      </p:sp>
      <p:sp>
        <p:nvSpPr>
          <p:cNvPr id="66" name="Text 64"/>
          <p:cNvSpPr/>
          <p:nvPr/>
        </p:nvSpPr>
        <p:spPr>
          <a:xfrm>
            <a:off x="7351776" y="2907792"/>
            <a:ext cx="530352" cy="502920"/>
          </a:xfrm>
          <a:prstGeom prst="rect">
            <a:avLst/>
          </a:prstGeom>
          <a:noFill/>
          <a:ln/>
        </p:spPr>
        <p:txBody>
          <a:bodyPr wrap="square" lIns="0" tIns="0" rIns="0" bIns="0" rtlCol="0" anchor="ctr"/>
          <a:lstStyle/>
          <a:p>
            <a:pPr algn="ctr" indent="0" marL="0">
              <a:buNone/>
            </a:pPr>
            <a:r>
              <a:rPr lang="en-US" sz="1100" b="1" dirty="0">
                <a:solidFill>
                  <a:srgbClr val="FFFFFF"/>
                </a:solidFill>
              </a:rPr>
              <a:t>D</a:t>
            </a:r>
            <a:endParaRPr lang="en-US" sz="1100" dirty="0"/>
          </a:p>
        </p:txBody>
      </p:sp>
      <p:sp>
        <p:nvSpPr>
          <p:cNvPr id="67" name="Text 65"/>
          <p:cNvSpPr/>
          <p:nvPr/>
        </p:nvSpPr>
        <p:spPr>
          <a:xfrm>
            <a:off x="7351776" y="3410712"/>
            <a:ext cx="530352" cy="502920"/>
          </a:xfrm>
          <a:prstGeom prst="rect">
            <a:avLst/>
          </a:prstGeom>
          <a:noFill/>
          <a:ln/>
        </p:spPr>
        <p:txBody>
          <a:bodyPr wrap="square" lIns="0" tIns="0" rIns="0" bIns="0" rtlCol="0" anchor="ctr"/>
          <a:lstStyle/>
          <a:p>
            <a:pPr algn="ctr" indent="0" marL="0">
              <a:buNone/>
            </a:pPr>
            <a:r>
              <a:rPr lang="en-US" sz="1100" b="1" dirty="0">
                <a:solidFill>
                  <a:srgbClr val="FFFFFF"/>
                </a:solidFill>
              </a:rPr>
              <a:t>M</a:t>
            </a:r>
            <a:endParaRPr lang="en-US" sz="1100" dirty="0"/>
          </a:p>
        </p:txBody>
      </p:sp>
      <p:sp>
        <p:nvSpPr>
          <p:cNvPr id="68" name="Text 66"/>
          <p:cNvSpPr/>
          <p:nvPr/>
        </p:nvSpPr>
        <p:spPr>
          <a:xfrm>
            <a:off x="7351776" y="3913632"/>
            <a:ext cx="530352" cy="502920"/>
          </a:xfrm>
          <a:prstGeom prst="rect">
            <a:avLst/>
          </a:prstGeom>
          <a:noFill/>
          <a:ln/>
        </p:spPr>
        <p:txBody>
          <a:bodyPr wrap="square" lIns="0" tIns="0" rIns="0" bIns="0" rtlCol="0" anchor="ctr"/>
          <a:lstStyle/>
          <a:p>
            <a:pPr algn="ctr" indent="0" marL="0">
              <a:buNone/>
            </a:pPr>
            <a:r>
              <a:rPr lang="en-US" sz="1100" b="1" dirty="0">
                <a:solidFill>
                  <a:srgbClr val="FFFFFF"/>
                </a:solidFill>
              </a:rPr>
              <a:t>Z</a:t>
            </a:r>
            <a:endParaRPr lang="en-US" sz="1100" dirty="0"/>
          </a:p>
        </p:txBody>
      </p:sp>
      <p:sp>
        <p:nvSpPr>
          <p:cNvPr id="69" name="Shape 67"/>
          <p:cNvSpPr/>
          <p:nvPr/>
        </p:nvSpPr>
        <p:spPr>
          <a:xfrm>
            <a:off x="7900416" y="896112"/>
            <a:ext cx="969264" cy="3858768"/>
          </a:xfrm>
          <a:prstGeom prst="rect">
            <a:avLst/>
          </a:prstGeom>
          <a:solidFill>
            <a:srgbClr val="FFFFFF"/>
          </a:solidFill>
          <a:ln w="9525">
            <a:solidFill>
              <a:srgbClr val="E8EEF0"/>
            </a:solidFill>
            <a:prstDash val="solid"/>
          </a:ln>
        </p:spPr>
      </p:sp>
      <p:sp>
        <p:nvSpPr>
          <p:cNvPr id="70" name="Shape 68"/>
          <p:cNvSpPr/>
          <p:nvPr/>
        </p:nvSpPr>
        <p:spPr>
          <a:xfrm>
            <a:off x="7900416" y="896112"/>
            <a:ext cx="969264" cy="256032"/>
          </a:xfrm>
          <a:prstGeom prst="rect">
            <a:avLst/>
          </a:prstGeom>
          <a:solidFill>
            <a:srgbClr val="0A1628"/>
          </a:solidFill>
          <a:ln w="12700">
            <a:solidFill>
              <a:srgbClr val="0A1628"/>
            </a:solidFill>
            <a:prstDash val="solid"/>
          </a:ln>
        </p:spPr>
      </p:sp>
      <p:sp>
        <p:nvSpPr>
          <p:cNvPr id="71" name="Text 69"/>
          <p:cNvSpPr/>
          <p:nvPr/>
        </p:nvSpPr>
        <p:spPr>
          <a:xfrm>
            <a:off x="7900416" y="896112"/>
            <a:ext cx="969264" cy="256032"/>
          </a:xfrm>
          <a:prstGeom prst="rect">
            <a:avLst/>
          </a:prstGeom>
          <a:noFill/>
          <a:ln/>
        </p:spPr>
        <p:txBody>
          <a:bodyPr wrap="square" lIns="0" tIns="0" rIns="0" bIns="0" rtlCol="0" anchor="ctr"/>
          <a:lstStyle/>
          <a:p>
            <a:pPr algn="ctr" indent="0" marL="0">
              <a:buNone/>
            </a:pPr>
            <a:r>
              <a:rPr lang="en-US" sz="850" b="1" dirty="0">
                <a:solidFill>
                  <a:srgbClr val="FFFFFF"/>
                </a:solidFill>
              </a:rPr>
              <a:t>BBH</a:t>
            </a:r>
            <a:endParaRPr lang="en-US" sz="850" dirty="0"/>
          </a:p>
        </p:txBody>
      </p:sp>
      <p:sp>
        <p:nvSpPr>
          <p:cNvPr id="72" name="Shape 70"/>
          <p:cNvSpPr/>
          <p:nvPr/>
        </p:nvSpPr>
        <p:spPr>
          <a:xfrm>
            <a:off x="7955280" y="1234440"/>
            <a:ext cx="859536" cy="274320"/>
          </a:xfrm>
          <a:prstGeom prst="rect">
            <a:avLst/>
          </a:prstGeom>
          <a:solidFill>
            <a:srgbClr val="C8EAE8"/>
          </a:solidFill>
          <a:ln w="12700">
            <a:solidFill>
              <a:srgbClr val="C8EAE8"/>
            </a:solidFill>
            <a:prstDash val="solid"/>
          </a:ln>
        </p:spPr>
      </p:sp>
      <p:sp>
        <p:nvSpPr>
          <p:cNvPr id="73" name="Text 71"/>
          <p:cNvSpPr/>
          <p:nvPr/>
        </p:nvSpPr>
        <p:spPr>
          <a:xfrm>
            <a:off x="7955280" y="1234440"/>
            <a:ext cx="859536" cy="274320"/>
          </a:xfrm>
          <a:prstGeom prst="rect">
            <a:avLst/>
          </a:prstGeom>
          <a:noFill/>
          <a:ln/>
        </p:spPr>
        <p:txBody>
          <a:bodyPr wrap="square" lIns="0" tIns="0" rIns="0" bIns="0" rtlCol="0" anchor="ctr"/>
          <a:lstStyle/>
          <a:p>
            <a:pPr algn="ctr" indent="0" marL="0">
              <a:buNone/>
            </a:pPr>
            <a:r>
              <a:rPr lang="en-US" sz="750" b="1" dirty="0">
                <a:solidFill>
                  <a:srgbClr val="028090"/>
                </a:solidFill>
              </a:rPr>
              <a:t>OFX/FDX</a:t>
            </a:r>
            <a:endParaRPr lang="en-US" sz="750" dirty="0"/>
          </a:p>
        </p:txBody>
      </p:sp>
      <p:sp>
        <p:nvSpPr>
          <p:cNvPr id="74" name="Shape 72"/>
          <p:cNvSpPr/>
          <p:nvPr/>
        </p:nvSpPr>
        <p:spPr>
          <a:xfrm>
            <a:off x="7955280" y="1591056"/>
            <a:ext cx="859536" cy="274320"/>
          </a:xfrm>
          <a:prstGeom prst="rect">
            <a:avLst/>
          </a:prstGeom>
          <a:solidFill>
            <a:srgbClr val="E8EEF0"/>
          </a:solidFill>
          <a:ln w="12700">
            <a:solidFill>
              <a:srgbClr val="E8EEF0"/>
            </a:solidFill>
            <a:prstDash val="solid"/>
          </a:ln>
        </p:spPr>
      </p:sp>
      <p:sp>
        <p:nvSpPr>
          <p:cNvPr id="75" name="Text 73"/>
          <p:cNvSpPr/>
          <p:nvPr/>
        </p:nvSpPr>
        <p:spPr>
          <a:xfrm>
            <a:off x="7955280" y="1591056"/>
            <a:ext cx="859536" cy="274320"/>
          </a:xfrm>
          <a:prstGeom prst="rect">
            <a:avLst/>
          </a:prstGeom>
          <a:noFill/>
          <a:ln/>
        </p:spPr>
        <p:txBody>
          <a:bodyPr wrap="square" lIns="0" tIns="0" rIns="0" bIns="0" rtlCol="0" anchor="ctr"/>
          <a:lstStyle/>
          <a:p>
            <a:pPr algn="ctr" indent="0" marL="0">
              <a:buNone/>
            </a:pPr>
            <a:r>
              <a:rPr lang="en-US" sz="750" b="1" dirty="0">
                <a:solidFill>
                  <a:srgbClr val="0A1628"/>
                </a:solidFill>
              </a:rPr>
              <a:t>CP Services</a:t>
            </a:r>
            <a:endParaRPr lang="en-US" sz="750" dirty="0"/>
          </a:p>
        </p:txBody>
      </p:sp>
      <p:sp>
        <p:nvSpPr>
          <p:cNvPr id="76" name="Shape 74"/>
          <p:cNvSpPr/>
          <p:nvPr/>
        </p:nvSpPr>
        <p:spPr>
          <a:xfrm>
            <a:off x="7955280" y="1947672"/>
            <a:ext cx="859536" cy="274320"/>
          </a:xfrm>
          <a:prstGeom prst="rect">
            <a:avLst/>
          </a:prstGeom>
          <a:solidFill>
            <a:srgbClr val="E8EEF0"/>
          </a:solidFill>
          <a:ln w="12700">
            <a:solidFill>
              <a:srgbClr val="E8EEF0"/>
            </a:solidFill>
            <a:prstDash val="solid"/>
          </a:ln>
        </p:spPr>
      </p:sp>
      <p:sp>
        <p:nvSpPr>
          <p:cNvPr id="77" name="Text 75"/>
          <p:cNvSpPr/>
          <p:nvPr/>
        </p:nvSpPr>
        <p:spPr>
          <a:xfrm>
            <a:off x="7955280" y="1947672"/>
            <a:ext cx="859536" cy="274320"/>
          </a:xfrm>
          <a:prstGeom prst="rect">
            <a:avLst/>
          </a:prstGeom>
          <a:noFill/>
          <a:ln/>
        </p:spPr>
        <p:txBody>
          <a:bodyPr wrap="square" lIns="0" tIns="0" rIns="0" bIns="0" rtlCol="0" anchor="ctr"/>
          <a:lstStyle/>
          <a:p>
            <a:pPr algn="ctr" indent="0" marL="0">
              <a:buNone/>
            </a:pPr>
            <a:r>
              <a:rPr lang="en-US" sz="750" b="1" dirty="0">
                <a:solidFill>
                  <a:srgbClr val="0A1628"/>
                </a:solidFill>
              </a:rPr>
              <a:t>Services</a:t>
            </a:r>
            <a:endParaRPr lang="en-US" sz="750" dirty="0"/>
          </a:p>
        </p:txBody>
      </p:sp>
      <p:sp>
        <p:nvSpPr>
          <p:cNvPr id="78" name="Shape 76"/>
          <p:cNvSpPr/>
          <p:nvPr/>
        </p:nvSpPr>
        <p:spPr>
          <a:xfrm>
            <a:off x="7955280" y="2359152"/>
            <a:ext cx="859536" cy="274320"/>
          </a:xfrm>
          <a:prstGeom prst="ellipse">
            <a:avLst/>
          </a:prstGeom>
          <a:solidFill>
            <a:srgbClr val="00A896"/>
          </a:solidFill>
          <a:ln w="12700">
            <a:solidFill>
              <a:srgbClr val="00A896"/>
            </a:solidFill>
            <a:prstDash val="solid"/>
          </a:ln>
        </p:spPr>
      </p:sp>
      <p:sp>
        <p:nvSpPr>
          <p:cNvPr id="79" name="Text 77"/>
          <p:cNvSpPr/>
          <p:nvPr/>
        </p:nvSpPr>
        <p:spPr>
          <a:xfrm>
            <a:off x="7955280" y="2359152"/>
            <a:ext cx="859536" cy="274320"/>
          </a:xfrm>
          <a:prstGeom prst="rect">
            <a:avLst/>
          </a:prstGeom>
          <a:noFill/>
          <a:ln/>
        </p:spPr>
        <p:txBody>
          <a:bodyPr wrap="square" lIns="0" tIns="0" rIns="0" bIns="0" rtlCol="0" anchor="ctr"/>
          <a:lstStyle/>
          <a:p>
            <a:pPr algn="ctr" indent="0" marL="0">
              <a:buNone/>
            </a:pPr>
            <a:r>
              <a:rPr lang="en-US" sz="700" dirty="0">
                <a:solidFill>
                  <a:srgbClr val="FFFFFF"/>
                </a:solidFill>
              </a:rPr>
              <a:t>PB DataWarehouse</a:t>
            </a:r>
            <a:endParaRPr lang="en-US" sz="700" dirty="0"/>
          </a:p>
        </p:txBody>
      </p:sp>
      <p:sp>
        <p:nvSpPr>
          <p:cNvPr id="80" name="Shape 78"/>
          <p:cNvSpPr/>
          <p:nvPr/>
        </p:nvSpPr>
        <p:spPr>
          <a:xfrm>
            <a:off x="7955280" y="2743200"/>
            <a:ext cx="859536" cy="274320"/>
          </a:xfrm>
          <a:prstGeom prst="ellipse">
            <a:avLst/>
          </a:prstGeom>
          <a:solidFill>
            <a:srgbClr val="00A896"/>
          </a:solidFill>
          <a:ln w="12700">
            <a:solidFill>
              <a:srgbClr val="00A896"/>
            </a:solidFill>
            <a:prstDash val="solid"/>
          </a:ln>
        </p:spPr>
      </p:sp>
      <p:sp>
        <p:nvSpPr>
          <p:cNvPr id="81" name="Text 79"/>
          <p:cNvSpPr/>
          <p:nvPr/>
        </p:nvSpPr>
        <p:spPr>
          <a:xfrm>
            <a:off x="7955280" y="2743200"/>
            <a:ext cx="859536" cy="274320"/>
          </a:xfrm>
          <a:prstGeom prst="rect">
            <a:avLst/>
          </a:prstGeom>
          <a:noFill/>
          <a:ln/>
        </p:spPr>
        <p:txBody>
          <a:bodyPr wrap="square" lIns="0" tIns="0" rIns="0" bIns="0" rtlCol="0" anchor="ctr"/>
          <a:lstStyle/>
          <a:p>
            <a:pPr algn="ctr" indent="0" marL="0">
              <a:buNone/>
            </a:pPr>
            <a:r>
              <a:rPr lang="en-US" sz="700" dirty="0">
                <a:solidFill>
                  <a:srgbClr val="FFFFFF"/>
                </a:solidFill>
              </a:rPr>
              <a:t>IM Datastore</a:t>
            </a:r>
            <a:endParaRPr lang="en-US" sz="700" dirty="0"/>
          </a:p>
        </p:txBody>
      </p:sp>
      <p:sp>
        <p:nvSpPr>
          <p:cNvPr id="82" name="Shape 80"/>
          <p:cNvSpPr/>
          <p:nvPr/>
        </p:nvSpPr>
        <p:spPr>
          <a:xfrm>
            <a:off x="7955280" y="3127248"/>
            <a:ext cx="859536" cy="274320"/>
          </a:xfrm>
          <a:prstGeom prst="ellipse">
            <a:avLst/>
          </a:prstGeom>
          <a:solidFill>
            <a:srgbClr val="00A896"/>
          </a:solidFill>
          <a:ln w="12700">
            <a:solidFill>
              <a:srgbClr val="00A896"/>
            </a:solidFill>
            <a:prstDash val="solid"/>
          </a:ln>
        </p:spPr>
      </p:sp>
      <p:sp>
        <p:nvSpPr>
          <p:cNvPr id="83" name="Text 81"/>
          <p:cNvSpPr/>
          <p:nvPr/>
        </p:nvSpPr>
        <p:spPr>
          <a:xfrm>
            <a:off x="7955280" y="3127248"/>
            <a:ext cx="859536" cy="274320"/>
          </a:xfrm>
          <a:prstGeom prst="rect">
            <a:avLst/>
          </a:prstGeom>
          <a:noFill/>
          <a:ln/>
        </p:spPr>
        <p:txBody>
          <a:bodyPr wrap="square" lIns="0" tIns="0" rIns="0" bIns="0" rtlCol="0" anchor="ctr"/>
          <a:lstStyle/>
          <a:p>
            <a:pPr algn="ctr" indent="0" marL="0">
              <a:buNone/>
            </a:pPr>
            <a:r>
              <a:rPr lang="en-US" sz="700" dirty="0">
                <a:solidFill>
                  <a:srgbClr val="FFFFFF"/>
                </a:solidFill>
              </a:rPr>
              <a:t>BBH DataStore</a:t>
            </a:r>
            <a:endParaRPr lang="en-US" sz="700" dirty="0"/>
          </a:p>
        </p:txBody>
      </p:sp>
      <p:sp>
        <p:nvSpPr>
          <p:cNvPr id="84" name="Shape 82"/>
          <p:cNvSpPr/>
          <p:nvPr/>
        </p:nvSpPr>
        <p:spPr>
          <a:xfrm>
            <a:off x="0" y="4864608"/>
            <a:ext cx="9144000" cy="278892"/>
          </a:xfrm>
          <a:prstGeom prst="rect">
            <a:avLst/>
          </a:prstGeom>
          <a:solidFill>
            <a:srgbClr val="0A1628"/>
          </a:solidFill>
          <a:ln w="12700">
            <a:solidFill>
              <a:srgbClr val="0A1628"/>
            </a:solidFill>
            <a:prstDash val="solid"/>
          </a:ln>
        </p:spPr>
      </p:sp>
      <p:sp>
        <p:nvSpPr>
          <p:cNvPr id="85" name="Text 83"/>
          <p:cNvSpPr/>
          <p:nvPr/>
        </p:nvSpPr>
        <p:spPr>
          <a:xfrm>
            <a:off x="320040" y="4878324"/>
            <a:ext cx="7772400" cy="237744"/>
          </a:xfrm>
          <a:prstGeom prst="rect">
            <a:avLst/>
          </a:prstGeom>
          <a:noFill/>
          <a:ln/>
        </p:spPr>
        <p:txBody>
          <a:bodyPr wrap="square" rtlCol="0" anchor="ctr"/>
          <a:lstStyle/>
          <a:p>
            <a:pPr indent="0" marL="0">
              <a:buNone/>
            </a:pPr>
            <a:r>
              <a:rPr lang="en-US" sz="850" dirty="0">
                <a:solidFill>
                  <a:srgbClr val="8FA3A8"/>
                </a:solidFill>
              </a:rPr>
              <a:t>BBH × Plaid | Architecture Review Board | Confidential &amp; Proprietary</a:t>
            </a:r>
            <a:endParaRPr lang="en-US" sz="850" dirty="0"/>
          </a:p>
        </p:txBody>
      </p:sp>
      <p:sp>
        <p:nvSpPr>
          <p:cNvPr id="86" name="Text 84"/>
          <p:cNvSpPr/>
          <p:nvPr/>
        </p:nvSpPr>
        <p:spPr>
          <a:xfrm>
            <a:off x="8503920" y="4878324"/>
            <a:ext cx="457200" cy="237744"/>
          </a:xfrm>
          <a:prstGeom prst="rect">
            <a:avLst/>
          </a:prstGeom>
          <a:noFill/>
          <a:ln/>
        </p:spPr>
        <p:txBody>
          <a:bodyPr wrap="square" rtlCol="0" anchor="ctr"/>
          <a:lstStyle/>
          <a:p>
            <a:pPr algn="r" indent="0" marL="0">
              <a:buNone/>
            </a:pPr>
            <a:r>
              <a:rPr lang="en-US" sz="850" dirty="0">
                <a:solidFill>
                  <a:srgbClr val="8FA3A8"/>
                </a:solidFill>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9"/>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A1628"/>
          </a:solidFill>
          <a:ln w="12700">
            <a:solidFill>
              <a:srgbClr val="0A1628"/>
            </a:solidFill>
            <a:prstDash val="solid"/>
          </a:ln>
        </p:spPr>
      </p:sp>
      <p:sp>
        <p:nvSpPr>
          <p:cNvPr id="3" name="Shape 1"/>
          <p:cNvSpPr/>
          <p:nvPr/>
        </p:nvSpPr>
        <p:spPr>
          <a:xfrm>
            <a:off x="0" y="749808"/>
            <a:ext cx="9144000" cy="54864"/>
          </a:xfrm>
          <a:prstGeom prst="rect">
            <a:avLst/>
          </a:prstGeom>
          <a:solidFill>
            <a:srgbClr val="028090"/>
          </a:solidFill>
          <a:ln w="12700">
            <a:solidFill>
              <a:srgbClr val="028090"/>
            </a:solidFill>
            <a:prstDash val="solid"/>
          </a:ln>
        </p:spPr>
      </p:sp>
      <p:sp>
        <p:nvSpPr>
          <p:cNvPr id="4" name="Text 2"/>
          <p:cNvSpPr/>
          <p:nvPr/>
        </p:nvSpPr>
        <p:spPr>
          <a:xfrm>
            <a:off x="365760" y="0"/>
            <a:ext cx="8595360" cy="7498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Integration Flow — OAuth 2.0 &amp; Token Exchange</a:t>
            </a:r>
            <a:endParaRPr lang="en-US" sz="2200" dirty="0"/>
          </a:p>
        </p:txBody>
      </p:sp>
      <p:sp>
        <p:nvSpPr>
          <p:cNvPr id="5" name="Shape 3"/>
          <p:cNvSpPr/>
          <p:nvPr/>
        </p:nvSpPr>
        <p:spPr>
          <a:xfrm>
            <a:off x="274320" y="896112"/>
            <a:ext cx="8595360" cy="1115568"/>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6" name="Shape 4"/>
          <p:cNvSpPr/>
          <p:nvPr/>
        </p:nvSpPr>
        <p:spPr>
          <a:xfrm>
            <a:off x="274320" y="896112"/>
            <a:ext cx="8595360" cy="256032"/>
          </a:xfrm>
          <a:prstGeom prst="rect">
            <a:avLst/>
          </a:prstGeom>
          <a:solidFill>
            <a:srgbClr val="028090"/>
          </a:solidFill>
          <a:ln w="12700">
            <a:solidFill>
              <a:srgbClr val="028090"/>
            </a:solidFill>
            <a:prstDash val="solid"/>
          </a:ln>
        </p:spPr>
      </p:sp>
      <p:sp>
        <p:nvSpPr>
          <p:cNvPr id="7" name="Text 5"/>
          <p:cNvSpPr/>
          <p:nvPr/>
        </p:nvSpPr>
        <p:spPr>
          <a:xfrm>
            <a:off x="274320" y="896112"/>
            <a:ext cx="8595360" cy="256032"/>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PHASE 1 — AUTHENTICATION FLOW</a:t>
            </a:r>
            <a:endParaRPr lang="en-US" sz="950" dirty="0"/>
          </a:p>
        </p:txBody>
      </p:sp>
      <p:sp>
        <p:nvSpPr>
          <p:cNvPr id="8" name="Shape 6"/>
          <p:cNvSpPr/>
          <p:nvPr/>
        </p:nvSpPr>
        <p:spPr>
          <a:xfrm>
            <a:off x="438912" y="1225296"/>
            <a:ext cx="292608" cy="292608"/>
          </a:xfrm>
          <a:prstGeom prst="ellipse">
            <a:avLst/>
          </a:prstGeom>
          <a:solidFill>
            <a:srgbClr val="028090"/>
          </a:solidFill>
          <a:ln w="12700">
            <a:solidFill>
              <a:srgbClr val="028090"/>
            </a:solidFill>
            <a:prstDash val="solid"/>
          </a:ln>
        </p:spPr>
      </p:sp>
      <p:sp>
        <p:nvSpPr>
          <p:cNvPr id="9" name="Text 7"/>
          <p:cNvSpPr/>
          <p:nvPr/>
        </p:nvSpPr>
        <p:spPr>
          <a:xfrm>
            <a:off x="438912" y="122529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rPr>
              <a:t>1</a:t>
            </a:r>
            <a:endParaRPr lang="en-US" sz="1000" dirty="0"/>
          </a:p>
        </p:txBody>
      </p:sp>
      <p:sp>
        <p:nvSpPr>
          <p:cNvPr id="10" name="Text 8"/>
          <p:cNvSpPr/>
          <p:nvPr/>
        </p:nvSpPr>
        <p:spPr>
          <a:xfrm>
            <a:off x="786384" y="1225296"/>
            <a:ext cx="2377440" cy="201168"/>
          </a:xfrm>
          <a:prstGeom prst="rect">
            <a:avLst/>
          </a:prstGeom>
          <a:noFill/>
          <a:ln/>
        </p:spPr>
        <p:txBody>
          <a:bodyPr wrap="square" rtlCol="0" anchor="ctr"/>
          <a:lstStyle/>
          <a:p>
            <a:pPr indent="0" marL="0">
              <a:buNone/>
            </a:pPr>
            <a:r>
              <a:rPr lang="en-US" sz="950" b="1" dirty="0">
                <a:solidFill>
                  <a:srgbClr val="0A1628"/>
                </a:solidFill>
                <a:latin typeface="Calibri" pitchFamily="34" charset="0"/>
                <a:ea typeface="Calibri" pitchFamily="34" charset="-122"/>
                <a:cs typeface="Calibri" pitchFamily="34" charset="-120"/>
              </a:rPr>
              <a:t>User Initiates</a:t>
            </a:r>
            <a:endParaRPr lang="en-US" sz="950" dirty="0"/>
          </a:p>
        </p:txBody>
      </p:sp>
      <p:sp>
        <p:nvSpPr>
          <p:cNvPr id="11" name="Text 9"/>
          <p:cNvSpPr/>
          <p:nvPr/>
        </p:nvSpPr>
        <p:spPr>
          <a:xfrm>
            <a:off x="786384" y="1435608"/>
            <a:ext cx="2377440" cy="274320"/>
          </a:xfrm>
          <a:prstGeom prst="rect">
            <a:avLst/>
          </a:prstGeom>
          <a:noFill/>
          <a:ln/>
        </p:spPr>
        <p:txBody>
          <a:bodyPr wrap="square" rtlCol="0" anchor="ctr"/>
          <a:lstStyle/>
          <a:p>
            <a:pPr indent="0" marL="0">
              <a:buNone/>
            </a:pPr>
            <a:r>
              <a:rPr lang="en-US" sz="850" dirty="0">
                <a:solidFill>
                  <a:srgbClr val="3D5260"/>
                </a:solidFill>
                <a:latin typeface="Calibri" pitchFamily="34" charset="0"/>
                <a:ea typeface="Calibri" pitchFamily="34" charset="-122"/>
                <a:cs typeface="Calibri" pitchFamily="34" charset="-120"/>
              </a:rPr>
              <a:t>Client selects a financial institution via fintech app (Addepar, Chime, etc.)</a:t>
            </a:r>
            <a:endParaRPr lang="en-US" sz="850" dirty="0"/>
          </a:p>
        </p:txBody>
      </p:sp>
      <p:sp>
        <p:nvSpPr>
          <p:cNvPr id="12" name="Text 10"/>
          <p:cNvSpPr/>
          <p:nvPr/>
        </p:nvSpPr>
        <p:spPr>
          <a:xfrm>
            <a:off x="3035808" y="1280160"/>
            <a:ext cx="310896" cy="237744"/>
          </a:xfrm>
          <a:prstGeom prst="rect">
            <a:avLst/>
          </a:prstGeom>
          <a:noFill/>
          <a:ln/>
        </p:spPr>
        <p:txBody>
          <a:bodyPr wrap="square" rtlCol="0" anchor="ctr"/>
          <a:lstStyle/>
          <a:p>
            <a:pPr algn="ctr" indent="0" marL="0">
              <a:buNone/>
            </a:pPr>
            <a:r>
              <a:rPr lang="en-US" sz="1400" dirty="0">
                <a:solidFill>
                  <a:srgbClr val="028090"/>
                </a:solidFill>
              </a:rPr>
              <a:t>→</a:t>
            </a:r>
            <a:endParaRPr lang="en-US" sz="1400" dirty="0"/>
          </a:p>
        </p:txBody>
      </p:sp>
      <p:sp>
        <p:nvSpPr>
          <p:cNvPr id="13" name="Shape 11"/>
          <p:cNvSpPr/>
          <p:nvPr/>
        </p:nvSpPr>
        <p:spPr>
          <a:xfrm>
            <a:off x="3310128" y="1225296"/>
            <a:ext cx="292608" cy="292608"/>
          </a:xfrm>
          <a:prstGeom prst="ellipse">
            <a:avLst/>
          </a:prstGeom>
          <a:solidFill>
            <a:srgbClr val="028090"/>
          </a:solidFill>
          <a:ln w="12700">
            <a:solidFill>
              <a:srgbClr val="028090"/>
            </a:solidFill>
            <a:prstDash val="solid"/>
          </a:ln>
        </p:spPr>
      </p:sp>
      <p:sp>
        <p:nvSpPr>
          <p:cNvPr id="14" name="Text 12"/>
          <p:cNvSpPr/>
          <p:nvPr/>
        </p:nvSpPr>
        <p:spPr>
          <a:xfrm>
            <a:off x="3310128" y="122529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5" name="Text 13"/>
          <p:cNvSpPr/>
          <p:nvPr/>
        </p:nvSpPr>
        <p:spPr>
          <a:xfrm>
            <a:off x="3657600" y="1225296"/>
            <a:ext cx="2377440" cy="201168"/>
          </a:xfrm>
          <a:prstGeom prst="rect">
            <a:avLst/>
          </a:prstGeom>
          <a:noFill/>
          <a:ln/>
        </p:spPr>
        <p:txBody>
          <a:bodyPr wrap="square" rtlCol="0" anchor="ctr"/>
          <a:lstStyle/>
          <a:p>
            <a:pPr indent="0" marL="0">
              <a:buNone/>
            </a:pPr>
            <a:r>
              <a:rPr lang="en-US" sz="950" b="1" dirty="0">
                <a:solidFill>
                  <a:srgbClr val="0A1628"/>
                </a:solidFill>
                <a:latin typeface="Calibri" pitchFamily="34" charset="0"/>
                <a:ea typeface="Calibri" pitchFamily="34" charset="-122"/>
                <a:cs typeface="Calibri" pitchFamily="34" charset="-120"/>
              </a:rPr>
              <a:t>OAuth Redirect (Preferred)</a:t>
            </a:r>
            <a:endParaRPr lang="en-US" sz="950" dirty="0"/>
          </a:p>
        </p:txBody>
      </p:sp>
      <p:sp>
        <p:nvSpPr>
          <p:cNvPr id="16" name="Text 14"/>
          <p:cNvSpPr/>
          <p:nvPr/>
        </p:nvSpPr>
        <p:spPr>
          <a:xfrm>
            <a:off x="3657600" y="1435608"/>
            <a:ext cx="2377440" cy="274320"/>
          </a:xfrm>
          <a:prstGeom prst="rect">
            <a:avLst/>
          </a:prstGeom>
          <a:noFill/>
          <a:ln/>
        </p:spPr>
        <p:txBody>
          <a:bodyPr wrap="square" rtlCol="0" anchor="ctr"/>
          <a:lstStyle/>
          <a:p>
            <a:pPr indent="0" marL="0">
              <a:buNone/>
            </a:pPr>
            <a:r>
              <a:rPr lang="en-US" sz="850" dirty="0">
                <a:solidFill>
                  <a:srgbClr val="3D5260"/>
                </a:solidFill>
                <a:latin typeface="Calibri" pitchFamily="34" charset="0"/>
                <a:ea typeface="Calibri" pitchFamily="34" charset="-122"/>
                <a:cs typeface="Calibri" pitchFamily="34" charset="-120"/>
              </a:rPr>
              <a:t>User redirected to their bank's own login page. No credentials enter the fintech app.</a:t>
            </a:r>
            <a:endParaRPr lang="en-US" sz="850" dirty="0"/>
          </a:p>
        </p:txBody>
      </p:sp>
      <p:sp>
        <p:nvSpPr>
          <p:cNvPr id="17" name="Text 15"/>
          <p:cNvSpPr/>
          <p:nvPr/>
        </p:nvSpPr>
        <p:spPr>
          <a:xfrm>
            <a:off x="5907024" y="1280160"/>
            <a:ext cx="310896" cy="237744"/>
          </a:xfrm>
          <a:prstGeom prst="rect">
            <a:avLst/>
          </a:prstGeom>
          <a:noFill/>
          <a:ln/>
        </p:spPr>
        <p:txBody>
          <a:bodyPr wrap="square" rtlCol="0" anchor="ctr"/>
          <a:lstStyle/>
          <a:p>
            <a:pPr algn="ctr" indent="0" marL="0">
              <a:buNone/>
            </a:pPr>
            <a:r>
              <a:rPr lang="en-US" sz="1400" dirty="0">
                <a:solidFill>
                  <a:srgbClr val="028090"/>
                </a:solidFill>
              </a:rPr>
              <a:t>→</a:t>
            </a:r>
            <a:endParaRPr lang="en-US" sz="1400" dirty="0"/>
          </a:p>
        </p:txBody>
      </p:sp>
      <p:sp>
        <p:nvSpPr>
          <p:cNvPr id="18" name="Shape 16"/>
          <p:cNvSpPr/>
          <p:nvPr/>
        </p:nvSpPr>
        <p:spPr>
          <a:xfrm>
            <a:off x="6181344" y="1225296"/>
            <a:ext cx="292608" cy="292608"/>
          </a:xfrm>
          <a:prstGeom prst="ellipse">
            <a:avLst/>
          </a:prstGeom>
          <a:solidFill>
            <a:srgbClr val="028090"/>
          </a:solidFill>
          <a:ln w="12700">
            <a:solidFill>
              <a:srgbClr val="028090"/>
            </a:solidFill>
            <a:prstDash val="solid"/>
          </a:ln>
        </p:spPr>
      </p:sp>
      <p:sp>
        <p:nvSpPr>
          <p:cNvPr id="19" name="Text 17"/>
          <p:cNvSpPr/>
          <p:nvPr/>
        </p:nvSpPr>
        <p:spPr>
          <a:xfrm>
            <a:off x="6181344" y="122529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20" name="Text 18"/>
          <p:cNvSpPr/>
          <p:nvPr/>
        </p:nvSpPr>
        <p:spPr>
          <a:xfrm>
            <a:off x="6528816" y="1225296"/>
            <a:ext cx="2377440" cy="201168"/>
          </a:xfrm>
          <a:prstGeom prst="rect">
            <a:avLst/>
          </a:prstGeom>
          <a:noFill/>
          <a:ln/>
        </p:spPr>
        <p:txBody>
          <a:bodyPr wrap="square" rtlCol="0" anchor="ctr"/>
          <a:lstStyle/>
          <a:p>
            <a:pPr indent="0" marL="0">
              <a:buNone/>
            </a:pPr>
            <a:r>
              <a:rPr lang="en-US" sz="950" b="1" dirty="0">
                <a:solidFill>
                  <a:srgbClr val="0A1628"/>
                </a:solidFill>
                <a:latin typeface="Calibri" pitchFamily="34" charset="0"/>
                <a:ea typeface="Calibri" pitchFamily="34" charset="-122"/>
                <a:cs typeface="Calibri" pitchFamily="34" charset="-120"/>
              </a:rPr>
              <a:t>Instant Auth (Fallback)</a:t>
            </a:r>
            <a:endParaRPr lang="en-US" sz="950" dirty="0"/>
          </a:p>
        </p:txBody>
      </p:sp>
      <p:sp>
        <p:nvSpPr>
          <p:cNvPr id="21" name="Text 19"/>
          <p:cNvSpPr/>
          <p:nvPr/>
        </p:nvSpPr>
        <p:spPr>
          <a:xfrm>
            <a:off x="6528816" y="1435608"/>
            <a:ext cx="2377440" cy="274320"/>
          </a:xfrm>
          <a:prstGeom prst="rect">
            <a:avLst/>
          </a:prstGeom>
          <a:noFill/>
          <a:ln/>
        </p:spPr>
        <p:txBody>
          <a:bodyPr wrap="square" rtlCol="0" anchor="ctr"/>
          <a:lstStyle/>
          <a:p>
            <a:pPr indent="0" marL="0">
              <a:buNone/>
            </a:pPr>
            <a:r>
              <a:rPr lang="en-US" sz="850" dirty="0">
                <a:solidFill>
                  <a:srgbClr val="3D5260"/>
                </a:solidFill>
                <a:latin typeface="Calibri" pitchFamily="34" charset="0"/>
                <a:ea typeface="Calibri" pitchFamily="34" charset="-122"/>
                <a:cs typeface="Calibri" pitchFamily="34" charset="-120"/>
              </a:rPr>
              <a:t>If OAuth unavailable, encrypted Plaid Link captures credentials — never stored.</a:t>
            </a:r>
            <a:endParaRPr lang="en-US" sz="850" dirty="0"/>
          </a:p>
        </p:txBody>
      </p:sp>
      <p:sp>
        <p:nvSpPr>
          <p:cNvPr id="22" name="Shape 20"/>
          <p:cNvSpPr/>
          <p:nvPr/>
        </p:nvSpPr>
        <p:spPr>
          <a:xfrm>
            <a:off x="274320" y="2103120"/>
            <a:ext cx="8595360" cy="1115568"/>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23" name="Shape 21"/>
          <p:cNvSpPr/>
          <p:nvPr/>
        </p:nvSpPr>
        <p:spPr>
          <a:xfrm>
            <a:off x="274320" y="2103120"/>
            <a:ext cx="8595360" cy="256032"/>
          </a:xfrm>
          <a:prstGeom prst="rect">
            <a:avLst/>
          </a:prstGeom>
          <a:solidFill>
            <a:srgbClr val="00A896"/>
          </a:solidFill>
          <a:ln w="12700">
            <a:solidFill>
              <a:srgbClr val="00A896"/>
            </a:solidFill>
            <a:prstDash val="solid"/>
          </a:ln>
        </p:spPr>
      </p:sp>
      <p:sp>
        <p:nvSpPr>
          <p:cNvPr id="24" name="Text 22"/>
          <p:cNvSpPr/>
          <p:nvPr/>
        </p:nvSpPr>
        <p:spPr>
          <a:xfrm>
            <a:off x="274320" y="2103120"/>
            <a:ext cx="8595360" cy="256032"/>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PHASE 2 — TOKEN EXCHANGE PROCESS</a:t>
            </a:r>
            <a:endParaRPr lang="en-US" sz="950" dirty="0"/>
          </a:p>
        </p:txBody>
      </p:sp>
      <p:sp>
        <p:nvSpPr>
          <p:cNvPr id="25" name="Shape 23"/>
          <p:cNvSpPr/>
          <p:nvPr/>
        </p:nvSpPr>
        <p:spPr>
          <a:xfrm>
            <a:off x="438912" y="2432304"/>
            <a:ext cx="292608" cy="292608"/>
          </a:xfrm>
          <a:prstGeom prst="ellipse">
            <a:avLst/>
          </a:prstGeom>
          <a:solidFill>
            <a:srgbClr val="00A896"/>
          </a:solidFill>
          <a:ln w="12700">
            <a:solidFill>
              <a:srgbClr val="00A896"/>
            </a:solidFill>
            <a:prstDash val="solid"/>
          </a:ln>
        </p:spPr>
      </p:sp>
      <p:sp>
        <p:nvSpPr>
          <p:cNvPr id="26" name="Text 24"/>
          <p:cNvSpPr/>
          <p:nvPr/>
        </p:nvSpPr>
        <p:spPr>
          <a:xfrm>
            <a:off x="438912" y="243230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rPr>
              <a:t>1</a:t>
            </a:r>
            <a:endParaRPr lang="en-US" sz="1000" dirty="0"/>
          </a:p>
        </p:txBody>
      </p:sp>
      <p:sp>
        <p:nvSpPr>
          <p:cNvPr id="27" name="Text 25"/>
          <p:cNvSpPr/>
          <p:nvPr/>
        </p:nvSpPr>
        <p:spPr>
          <a:xfrm>
            <a:off x="786384" y="2432304"/>
            <a:ext cx="2377440" cy="201168"/>
          </a:xfrm>
          <a:prstGeom prst="rect">
            <a:avLst/>
          </a:prstGeom>
          <a:noFill/>
          <a:ln/>
        </p:spPr>
        <p:txBody>
          <a:bodyPr wrap="square" rtlCol="0" anchor="ctr"/>
          <a:lstStyle/>
          <a:p>
            <a:pPr indent="0" marL="0">
              <a:buNone/>
            </a:pPr>
            <a:r>
              <a:rPr lang="en-US" sz="950" b="1" dirty="0">
                <a:solidFill>
                  <a:srgbClr val="0A1628"/>
                </a:solidFill>
                <a:latin typeface="Calibri" pitchFamily="34" charset="0"/>
                <a:ea typeface="Calibri" pitchFamily="34" charset="-122"/>
                <a:cs typeface="Calibri" pitchFamily="34" charset="-120"/>
              </a:rPr>
              <a:t>Public Token Issued</a:t>
            </a:r>
            <a:endParaRPr lang="en-US" sz="950" dirty="0"/>
          </a:p>
        </p:txBody>
      </p:sp>
      <p:sp>
        <p:nvSpPr>
          <p:cNvPr id="28" name="Text 26"/>
          <p:cNvSpPr/>
          <p:nvPr/>
        </p:nvSpPr>
        <p:spPr>
          <a:xfrm>
            <a:off x="786384" y="2642616"/>
            <a:ext cx="2377440" cy="274320"/>
          </a:xfrm>
          <a:prstGeom prst="rect">
            <a:avLst/>
          </a:prstGeom>
          <a:noFill/>
          <a:ln/>
        </p:spPr>
        <p:txBody>
          <a:bodyPr wrap="square" rtlCol="0" anchor="ctr"/>
          <a:lstStyle/>
          <a:p>
            <a:pPr indent="0" marL="0">
              <a:buNone/>
            </a:pPr>
            <a:r>
              <a:rPr lang="en-US" sz="850" dirty="0">
                <a:solidFill>
                  <a:srgbClr val="3D5260"/>
                </a:solidFill>
                <a:latin typeface="Calibri" pitchFamily="34" charset="0"/>
                <a:ea typeface="Calibri" pitchFamily="34" charset="-122"/>
                <a:cs typeface="Calibri" pitchFamily="34" charset="-120"/>
              </a:rPr>
              <a:t>Plaid Link returns a temporary public_token after successful authentication.</a:t>
            </a:r>
            <a:endParaRPr lang="en-US" sz="850" dirty="0"/>
          </a:p>
        </p:txBody>
      </p:sp>
      <p:sp>
        <p:nvSpPr>
          <p:cNvPr id="29" name="Text 27"/>
          <p:cNvSpPr/>
          <p:nvPr/>
        </p:nvSpPr>
        <p:spPr>
          <a:xfrm>
            <a:off x="3035808" y="2487168"/>
            <a:ext cx="310896" cy="237744"/>
          </a:xfrm>
          <a:prstGeom prst="rect">
            <a:avLst/>
          </a:prstGeom>
          <a:noFill/>
          <a:ln/>
        </p:spPr>
        <p:txBody>
          <a:bodyPr wrap="square" rtlCol="0" anchor="ctr"/>
          <a:lstStyle/>
          <a:p>
            <a:pPr algn="ctr" indent="0" marL="0">
              <a:buNone/>
            </a:pPr>
            <a:r>
              <a:rPr lang="en-US" sz="1400" dirty="0">
                <a:solidFill>
                  <a:srgbClr val="00A896"/>
                </a:solidFill>
              </a:rPr>
              <a:t>→</a:t>
            </a:r>
            <a:endParaRPr lang="en-US" sz="1400" dirty="0"/>
          </a:p>
        </p:txBody>
      </p:sp>
      <p:sp>
        <p:nvSpPr>
          <p:cNvPr id="30" name="Shape 28"/>
          <p:cNvSpPr/>
          <p:nvPr/>
        </p:nvSpPr>
        <p:spPr>
          <a:xfrm>
            <a:off x="3310128" y="2432304"/>
            <a:ext cx="292608" cy="292608"/>
          </a:xfrm>
          <a:prstGeom prst="ellipse">
            <a:avLst/>
          </a:prstGeom>
          <a:solidFill>
            <a:srgbClr val="00A896"/>
          </a:solidFill>
          <a:ln w="12700">
            <a:solidFill>
              <a:srgbClr val="00A896"/>
            </a:solidFill>
            <a:prstDash val="solid"/>
          </a:ln>
        </p:spPr>
      </p:sp>
      <p:sp>
        <p:nvSpPr>
          <p:cNvPr id="31" name="Text 29"/>
          <p:cNvSpPr/>
          <p:nvPr/>
        </p:nvSpPr>
        <p:spPr>
          <a:xfrm>
            <a:off x="3310128" y="243230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32" name="Text 30"/>
          <p:cNvSpPr/>
          <p:nvPr/>
        </p:nvSpPr>
        <p:spPr>
          <a:xfrm>
            <a:off x="3657600" y="2432304"/>
            <a:ext cx="2377440" cy="201168"/>
          </a:xfrm>
          <a:prstGeom prst="rect">
            <a:avLst/>
          </a:prstGeom>
          <a:noFill/>
          <a:ln/>
        </p:spPr>
        <p:txBody>
          <a:bodyPr wrap="square" rtlCol="0" anchor="ctr"/>
          <a:lstStyle/>
          <a:p>
            <a:pPr indent="0" marL="0">
              <a:buNone/>
            </a:pPr>
            <a:r>
              <a:rPr lang="en-US" sz="950" b="1" dirty="0">
                <a:solidFill>
                  <a:srgbClr val="0A1628"/>
                </a:solidFill>
                <a:latin typeface="Calibri" pitchFamily="34" charset="0"/>
                <a:ea typeface="Calibri" pitchFamily="34" charset="-122"/>
                <a:cs typeface="Calibri" pitchFamily="34" charset="-120"/>
              </a:rPr>
              <a:t>Backend Exchange</a:t>
            </a:r>
            <a:endParaRPr lang="en-US" sz="950" dirty="0"/>
          </a:p>
        </p:txBody>
      </p:sp>
      <p:sp>
        <p:nvSpPr>
          <p:cNvPr id="33" name="Text 31"/>
          <p:cNvSpPr/>
          <p:nvPr/>
        </p:nvSpPr>
        <p:spPr>
          <a:xfrm>
            <a:off x="3657600" y="2642616"/>
            <a:ext cx="2377440" cy="274320"/>
          </a:xfrm>
          <a:prstGeom prst="rect">
            <a:avLst/>
          </a:prstGeom>
          <a:noFill/>
          <a:ln/>
        </p:spPr>
        <p:txBody>
          <a:bodyPr wrap="square" rtlCol="0" anchor="ctr"/>
          <a:lstStyle/>
          <a:p>
            <a:pPr indent="0" marL="0">
              <a:buNone/>
            </a:pPr>
            <a:r>
              <a:rPr lang="en-US" sz="850" dirty="0">
                <a:solidFill>
                  <a:srgbClr val="3D5260"/>
                </a:solidFill>
                <a:latin typeface="Calibri" pitchFamily="34" charset="0"/>
                <a:ea typeface="Calibri" pitchFamily="34" charset="-122"/>
                <a:cs typeface="Calibri" pitchFamily="34" charset="-120"/>
              </a:rPr>
              <a:t>BBH backend calls Plaid /item/public_token/exchange to receive a scoped access_token.</a:t>
            </a:r>
            <a:endParaRPr lang="en-US" sz="850" dirty="0"/>
          </a:p>
        </p:txBody>
      </p:sp>
      <p:sp>
        <p:nvSpPr>
          <p:cNvPr id="34" name="Text 32"/>
          <p:cNvSpPr/>
          <p:nvPr/>
        </p:nvSpPr>
        <p:spPr>
          <a:xfrm>
            <a:off x="5907024" y="2487168"/>
            <a:ext cx="310896" cy="237744"/>
          </a:xfrm>
          <a:prstGeom prst="rect">
            <a:avLst/>
          </a:prstGeom>
          <a:noFill/>
          <a:ln/>
        </p:spPr>
        <p:txBody>
          <a:bodyPr wrap="square" rtlCol="0" anchor="ctr"/>
          <a:lstStyle/>
          <a:p>
            <a:pPr algn="ctr" indent="0" marL="0">
              <a:buNone/>
            </a:pPr>
            <a:r>
              <a:rPr lang="en-US" sz="1400" dirty="0">
                <a:solidFill>
                  <a:srgbClr val="00A896"/>
                </a:solidFill>
              </a:rPr>
              <a:t>→</a:t>
            </a:r>
            <a:endParaRPr lang="en-US" sz="1400" dirty="0"/>
          </a:p>
        </p:txBody>
      </p:sp>
      <p:sp>
        <p:nvSpPr>
          <p:cNvPr id="35" name="Shape 33"/>
          <p:cNvSpPr/>
          <p:nvPr/>
        </p:nvSpPr>
        <p:spPr>
          <a:xfrm>
            <a:off x="6181344" y="2432304"/>
            <a:ext cx="292608" cy="292608"/>
          </a:xfrm>
          <a:prstGeom prst="ellipse">
            <a:avLst/>
          </a:prstGeom>
          <a:solidFill>
            <a:srgbClr val="00A896"/>
          </a:solidFill>
          <a:ln w="12700">
            <a:solidFill>
              <a:srgbClr val="00A896"/>
            </a:solidFill>
            <a:prstDash val="solid"/>
          </a:ln>
        </p:spPr>
      </p:sp>
      <p:sp>
        <p:nvSpPr>
          <p:cNvPr id="36" name="Text 34"/>
          <p:cNvSpPr/>
          <p:nvPr/>
        </p:nvSpPr>
        <p:spPr>
          <a:xfrm>
            <a:off x="6181344" y="243230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37" name="Text 35"/>
          <p:cNvSpPr/>
          <p:nvPr/>
        </p:nvSpPr>
        <p:spPr>
          <a:xfrm>
            <a:off x="6528816" y="2432304"/>
            <a:ext cx="2377440" cy="201168"/>
          </a:xfrm>
          <a:prstGeom prst="rect">
            <a:avLst/>
          </a:prstGeom>
          <a:noFill/>
          <a:ln/>
        </p:spPr>
        <p:txBody>
          <a:bodyPr wrap="square" rtlCol="0" anchor="ctr"/>
          <a:lstStyle/>
          <a:p>
            <a:pPr indent="0" marL="0">
              <a:buNone/>
            </a:pPr>
            <a:r>
              <a:rPr lang="en-US" sz="950" b="1" dirty="0">
                <a:solidFill>
                  <a:srgbClr val="0A1628"/>
                </a:solidFill>
                <a:latin typeface="Calibri" pitchFamily="34" charset="0"/>
                <a:ea typeface="Calibri" pitchFamily="34" charset="-122"/>
                <a:cs typeface="Calibri" pitchFamily="34" charset="-120"/>
              </a:rPr>
              <a:t>Data Access Granted</a:t>
            </a:r>
            <a:endParaRPr lang="en-US" sz="950" dirty="0"/>
          </a:p>
        </p:txBody>
      </p:sp>
      <p:sp>
        <p:nvSpPr>
          <p:cNvPr id="38" name="Text 36"/>
          <p:cNvSpPr/>
          <p:nvPr/>
        </p:nvSpPr>
        <p:spPr>
          <a:xfrm>
            <a:off x="6528816" y="2642616"/>
            <a:ext cx="2377440" cy="274320"/>
          </a:xfrm>
          <a:prstGeom prst="rect">
            <a:avLst/>
          </a:prstGeom>
          <a:noFill/>
          <a:ln/>
        </p:spPr>
        <p:txBody>
          <a:bodyPr wrap="square" rtlCol="0" anchor="ctr"/>
          <a:lstStyle/>
          <a:p>
            <a:pPr indent="0" marL="0">
              <a:buNone/>
            </a:pPr>
            <a:r>
              <a:rPr lang="en-US" sz="850" dirty="0">
                <a:solidFill>
                  <a:srgbClr val="3D5260"/>
                </a:solidFill>
                <a:latin typeface="Calibri" pitchFamily="34" charset="0"/>
                <a:ea typeface="Calibri" pitchFamily="34" charset="-122"/>
                <a:cs typeface="Calibri" pitchFamily="34" charset="-120"/>
              </a:rPr>
              <a:t>access_token used to call Plaid endpoints: balances, transactions, identity.</a:t>
            </a:r>
            <a:endParaRPr lang="en-US" sz="850" dirty="0"/>
          </a:p>
        </p:txBody>
      </p:sp>
      <p:sp>
        <p:nvSpPr>
          <p:cNvPr id="39" name="Shape 37"/>
          <p:cNvSpPr/>
          <p:nvPr/>
        </p:nvSpPr>
        <p:spPr>
          <a:xfrm>
            <a:off x="274320" y="3310128"/>
            <a:ext cx="8595360" cy="1426464"/>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40" name="Shape 38"/>
          <p:cNvSpPr/>
          <p:nvPr/>
        </p:nvSpPr>
        <p:spPr>
          <a:xfrm>
            <a:off x="274320" y="3310128"/>
            <a:ext cx="8595360" cy="256032"/>
          </a:xfrm>
          <a:prstGeom prst="rect">
            <a:avLst/>
          </a:prstGeom>
          <a:solidFill>
            <a:srgbClr val="0A1628"/>
          </a:solidFill>
          <a:ln w="12700">
            <a:solidFill>
              <a:srgbClr val="0A1628"/>
            </a:solidFill>
            <a:prstDash val="solid"/>
          </a:ln>
        </p:spPr>
      </p:sp>
      <p:sp>
        <p:nvSpPr>
          <p:cNvPr id="41" name="Text 39"/>
          <p:cNvSpPr/>
          <p:nvPr/>
        </p:nvSpPr>
        <p:spPr>
          <a:xfrm>
            <a:off x="274320" y="3310128"/>
            <a:ext cx="8595360" cy="256032"/>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PHASE 3 — DATA CAPABILITIES UNLOCKED</a:t>
            </a:r>
            <a:endParaRPr lang="en-US" sz="950" dirty="0"/>
          </a:p>
        </p:txBody>
      </p:sp>
      <p:sp>
        <p:nvSpPr>
          <p:cNvPr id="42" name="Shape 40"/>
          <p:cNvSpPr/>
          <p:nvPr/>
        </p:nvSpPr>
        <p:spPr>
          <a:xfrm>
            <a:off x="411480" y="3657600"/>
            <a:ext cx="2011680" cy="987552"/>
          </a:xfrm>
          <a:prstGeom prst="rect">
            <a:avLst/>
          </a:prstGeom>
          <a:solidFill>
            <a:srgbClr val="FFFFFF"/>
          </a:solidFill>
          <a:ln w="9525">
            <a:solidFill>
              <a:srgbClr val="C8EAE8"/>
            </a:solidFill>
            <a:prstDash val="solid"/>
          </a:ln>
          <a:effectLst>
            <a:outerShdw sx="100000" sy="100000" kx="0" ky="0" algn="bl" rotWithShape="0" blurRad="63500" dist="25400" dir="8100000">
              <a:srgbClr val="000000">
                <a:alpha val="8000"/>
              </a:srgbClr>
            </a:outerShdw>
          </a:effectLst>
        </p:spPr>
      </p:sp>
      <p:sp>
        <p:nvSpPr>
          <p:cNvPr id="43" name="Shape 41"/>
          <p:cNvSpPr/>
          <p:nvPr/>
        </p:nvSpPr>
        <p:spPr>
          <a:xfrm>
            <a:off x="411480" y="3657600"/>
            <a:ext cx="45720" cy="987552"/>
          </a:xfrm>
          <a:prstGeom prst="rect">
            <a:avLst/>
          </a:prstGeom>
          <a:solidFill>
            <a:srgbClr val="028090"/>
          </a:solidFill>
          <a:ln w="12700">
            <a:solidFill>
              <a:srgbClr val="028090"/>
            </a:solidFill>
            <a:prstDash val="solid"/>
          </a:ln>
        </p:spPr>
      </p:sp>
      <p:sp>
        <p:nvSpPr>
          <p:cNvPr id="44" name="Text 42"/>
          <p:cNvSpPr/>
          <p:nvPr/>
        </p:nvSpPr>
        <p:spPr>
          <a:xfrm>
            <a:off x="521208" y="3694176"/>
            <a:ext cx="1828800" cy="256032"/>
          </a:xfrm>
          <a:prstGeom prst="rect">
            <a:avLst/>
          </a:prstGeom>
          <a:noFill/>
          <a:ln/>
        </p:spPr>
        <p:txBody>
          <a:bodyPr wrap="square" rtlCol="0" anchor="ctr"/>
          <a:lstStyle/>
          <a:p>
            <a:pPr indent="0" marL="0">
              <a:buNone/>
            </a:pPr>
            <a:r>
              <a:rPr lang="en-US" sz="900" b="1" dirty="0">
                <a:solidFill>
                  <a:srgbClr val="0A1628"/>
                </a:solidFill>
                <a:latin typeface="Calibri" pitchFamily="34" charset="0"/>
                <a:ea typeface="Calibri" pitchFamily="34" charset="-122"/>
                <a:cs typeface="Calibri" pitchFamily="34" charset="-120"/>
              </a:rPr>
              <a:t>Instant Account Verification</a:t>
            </a:r>
            <a:endParaRPr lang="en-US" sz="900" dirty="0"/>
          </a:p>
        </p:txBody>
      </p:sp>
      <p:sp>
        <p:nvSpPr>
          <p:cNvPr id="45" name="Text 43"/>
          <p:cNvSpPr/>
          <p:nvPr/>
        </p:nvSpPr>
        <p:spPr>
          <a:xfrm>
            <a:off x="521208" y="3968496"/>
            <a:ext cx="1828800" cy="621792"/>
          </a:xfrm>
          <a:prstGeom prst="rect">
            <a:avLst/>
          </a:prstGeom>
          <a:noFill/>
          <a:ln/>
        </p:spPr>
        <p:txBody>
          <a:bodyPr wrap="square" rtlCol="0" anchor="ctr"/>
          <a:lstStyle/>
          <a:p>
            <a:pPr indent="0" marL="0">
              <a:buNone/>
            </a:pPr>
            <a:r>
              <a:rPr lang="en-US" sz="850" dirty="0">
                <a:solidFill>
                  <a:srgbClr val="3D5260"/>
                </a:solidFill>
                <a:latin typeface="Calibri" pitchFamily="34" charset="0"/>
                <a:ea typeface="Calibri" pitchFamily="34" charset="-122"/>
                <a:cs typeface="Calibri" pitchFamily="34" charset="-120"/>
              </a:rPr>
              <a:t>Verify accounts instantly — no micro-deposit delays.</a:t>
            </a:r>
            <a:endParaRPr lang="en-US" sz="850" dirty="0"/>
          </a:p>
        </p:txBody>
      </p:sp>
      <p:sp>
        <p:nvSpPr>
          <p:cNvPr id="46" name="Shape 44"/>
          <p:cNvSpPr/>
          <p:nvPr/>
        </p:nvSpPr>
        <p:spPr>
          <a:xfrm>
            <a:off x="2569464" y="3657600"/>
            <a:ext cx="2011680" cy="987552"/>
          </a:xfrm>
          <a:prstGeom prst="rect">
            <a:avLst/>
          </a:prstGeom>
          <a:solidFill>
            <a:srgbClr val="FFFFFF"/>
          </a:solidFill>
          <a:ln w="9525">
            <a:solidFill>
              <a:srgbClr val="C8EAE8"/>
            </a:solidFill>
            <a:prstDash val="solid"/>
          </a:ln>
          <a:effectLst>
            <a:outerShdw sx="100000" sy="100000" kx="0" ky="0" algn="bl" rotWithShape="0" blurRad="63500" dist="25400" dir="8100000">
              <a:srgbClr val="000000">
                <a:alpha val="8000"/>
              </a:srgbClr>
            </a:outerShdw>
          </a:effectLst>
        </p:spPr>
      </p:sp>
      <p:sp>
        <p:nvSpPr>
          <p:cNvPr id="47" name="Shape 45"/>
          <p:cNvSpPr/>
          <p:nvPr/>
        </p:nvSpPr>
        <p:spPr>
          <a:xfrm>
            <a:off x="2569464" y="3657600"/>
            <a:ext cx="45720" cy="987552"/>
          </a:xfrm>
          <a:prstGeom prst="rect">
            <a:avLst/>
          </a:prstGeom>
          <a:solidFill>
            <a:srgbClr val="028090"/>
          </a:solidFill>
          <a:ln w="12700">
            <a:solidFill>
              <a:srgbClr val="028090"/>
            </a:solidFill>
            <a:prstDash val="solid"/>
          </a:ln>
        </p:spPr>
      </p:sp>
      <p:sp>
        <p:nvSpPr>
          <p:cNvPr id="48" name="Text 46"/>
          <p:cNvSpPr/>
          <p:nvPr/>
        </p:nvSpPr>
        <p:spPr>
          <a:xfrm>
            <a:off x="2679192" y="3694176"/>
            <a:ext cx="1828800" cy="256032"/>
          </a:xfrm>
          <a:prstGeom prst="rect">
            <a:avLst/>
          </a:prstGeom>
          <a:noFill/>
          <a:ln/>
        </p:spPr>
        <p:txBody>
          <a:bodyPr wrap="square" rtlCol="0" anchor="ctr"/>
          <a:lstStyle/>
          <a:p>
            <a:pPr indent="0" marL="0">
              <a:buNone/>
            </a:pPr>
            <a:r>
              <a:rPr lang="en-US" sz="900" b="1" dirty="0">
                <a:solidFill>
                  <a:srgbClr val="0A1628"/>
                </a:solidFill>
                <a:latin typeface="Calibri" pitchFamily="34" charset="0"/>
                <a:ea typeface="Calibri" pitchFamily="34" charset="-122"/>
                <a:cs typeface="Calibri" pitchFamily="34" charset="-120"/>
              </a:rPr>
              <a:t>Balance &amp; Transactions</a:t>
            </a:r>
            <a:endParaRPr lang="en-US" sz="900" dirty="0"/>
          </a:p>
        </p:txBody>
      </p:sp>
      <p:sp>
        <p:nvSpPr>
          <p:cNvPr id="49" name="Text 47"/>
          <p:cNvSpPr/>
          <p:nvPr/>
        </p:nvSpPr>
        <p:spPr>
          <a:xfrm>
            <a:off x="2679192" y="3968496"/>
            <a:ext cx="1828800" cy="621792"/>
          </a:xfrm>
          <a:prstGeom prst="rect">
            <a:avLst/>
          </a:prstGeom>
          <a:noFill/>
          <a:ln/>
        </p:spPr>
        <p:txBody>
          <a:bodyPr wrap="square" rtlCol="0" anchor="ctr"/>
          <a:lstStyle/>
          <a:p>
            <a:pPr indent="0" marL="0">
              <a:buNone/>
            </a:pPr>
            <a:r>
              <a:rPr lang="en-US" sz="850" dirty="0">
                <a:solidFill>
                  <a:srgbClr val="3D5260"/>
                </a:solidFill>
                <a:latin typeface="Calibri" pitchFamily="34" charset="0"/>
                <a:ea typeface="Calibri" pitchFamily="34" charset="-122"/>
                <a:cs typeface="Calibri" pitchFamily="34" charset="-120"/>
              </a:rPr>
              <a:t>Real-time balance checks and full transaction history.</a:t>
            </a:r>
            <a:endParaRPr lang="en-US" sz="850" dirty="0"/>
          </a:p>
        </p:txBody>
      </p:sp>
      <p:sp>
        <p:nvSpPr>
          <p:cNvPr id="50" name="Shape 48"/>
          <p:cNvSpPr/>
          <p:nvPr/>
        </p:nvSpPr>
        <p:spPr>
          <a:xfrm>
            <a:off x="4727448" y="3657600"/>
            <a:ext cx="2011680" cy="987552"/>
          </a:xfrm>
          <a:prstGeom prst="rect">
            <a:avLst/>
          </a:prstGeom>
          <a:solidFill>
            <a:srgbClr val="FFFFFF"/>
          </a:solidFill>
          <a:ln w="9525">
            <a:solidFill>
              <a:srgbClr val="C8EAE8"/>
            </a:solidFill>
            <a:prstDash val="solid"/>
          </a:ln>
          <a:effectLst>
            <a:outerShdw sx="100000" sy="100000" kx="0" ky="0" algn="bl" rotWithShape="0" blurRad="63500" dist="25400" dir="8100000">
              <a:srgbClr val="000000">
                <a:alpha val="8000"/>
              </a:srgbClr>
            </a:outerShdw>
          </a:effectLst>
        </p:spPr>
      </p:sp>
      <p:sp>
        <p:nvSpPr>
          <p:cNvPr id="51" name="Shape 49"/>
          <p:cNvSpPr/>
          <p:nvPr/>
        </p:nvSpPr>
        <p:spPr>
          <a:xfrm>
            <a:off x="4727448" y="3657600"/>
            <a:ext cx="45720" cy="987552"/>
          </a:xfrm>
          <a:prstGeom prst="rect">
            <a:avLst/>
          </a:prstGeom>
          <a:solidFill>
            <a:srgbClr val="028090"/>
          </a:solidFill>
          <a:ln w="12700">
            <a:solidFill>
              <a:srgbClr val="028090"/>
            </a:solidFill>
            <a:prstDash val="solid"/>
          </a:ln>
        </p:spPr>
      </p:sp>
      <p:sp>
        <p:nvSpPr>
          <p:cNvPr id="52" name="Text 50"/>
          <p:cNvSpPr/>
          <p:nvPr/>
        </p:nvSpPr>
        <p:spPr>
          <a:xfrm>
            <a:off x="4837176" y="3694176"/>
            <a:ext cx="1828800" cy="256032"/>
          </a:xfrm>
          <a:prstGeom prst="rect">
            <a:avLst/>
          </a:prstGeom>
          <a:noFill/>
          <a:ln/>
        </p:spPr>
        <p:txBody>
          <a:bodyPr wrap="square" rtlCol="0" anchor="ctr"/>
          <a:lstStyle/>
          <a:p>
            <a:pPr indent="0" marL="0">
              <a:buNone/>
            </a:pPr>
            <a:r>
              <a:rPr lang="en-US" sz="900" b="1" dirty="0">
                <a:solidFill>
                  <a:srgbClr val="0A1628"/>
                </a:solidFill>
                <a:latin typeface="Calibri" pitchFamily="34" charset="0"/>
                <a:ea typeface="Calibri" pitchFamily="34" charset="-122"/>
                <a:cs typeface="Calibri" pitchFamily="34" charset="-120"/>
              </a:rPr>
              <a:t>Identity Verification</a:t>
            </a:r>
            <a:endParaRPr lang="en-US" sz="900" dirty="0"/>
          </a:p>
        </p:txBody>
      </p:sp>
      <p:sp>
        <p:nvSpPr>
          <p:cNvPr id="53" name="Text 51"/>
          <p:cNvSpPr/>
          <p:nvPr/>
        </p:nvSpPr>
        <p:spPr>
          <a:xfrm>
            <a:off x="4837176" y="3968496"/>
            <a:ext cx="1828800" cy="621792"/>
          </a:xfrm>
          <a:prstGeom prst="rect">
            <a:avLst/>
          </a:prstGeom>
          <a:noFill/>
          <a:ln/>
        </p:spPr>
        <p:txBody>
          <a:bodyPr wrap="square" rtlCol="0" anchor="ctr"/>
          <a:lstStyle/>
          <a:p>
            <a:pPr indent="0" marL="0">
              <a:buNone/>
            </a:pPr>
            <a:r>
              <a:rPr lang="en-US" sz="850" dirty="0">
                <a:solidFill>
                  <a:srgbClr val="3D5260"/>
                </a:solidFill>
                <a:latin typeface="Calibri" pitchFamily="34" charset="0"/>
                <a:ea typeface="Calibri" pitchFamily="34" charset="-122"/>
                <a:cs typeface="Calibri" pitchFamily="34" charset="-120"/>
              </a:rPr>
              <a:t>Confirm account ownership for KYC/AML workflows.</a:t>
            </a:r>
            <a:endParaRPr lang="en-US" sz="850" dirty="0"/>
          </a:p>
        </p:txBody>
      </p:sp>
      <p:sp>
        <p:nvSpPr>
          <p:cNvPr id="54" name="Shape 52"/>
          <p:cNvSpPr/>
          <p:nvPr/>
        </p:nvSpPr>
        <p:spPr>
          <a:xfrm>
            <a:off x="6885432" y="3657600"/>
            <a:ext cx="2011680" cy="987552"/>
          </a:xfrm>
          <a:prstGeom prst="rect">
            <a:avLst/>
          </a:prstGeom>
          <a:solidFill>
            <a:srgbClr val="FFFFFF"/>
          </a:solidFill>
          <a:ln w="9525">
            <a:solidFill>
              <a:srgbClr val="C8EAE8"/>
            </a:solidFill>
            <a:prstDash val="solid"/>
          </a:ln>
          <a:effectLst>
            <a:outerShdw sx="100000" sy="100000" kx="0" ky="0" algn="bl" rotWithShape="0" blurRad="63500" dist="25400" dir="8100000">
              <a:srgbClr val="000000">
                <a:alpha val="8000"/>
              </a:srgbClr>
            </a:outerShdw>
          </a:effectLst>
        </p:spPr>
      </p:sp>
      <p:sp>
        <p:nvSpPr>
          <p:cNvPr id="55" name="Shape 53"/>
          <p:cNvSpPr/>
          <p:nvPr/>
        </p:nvSpPr>
        <p:spPr>
          <a:xfrm>
            <a:off x="6885432" y="3657600"/>
            <a:ext cx="45720" cy="987552"/>
          </a:xfrm>
          <a:prstGeom prst="rect">
            <a:avLst/>
          </a:prstGeom>
          <a:solidFill>
            <a:srgbClr val="028090"/>
          </a:solidFill>
          <a:ln w="12700">
            <a:solidFill>
              <a:srgbClr val="028090"/>
            </a:solidFill>
            <a:prstDash val="solid"/>
          </a:ln>
        </p:spPr>
      </p:sp>
      <p:sp>
        <p:nvSpPr>
          <p:cNvPr id="56" name="Text 54"/>
          <p:cNvSpPr/>
          <p:nvPr/>
        </p:nvSpPr>
        <p:spPr>
          <a:xfrm>
            <a:off x="6995160" y="3694176"/>
            <a:ext cx="1828800" cy="256032"/>
          </a:xfrm>
          <a:prstGeom prst="rect">
            <a:avLst/>
          </a:prstGeom>
          <a:noFill/>
          <a:ln/>
        </p:spPr>
        <p:txBody>
          <a:bodyPr wrap="square" rtlCol="0" anchor="ctr"/>
          <a:lstStyle/>
          <a:p>
            <a:pPr indent="0" marL="0">
              <a:buNone/>
            </a:pPr>
            <a:r>
              <a:rPr lang="en-US" sz="900" b="1" dirty="0">
                <a:solidFill>
                  <a:srgbClr val="0A1628"/>
                </a:solidFill>
                <a:latin typeface="Calibri" pitchFamily="34" charset="0"/>
                <a:ea typeface="Calibri" pitchFamily="34" charset="-122"/>
                <a:cs typeface="Calibri" pitchFamily="34" charset="-120"/>
              </a:rPr>
              <a:t>Processor Token</a:t>
            </a:r>
            <a:endParaRPr lang="en-US" sz="900" dirty="0"/>
          </a:p>
        </p:txBody>
      </p:sp>
      <p:sp>
        <p:nvSpPr>
          <p:cNvPr id="57" name="Text 55"/>
          <p:cNvSpPr/>
          <p:nvPr/>
        </p:nvSpPr>
        <p:spPr>
          <a:xfrm>
            <a:off x="6995160" y="3968496"/>
            <a:ext cx="1828800" cy="621792"/>
          </a:xfrm>
          <a:prstGeom prst="rect">
            <a:avLst/>
          </a:prstGeom>
          <a:noFill/>
          <a:ln/>
        </p:spPr>
        <p:txBody>
          <a:bodyPr wrap="square" rtlCol="0" anchor="ctr"/>
          <a:lstStyle/>
          <a:p>
            <a:pPr indent="0" marL="0">
              <a:buNone/>
            </a:pPr>
            <a:r>
              <a:rPr lang="en-US" sz="850" dirty="0">
                <a:solidFill>
                  <a:srgbClr val="3D5260"/>
                </a:solidFill>
                <a:latin typeface="Calibri" pitchFamily="34" charset="0"/>
                <a:ea typeface="Calibri" pitchFamily="34" charset="-122"/>
                <a:cs typeface="Calibri" pitchFamily="34" charset="-120"/>
              </a:rPr>
              <a:t>Payment tokens for downstream processors (Stripe, Dwolla).</a:t>
            </a:r>
            <a:endParaRPr lang="en-US" sz="850" dirty="0"/>
          </a:p>
        </p:txBody>
      </p:sp>
      <p:sp>
        <p:nvSpPr>
          <p:cNvPr id="58" name="Shape 56"/>
          <p:cNvSpPr/>
          <p:nvPr/>
        </p:nvSpPr>
        <p:spPr>
          <a:xfrm>
            <a:off x="0" y="4864608"/>
            <a:ext cx="9144000" cy="278892"/>
          </a:xfrm>
          <a:prstGeom prst="rect">
            <a:avLst/>
          </a:prstGeom>
          <a:solidFill>
            <a:srgbClr val="0A1628"/>
          </a:solidFill>
          <a:ln w="12700">
            <a:solidFill>
              <a:srgbClr val="0A1628"/>
            </a:solidFill>
            <a:prstDash val="solid"/>
          </a:ln>
        </p:spPr>
      </p:sp>
      <p:sp>
        <p:nvSpPr>
          <p:cNvPr id="59" name="Text 57"/>
          <p:cNvSpPr/>
          <p:nvPr/>
        </p:nvSpPr>
        <p:spPr>
          <a:xfrm>
            <a:off x="320040" y="4878324"/>
            <a:ext cx="7772400" cy="237744"/>
          </a:xfrm>
          <a:prstGeom prst="rect">
            <a:avLst/>
          </a:prstGeom>
          <a:noFill/>
          <a:ln/>
        </p:spPr>
        <p:txBody>
          <a:bodyPr wrap="square" rtlCol="0" anchor="ctr"/>
          <a:lstStyle/>
          <a:p>
            <a:pPr indent="0" marL="0">
              <a:buNone/>
            </a:pPr>
            <a:r>
              <a:rPr lang="en-US" sz="850" dirty="0">
                <a:solidFill>
                  <a:srgbClr val="8FA3A8"/>
                </a:solidFill>
              </a:rPr>
              <a:t>BBH × Plaid | Architecture Review Board | Confidential &amp; Proprietary</a:t>
            </a:r>
            <a:endParaRPr lang="en-US" sz="850" dirty="0"/>
          </a:p>
        </p:txBody>
      </p:sp>
      <p:sp>
        <p:nvSpPr>
          <p:cNvPr id="60" name="Text 58"/>
          <p:cNvSpPr/>
          <p:nvPr/>
        </p:nvSpPr>
        <p:spPr>
          <a:xfrm>
            <a:off x="8503920" y="4878324"/>
            <a:ext cx="457200" cy="237744"/>
          </a:xfrm>
          <a:prstGeom prst="rect">
            <a:avLst/>
          </a:prstGeom>
          <a:noFill/>
          <a:ln/>
        </p:spPr>
        <p:txBody>
          <a:bodyPr wrap="square" rtlCol="0" anchor="ctr"/>
          <a:lstStyle/>
          <a:p>
            <a:pPr algn="r" indent="0" marL="0">
              <a:buNone/>
            </a:pPr>
            <a:r>
              <a:rPr lang="en-US" sz="850" dirty="0">
                <a:solidFill>
                  <a:srgbClr val="8FA3A8"/>
                </a:solidFill>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9"/>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A1628"/>
          </a:solidFill>
          <a:ln w="12700">
            <a:solidFill>
              <a:srgbClr val="0A1628"/>
            </a:solidFill>
            <a:prstDash val="solid"/>
          </a:ln>
        </p:spPr>
      </p:sp>
      <p:sp>
        <p:nvSpPr>
          <p:cNvPr id="3" name="Shape 1"/>
          <p:cNvSpPr/>
          <p:nvPr/>
        </p:nvSpPr>
        <p:spPr>
          <a:xfrm>
            <a:off x="0" y="749808"/>
            <a:ext cx="9144000" cy="54864"/>
          </a:xfrm>
          <a:prstGeom prst="rect">
            <a:avLst/>
          </a:prstGeom>
          <a:solidFill>
            <a:srgbClr val="028090"/>
          </a:solidFill>
          <a:ln w="12700">
            <a:solidFill>
              <a:srgbClr val="028090"/>
            </a:solidFill>
            <a:prstDash val="solid"/>
          </a:ln>
        </p:spPr>
      </p:sp>
      <p:sp>
        <p:nvSpPr>
          <p:cNvPr id="4" name="Text 2"/>
          <p:cNvSpPr/>
          <p:nvPr/>
        </p:nvSpPr>
        <p:spPr>
          <a:xfrm>
            <a:off x="365760" y="0"/>
            <a:ext cx="7315200" cy="7498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Security Architecture — Key Controls</a:t>
            </a:r>
            <a:endParaRPr lang="en-US" sz="2200" dirty="0"/>
          </a:p>
        </p:txBody>
      </p:sp>
      <p:sp>
        <p:nvSpPr>
          <p:cNvPr id="5" name="Shape 3"/>
          <p:cNvSpPr/>
          <p:nvPr/>
        </p:nvSpPr>
        <p:spPr>
          <a:xfrm>
            <a:off x="7516368" y="146304"/>
            <a:ext cx="1389888" cy="457200"/>
          </a:xfrm>
          <a:prstGeom prst="rect">
            <a:avLst>
              <a:gd name="adj" fmla="val 8000"/>
            </a:avLst>
          </a:prstGeom>
          <a:solidFill>
            <a:srgbClr val="8B1A1A"/>
          </a:solidFill>
          <a:ln w="12700">
            <a:solidFill>
              <a:srgbClr val="8B1A1A"/>
            </a:solidFill>
            <a:prstDash val="solid"/>
          </a:ln>
        </p:spPr>
      </p:sp>
      <p:sp>
        <p:nvSpPr>
          <p:cNvPr id="6" name="Text 4"/>
          <p:cNvSpPr/>
          <p:nvPr/>
        </p:nvSpPr>
        <p:spPr>
          <a:xfrm>
            <a:off x="7516368" y="146304"/>
            <a:ext cx="1389888" cy="457200"/>
          </a:xfrm>
          <a:prstGeom prst="rect">
            <a:avLst/>
          </a:prstGeom>
          <a:noFill/>
          <a:ln/>
        </p:spPr>
        <p:txBody>
          <a:bodyPr wrap="square" lIns="0" tIns="0" rIns="0" bIns="0" rtlCol="0" anchor="ctr"/>
          <a:lstStyle/>
          <a:p>
            <a:pPr algn="ctr" indent="0" marL="0">
              <a:buNone/>
            </a:pPr>
            <a:r>
              <a:rPr lang="en-US" sz="850" b="1" spc="50" kern="0" dirty="0">
                <a:solidFill>
                  <a:srgbClr val="FFFFFF"/>
                </a:solidFill>
              </a:rPr>
              <a:t>SECURITY</a:t>
            </a:r>
            <a:endParaRPr lang="en-US" sz="850" dirty="0"/>
          </a:p>
        </p:txBody>
      </p:sp>
      <p:sp>
        <p:nvSpPr>
          <p:cNvPr id="7" name="Shape 5"/>
          <p:cNvSpPr/>
          <p:nvPr/>
        </p:nvSpPr>
        <p:spPr>
          <a:xfrm>
            <a:off x="274320" y="896112"/>
            <a:ext cx="8595360" cy="256032"/>
          </a:xfrm>
          <a:prstGeom prst="rect">
            <a:avLst/>
          </a:prstGeom>
          <a:solidFill>
            <a:srgbClr val="FDF3F3"/>
          </a:solidFill>
          <a:ln w="6350">
            <a:solidFill>
              <a:srgbClr val="F5C6C6"/>
            </a:solidFill>
            <a:prstDash val="solid"/>
          </a:ln>
        </p:spPr>
      </p:sp>
      <p:sp>
        <p:nvSpPr>
          <p:cNvPr id="8" name="Text 6"/>
          <p:cNvSpPr/>
          <p:nvPr/>
        </p:nvSpPr>
        <p:spPr>
          <a:xfrm>
            <a:off x="384048" y="896112"/>
            <a:ext cx="8375904" cy="256032"/>
          </a:xfrm>
          <a:prstGeom prst="rect">
            <a:avLst/>
          </a:prstGeom>
          <a:noFill/>
          <a:ln/>
        </p:spPr>
        <p:txBody>
          <a:bodyPr wrap="square" rtlCol="0" anchor="ctr"/>
          <a:lstStyle/>
          <a:p>
            <a:pPr indent="0" marL="0">
              <a:buNone/>
            </a:pPr>
            <a:r>
              <a:rPr lang="en-US" sz="850" dirty="0">
                <a:solidFill>
                  <a:srgbClr val="7B3333"/>
                </a:solidFill>
                <a:latin typeface="Calibri" pitchFamily="34" charset="0"/>
                <a:ea typeface="Calibri" pitchFamily="34" charset="-122"/>
                <a:cs typeface="Calibri" pitchFamily="34" charset="-120"/>
              </a:rPr>
              <a:t>All security controls below are validated against BBH CISO policy, NYDFS 500.12, and FDX open banking standards. Controls are layered — no single control is a single point of failure.</a:t>
            </a:r>
            <a:endParaRPr lang="en-US" sz="850" dirty="0"/>
          </a:p>
        </p:txBody>
      </p:sp>
      <p:sp>
        <p:nvSpPr>
          <p:cNvPr id="9" name="Shape 7"/>
          <p:cNvSpPr/>
          <p:nvPr/>
        </p:nvSpPr>
        <p:spPr>
          <a:xfrm>
            <a:off x="274320" y="1243584"/>
            <a:ext cx="4206240" cy="786384"/>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10" name="Shape 8"/>
          <p:cNvSpPr/>
          <p:nvPr/>
        </p:nvSpPr>
        <p:spPr>
          <a:xfrm>
            <a:off x="274320" y="1243584"/>
            <a:ext cx="64008" cy="786384"/>
          </a:xfrm>
          <a:prstGeom prst="rect">
            <a:avLst/>
          </a:prstGeom>
          <a:solidFill>
            <a:srgbClr val="028090"/>
          </a:solidFill>
          <a:ln w="12700">
            <a:solidFill>
              <a:srgbClr val="028090"/>
            </a:solidFill>
            <a:prstDash val="solid"/>
          </a:ln>
        </p:spPr>
      </p:sp>
      <p:sp>
        <p:nvSpPr>
          <p:cNvPr id="11" name="Text 9"/>
          <p:cNvSpPr/>
          <p:nvPr/>
        </p:nvSpPr>
        <p:spPr>
          <a:xfrm>
            <a:off x="420624" y="1289304"/>
            <a:ext cx="3977640" cy="219456"/>
          </a:xfrm>
          <a:prstGeom prst="rect">
            <a:avLst/>
          </a:prstGeom>
          <a:noFill/>
          <a:ln/>
        </p:spPr>
        <p:txBody>
          <a:bodyPr wrap="square" rtlCol="0" anchor="ctr"/>
          <a:lstStyle/>
          <a:p>
            <a:pPr indent="0" marL="0">
              <a:buNone/>
            </a:pPr>
            <a:r>
              <a:rPr lang="en-US" sz="1000" b="1" dirty="0">
                <a:solidFill>
                  <a:srgbClr val="0A1628"/>
                </a:solidFill>
                <a:latin typeface="Calibri" pitchFamily="34" charset="0"/>
                <a:ea typeface="Calibri" pitchFamily="34" charset="-122"/>
                <a:cs typeface="Calibri" pitchFamily="34" charset="-120"/>
              </a:rPr>
              <a:t>Zero Credential Storage</a:t>
            </a:r>
            <a:endParaRPr lang="en-US" sz="1000" dirty="0"/>
          </a:p>
        </p:txBody>
      </p:sp>
      <p:sp>
        <p:nvSpPr>
          <p:cNvPr id="12" name="Text 10"/>
          <p:cNvSpPr/>
          <p:nvPr/>
        </p:nvSpPr>
        <p:spPr>
          <a:xfrm>
            <a:off x="420624" y="1517904"/>
            <a:ext cx="3977640" cy="457200"/>
          </a:xfrm>
          <a:prstGeom prst="rect">
            <a:avLst/>
          </a:prstGeom>
          <a:noFill/>
          <a:ln/>
        </p:spPr>
        <p:txBody>
          <a:bodyPr wrap="square" rtlCol="0" anchor="ctr"/>
          <a:lstStyle/>
          <a:p>
            <a:pPr indent="0" marL="0">
              <a:buNone/>
            </a:pPr>
            <a:r>
              <a:rPr lang="en-US" sz="850" dirty="0">
                <a:solidFill>
                  <a:srgbClr val="3D5260"/>
                </a:solidFill>
                <a:latin typeface="Calibri" pitchFamily="34" charset="0"/>
                <a:ea typeface="Calibri" pitchFamily="34" charset="-122"/>
                <a:cs typeface="Calibri" pitchFamily="34" charset="-120"/>
              </a:rPr>
              <a:t>Fintech apps and Plaid never store or transmit BBH login credentials. Authentication is delegated entirely to BBH PingFederate via OAuth 2.0. No username or password transits any third-party system at any point in the flow.</a:t>
            </a:r>
            <a:endParaRPr lang="en-US" sz="850" dirty="0"/>
          </a:p>
        </p:txBody>
      </p:sp>
      <p:sp>
        <p:nvSpPr>
          <p:cNvPr id="13" name="Shape 11"/>
          <p:cNvSpPr/>
          <p:nvPr/>
        </p:nvSpPr>
        <p:spPr>
          <a:xfrm>
            <a:off x="4663440" y="1243584"/>
            <a:ext cx="4206240" cy="786384"/>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14" name="Shape 12"/>
          <p:cNvSpPr/>
          <p:nvPr/>
        </p:nvSpPr>
        <p:spPr>
          <a:xfrm>
            <a:off x="4663440" y="1243584"/>
            <a:ext cx="64008" cy="786384"/>
          </a:xfrm>
          <a:prstGeom prst="rect">
            <a:avLst/>
          </a:prstGeom>
          <a:solidFill>
            <a:srgbClr val="00A896"/>
          </a:solidFill>
          <a:ln w="12700">
            <a:solidFill>
              <a:srgbClr val="00A896"/>
            </a:solidFill>
            <a:prstDash val="solid"/>
          </a:ln>
        </p:spPr>
      </p:sp>
      <p:sp>
        <p:nvSpPr>
          <p:cNvPr id="15" name="Text 13"/>
          <p:cNvSpPr/>
          <p:nvPr/>
        </p:nvSpPr>
        <p:spPr>
          <a:xfrm>
            <a:off x="4809744" y="1289304"/>
            <a:ext cx="3977640" cy="219456"/>
          </a:xfrm>
          <a:prstGeom prst="rect">
            <a:avLst/>
          </a:prstGeom>
          <a:noFill/>
          <a:ln/>
        </p:spPr>
        <p:txBody>
          <a:bodyPr wrap="square" rtlCol="0" anchor="ctr"/>
          <a:lstStyle/>
          <a:p>
            <a:pPr indent="0" marL="0">
              <a:buNone/>
            </a:pPr>
            <a:r>
              <a:rPr lang="en-US" sz="1000" b="1" dirty="0">
                <a:solidFill>
                  <a:srgbClr val="0A1628"/>
                </a:solidFill>
                <a:latin typeface="Calibri" pitchFamily="34" charset="0"/>
                <a:ea typeface="Calibri" pitchFamily="34" charset="-122"/>
                <a:cs typeface="Calibri" pitchFamily="34" charset="-120"/>
              </a:rPr>
              <a:t>Tokenized Access — Scoped</a:t>
            </a:r>
            <a:endParaRPr lang="en-US" sz="1000" dirty="0"/>
          </a:p>
        </p:txBody>
      </p:sp>
      <p:sp>
        <p:nvSpPr>
          <p:cNvPr id="16" name="Text 14"/>
          <p:cNvSpPr/>
          <p:nvPr/>
        </p:nvSpPr>
        <p:spPr>
          <a:xfrm>
            <a:off x="4809744" y="1517904"/>
            <a:ext cx="3977640" cy="457200"/>
          </a:xfrm>
          <a:prstGeom prst="rect">
            <a:avLst/>
          </a:prstGeom>
          <a:noFill/>
          <a:ln/>
        </p:spPr>
        <p:txBody>
          <a:bodyPr wrap="square" rtlCol="0" anchor="ctr"/>
          <a:lstStyle/>
          <a:p>
            <a:pPr indent="0" marL="0">
              <a:buNone/>
            </a:pPr>
            <a:r>
              <a:rPr lang="en-US" sz="850" dirty="0">
                <a:solidFill>
                  <a:srgbClr val="3D5260"/>
                </a:solidFill>
                <a:latin typeface="Calibri" pitchFamily="34" charset="0"/>
                <a:ea typeface="Calibri" pitchFamily="34" charset="-122"/>
                <a:cs typeface="Calibri" pitchFamily="34" charset="-120"/>
              </a:rPr>
              <a:t>Only short-lived, scoped access tokens are returned to fintech apps. Tokens are restricted to specific Plaid products (e.g., Read-only: Balance). Compromised tokens cannot access admin functions or perform write operations.</a:t>
            </a:r>
            <a:endParaRPr lang="en-US" sz="850" dirty="0"/>
          </a:p>
        </p:txBody>
      </p:sp>
      <p:sp>
        <p:nvSpPr>
          <p:cNvPr id="17" name="Shape 15"/>
          <p:cNvSpPr/>
          <p:nvPr/>
        </p:nvSpPr>
        <p:spPr>
          <a:xfrm>
            <a:off x="274320" y="2139696"/>
            <a:ext cx="4206240" cy="786384"/>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18" name="Shape 16"/>
          <p:cNvSpPr/>
          <p:nvPr/>
        </p:nvSpPr>
        <p:spPr>
          <a:xfrm>
            <a:off x="274320" y="2139696"/>
            <a:ext cx="64008" cy="786384"/>
          </a:xfrm>
          <a:prstGeom prst="rect">
            <a:avLst/>
          </a:prstGeom>
          <a:solidFill>
            <a:srgbClr val="1A5276"/>
          </a:solidFill>
          <a:ln w="12700">
            <a:solidFill>
              <a:srgbClr val="1A5276"/>
            </a:solidFill>
            <a:prstDash val="solid"/>
          </a:ln>
        </p:spPr>
      </p:sp>
      <p:sp>
        <p:nvSpPr>
          <p:cNvPr id="19" name="Text 17"/>
          <p:cNvSpPr/>
          <p:nvPr/>
        </p:nvSpPr>
        <p:spPr>
          <a:xfrm>
            <a:off x="420624" y="2185416"/>
            <a:ext cx="3977640" cy="219456"/>
          </a:xfrm>
          <a:prstGeom prst="rect">
            <a:avLst/>
          </a:prstGeom>
          <a:noFill/>
          <a:ln/>
        </p:spPr>
        <p:txBody>
          <a:bodyPr wrap="square" rtlCol="0" anchor="ctr"/>
          <a:lstStyle/>
          <a:p>
            <a:pPr indent="0" marL="0">
              <a:buNone/>
            </a:pPr>
            <a:r>
              <a:rPr lang="en-US" sz="1000" b="1" dirty="0">
                <a:solidFill>
                  <a:srgbClr val="0A1628"/>
                </a:solidFill>
                <a:latin typeface="Calibri" pitchFamily="34" charset="0"/>
                <a:ea typeface="Calibri" pitchFamily="34" charset="-122"/>
                <a:cs typeface="Calibri" pitchFamily="34" charset="-120"/>
              </a:rPr>
              <a:t>OAuth 2.0 + FDX Standard</a:t>
            </a:r>
            <a:endParaRPr lang="en-US" sz="1000" dirty="0"/>
          </a:p>
        </p:txBody>
      </p:sp>
      <p:sp>
        <p:nvSpPr>
          <p:cNvPr id="20" name="Text 18"/>
          <p:cNvSpPr/>
          <p:nvPr/>
        </p:nvSpPr>
        <p:spPr>
          <a:xfrm>
            <a:off x="420624" y="2414016"/>
            <a:ext cx="3977640" cy="457200"/>
          </a:xfrm>
          <a:prstGeom prst="rect">
            <a:avLst/>
          </a:prstGeom>
          <a:noFill/>
          <a:ln/>
        </p:spPr>
        <p:txBody>
          <a:bodyPr wrap="square" rtlCol="0" anchor="ctr"/>
          <a:lstStyle/>
          <a:p>
            <a:pPr indent="0" marL="0">
              <a:buNone/>
            </a:pPr>
            <a:r>
              <a:rPr lang="en-US" sz="850" dirty="0">
                <a:solidFill>
                  <a:srgbClr val="3D5260"/>
                </a:solidFill>
                <a:latin typeface="Calibri" pitchFamily="34" charset="0"/>
                <a:ea typeface="Calibri" pitchFamily="34" charset="-122"/>
                <a:cs typeface="Calibri" pitchFamily="34" charset="-120"/>
              </a:rPr>
              <a:t>BBH PingFederate enforces OAuth 2.0 authorization flows, fully aligned with FDX open banking interoperability standards and NYDFS 500.12 requirements. Risk-based step-up authentication layered post-token exchange.</a:t>
            </a:r>
            <a:endParaRPr lang="en-US" sz="850" dirty="0"/>
          </a:p>
        </p:txBody>
      </p:sp>
      <p:sp>
        <p:nvSpPr>
          <p:cNvPr id="21" name="Shape 19"/>
          <p:cNvSpPr/>
          <p:nvPr/>
        </p:nvSpPr>
        <p:spPr>
          <a:xfrm>
            <a:off x="4663440" y="2139696"/>
            <a:ext cx="4206240" cy="786384"/>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22" name="Shape 20"/>
          <p:cNvSpPr/>
          <p:nvPr/>
        </p:nvSpPr>
        <p:spPr>
          <a:xfrm>
            <a:off x="4663440" y="2139696"/>
            <a:ext cx="64008" cy="786384"/>
          </a:xfrm>
          <a:prstGeom prst="rect">
            <a:avLst/>
          </a:prstGeom>
          <a:solidFill>
            <a:srgbClr val="1E8449"/>
          </a:solidFill>
          <a:ln w="12700">
            <a:solidFill>
              <a:srgbClr val="1E8449"/>
            </a:solidFill>
            <a:prstDash val="solid"/>
          </a:ln>
        </p:spPr>
      </p:sp>
      <p:sp>
        <p:nvSpPr>
          <p:cNvPr id="23" name="Text 21"/>
          <p:cNvSpPr/>
          <p:nvPr/>
        </p:nvSpPr>
        <p:spPr>
          <a:xfrm>
            <a:off x="4809744" y="2185416"/>
            <a:ext cx="3977640" cy="219456"/>
          </a:xfrm>
          <a:prstGeom prst="rect">
            <a:avLst/>
          </a:prstGeom>
          <a:noFill/>
          <a:ln/>
        </p:spPr>
        <p:txBody>
          <a:bodyPr wrap="square" rtlCol="0" anchor="ctr"/>
          <a:lstStyle/>
          <a:p>
            <a:pPr indent="0" marL="0">
              <a:buNone/>
            </a:pPr>
            <a:r>
              <a:rPr lang="en-US" sz="1000" b="1" dirty="0">
                <a:solidFill>
                  <a:srgbClr val="0A1628"/>
                </a:solidFill>
                <a:latin typeface="Calibri" pitchFamily="34" charset="0"/>
                <a:ea typeface="Calibri" pitchFamily="34" charset="-122"/>
                <a:cs typeface="Calibri" pitchFamily="34" charset="-120"/>
              </a:rPr>
              <a:t>Multi-Factor Authentication</a:t>
            </a:r>
            <a:endParaRPr lang="en-US" sz="1000" dirty="0"/>
          </a:p>
        </p:txBody>
      </p:sp>
      <p:sp>
        <p:nvSpPr>
          <p:cNvPr id="24" name="Text 22"/>
          <p:cNvSpPr/>
          <p:nvPr/>
        </p:nvSpPr>
        <p:spPr>
          <a:xfrm>
            <a:off x="4809744" y="2414016"/>
            <a:ext cx="3977640" cy="457200"/>
          </a:xfrm>
          <a:prstGeom prst="rect">
            <a:avLst/>
          </a:prstGeom>
          <a:noFill/>
          <a:ln/>
        </p:spPr>
        <p:txBody>
          <a:bodyPr wrap="square" rtlCol="0" anchor="ctr"/>
          <a:lstStyle/>
          <a:p>
            <a:pPr indent="0" marL="0">
              <a:buNone/>
            </a:pPr>
            <a:r>
              <a:rPr lang="en-US" sz="850" dirty="0">
                <a:solidFill>
                  <a:srgbClr val="3D5260"/>
                </a:solidFill>
                <a:latin typeface="Calibri" pitchFamily="34" charset="0"/>
                <a:ea typeface="Calibri" pitchFamily="34" charset="-122"/>
                <a:cs typeface="Calibri" pitchFamily="34" charset="-120"/>
              </a:rPr>
              <a:t>BBH PingFederate manages MFA for all authentication flows. Plaid surfaces and propagates bank-level MFA challenges (SMS, TOTP, security questions) without bypassing them. NYDFS 500.12 AAL2 compliant.</a:t>
            </a:r>
            <a:endParaRPr lang="en-US" sz="850" dirty="0"/>
          </a:p>
        </p:txBody>
      </p:sp>
      <p:sp>
        <p:nvSpPr>
          <p:cNvPr id="25" name="Shape 23"/>
          <p:cNvSpPr/>
          <p:nvPr/>
        </p:nvSpPr>
        <p:spPr>
          <a:xfrm>
            <a:off x="274320" y="3035808"/>
            <a:ext cx="4206240" cy="786384"/>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26" name="Shape 24"/>
          <p:cNvSpPr/>
          <p:nvPr/>
        </p:nvSpPr>
        <p:spPr>
          <a:xfrm>
            <a:off x="274320" y="3035808"/>
            <a:ext cx="64008" cy="786384"/>
          </a:xfrm>
          <a:prstGeom prst="rect">
            <a:avLst/>
          </a:prstGeom>
          <a:solidFill>
            <a:srgbClr val="7D3C98"/>
          </a:solidFill>
          <a:ln w="12700">
            <a:solidFill>
              <a:srgbClr val="7D3C98"/>
            </a:solidFill>
            <a:prstDash val="solid"/>
          </a:ln>
        </p:spPr>
      </p:sp>
      <p:sp>
        <p:nvSpPr>
          <p:cNvPr id="27" name="Text 25"/>
          <p:cNvSpPr/>
          <p:nvPr/>
        </p:nvSpPr>
        <p:spPr>
          <a:xfrm>
            <a:off x="420624" y="3081528"/>
            <a:ext cx="3977640" cy="219456"/>
          </a:xfrm>
          <a:prstGeom prst="rect">
            <a:avLst/>
          </a:prstGeom>
          <a:noFill/>
          <a:ln/>
        </p:spPr>
        <p:txBody>
          <a:bodyPr wrap="square" rtlCol="0" anchor="ctr"/>
          <a:lstStyle/>
          <a:p>
            <a:pPr indent="0" marL="0">
              <a:buNone/>
            </a:pPr>
            <a:r>
              <a:rPr lang="en-US" sz="1000" b="1" dirty="0">
                <a:solidFill>
                  <a:srgbClr val="0A1628"/>
                </a:solidFill>
                <a:latin typeface="Calibri" pitchFamily="34" charset="0"/>
                <a:ea typeface="Calibri" pitchFamily="34" charset="-122"/>
                <a:cs typeface="Calibri" pitchFamily="34" charset="-120"/>
              </a:rPr>
              <a:t>Centralized Token Revocation</a:t>
            </a:r>
            <a:endParaRPr lang="en-US" sz="1000" dirty="0"/>
          </a:p>
        </p:txBody>
      </p:sp>
      <p:sp>
        <p:nvSpPr>
          <p:cNvPr id="28" name="Text 26"/>
          <p:cNvSpPr/>
          <p:nvPr/>
        </p:nvSpPr>
        <p:spPr>
          <a:xfrm>
            <a:off x="420624" y="3310128"/>
            <a:ext cx="3977640" cy="457200"/>
          </a:xfrm>
          <a:prstGeom prst="rect">
            <a:avLst/>
          </a:prstGeom>
          <a:noFill/>
          <a:ln/>
        </p:spPr>
        <p:txBody>
          <a:bodyPr wrap="square" rtlCol="0" anchor="ctr"/>
          <a:lstStyle/>
          <a:p>
            <a:pPr indent="0" marL="0">
              <a:buNone/>
            </a:pPr>
            <a:r>
              <a:rPr lang="en-US" sz="850" dirty="0">
                <a:solidFill>
                  <a:srgbClr val="3D5260"/>
                </a:solidFill>
                <a:latin typeface="Calibri" pitchFamily="34" charset="0"/>
                <a:ea typeface="Calibri" pitchFamily="34" charset="-122"/>
                <a:cs typeface="Calibri" pitchFamily="34" charset="-120"/>
              </a:rPr>
              <a:t>BBH can revoke any Plaid access token instantly, terminating all fintech access within seconds. Users can self-revoke through BBH. Token revocation events are logged and SIEM-ingestible in near real-time.</a:t>
            </a:r>
            <a:endParaRPr lang="en-US" sz="850" dirty="0"/>
          </a:p>
        </p:txBody>
      </p:sp>
      <p:sp>
        <p:nvSpPr>
          <p:cNvPr id="29" name="Shape 27"/>
          <p:cNvSpPr/>
          <p:nvPr/>
        </p:nvSpPr>
        <p:spPr>
          <a:xfrm>
            <a:off x="4663440" y="3035808"/>
            <a:ext cx="4206240" cy="786384"/>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30" name="Shape 28"/>
          <p:cNvSpPr/>
          <p:nvPr/>
        </p:nvSpPr>
        <p:spPr>
          <a:xfrm>
            <a:off x="4663440" y="3035808"/>
            <a:ext cx="64008" cy="786384"/>
          </a:xfrm>
          <a:prstGeom prst="rect">
            <a:avLst/>
          </a:prstGeom>
          <a:solidFill>
            <a:srgbClr val="BA4A00"/>
          </a:solidFill>
          <a:ln w="12700">
            <a:solidFill>
              <a:srgbClr val="BA4A00"/>
            </a:solidFill>
            <a:prstDash val="solid"/>
          </a:ln>
        </p:spPr>
      </p:sp>
      <p:sp>
        <p:nvSpPr>
          <p:cNvPr id="31" name="Text 29"/>
          <p:cNvSpPr/>
          <p:nvPr/>
        </p:nvSpPr>
        <p:spPr>
          <a:xfrm>
            <a:off x="4809744" y="3081528"/>
            <a:ext cx="3977640" cy="219456"/>
          </a:xfrm>
          <a:prstGeom prst="rect">
            <a:avLst/>
          </a:prstGeom>
          <a:noFill/>
          <a:ln/>
        </p:spPr>
        <p:txBody>
          <a:bodyPr wrap="square" rtlCol="0" anchor="ctr"/>
          <a:lstStyle/>
          <a:p>
            <a:pPr indent="0" marL="0">
              <a:buNone/>
            </a:pPr>
            <a:r>
              <a:rPr lang="en-US" sz="1000" b="1" dirty="0">
                <a:solidFill>
                  <a:srgbClr val="0A1628"/>
                </a:solidFill>
                <a:latin typeface="Calibri" pitchFamily="34" charset="0"/>
                <a:ea typeface="Calibri" pitchFamily="34" charset="-122"/>
                <a:cs typeface="Calibri" pitchFamily="34" charset="-120"/>
              </a:rPr>
              <a:t>Audit Trail &amp; SIEM Ingestion</a:t>
            </a:r>
            <a:endParaRPr lang="en-US" sz="1000" dirty="0"/>
          </a:p>
        </p:txBody>
      </p:sp>
      <p:sp>
        <p:nvSpPr>
          <p:cNvPr id="32" name="Text 30"/>
          <p:cNvSpPr/>
          <p:nvPr/>
        </p:nvSpPr>
        <p:spPr>
          <a:xfrm>
            <a:off x="4809744" y="3310128"/>
            <a:ext cx="3977640" cy="457200"/>
          </a:xfrm>
          <a:prstGeom prst="rect">
            <a:avLst/>
          </a:prstGeom>
          <a:noFill/>
          <a:ln/>
        </p:spPr>
        <p:txBody>
          <a:bodyPr wrap="square" rtlCol="0" anchor="ctr"/>
          <a:lstStyle/>
          <a:p>
            <a:pPr indent="0" marL="0">
              <a:buNone/>
            </a:pPr>
            <a:r>
              <a:rPr lang="en-US" sz="850" dirty="0">
                <a:solidFill>
                  <a:srgbClr val="3D5260"/>
                </a:solidFill>
                <a:latin typeface="Calibri" pitchFamily="34" charset="0"/>
                <a:ea typeface="Calibri" pitchFamily="34" charset="-122"/>
                <a:cs typeface="Calibri" pitchFamily="34" charset="-120"/>
              </a:rPr>
              <a:t>Plaid webhooks deliver full token lifecycle events (creation, MFA completion, refresh, revocation) for ingestion into BBH SIEM. Provides continuous monitoring, alerting on anomalies, and a complete regulatory audit trail.</a:t>
            </a:r>
            <a:endParaRPr lang="en-US" sz="850" dirty="0"/>
          </a:p>
        </p:txBody>
      </p:sp>
      <p:sp>
        <p:nvSpPr>
          <p:cNvPr id="33" name="Shape 31"/>
          <p:cNvSpPr/>
          <p:nvPr/>
        </p:nvSpPr>
        <p:spPr>
          <a:xfrm>
            <a:off x="274320" y="3931920"/>
            <a:ext cx="4206240" cy="786384"/>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34" name="Shape 32"/>
          <p:cNvSpPr/>
          <p:nvPr/>
        </p:nvSpPr>
        <p:spPr>
          <a:xfrm>
            <a:off x="274320" y="3931920"/>
            <a:ext cx="64008" cy="786384"/>
          </a:xfrm>
          <a:prstGeom prst="rect">
            <a:avLst/>
          </a:prstGeom>
          <a:solidFill>
            <a:srgbClr val="C0392B"/>
          </a:solidFill>
          <a:ln w="12700">
            <a:solidFill>
              <a:srgbClr val="C0392B"/>
            </a:solidFill>
            <a:prstDash val="solid"/>
          </a:ln>
        </p:spPr>
      </p:sp>
      <p:sp>
        <p:nvSpPr>
          <p:cNvPr id="35" name="Text 33"/>
          <p:cNvSpPr/>
          <p:nvPr/>
        </p:nvSpPr>
        <p:spPr>
          <a:xfrm>
            <a:off x="420624" y="3977640"/>
            <a:ext cx="3977640" cy="219456"/>
          </a:xfrm>
          <a:prstGeom prst="rect">
            <a:avLst/>
          </a:prstGeom>
          <a:noFill/>
          <a:ln/>
        </p:spPr>
        <p:txBody>
          <a:bodyPr wrap="square" rtlCol="0" anchor="ctr"/>
          <a:lstStyle/>
          <a:p>
            <a:pPr indent="0" marL="0">
              <a:buNone/>
            </a:pPr>
            <a:r>
              <a:rPr lang="en-US" sz="1000" b="1" dirty="0">
                <a:solidFill>
                  <a:srgbClr val="0A1628"/>
                </a:solidFill>
                <a:latin typeface="Calibri" pitchFamily="34" charset="0"/>
                <a:ea typeface="Calibri" pitchFamily="34" charset="-122"/>
                <a:cs typeface="Calibri" pitchFamily="34" charset="-120"/>
              </a:rPr>
              <a:t>Phishing Mitigation</a:t>
            </a:r>
            <a:endParaRPr lang="en-US" sz="1000" dirty="0"/>
          </a:p>
        </p:txBody>
      </p:sp>
      <p:sp>
        <p:nvSpPr>
          <p:cNvPr id="36" name="Text 34"/>
          <p:cNvSpPr/>
          <p:nvPr/>
        </p:nvSpPr>
        <p:spPr>
          <a:xfrm>
            <a:off x="420624" y="4206240"/>
            <a:ext cx="3977640" cy="457200"/>
          </a:xfrm>
          <a:prstGeom prst="rect">
            <a:avLst/>
          </a:prstGeom>
          <a:noFill/>
          <a:ln/>
        </p:spPr>
        <p:txBody>
          <a:bodyPr wrap="square" rtlCol="0" anchor="ctr"/>
          <a:lstStyle/>
          <a:p>
            <a:pPr indent="0" marL="0">
              <a:buNone/>
            </a:pPr>
            <a:r>
              <a:rPr lang="en-US" sz="850" dirty="0">
                <a:solidFill>
                  <a:srgbClr val="3D5260"/>
                </a:solidFill>
                <a:latin typeface="Calibri" pitchFamily="34" charset="0"/>
                <a:ea typeface="Calibri" pitchFamily="34" charset="-122"/>
                <a:cs typeface="Calibri" pitchFamily="34" charset="-120"/>
              </a:rPr>
              <a:t>OAuth redirect sends users to their bank's official domain — users never enter credentials into a Plaid-hosted screen. Certificate pinning and redirect_uri allow-listing prevent domain spoofing. BBH proxy URL allow-listing as compensating control.</a:t>
            </a:r>
            <a:endParaRPr lang="en-US" sz="850" dirty="0"/>
          </a:p>
        </p:txBody>
      </p:sp>
      <p:sp>
        <p:nvSpPr>
          <p:cNvPr id="37" name="Shape 35"/>
          <p:cNvSpPr/>
          <p:nvPr/>
        </p:nvSpPr>
        <p:spPr>
          <a:xfrm>
            <a:off x="4663440" y="3931920"/>
            <a:ext cx="4206240" cy="786384"/>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38" name="Shape 36"/>
          <p:cNvSpPr/>
          <p:nvPr/>
        </p:nvSpPr>
        <p:spPr>
          <a:xfrm>
            <a:off x="4663440" y="3931920"/>
            <a:ext cx="64008" cy="786384"/>
          </a:xfrm>
          <a:prstGeom prst="rect">
            <a:avLst/>
          </a:prstGeom>
          <a:solidFill>
            <a:srgbClr val="3D5260"/>
          </a:solidFill>
          <a:ln w="12700">
            <a:solidFill>
              <a:srgbClr val="3D5260"/>
            </a:solidFill>
            <a:prstDash val="solid"/>
          </a:ln>
        </p:spPr>
      </p:sp>
      <p:sp>
        <p:nvSpPr>
          <p:cNvPr id="39" name="Text 37"/>
          <p:cNvSpPr/>
          <p:nvPr/>
        </p:nvSpPr>
        <p:spPr>
          <a:xfrm>
            <a:off x="4809744" y="3977640"/>
            <a:ext cx="3977640" cy="219456"/>
          </a:xfrm>
          <a:prstGeom prst="rect">
            <a:avLst/>
          </a:prstGeom>
          <a:noFill/>
          <a:ln/>
        </p:spPr>
        <p:txBody>
          <a:bodyPr wrap="square" rtlCol="0" anchor="ctr"/>
          <a:lstStyle/>
          <a:p>
            <a:pPr indent="0" marL="0">
              <a:buNone/>
            </a:pPr>
            <a:r>
              <a:rPr lang="en-US" sz="1000" b="1" dirty="0">
                <a:solidFill>
                  <a:srgbClr val="0A1628"/>
                </a:solidFill>
                <a:latin typeface="Calibri" pitchFamily="34" charset="0"/>
                <a:ea typeface="Calibri" pitchFamily="34" charset="-122"/>
                <a:cs typeface="Calibri" pitchFamily="34" charset="-120"/>
              </a:rPr>
              <a:t>No Cross-Tenant Exposure</a:t>
            </a:r>
            <a:endParaRPr lang="en-US" sz="1000" dirty="0"/>
          </a:p>
        </p:txBody>
      </p:sp>
      <p:sp>
        <p:nvSpPr>
          <p:cNvPr id="40" name="Text 38"/>
          <p:cNvSpPr/>
          <p:nvPr/>
        </p:nvSpPr>
        <p:spPr>
          <a:xfrm>
            <a:off x="4809744" y="4206240"/>
            <a:ext cx="3977640" cy="457200"/>
          </a:xfrm>
          <a:prstGeom prst="rect">
            <a:avLst/>
          </a:prstGeom>
          <a:noFill/>
          <a:ln/>
        </p:spPr>
        <p:txBody>
          <a:bodyPr wrap="square" rtlCol="0" anchor="ctr"/>
          <a:lstStyle/>
          <a:p>
            <a:pPr indent="0" marL="0">
              <a:buNone/>
            </a:pPr>
            <a:r>
              <a:rPr lang="en-US" sz="850" dirty="0">
                <a:solidFill>
                  <a:srgbClr val="3D5260"/>
                </a:solidFill>
                <a:latin typeface="Calibri" pitchFamily="34" charset="0"/>
                <a:ea typeface="Calibri" pitchFamily="34" charset="-122"/>
                <a:cs typeface="Calibri" pitchFamily="34" charset="-120"/>
              </a:rPr>
              <a:t>Plaid's architecture provides strict tenant isolation. BBH receives only events scoped to its own Plaid application. No cross-customer data is accessible via BBH API credentials under any circumstance.</a:t>
            </a:r>
            <a:endParaRPr lang="en-US" sz="850" dirty="0"/>
          </a:p>
        </p:txBody>
      </p:sp>
      <p:sp>
        <p:nvSpPr>
          <p:cNvPr id="41" name="Shape 39"/>
          <p:cNvSpPr/>
          <p:nvPr/>
        </p:nvSpPr>
        <p:spPr>
          <a:xfrm>
            <a:off x="0" y="4864608"/>
            <a:ext cx="9144000" cy="278892"/>
          </a:xfrm>
          <a:prstGeom prst="rect">
            <a:avLst/>
          </a:prstGeom>
          <a:solidFill>
            <a:srgbClr val="0A1628"/>
          </a:solidFill>
          <a:ln w="12700">
            <a:solidFill>
              <a:srgbClr val="0A1628"/>
            </a:solidFill>
            <a:prstDash val="solid"/>
          </a:ln>
        </p:spPr>
      </p:sp>
      <p:sp>
        <p:nvSpPr>
          <p:cNvPr id="42" name="Text 40"/>
          <p:cNvSpPr/>
          <p:nvPr/>
        </p:nvSpPr>
        <p:spPr>
          <a:xfrm>
            <a:off x="320040" y="4878324"/>
            <a:ext cx="7772400" cy="237744"/>
          </a:xfrm>
          <a:prstGeom prst="rect">
            <a:avLst/>
          </a:prstGeom>
          <a:noFill/>
          <a:ln/>
        </p:spPr>
        <p:txBody>
          <a:bodyPr wrap="square" rtlCol="0" anchor="ctr"/>
          <a:lstStyle/>
          <a:p>
            <a:pPr indent="0" marL="0">
              <a:buNone/>
            </a:pPr>
            <a:r>
              <a:rPr lang="en-US" sz="850" dirty="0">
                <a:solidFill>
                  <a:srgbClr val="8FA3A8"/>
                </a:solidFill>
              </a:rPr>
              <a:t>BBH × Plaid | Architecture Review Board | Confidential &amp; Proprietary</a:t>
            </a:r>
            <a:endParaRPr lang="en-US" sz="850" dirty="0"/>
          </a:p>
        </p:txBody>
      </p:sp>
      <p:sp>
        <p:nvSpPr>
          <p:cNvPr id="43" name="Text 41"/>
          <p:cNvSpPr/>
          <p:nvPr/>
        </p:nvSpPr>
        <p:spPr>
          <a:xfrm>
            <a:off x="8503920" y="4878324"/>
            <a:ext cx="457200" cy="237744"/>
          </a:xfrm>
          <a:prstGeom prst="rect">
            <a:avLst/>
          </a:prstGeom>
          <a:noFill/>
          <a:ln/>
        </p:spPr>
        <p:txBody>
          <a:bodyPr wrap="square" rtlCol="0" anchor="ctr"/>
          <a:lstStyle/>
          <a:p>
            <a:pPr algn="r" indent="0" marL="0">
              <a:buNone/>
            </a:pPr>
            <a:r>
              <a:rPr lang="en-US" sz="850" dirty="0">
                <a:solidFill>
                  <a:srgbClr val="8FA3A8"/>
                </a:solidFill>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9"/>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A1628"/>
          </a:solidFill>
          <a:ln w="12700">
            <a:solidFill>
              <a:srgbClr val="0A1628"/>
            </a:solidFill>
            <a:prstDash val="solid"/>
          </a:ln>
        </p:spPr>
      </p:sp>
      <p:sp>
        <p:nvSpPr>
          <p:cNvPr id="3" name="Shape 1"/>
          <p:cNvSpPr/>
          <p:nvPr/>
        </p:nvSpPr>
        <p:spPr>
          <a:xfrm>
            <a:off x="0" y="749808"/>
            <a:ext cx="9144000" cy="54864"/>
          </a:xfrm>
          <a:prstGeom prst="rect">
            <a:avLst/>
          </a:prstGeom>
          <a:solidFill>
            <a:srgbClr val="C0392B"/>
          </a:solidFill>
          <a:ln w="12700">
            <a:solidFill>
              <a:srgbClr val="C0392B"/>
            </a:solidFill>
            <a:prstDash val="solid"/>
          </a:ln>
        </p:spPr>
      </p:sp>
      <p:sp>
        <p:nvSpPr>
          <p:cNvPr id="4" name="Text 2"/>
          <p:cNvSpPr/>
          <p:nvPr/>
        </p:nvSpPr>
        <p:spPr>
          <a:xfrm>
            <a:off x="365760" y="0"/>
            <a:ext cx="7315200" cy="7498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STRIDE Threat Model — Cyber Risk Assessment</a:t>
            </a:r>
            <a:endParaRPr lang="en-US" sz="2200" dirty="0"/>
          </a:p>
        </p:txBody>
      </p:sp>
      <p:sp>
        <p:nvSpPr>
          <p:cNvPr id="5" name="Shape 3"/>
          <p:cNvSpPr/>
          <p:nvPr/>
        </p:nvSpPr>
        <p:spPr>
          <a:xfrm>
            <a:off x="7516368" y="146304"/>
            <a:ext cx="1389888" cy="457200"/>
          </a:xfrm>
          <a:prstGeom prst="rect">
            <a:avLst>
              <a:gd name="adj" fmla="val 8000"/>
            </a:avLst>
          </a:prstGeom>
          <a:solidFill>
            <a:srgbClr val="8B1A1A"/>
          </a:solidFill>
          <a:ln w="12700">
            <a:solidFill>
              <a:srgbClr val="8B1A1A"/>
            </a:solidFill>
            <a:prstDash val="solid"/>
          </a:ln>
        </p:spPr>
      </p:sp>
      <p:sp>
        <p:nvSpPr>
          <p:cNvPr id="6" name="Text 4"/>
          <p:cNvSpPr/>
          <p:nvPr/>
        </p:nvSpPr>
        <p:spPr>
          <a:xfrm>
            <a:off x="7516368" y="146304"/>
            <a:ext cx="1389888" cy="457200"/>
          </a:xfrm>
          <a:prstGeom prst="rect">
            <a:avLst/>
          </a:prstGeom>
          <a:noFill/>
          <a:ln/>
        </p:spPr>
        <p:txBody>
          <a:bodyPr wrap="square" lIns="0" tIns="0" rIns="0" bIns="0" rtlCol="0" anchor="ctr"/>
          <a:lstStyle/>
          <a:p>
            <a:pPr algn="ctr" indent="0" marL="0">
              <a:buNone/>
            </a:pPr>
            <a:r>
              <a:rPr lang="en-US" sz="850" b="1" spc="50" kern="0" dirty="0">
                <a:solidFill>
                  <a:srgbClr val="FFFFFF"/>
                </a:solidFill>
              </a:rPr>
              <a:t>CYBER RISK</a:t>
            </a:r>
            <a:endParaRPr lang="en-US" sz="850" dirty="0"/>
          </a:p>
        </p:txBody>
      </p:sp>
      <p:sp>
        <p:nvSpPr>
          <p:cNvPr id="7" name="Shape 5"/>
          <p:cNvSpPr/>
          <p:nvPr/>
        </p:nvSpPr>
        <p:spPr>
          <a:xfrm>
            <a:off x="274320" y="896112"/>
            <a:ext cx="8595360" cy="237744"/>
          </a:xfrm>
          <a:prstGeom prst="rect">
            <a:avLst/>
          </a:prstGeom>
          <a:solidFill>
            <a:srgbClr val="FDF3F3"/>
          </a:solidFill>
          <a:ln w="6350">
            <a:solidFill>
              <a:srgbClr val="F5C6C6"/>
            </a:solidFill>
            <a:prstDash val="solid"/>
          </a:ln>
        </p:spPr>
      </p:sp>
      <p:sp>
        <p:nvSpPr>
          <p:cNvPr id="8" name="Text 6"/>
          <p:cNvSpPr/>
          <p:nvPr/>
        </p:nvSpPr>
        <p:spPr>
          <a:xfrm>
            <a:off x="384048" y="896112"/>
            <a:ext cx="8375904" cy="237744"/>
          </a:xfrm>
          <a:prstGeom prst="rect">
            <a:avLst/>
          </a:prstGeom>
          <a:noFill/>
          <a:ln/>
        </p:spPr>
        <p:txBody>
          <a:bodyPr wrap="square" rtlCol="0" anchor="ctr"/>
          <a:lstStyle/>
          <a:p>
            <a:pPr indent="0" marL="0">
              <a:buNone/>
            </a:pPr>
            <a:r>
              <a:rPr lang="en-US" sz="850" dirty="0">
                <a:solidFill>
                  <a:srgbClr val="7B3333"/>
                </a:solidFill>
                <a:latin typeface="Calibri" pitchFamily="34" charset="0"/>
                <a:ea typeface="Calibri" pitchFamily="34" charset="-122"/>
                <a:cs typeface="Calibri" pitchFamily="34" charset="-120"/>
              </a:rPr>
              <a:t>Threat modelling conducted against the Plaid OAuth integration layer using the STRIDE framework, assessed against BBH's conservative institutional risk posture.</a:t>
            </a:r>
            <a:endParaRPr lang="en-US" sz="850" dirty="0"/>
          </a:p>
        </p:txBody>
      </p:sp>
      <p:sp>
        <p:nvSpPr>
          <p:cNvPr id="9" name="Shape 7"/>
          <p:cNvSpPr/>
          <p:nvPr/>
        </p:nvSpPr>
        <p:spPr>
          <a:xfrm>
            <a:off x="274320" y="1207008"/>
            <a:ext cx="4315968" cy="1115568"/>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10" name="Shape 8"/>
          <p:cNvSpPr/>
          <p:nvPr/>
        </p:nvSpPr>
        <p:spPr>
          <a:xfrm>
            <a:off x="274320" y="1207008"/>
            <a:ext cx="64008" cy="1115568"/>
          </a:xfrm>
          <a:prstGeom prst="rect">
            <a:avLst/>
          </a:prstGeom>
          <a:solidFill>
            <a:srgbClr val="C0392B"/>
          </a:solidFill>
          <a:ln w="12700">
            <a:solidFill>
              <a:srgbClr val="C0392B"/>
            </a:solidFill>
            <a:prstDash val="solid"/>
          </a:ln>
        </p:spPr>
      </p:sp>
      <p:sp>
        <p:nvSpPr>
          <p:cNvPr id="11" name="Shape 9"/>
          <p:cNvSpPr/>
          <p:nvPr/>
        </p:nvSpPr>
        <p:spPr>
          <a:xfrm>
            <a:off x="384048" y="1271016"/>
            <a:ext cx="310896" cy="310896"/>
          </a:xfrm>
          <a:prstGeom prst="rect">
            <a:avLst>
              <a:gd name="adj" fmla="val 11765"/>
            </a:avLst>
          </a:prstGeom>
          <a:solidFill>
            <a:srgbClr val="C0392B"/>
          </a:solidFill>
          <a:ln w="12700">
            <a:solidFill>
              <a:srgbClr val="C0392B"/>
            </a:solidFill>
            <a:prstDash val="solid"/>
          </a:ln>
        </p:spPr>
      </p:sp>
      <p:sp>
        <p:nvSpPr>
          <p:cNvPr id="12" name="Text 10"/>
          <p:cNvSpPr/>
          <p:nvPr/>
        </p:nvSpPr>
        <p:spPr>
          <a:xfrm>
            <a:off x="384048" y="127101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rPr>
              <a:t>S</a:t>
            </a:r>
            <a:endParaRPr lang="en-US" sz="1300" dirty="0"/>
          </a:p>
        </p:txBody>
      </p:sp>
      <p:sp>
        <p:nvSpPr>
          <p:cNvPr id="13" name="Text 11"/>
          <p:cNvSpPr/>
          <p:nvPr/>
        </p:nvSpPr>
        <p:spPr>
          <a:xfrm>
            <a:off x="768096" y="1289304"/>
            <a:ext cx="2560320" cy="201168"/>
          </a:xfrm>
          <a:prstGeom prst="rect">
            <a:avLst/>
          </a:prstGeom>
          <a:noFill/>
          <a:ln/>
        </p:spPr>
        <p:txBody>
          <a:bodyPr wrap="square" rtlCol="0" anchor="ctr"/>
          <a:lstStyle/>
          <a:p>
            <a:pPr indent="0" marL="0">
              <a:buNone/>
            </a:pPr>
            <a:r>
              <a:rPr lang="en-US" sz="950" b="1" spc="50" kern="0" dirty="0">
                <a:solidFill>
                  <a:srgbClr val="C0392B"/>
                </a:solidFill>
                <a:latin typeface="Calibri" pitchFamily="34" charset="0"/>
                <a:ea typeface="Calibri" pitchFamily="34" charset="-122"/>
                <a:cs typeface="Calibri" pitchFamily="34" charset="-120"/>
              </a:rPr>
              <a:t>SPOOFING</a:t>
            </a:r>
            <a:endParaRPr lang="en-US" sz="950" dirty="0"/>
          </a:p>
        </p:txBody>
      </p:sp>
      <p:sp>
        <p:nvSpPr>
          <p:cNvPr id="14" name="Shape 12"/>
          <p:cNvSpPr/>
          <p:nvPr/>
        </p:nvSpPr>
        <p:spPr>
          <a:xfrm>
            <a:off x="3803904" y="1289304"/>
            <a:ext cx="713232" cy="201168"/>
          </a:xfrm>
          <a:prstGeom prst="rect">
            <a:avLst>
              <a:gd name="adj" fmla="val 18182"/>
            </a:avLst>
          </a:prstGeom>
          <a:solidFill>
            <a:srgbClr val="BA4A00"/>
          </a:solidFill>
          <a:ln w="12700">
            <a:solidFill>
              <a:srgbClr val="BA4A00"/>
            </a:solidFill>
            <a:prstDash val="solid"/>
          </a:ln>
        </p:spPr>
      </p:sp>
      <p:sp>
        <p:nvSpPr>
          <p:cNvPr id="15" name="Text 13"/>
          <p:cNvSpPr/>
          <p:nvPr/>
        </p:nvSpPr>
        <p:spPr>
          <a:xfrm>
            <a:off x="3803904" y="1289304"/>
            <a:ext cx="713232" cy="201168"/>
          </a:xfrm>
          <a:prstGeom prst="rect">
            <a:avLst/>
          </a:prstGeom>
          <a:noFill/>
          <a:ln/>
        </p:spPr>
        <p:txBody>
          <a:bodyPr wrap="square" lIns="0" tIns="0" rIns="0" bIns="0" rtlCol="0" anchor="ctr"/>
          <a:lstStyle/>
          <a:p>
            <a:pPr algn="ctr" indent="0" marL="0">
              <a:buNone/>
            </a:pPr>
            <a:r>
              <a:rPr lang="en-US" sz="750" b="1" dirty="0">
                <a:solidFill>
                  <a:srgbClr val="FFFFFF"/>
                </a:solidFill>
              </a:rPr>
              <a:t>MEDIUM</a:t>
            </a:r>
            <a:endParaRPr lang="en-US" sz="750" dirty="0"/>
          </a:p>
        </p:txBody>
      </p:sp>
      <p:sp>
        <p:nvSpPr>
          <p:cNvPr id="16" name="Text 14"/>
          <p:cNvSpPr/>
          <p:nvPr/>
        </p:nvSpPr>
        <p:spPr>
          <a:xfrm>
            <a:off x="384048" y="1591056"/>
            <a:ext cx="658368" cy="182880"/>
          </a:xfrm>
          <a:prstGeom prst="rect">
            <a:avLst/>
          </a:prstGeom>
          <a:noFill/>
          <a:ln/>
        </p:spPr>
        <p:txBody>
          <a:bodyPr wrap="square" rtlCol="0" anchor="ctr"/>
          <a:lstStyle/>
          <a:p>
            <a:pPr indent="0" marL="0">
              <a:buNone/>
            </a:pPr>
            <a:r>
              <a:rPr lang="en-US" sz="750" b="1" dirty="0">
                <a:solidFill>
                  <a:srgbClr val="7B3333"/>
                </a:solidFill>
              </a:rPr>
              <a:t>⚠ Threat:</a:t>
            </a:r>
            <a:endParaRPr lang="en-US" sz="750" dirty="0"/>
          </a:p>
        </p:txBody>
      </p:sp>
      <p:sp>
        <p:nvSpPr>
          <p:cNvPr id="17" name="Text 15"/>
          <p:cNvSpPr/>
          <p:nvPr/>
        </p:nvSpPr>
        <p:spPr>
          <a:xfrm>
            <a:off x="1024128" y="1591056"/>
            <a:ext cx="3493008" cy="182880"/>
          </a:xfrm>
          <a:prstGeom prst="rect">
            <a:avLst/>
          </a:prstGeom>
          <a:noFill/>
          <a:ln/>
        </p:spPr>
        <p:txBody>
          <a:bodyPr wrap="square" rtlCol="0" anchor="ctr"/>
          <a:lstStyle/>
          <a:p>
            <a:pPr indent="0" marL="0">
              <a:buNone/>
            </a:pPr>
            <a:r>
              <a:rPr lang="en-US" sz="750" dirty="0">
                <a:solidFill>
                  <a:srgbClr val="3D5260"/>
                </a:solidFill>
                <a:latin typeface="Calibri" pitchFamily="34" charset="0"/>
                <a:ea typeface="Calibri" pitchFamily="34" charset="-122"/>
                <a:cs typeface="Calibri" pitchFamily="34" charset="-120"/>
              </a:rPr>
              <a:t>Adversaries host fake Plaid Link portals using BBH branding to capture client credentials (reverse-proxy / OAuth phishing).</a:t>
            </a:r>
            <a:endParaRPr lang="en-US" sz="750" dirty="0"/>
          </a:p>
        </p:txBody>
      </p:sp>
      <p:sp>
        <p:nvSpPr>
          <p:cNvPr id="18" name="Text 16"/>
          <p:cNvSpPr/>
          <p:nvPr/>
        </p:nvSpPr>
        <p:spPr>
          <a:xfrm>
            <a:off x="384048" y="1792224"/>
            <a:ext cx="594360" cy="182880"/>
          </a:xfrm>
          <a:prstGeom prst="rect">
            <a:avLst/>
          </a:prstGeom>
          <a:noFill/>
          <a:ln/>
        </p:spPr>
        <p:txBody>
          <a:bodyPr wrap="square" rtlCol="0" anchor="ctr"/>
          <a:lstStyle/>
          <a:p>
            <a:pPr indent="0" marL="0">
              <a:buNone/>
            </a:pPr>
            <a:r>
              <a:rPr lang="en-US" sz="750" b="1" dirty="0">
                <a:solidFill>
                  <a:srgbClr val="028090"/>
                </a:solidFill>
              </a:rPr>
              <a:t>✔ Plaid:</a:t>
            </a:r>
            <a:endParaRPr lang="en-US" sz="750" dirty="0"/>
          </a:p>
        </p:txBody>
      </p:sp>
      <p:sp>
        <p:nvSpPr>
          <p:cNvPr id="19" name="Text 17"/>
          <p:cNvSpPr/>
          <p:nvPr/>
        </p:nvSpPr>
        <p:spPr>
          <a:xfrm>
            <a:off x="960120" y="1792224"/>
            <a:ext cx="3557016" cy="182880"/>
          </a:xfrm>
          <a:prstGeom prst="rect">
            <a:avLst/>
          </a:prstGeom>
          <a:noFill/>
          <a:ln/>
        </p:spPr>
        <p:txBody>
          <a:bodyPr wrap="square" rtlCol="0" anchor="ctr"/>
          <a:lstStyle/>
          <a:p>
            <a:pPr indent="0" marL="0">
              <a:buNone/>
            </a:pPr>
            <a:r>
              <a:rPr lang="en-US" sz="750" dirty="0">
                <a:solidFill>
                  <a:srgbClr val="3D5260"/>
                </a:solidFill>
                <a:latin typeface="Calibri" pitchFamily="34" charset="0"/>
                <a:ea typeface="Calibri" pitchFamily="34" charset="-122"/>
                <a:cs typeface="Calibri" pitchFamily="34" charset="-120"/>
              </a:rPr>
              <a:t>OAuth redirect goes to the bank's own verified domain. HTTPS + certificate pinning + redirect_uri whitelisting block all rogue portal attempts.</a:t>
            </a:r>
            <a:endParaRPr lang="en-US" sz="750" dirty="0"/>
          </a:p>
        </p:txBody>
      </p:sp>
      <p:sp>
        <p:nvSpPr>
          <p:cNvPr id="20" name="Text 18"/>
          <p:cNvSpPr/>
          <p:nvPr/>
        </p:nvSpPr>
        <p:spPr>
          <a:xfrm>
            <a:off x="384048" y="1993392"/>
            <a:ext cx="566928" cy="182880"/>
          </a:xfrm>
          <a:prstGeom prst="rect">
            <a:avLst/>
          </a:prstGeom>
          <a:noFill/>
          <a:ln/>
        </p:spPr>
        <p:txBody>
          <a:bodyPr wrap="square" rtlCol="0" anchor="ctr"/>
          <a:lstStyle/>
          <a:p>
            <a:pPr indent="0" marL="0">
              <a:buNone/>
            </a:pPr>
            <a:r>
              <a:rPr lang="en-US" sz="750" b="1" dirty="0">
                <a:solidFill>
                  <a:srgbClr val="0A1628"/>
                </a:solidFill>
              </a:rPr>
              <a:t>⬡ BBH:</a:t>
            </a:r>
            <a:endParaRPr lang="en-US" sz="750" dirty="0"/>
          </a:p>
        </p:txBody>
      </p:sp>
      <p:sp>
        <p:nvSpPr>
          <p:cNvPr id="21" name="Text 19"/>
          <p:cNvSpPr/>
          <p:nvPr/>
        </p:nvSpPr>
        <p:spPr>
          <a:xfrm>
            <a:off x="932688" y="1993392"/>
            <a:ext cx="3584448" cy="182880"/>
          </a:xfrm>
          <a:prstGeom prst="rect">
            <a:avLst/>
          </a:prstGeom>
          <a:noFill/>
          <a:ln/>
        </p:spPr>
        <p:txBody>
          <a:bodyPr wrap="square" rtlCol="0" anchor="ctr"/>
          <a:lstStyle/>
          <a:p>
            <a:pPr indent="0" marL="0">
              <a:buNone/>
            </a:pPr>
            <a:r>
              <a:rPr lang="en-US" sz="750" dirty="0">
                <a:solidFill>
                  <a:srgbClr val="3D5260"/>
                </a:solidFill>
                <a:latin typeface="Calibri" pitchFamily="34" charset="0"/>
                <a:ea typeface="Calibri" pitchFamily="34" charset="-122"/>
                <a:cs typeface="Calibri" pitchFamily="34" charset="-120"/>
              </a:rPr>
              <a:t>Zscaler proxy URL allow-listing; BBH CISO phishing-awareness training; domain-verified Plaid OAuth app registration enforced.</a:t>
            </a:r>
            <a:endParaRPr lang="en-US" sz="750" dirty="0"/>
          </a:p>
        </p:txBody>
      </p:sp>
      <p:sp>
        <p:nvSpPr>
          <p:cNvPr id="22" name="Shape 20"/>
          <p:cNvSpPr/>
          <p:nvPr/>
        </p:nvSpPr>
        <p:spPr>
          <a:xfrm>
            <a:off x="4736592" y="1207008"/>
            <a:ext cx="4315968" cy="1115568"/>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23" name="Shape 21"/>
          <p:cNvSpPr/>
          <p:nvPr/>
        </p:nvSpPr>
        <p:spPr>
          <a:xfrm>
            <a:off x="4736592" y="1207008"/>
            <a:ext cx="64008" cy="1115568"/>
          </a:xfrm>
          <a:prstGeom prst="rect">
            <a:avLst/>
          </a:prstGeom>
          <a:solidFill>
            <a:srgbClr val="7D3C98"/>
          </a:solidFill>
          <a:ln w="12700">
            <a:solidFill>
              <a:srgbClr val="7D3C98"/>
            </a:solidFill>
            <a:prstDash val="solid"/>
          </a:ln>
        </p:spPr>
      </p:sp>
      <p:sp>
        <p:nvSpPr>
          <p:cNvPr id="24" name="Shape 22"/>
          <p:cNvSpPr/>
          <p:nvPr/>
        </p:nvSpPr>
        <p:spPr>
          <a:xfrm>
            <a:off x="4846320" y="1271016"/>
            <a:ext cx="310896" cy="310896"/>
          </a:xfrm>
          <a:prstGeom prst="rect">
            <a:avLst>
              <a:gd name="adj" fmla="val 11765"/>
            </a:avLst>
          </a:prstGeom>
          <a:solidFill>
            <a:srgbClr val="7D3C98"/>
          </a:solidFill>
          <a:ln w="12700">
            <a:solidFill>
              <a:srgbClr val="7D3C98"/>
            </a:solidFill>
            <a:prstDash val="solid"/>
          </a:ln>
        </p:spPr>
      </p:sp>
      <p:sp>
        <p:nvSpPr>
          <p:cNvPr id="25" name="Text 23"/>
          <p:cNvSpPr/>
          <p:nvPr/>
        </p:nvSpPr>
        <p:spPr>
          <a:xfrm>
            <a:off x="4846320" y="127101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rPr>
              <a:t>T</a:t>
            </a:r>
            <a:endParaRPr lang="en-US" sz="1300" dirty="0"/>
          </a:p>
        </p:txBody>
      </p:sp>
      <p:sp>
        <p:nvSpPr>
          <p:cNvPr id="26" name="Text 24"/>
          <p:cNvSpPr/>
          <p:nvPr/>
        </p:nvSpPr>
        <p:spPr>
          <a:xfrm>
            <a:off x="5230368" y="1289304"/>
            <a:ext cx="2560320" cy="201168"/>
          </a:xfrm>
          <a:prstGeom prst="rect">
            <a:avLst/>
          </a:prstGeom>
          <a:noFill/>
          <a:ln/>
        </p:spPr>
        <p:txBody>
          <a:bodyPr wrap="square" rtlCol="0" anchor="ctr"/>
          <a:lstStyle/>
          <a:p>
            <a:pPr indent="0" marL="0">
              <a:buNone/>
            </a:pPr>
            <a:r>
              <a:rPr lang="en-US" sz="950" b="1" spc="50" kern="0" dirty="0">
                <a:solidFill>
                  <a:srgbClr val="7D3C98"/>
                </a:solidFill>
                <a:latin typeface="Calibri" pitchFamily="34" charset="0"/>
                <a:ea typeface="Calibri" pitchFamily="34" charset="-122"/>
                <a:cs typeface="Calibri" pitchFamily="34" charset="-120"/>
              </a:rPr>
              <a:t>TAMPERING</a:t>
            </a:r>
            <a:endParaRPr lang="en-US" sz="950" dirty="0"/>
          </a:p>
        </p:txBody>
      </p:sp>
      <p:sp>
        <p:nvSpPr>
          <p:cNvPr id="27" name="Shape 25"/>
          <p:cNvSpPr/>
          <p:nvPr/>
        </p:nvSpPr>
        <p:spPr>
          <a:xfrm>
            <a:off x="8266176" y="1289304"/>
            <a:ext cx="713232" cy="201168"/>
          </a:xfrm>
          <a:prstGeom prst="rect">
            <a:avLst>
              <a:gd name="adj" fmla="val 18182"/>
            </a:avLst>
          </a:prstGeom>
          <a:solidFill>
            <a:srgbClr val="1E8449"/>
          </a:solidFill>
          <a:ln w="12700">
            <a:solidFill>
              <a:srgbClr val="1E8449"/>
            </a:solidFill>
            <a:prstDash val="solid"/>
          </a:ln>
        </p:spPr>
      </p:sp>
      <p:sp>
        <p:nvSpPr>
          <p:cNvPr id="28" name="Text 26"/>
          <p:cNvSpPr/>
          <p:nvPr/>
        </p:nvSpPr>
        <p:spPr>
          <a:xfrm>
            <a:off x="8266176" y="1289304"/>
            <a:ext cx="713232" cy="201168"/>
          </a:xfrm>
          <a:prstGeom prst="rect">
            <a:avLst/>
          </a:prstGeom>
          <a:noFill/>
          <a:ln/>
        </p:spPr>
        <p:txBody>
          <a:bodyPr wrap="square" lIns="0" tIns="0" rIns="0" bIns="0" rtlCol="0" anchor="ctr"/>
          <a:lstStyle/>
          <a:p>
            <a:pPr algn="ctr" indent="0" marL="0">
              <a:buNone/>
            </a:pPr>
            <a:r>
              <a:rPr lang="en-US" sz="750" b="1" dirty="0">
                <a:solidFill>
                  <a:srgbClr val="FFFFFF"/>
                </a:solidFill>
              </a:rPr>
              <a:t>LOW</a:t>
            </a:r>
            <a:endParaRPr lang="en-US" sz="750" dirty="0"/>
          </a:p>
        </p:txBody>
      </p:sp>
      <p:sp>
        <p:nvSpPr>
          <p:cNvPr id="29" name="Text 27"/>
          <p:cNvSpPr/>
          <p:nvPr/>
        </p:nvSpPr>
        <p:spPr>
          <a:xfrm>
            <a:off x="4846320" y="1591056"/>
            <a:ext cx="658368" cy="182880"/>
          </a:xfrm>
          <a:prstGeom prst="rect">
            <a:avLst/>
          </a:prstGeom>
          <a:noFill/>
          <a:ln/>
        </p:spPr>
        <p:txBody>
          <a:bodyPr wrap="square" rtlCol="0" anchor="ctr"/>
          <a:lstStyle/>
          <a:p>
            <a:pPr indent="0" marL="0">
              <a:buNone/>
            </a:pPr>
            <a:r>
              <a:rPr lang="en-US" sz="750" b="1" dirty="0">
                <a:solidFill>
                  <a:srgbClr val="7B3333"/>
                </a:solidFill>
              </a:rPr>
              <a:t>⚠ Threat:</a:t>
            </a:r>
            <a:endParaRPr lang="en-US" sz="750" dirty="0"/>
          </a:p>
        </p:txBody>
      </p:sp>
      <p:sp>
        <p:nvSpPr>
          <p:cNvPr id="30" name="Text 28"/>
          <p:cNvSpPr/>
          <p:nvPr/>
        </p:nvSpPr>
        <p:spPr>
          <a:xfrm>
            <a:off x="5486400" y="1591056"/>
            <a:ext cx="3493008" cy="182880"/>
          </a:xfrm>
          <a:prstGeom prst="rect">
            <a:avLst/>
          </a:prstGeom>
          <a:noFill/>
          <a:ln/>
        </p:spPr>
        <p:txBody>
          <a:bodyPr wrap="square" rtlCol="0" anchor="ctr"/>
          <a:lstStyle/>
          <a:p>
            <a:pPr indent="0" marL="0">
              <a:buNone/>
            </a:pPr>
            <a:r>
              <a:rPr lang="en-US" sz="750" dirty="0">
                <a:solidFill>
                  <a:srgbClr val="3D5260"/>
                </a:solidFill>
                <a:latin typeface="Calibri" pitchFamily="34" charset="0"/>
                <a:ea typeface="Calibri" pitchFamily="34" charset="-122"/>
                <a:cs typeface="Calibri" pitchFamily="34" charset="-120"/>
              </a:rPr>
              <a:t>Man-in-the-middle manipulation of Plaid API payloads (account/balance data) between the Plaid platform and BBH DMZ.</a:t>
            </a:r>
            <a:endParaRPr lang="en-US" sz="750" dirty="0"/>
          </a:p>
        </p:txBody>
      </p:sp>
      <p:sp>
        <p:nvSpPr>
          <p:cNvPr id="31" name="Text 29"/>
          <p:cNvSpPr/>
          <p:nvPr/>
        </p:nvSpPr>
        <p:spPr>
          <a:xfrm>
            <a:off x="4846320" y="1792224"/>
            <a:ext cx="594360" cy="182880"/>
          </a:xfrm>
          <a:prstGeom prst="rect">
            <a:avLst/>
          </a:prstGeom>
          <a:noFill/>
          <a:ln/>
        </p:spPr>
        <p:txBody>
          <a:bodyPr wrap="square" rtlCol="0" anchor="ctr"/>
          <a:lstStyle/>
          <a:p>
            <a:pPr indent="0" marL="0">
              <a:buNone/>
            </a:pPr>
            <a:r>
              <a:rPr lang="en-US" sz="750" b="1" dirty="0">
                <a:solidFill>
                  <a:srgbClr val="028090"/>
                </a:solidFill>
              </a:rPr>
              <a:t>✔ Plaid:</a:t>
            </a:r>
            <a:endParaRPr lang="en-US" sz="750" dirty="0"/>
          </a:p>
        </p:txBody>
      </p:sp>
      <p:sp>
        <p:nvSpPr>
          <p:cNvPr id="32" name="Text 30"/>
          <p:cNvSpPr/>
          <p:nvPr/>
        </p:nvSpPr>
        <p:spPr>
          <a:xfrm>
            <a:off x="5422392" y="1792224"/>
            <a:ext cx="3557016" cy="182880"/>
          </a:xfrm>
          <a:prstGeom prst="rect">
            <a:avLst/>
          </a:prstGeom>
          <a:noFill/>
          <a:ln/>
        </p:spPr>
        <p:txBody>
          <a:bodyPr wrap="square" rtlCol="0" anchor="ctr"/>
          <a:lstStyle/>
          <a:p>
            <a:pPr indent="0" marL="0">
              <a:buNone/>
            </a:pPr>
            <a:r>
              <a:rPr lang="en-US" sz="750" dirty="0">
                <a:solidFill>
                  <a:srgbClr val="3D5260"/>
                </a:solidFill>
                <a:latin typeface="Calibri" pitchFamily="34" charset="0"/>
                <a:ea typeface="Calibri" pitchFamily="34" charset="-122"/>
                <a:cs typeface="Calibri" pitchFamily="34" charset="-120"/>
              </a:rPr>
              <a:t>TLS 1.2+ enforced end-to-end. Access tokens are signed and short-lived. Payload schema is validated at API Gateway on ingestion.</a:t>
            </a:r>
            <a:endParaRPr lang="en-US" sz="750" dirty="0"/>
          </a:p>
        </p:txBody>
      </p:sp>
      <p:sp>
        <p:nvSpPr>
          <p:cNvPr id="33" name="Text 31"/>
          <p:cNvSpPr/>
          <p:nvPr/>
        </p:nvSpPr>
        <p:spPr>
          <a:xfrm>
            <a:off x="4846320" y="1993392"/>
            <a:ext cx="566928" cy="182880"/>
          </a:xfrm>
          <a:prstGeom prst="rect">
            <a:avLst/>
          </a:prstGeom>
          <a:noFill/>
          <a:ln/>
        </p:spPr>
        <p:txBody>
          <a:bodyPr wrap="square" rtlCol="0" anchor="ctr"/>
          <a:lstStyle/>
          <a:p>
            <a:pPr indent="0" marL="0">
              <a:buNone/>
            </a:pPr>
            <a:r>
              <a:rPr lang="en-US" sz="750" b="1" dirty="0">
                <a:solidFill>
                  <a:srgbClr val="0A1628"/>
                </a:solidFill>
              </a:rPr>
              <a:t>⬡ BBH:</a:t>
            </a:r>
            <a:endParaRPr lang="en-US" sz="750" dirty="0"/>
          </a:p>
        </p:txBody>
      </p:sp>
      <p:sp>
        <p:nvSpPr>
          <p:cNvPr id="34" name="Text 32"/>
          <p:cNvSpPr/>
          <p:nvPr/>
        </p:nvSpPr>
        <p:spPr>
          <a:xfrm>
            <a:off x="5394960" y="1993392"/>
            <a:ext cx="3584448" cy="182880"/>
          </a:xfrm>
          <a:prstGeom prst="rect">
            <a:avLst/>
          </a:prstGeom>
          <a:noFill/>
          <a:ln/>
        </p:spPr>
        <p:txBody>
          <a:bodyPr wrap="square" rtlCol="0" anchor="ctr"/>
          <a:lstStyle/>
          <a:p>
            <a:pPr indent="0" marL="0">
              <a:buNone/>
            </a:pPr>
            <a:r>
              <a:rPr lang="en-US" sz="750" dirty="0">
                <a:solidFill>
                  <a:srgbClr val="3D5260"/>
                </a:solidFill>
                <a:latin typeface="Calibri" pitchFamily="34" charset="0"/>
                <a:ea typeface="Calibri" pitchFamily="34" charset="-122"/>
                <a:cs typeface="Calibri" pitchFamily="34" charset="-120"/>
              </a:rPr>
              <a:t>Apigee API Gateway enforces mTLS for all inbound Plaid webhooks. CP Services performs JSON schema validation before fan-out.</a:t>
            </a:r>
            <a:endParaRPr lang="en-US" sz="750" dirty="0"/>
          </a:p>
        </p:txBody>
      </p:sp>
      <p:sp>
        <p:nvSpPr>
          <p:cNvPr id="35" name="Shape 33"/>
          <p:cNvSpPr/>
          <p:nvPr/>
        </p:nvSpPr>
        <p:spPr>
          <a:xfrm>
            <a:off x="274320" y="2441448"/>
            <a:ext cx="4315968" cy="1115568"/>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36" name="Shape 34"/>
          <p:cNvSpPr/>
          <p:nvPr/>
        </p:nvSpPr>
        <p:spPr>
          <a:xfrm>
            <a:off x="274320" y="2441448"/>
            <a:ext cx="64008" cy="1115568"/>
          </a:xfrm>
          <a:prstGeom prst="rect">
            <a:avLst/>
          </a:prstGeom>
          <a:solidFill>
            <a:srgbClr val="1A5276"/>
          </a:solidFill>
          <a:ln w="12700">
            <a:solidFill>
              <a:srgbClr val="1A5276"/>
            </a:solidFill>
            <a:prstDash val="solid"/>
          </a:ln>
        </p:spPr>
      </p:sp>
      <p:sp>
        <p:nvSpPr>
          <p:cNvPr id="37" name="Shape 35"/>
          <p:cNvSpPr/>
          <p:nvPr/>
        </p:nvSpPr>
        <p:spPr>
          <a:xfrm>
            <a:off x="384048" y="2505456"/>
            <a:ext cx="310896" cy="310896"/>
          </a:xfrm>
          <a:prstGeom prst="rect">
            <a:avLst>
              <a:gd name="adj" fmla="val 11765"/>
            </a:avLst>
          </a:prstGeom>
          <a:solidFill>
            <a:srgbClr val="1A5276"/>
          </a:solidFill>
          <a:ln w="12700">
            <a:solidFill>
              <a:srgbClr val="1A5276"/>
            </a:solidFill>
            <a:prstDash val="solid"/>
          </a:ln>
        </p:spPr>
      </p:sp>
      <p:sp>
        <p:nvSpPr>
          <p:cNvPr id="38" name="Text 36"/>
          <p:cNvSpPr/>
          <p:nvPr/>
        </p:nvSpPr>
        <p:spPr>
          <a:xfrm>
            <a:off x="384048" y="250545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rPr>
              <a:t>R</a:t>
            </a:r>
            <a:endParaRPr lang="en-US" sz="1300" dirty="0"/>
          </a:p>
        </p:txBody>
      </p:sp>
      <p:sp>
        <p:nvSpPr>
          <p:cNvPr id="39" name="Text 37"/>
          <p:cNvSpPr/>
          <p:nvPr/>
        </p:nvSpPr>
        <p:spPr>
          <a:xfrm>
            <a:off x="768096" y="2523744"/>
            <a:ext cx="2560320" cy="201168"/>
          </a:xfrm>
          <a:prstGeom prst="rect">
            <a:avLst/>
          </a:prstGeom>
          <a:noFill/>
          <a:ln/>
        </p:spPr>
        <p:txBody>
          <a:bodyPr wrap="square" rtlCol="0" anchor="ctr"/>
          <a:lstStyle/>
          <a:p>
            <a:pPr indent="0" marL="0">
              <a:buNone/>
            </a:pPr>
            <a:r>
              <a:rPr lang="en-US" sz="950" b="1" spc="50" kern="0" dirty="0">
                <a:solidFill>
                  <a:srgbClr val="1A5276"/>
                </a:solidFill>
                <a:latin typeface="Calibri" pitchFamily="34" charset="0"/>
                <a:ea typeface="Calibri" pitchFamily="34" charset="-122"/>
                <a:cs typeface="Calibri" pitchFamily="34" charset="-120"/>
              </a:rPr>
              <a:t>REPUDIATION</a:t>
            </a:r>
            <a:endParaRPr lang="en-US" sz="950" dirty="0"/>
          </a:p>
        </p:txBody>
      </p:sp>
      <p:sp>
        <p:nvSpPr>
          <p:cNvPr id="40" name="Shape 38"/>
          <p:cNvSpPr/>
          <p:nvPr/>
        </p:nvSpPr>
        <p:spPr>
          <a:xfrm>
            <a:off x="3803904" y="2523744"/>
            <a:ext cx="713232" cy="201168"/>
          </a:xfrm>
          <a:prstGeom prst="rect">
            <a:avLst>
              <a:gd name="adj" fmla="val 18182"/>
            </a:avLst>
          </a:prstGeom>
          <a:solidFill>
            <a:srgbClr val="1E8449"/>
          </a:solidFill>
          <a:ln w="12700">
            <a:solidFill>
              <a:srgbClr val="1E8449"/>
            </a:solidFill>
            <a:prstDash val="solid"/>
          </a:ln>
        </p:spPr>
      </p:sp>
      <p:sp>
        <p:nvSpPr>
          <p:cNvPr id="41" name="Text 39"/>
          <p:cNvSpPr/>
          <p:nvPr/>
        </p:nvSpPr>
        <p:spPr>
          <a:xfrm>
            <a:off x="3803904" y="2523744"/>
            <a:ext cx="713232" cy="201168"/>
          </a:xfrm>
          <a:prstGeom prst="rect">
            <a:avLst/>
          </a:prstGeom>
          <a:noFill/>
          <a:ln/>
        </p:spPr>
        <p:txBody>
          <a:bodyPr wrap="square" lIns="0" tIns="0" rIns="0" bIns="0" rtlCol="0" anchor="ctr"/>
          <a:lstStyle/>
          <a:p>
            <a:pPr algn="ctr" indent="0" marL="0">
              <a:buNone/>
            </a:pPr>
            <a:r>
              <a:rPr lang="en-US" sz="750" b="1" dirty="0">
                <a:solidFill>
                  <a:srgbClr val="FFFFFF"/>
                </a:solidFill>
              </a:rPr>
              <a:t>LOW</a:t>
            </a:r>
            <a:endParaRPr lang="en-US" sz="750" dirty="0"/>
          </a:p>
        </p:txBody>
      </p:sp>
      <p:sp>
        <p:nvSpPr>
          <p:cNvPr id="42" name="Text 40"/>
          <p:cNvSpPr/>
          <p:nvPr/>
        </p:nvSpPr>
        <p:spPr>
          <a:xfrm>
            <a:off x="384048" y="2825496"/>
            <a:ext cx="658368" cy="182880"/>
          </a:xfrm>
          <a:prstGeom prst="rect">
            <a:avLst/>
          </a:prstGeom>
          <a:noFill/>
          <a:ln/>
        </p:spPr>
        <p:txBody>
          <a:bodyPr wrap="square" rtlCol="0" anchor="ctr"/>
          <a:lstStyle/>
          <a:p>
            <a:pPr indent="0" marL="0">
              <a:buNone/>
            </a:pPr>
            <a:r>
              <a:rPr lang="en-US" sz="750" b="1" dirty="0">
                <a:solidFill>
                  <a:srgbClr val="7B3333"/>
                </a:solidFill>
              </a:rPr>
              <a:t>⚠ Threat:</a:t>
            </a:r>
            <a:endParaRPr lang="en-US" sz="750" dirty="0"/>
          </a:p>
        </p:txBody>
      </p:sp>
      <p:sp>
        <p:nvSpPr>
          <p:cNvPr id="43" name="Text 41"/>
          <p:cNvSpPr/>
          <p:nvPr/>
        </p:nvSpPr>
        <p:spPr>
          <a:xfrm>
            <a:off x="1024128" y="2825496"/>
            <a:ext cx="3493008" cy="182880"/>
          </a:xfrm>
          <a:prstGeom prst="rect">
            <a:avLst/>
          </a:prstGeom>
          <a:noFill/>
          <a:ln/>
        </p:spPr>
        <p:txBody>
          <a:bodyPr wrap="square" rtlCol="0" anchor="ctr"/>
          <a:lstStyle/>
          <a:p>
            <a:pPr indent="0" marL="0">
              <a:buNone/>
            </a:pPr>
            <a:r>
              <a:rPr lang="en-US" sz="750" dirty="0">
                <a:solidFill>
                  <a:srgbClr val="3D5260"/>
                </a:solidFill>
                <a:latin typeface="Calibri" pitchFamily="34" charset="0"/>
                <a:ea typeface="Calibri" pitchFamily="34" charset="-122"/>
                <a:cs typeface="Calibri" pitchFamily="34" charset="-120"/>
              </a:rPr>
              <a:t>Client or fintech app denies initiating a token creation or data fetch event. Insufficient audit evidence to reconstruct the sequence.</a:t>
            </a:r>
            <a:endParaRPr lang="en-US" sz="750" dirty="0"/>
          </a:p>
        </p:txBody>
      </p:sp>
      <p:sp>
        <p:nvSpPr>
          <p:cNvPr id="44" name="Text 42"/>
          <p:cNvSpPr/>
          <p:nvPr/>
        </p:nvSpPr>
        <p:spPr>
          <a:xfrm>
            <a:off x="384048" y="3026664"/>
            <a:ext cx="594360" cy="182880"/>
          </a:xfrm>
          <a:prstGeom prst="rect">
            <a:avLst/>
          </a:prstGeom>
          <a:noFill/>
          <a:ln/>
        </p:spPr>
        <p:txBody>
          <a:bodyPr wrap="square" rtlCol="0" anchor="ctr"/>
          <a:lstStyle/>
          <a:p>
            <a:pPr indent="0" marL="0">
              <a:buNone/>
            </a:pPr>
            <a:r>
              <a:rPr lang="en-US" sz="750" b="1" dirty="0">
                <a:solidFill>
                  <a:srgbClr val="028090"/>
                </a:solidFill>
              </a:rPr>
              <a:t>✔ Plaid:</a:t>
            </a:r>
            <a:endParaRPr lang="en-US" sz="750" dirty="0"/>
          </a:p>
        </p:txBody>
      </p:sp>
      <p:sp>
        <p:nvSpPr>
          <p:cNvPr id="45" name="Text 43"/>
          <p:cNvSpPr/>
          <p:nvPr/>
        </p:nvSpPr>
        <p:spPr>
          <a:xfrm>
            <a:off x="960120" y="3026664"/>
            <a:ext cx="3557016" cy="182880"/>
          </a:xfrm>
          <a:prstGeom prst="rect">
            <a:avLst/>
          </a:prstGeom>
          <a:noFill/>
          <a:ln/>
        </p:spPr>
        <p:txBody>
          <a:bodyPr wrap="square" rtlCol="0" anchor="ctr"/>
          <a:lstStyle/>
          <a:p>
            <a:pPr indent="0" marL="0">
              <a:buNone/>
            </a:pPr>
            <a:r>
              <a:rPr lang="en-US" sz="750" dirty="0">
                <a:solidFill>
                  <a:srgbClr val="3D5260"/>
                </a:solidFill>
                <a:latin typeface="Calibri" pitchFamily="34" charset="0"/>
                <a:ea typeface="Calibri" pitchFamily="34" charset="-122"/>
                <a:cs typeface="Calibri" pitchFamily="34" charset="-120"/>
              </a:rPr>
              <a:t>Immutable webhook event log covering: link creation, MFA completion, transaction fetch, token revocation — all timestamped.</a:t>
            </a:r>
            <a:endParaRPr lang="en-US" sz="750" dirty="0"/>
          </a:p>
        </p:txBody>
      </p:sp>
      <p:sp>
        <p:nvSpPr>
          <p:cNvPr id="46" name="Text 44"/>
          <p:cNvSpPr/>
          <p:nvPr/>
        </p:nvSpPr>
        <p:spPr>
          <a:xfrm>
            <a:off x="384048" y="3227832"/>
            <a:ext cx="566928" cy="182880"/>
          </a:xfrm>
          <a:prstGeom prst="rect">
            <a:avLst/>
          </a:prstGeom>
          <a:noFill/>
          <a:ln/>
        </p:spPr>
        <p:txBody>
          <a:bodyPr wrap="square" rtlCol="0" anchor="ctr"/>
          <a:lstStyle/>
          <a:p>
            <a:pPr indent="0" marL="0">
              <a:buNone/>
            </a:pPr>
            <a:r>
              <a:rPr lang="en-US" sz="750" b="1" dirty="0">
                <a:solidFill>
                  <a:srgbClr val="0A1628"/>
                </a:solidFill>
              </a:rPr>
              <a:t>⬡ BBH:</a:t>
            </a:r>
            <a:endParaRPr lang="en-US" sz="750" dirty="0"/>
          </a:p>
        </p:txBody>
      </p:sp>
      <p:sp>
        <p:nvSpPr>
          <p:cNvPr id="47" name="Text 45"/>
          <p:cNvSpPr/>
          <p:nvPr/>
        </p:nvSpPr>
        <p:spPr>
          <a:xfrm>
            <a:off x="932688" y="3227832"/>
            <a:ext cx="3584448" cy="182880"/>
          </a:xfrm>
          <a:prstGeom prst="rect">
            <a:avLst/>
          </a:prstGeom>
          <a:noFill/>
          <a:ln/>
        </p:spPr>
        <p:txBody>
          <a:bodyPr wrap="square" rtlCol="0" anchor="ctr"/>
          <a:lstStyle/>
          <a:p>
            <a:pPr indent="0" marL="0">
              <a:buNone/>
            </a:pPr>
            <a:r>
              <a:rPr lang="en-US" sz="750" dirty="0">
                <a:solidFill>
                  <a:srgbClr val="3D5260"/>
                </a:solidFill>
                <a:latin typeface="Calibri" pitchFamily="34" charset="0"/>
                <a:ea typeface="Calibri" pitchFamily="34" charset="-122"/>
                <a:cs typeface="Calibri" pitchFamily="34" charset="-120"/>
              </a:rPr>
              <a:t>SIEM ingestion of all Plaid webhook events (Q7). Token lifecycle events persisted in PB DataWarehouse audit schema.</a:t>
            </a:r>
            <a:endParaRPr lang="en-US" sz="750" dirty="0"/>
          </a:p>
        </p:txBody>
      </p:sp>
      <p:sp>
        <p:nvSpPr>
          <p:cNvPr id="48" name="Shape 46"/>
          <p:cNvSpPr/>
          <p:nvPr/>
        </p:nvSpPr>
        <p:spPr>
          <a:xfrm>
            <a:off x="4736592" y="2441448"/>
            <a:ext cx="4315968" cy="1115568"/>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49" name="Shape 47"/>
          <p:cNvSpPr/>
          <p:nvPr/>
        </p:nvSpPr>
        <p:spPr>
          <a:xfrm>
            <a:off x="4736592" y="2441448"/>
            <a:ext cx="64008" cy="1115568"/>
          </a:xfrm>
          <a:prstGeom prst="rect">
            <a:avLst/>
          </a:prstGeom>
          <a:solidFill>
            <a:srgbClr val="BA4A00"/>
          </a:solidFill>
          <a:ln w="12700">
            <a:solidFill>
              <a:srgbClr val="BA4A00"/>
            </a:solidFill>
            <a:prstDash val="solid"/>
          </a:ln>
        </p:spPr>
      </p:sp>
      <p:sp>
        <p:nvSpPr>
          <p:cNvPr id="50" name="Shape 48"/>
          <p:cNvSpPr/>
          <p:nvPr/>
        </p:nvSpPr>
        <p:spPr>
          <a:xfrm>
            <a:off x="4846320" y="2505456"/>
            <a:ext cx="310896" cy="310896"/>
          </a:xfrm>
          <a:prstGeom prst="rect">
            <a:avLst>
              <a:gd name="adj" fmla="val 11765"/>
            </a:avLst>
          </a:prstGeom>
          <a:solidFill>
            <a:srgbClr val="BA4A00"/>
          </a:solidFill>
          <a:ln w="12700">
            <a:solidFill>
              <a:srgbClr val="BA4A00"/>
            </a:solidFill>
            <a:prstDash val="solid"/>
          </a:ln>
        </p:spPr>
      </p:sp>
      <p:sp>
        <p:nvSpPr>
          <p:cNvPr id="51" name="Text 49"/>
          <p:cNvSpPr/>
          <p:nvPr/>
        </p:nvSpPr>
        <p:spPr>
          <a:xfrm>
            <a:off x="4846320" y="250545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rPr>
              <a:t>I</a:t>
            </a:r>
            <a:endParaRPr lang="en-US" sz="1300" dirty="0"/>
          </a:p>
        </p:txBody>
      </p:sp>
      <p:sp>
        <p:nvSpPr>
          <p:cNvPr id="52" name="Text 50"/>
          <p:cNvSpPr/>
          <p:nvPr/>
        </p:nvSpPr>
        <p:spPr>
          <a:xfrm>
            <a:off x="5230368" y="2523744"/>
            <a:ext cx="2560320" cy="201168"/>
          </a:xfrm>
          <a:prstGeom prst="rect">
            <a:avLst/>
          </a:prstGeom>
          <a:noFill/>
          <a:ln/>
        </p:spPr>
        <p:txBody>
          <a:bodyPr wrap="square" rtlCol="0" anchor="ctr"/>
          <a:lstStyle/>
          <a:p>
            <a:pPr indent="0" marL="0">
              <a:buNone/>
            </a:pPr>
            <a:r>
              <a:rPr lang="en-US" sz="950" b="1" spc="50" kern="0" dirty="0">
                <a:solidFill>
                  <a:srgbClr val="BA4A00"/>
                </a:solidFill>
                <a:latin typeface="Calibri" pitchFamily="34" charset="0"/>
                <a:ea typeface="Calibri" pitchFamily="34" charset="-122"/>
                <a:cs typeface="Calibri" pitchFamily="34" charset="-120"/>
              </a:rPr>
              <a:t>INFO DISCLOSURE</a:t>
            </a:r>
            <a:endParaRPr lang="en-US" sz="950" dirty="0"/>
          </a:p>
        </p:txBody>
      </p:sp>
      <p:sp>
        <p:nvSpPr>
          <p:cNvPr id="53" name="Shape 51"/>
          <p:cNvSpPr/>
          <p:nvPr/>
        </p:nvSpPr>
        <p:spPr>
          <a:xfrm>
            <a:off x="8266176" y="2523744"/>
            <a:ext cx="713232" cy="201168"/>
          </a:xfrm>
          <a:prstGeom prst="rect">
            <a:avLst>
              <a:gd name="adj" fmla="val 18182"/>
            </a:avLst>
          </a:prstGeom>
          <a:solidFill>
            <a:srgbClr val="1E8449"/>
          </a:solidFill>
          <a:ln w="12700">
            <a:solidFill>
              <a:srgbClr val="1E8449"/>
            </a:solidFill>
            <a:prstDash val="solid"/>
          </a:ln>
        </p:spPr>
      </p:sp>
      <p:sp>
        <p:nvSpPr>
          <p:cNvPr id="54" name="Text 52"/>
          <p:cNvSpPr/>
          <p:nvPr/>
        </p:nvSpPr>
        <p:spPr>
          <a:xfrm>
            <a:off x="8266176" y="2523744"/>
            <a:ext cx="713232" cy="201168"/>
          </a:xfrm>
          <a:prstGeom prst="rect">
            <a:avLst/>
          </a:prstGeom>
          <a:noFill/>
          <a:ln/>
        </p:spPr>
        <p:txBody>
          <a:bodyPr wrap="square" lIns="0" tIns="0" rIns="0" bIns="0" rtlCol="0" anchor="ctr"/>
          <a:lstStyle/>
          <a:p>
            <a:pPr algn="ctr" indent="0" marL="0">
              <a:buNone/>
            </a:pPr>
            <a:r>
              <a:rPr lang="en-US" sz="750" b="1" dirty="0">
                <a:solidFill>
                  <a:srgbClr val="FFFFFF"/>
                </a:solidFill>
              </a:rPr>
              <a:t>LOW</a:t>
            </a:r>
            <a:endParaRPr lang="en-US" sz="750" dirty="0"/>
          </a:p>
        </p:txBody>
      </p:sp>
      <p:sp>
        <p:nvSpPr>
          <p:cNvPr id="55" name="Text 53"/>
          <p:cNvSpPr/>
          <p:nvPr/>
        </p:nvSpPr>
        <p:spPr>
          <a:xfrm>
            <a:off x="4846320" y="2825496"/>
            <a:ext cx="658368" cy="182880"/>
          </a:xfrm>
          <a:prstGeom prst="rect">
            <a:avLst/>
          </a:prstGeom>
          <a:noFill/>
          <a:ln/>
        </p:spPr>
        <p:txBody>
          <a:bodyPr wrap="square" rtlCol="0" anchor="ctr"/>
          <a:lstStyle/>
          <a:p>
            <a:pPr indent="0" marL="0">
              <a:buNone/>
            </a:pPr>
            <a:r>
              <a:rPr lang="en-US" sz="750" b="1" dirty="0">
                <a:solidFill>
                  <a:srgbClr val="7B3333"/>
                </a:solidFill>
              </a:rPr>
              <a:t>⚠ Threat:</a:t>
            </a:r>
            <a:endParaRPr lang="en-US" sz="750" dirty="0"/>
          </a:p>
        </p:txBody>
      </p:sp>
      <p:sp>
        <p:nvSpPr>
          <p:cNvPr id="56" name="Text 54"/>
          <p:cNvSpPr/>
          <p:nvPr/>
        </p:nvSpPr>
        <p:spPr>
          <a:xfrm>
            <a:off x="5486400" y="2825496"/>
            <a:ext cx="3493008" cy="182880"/>
          </a:xfrm>
          <a:prstGeom prst="rect">
            <a:avLst/>
          </a:prstGeom>
          <a:noFill/>
          <a:ln/>
        </p:spPr>
        <p:txBody>
          <a:bodyPr wrap="square" rtlCol="0" anchor="ctr"/>
          <a:lstStyle/>
          <a:p>
            <a:pPr indent="0" marL="0">
              <a:buNone/>
            </a:pPr>
            <a:r>
              <a:rPr lang="en-US" sz="750" dirty="0">
                <a:solidFill>
                  <a:srgbClr val="3D5260"/>
                </a:solidFill>
                <a:latin typeface="Calibri" pitchFamily="34" charset="0"/>
                <a:ea typeface="Calibri" pitchFamily="34" charset="-122"/>
                <a:cs typeface="Calibri" pitchFamily="34" charset="-120"/>
              </a:rPr>
              <a:t>Exposure of BBH client credentials, account numbers, or PII to Plaid or downstream fintech applications.</a:t>
            </a:r>
            <a:endParaRPr lang="en-US" sz="750" dirty="0"/>
          </a:p>
        </p:txBody>
      </p:sp>
      <p:sp>
        <p:nvSpPr>
          <p:cNvPr id="57" name="Text 55"/>
          <p:cNvSpPr/>
          <p:nvPr/>
        </p:nvSpPr>
        <p:spPr>
          <a:xfrm>
            <a:off x="4846320" y="3026664"/>
            <a:ext cx="594360" cy="182880"/>
          </a:xfrm>
          <a:prstGeom prst="rect">
            <a:avLst/>
          </a:prstGeom>
          <a:noFill/>
          <a:ln/>
        </p:spPr>
        <p:txBody>
          <a:bodyPr wrap="square" rtlCol="0" anchor="ctr"/>
          <a:lstStyle/>
          <a:p>
            <a:pPr indent="0" marL="0">
              <a:buNone/>
            </a:pPr>
            <a:r>
              <a:rPr lang="en-US" sz="750" b="1" dirty="0">
                <a:solidFill>
                  <a:srgbClr val="028090"/>
                </a:solidFill>
              </a:rPr>
              <a:t>✔ Plaid:</a:t>
            </a:r>
            <a:endParaRPr lang="en-US" sz="750" dirty="0"/>
          </a:p>
        </p:txBody>
      </p:sp>
      <p:sp>
        <p:nvSpPr>
          <p:cNvPr id="58" name="Text 56"/>
          <p:cNvSpPr/>
          <p:nvPr/>
        </p:nvSpPr>
        <p:spPr>
          <a:xfrm>
            <a:off x="5422392" y="3026664"/>
            <a:ext cx="3557016" cy="182880"/>
          </a:xfrm>
          <a:prstGeom prst="rect">
            <a:avLst/>
          </a:prstGeom>
          <a:noFill/>
          <a:ln/>
        </p:spPr>
        <p:txBody>
          <a:bodyPr wrap="square" rtlCol="0" anchor="ctr"/>
          <a:lstStyle/>
          <a:p>
            <a:pPr indent="0" marL="0">
              <a:buNone/>
            </a:pPr>
            <a:r>
              <a:rPr lang="en-US" sz="750" dirty="0">
                <a:solidFill>
                  <a:srgbClr val="3D5260"/>
                </a:solidFill>
                <a:latin typeface="Calibri" pitchFamily="34" charset="0"/>
                <a:ea typeface="Calibri" pitchFamily="34" charset="-122"/>
                <a:cs typeface="Calibri" pitchFamily="34" charset="-120"/>
              </a:rPr>
              <a:t>Plaid Link encrypts credentials in transit. Raw credentials are never stored, forwarded, or included in API responses.</a:t>
            </a:r>
            <a:endParaRPr lang="en-US" sz="750" dirty="0"/>
          </a:p>
        </p:txBody>
      </p:sp>
      <p:sp>
        <p:nvSpPr>
          <p:cNvPr id="59" name="Text 57"/>
          <p:cNvSpPr/>
          <p:nvPr/>
        </p:nvSpPr>
        <p:spPr>
          <a:xfrm>
            <a:off x="4846320" y="3227832"/>
            <a:ext cx="566928" cy="182880"/>
          </a:xfrm>
          <a:prstGeom prst="rect">
            <a:avLst/>
          </a:prstGeom>
          <a:noFill/>
          <a:ln/>
        </p:spPr>
        <p:txBody>
          <a:bodyPr wrap="square" rtlCol="0" anchor="ctr"/>
          <a:lstStyle/>
          <a:p>
            <a:pPr indent="0" marL="0">
              <a:buNone/>
            </a:pPr>
            <a:r>
              <a:rPr lang="en-US" sz="750" b="1" dirty="0">
                <a:solidFill>
                  <a:srgbClr val="0A1628"/>
                </a:solidFill>
              </a:rPr>
              <a:t>⬡ BBH:</a:t>
            </a:r>
            <a:endParaRPr lang="en-US" sz="750" dirty="0"/>
          </a:p>
        </p:txBody>
      </p:sp>
      <p:sp>
        <p:nvSpPr>
          <p:cNvPr id="60" name="Text 58"/>
          <p:cNvSpPr/>
          <p:nvPr/>
        </p:nvSpPr>
        <p:spPr>
          <a:xfrm>
            <a:off x="5394960" y="3227832"/>
            <a:ext cx="3584448" cy="182880"/>
          </a:xfrm>
          <a:prstGeom prst="rect">
            <a:avLst/>
          </a:prstGeom>
          <a:noFill/>
          <a:ln/>
        </p:spPr>
        <p:txBody>
          <a:bodyPr wrap="square" rtlCol="0" anchor="ctr"/>
          <a:lstStyle/>
          <a:p>
            <a:pPr indent="0" marL="0">
              <a:buNone/>
            </a:pPr>
            <a:r>
              <a:rPr lang="en-US" sz="750" dirty="0">
                <a:solidFill>
                  <a:srgbClr val="3D5260"/>
                </a:solidFill>
                <a:latin typeface="Calibri" pitchFamily="34" charset="0"/>
                <a:ea typeface="Calibri" pitchFamily="34" charset="-122"/>
                <a:cs typeface="Calibri" pitchFamily="34" charset="-120"/>
              </a:rPr>
              <a:t>Data classification policy applied at CP Services. PII fields masked in IM Datastore and BBH DataStore query responses.</a:t>
            </a:r>
            <a:endParaRPr lang="en-US" sz="750" dirty="0"/>
          </a:p>
        </p:txBody>
      </p:sp>
      <p:sp>
        <p:nvSpPr>
          <p:cNvPr id="61" name="Shape 59"/>
          <p:cNvSpPr/>
          <p:nvPr/>
        </p:nvSpPr>
        <p:spPr>
          <a:xfrm>
            <a:off x="274320" y="3675888"/>
            <a:ext cx="4315968" cy="1115568"/>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62" name="Shape 60"/>
          <p:cNvSpPr/>
          <p:nvPr/>
        </p:nvSpPr>
        <p:spPr>
          <a:xfrm>
            <a:off x="274320" y="3675888"/>
            <a:ext cx="64008" cy="1115568"/>
          </a:xfrm>
          <a:prstGeom prst="rect">
            <a:avLst/>
          </a:prstGeom>
          <a:solidFill>
            <a:srgbClr val="1E8449"/>
          </a:solidFill>
          <a:ln w="12700">
            <a:solidFill>
              <a:srgbClr val="1E8449"/>
            </a:solidFill>
            <a:prstDash val="solid"/>
          </a:ln>
        </p:spPr>
      </p:sp>
      <p:sp>
        <p:nvSpPr>
          <p:cNvPr id="63" name="Shape 61"/>
          <p:cNvSpPr/>
          <p:nvPr/>
        </p:nvSpPr>
        <p:spPr>
          <a:xfrm>
            <a:off x="384048" y="3739896"/>
            <a:ext cx="310896" cy="310896"/>
          </a:xfrm>
          <a:prstGeom prst="rect">
            <a:avLst>
              <a:gd name="adj" fmla="val 11765"/>
            </a:avLst>
          </a:prstGeom>
          <a:solidFill>
            <a:srgbClr val="1E8449"/>
          </a:solidFill>
          <a:ln w="12700">
            <a:solidFill>
              <a:srgbClr val="1E8449"/>
            </a:solidFill>
            <a:prstDash val="solid"/>
          </a:ln>
        </p:spPr>
      </p:sp>
      <p:sp>
        <p:nvSpPr>
          <p:cNvPr id="64" name="Text 62"/>
          <p:cNvSpPr/>
          <p:nvPr/>
        </p:nvSpPr>
        <p:spPr>
          <a:xfrm>
            <a:off x="384048" y="373989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rPr>
              <a:t>D</a:t>
            </a:r>
            <a:endParaRPr lang="en-US" sz="1300" dirty="0"/>
          </a:p>
        </p:txBody>
      </p:sp>
      <p:sp>
        <p:nvSpPr>
          <p:cNvPr id="65" name="Text 63"/>
          <p:cNvSpPr/>
          <p:nvPr/>
        </p:nvSpPr>
        <p:spPr>
          <a:xfrm>
            <a:off x="768096" y="3758184"/>
            <a:ext cx="2560320" cy="201168"/>
          </a:xfrm>
          <a:prstGeom prst="rect">
            <a:avLst/>
          </a:prstGeom>
          <a:noFill/>
          <a:ln/>
        </p:spPr>
        <p:txBody>
          <a:bodyPr wrap="square" rtlCol="0" anchor="ctr"/>
          <a:lstStyle/>
          <a:p>
            <a:pPr indent="0" marL="0">
              <a:buNone/>
            </a:pPr>
            <a:r>
              <a:rPr lang="en-US" sz="950" b="1" spc="50" kern="0" dirty="0">
                <a:solidFill>
                  <a:srgbClr val="1E8449"/>
                </a:solidFill>
                <a:latin typeface="Calibri" pitchFamily="34" charset="0"/>
                <a:ea typeface="Calibri" pitchFamily="34" charset="-122"/>
                <a:cs typeface="Calibri" pitchFamily="34" charset="-120"/>
              </a:rPr>
              <a:t>DENIAL OF SERVICE</a:t>
            </a:r>
            <a:endParaRPr lang="en-US" sz="950" dirty="0"/>
          </a:p>
        </p:txBody>
      </p:sp>
      <p:sp>
        <p:nvSpPr>
          <p:cNvPr id="66" name="Shape 64"/>
          <p:cNvSpPr/>
          <p:nvPr/>
        </p:nvSpPr>
        <p:spPr>
          <a:xfrm>
            <a:off x="3803904" y="3758184"/>
            <a:ext cx="713232" cy="201168"/>
          </a:xfrm>
          <a:prstGeom prst="rect">
            <a:avLst>
              <a:gd name="adj" fmla="val 18182"/>
            </a:avLst>
          </a:prstGeom>
          <a:solidFill>
            <a:srgbClr val="BA4A00"/>
          </a:solidFill>
          <a:ln w="12700">
            <a:solidFill>
              <a:srgbClr val="BA4A00"/>
            </a:solidFill>
            <a:prstDash val="solid"/>
          </a:ln>
        </p:spPr>
      </p:sp>
      <p:sp>
        <p:nvSpPr>
          <p:cNvPr id="67" name="Text 65"/>
          <p:cNvSpPr/>
          <p:nvPr/>
        </p:nvSpPr>
        <p:spPr>
          <a:xfrm>
            <a:off x="3803904" y="3758184"/>
            <a:ext cx="713232" cy="201168"/>
          </a:xfrm>
          <a:prstGeom prst="rect">
            <a:avLst/>
          </a:prstGeom>
          <a:noFill/>
          <a:ln/>
        </p:spPr>
        <p:txBody>
          <a:bodyPr wrap="square" lIns="0" tIns="0" rIns="0" bIns="0" rtlCol="0" anchor="ctr"/>
          <a:lstStyle/>
          <a:p>
            <a:pPr algn="ctr" indent="0" marL="0">
              <a:buNone/>
            </a:pPr>
            <a:r>
              <a:rPr lang="en-US" sz="750" b="1" dirty="0">
                <a:solidFill>
                  <a:srgbClr val="FFFFFF"/>
                </a:solidFill>
              </a:rPr>
              <a:t>MEDIUM</a:t>
            </a:r>
            <a:endParaRPr lang="en-US" sz="750" dirty="0"/>
          </a:p>
        </p:txBody>
      </p:sp>
      <p:sp>
        <p:nvSpPr>
          <p:cNvPr id="68" name="Text 66"/>
          <p:cNvSpPr/>
          <p:nvPr/>
        </p:nvSpPr>
        <p:spPr>
          <a:xfrm>
            <a:off x="384048" y="4059936"/>
            <a:ext cx="658368" cy="182880"/>
          </a:xfrm>
          <a:prstGeom prst="rect">
            <a:avLst/>
          </a:prstGeom>
          <a:noFill/>
          <a:ln/>
        </p:spPr>
        <p:txBody>
          <a:bodyPr wrap="square" rtlCol="0" anchor="ctr"/>
          <a:lstStyle/>
          <a:p>
            <a:pPr indent="0" marL="0">
              <a:buNone/>
            </a:pPr>
            <a:r>
              <a:rPr lang="en-US" sz="750" b="1" dirty="0">
                <a:solidFill>
                  <a:srgbClr val="7B3333"/>
                </a:solidFill>
              </a:rPr>
              <a:t>⚠ Threat:</a:t>
            </a:r>
            <a:endParaRPr lang="en-US" sz="750" dirty="0"/>
          </a:p>
        </p:txBody>
      </p:sp>
      <p:sp>
        <p:nvSpPr>
          <p:cNvPr id="69" name="Text 67"/>
          <p:cNvSpPr/>
          <p:nvPr/>
        </p:nvSpPr>
        <p:spPr>
          <a:xfrm>
            <a:off x="1024128" y="4059936"/>
            <a:ext cx="3493008" cy="182880"/>
          </a:xfrm>
          <a:prstGeom prst="rect">
            <a:avLst/>
          </a:prstGeom>
          <a:noFill/>
          <a:ln/>
        </p:spPr>
        <p:txBody>
          <a:bodyPr wrap="square" rtlCol="0" anchor="ctr"/>
          <a:lstStyle/>
          <a:p>
            <a:pPr indent="0" marL="0">
              <a:buNone/>
            </a:pPr>
            <a:r>
              <a:rPr lang="en-US" sz="750" dirty="0">
                <a:solidFill>
                  <a:srgbClr val="3D5260"/>
                </a:solidFill>
                <a:latin typeface="Calibri" pitchFamily="34" charset="0"/>
                <a:ea typeface="Calibri" pitchFamily="34" charset="-122"/>
                <a:cs typeface="Calibri" pitchFamily="34" charset="-120"/>
              </a:rPr>
              <a:t>Flood of Plaid webhook events or token-exchange requests overwhelming BBH DMZ, Apigee Gateway, or the CP Services fan-out layer.</a:t>
            </a:r>
            <a:endParaRPr lang="en-US" sz="750" dirty="0"/>
          </a:p>
        </p:txBody>
      </p:sp>
      <p:sp>
        <p:nvSpPr>
          <p:cNvPr id="70" name="Text 68"/>
          <p:cNvSpPr/>
          <p:nvPr/>
        </p:nvSpPr>
        <p:spPr>
          <a:xfrm>
            <a:off x="384048" y="4261104"/>
            <a:ext cx="594360" cy="182880"/>
          </a:xfrm>
          <a:prstGeom prst="rect">
            <a:avLst/>
          </a:prstGeom>
          <a:noFill/>
          <a:ln/>
        </p:spPr>
        <p:txBody>
          <a:bodyPr wrap="square" rtlCol="0" anchor="ctr"/>
          <a:lstStyle/>
          <a:p>
            <a:pPr indent="0" marL="0">
              <a:buNone/>
            </a:pPr>
            <a:r>
              <a:rPr lang="en-US" sz="750" b="1" dirty="0">
                <a:solidFill>
                  <a:srgbClr val="028090"/>
                </a:solidFill>
              </a:rPr>
              <a:t>✔ Plaid:</a:t>
            </a:r>
            <a:endParaRPr lang="en-US" sz="750" dirty="0"/>
          </a:p>
        </p:txBody>
      </p:sp>
      <p:sp>
        <p:nvSpPr>
          <p:cNvPr id="71" name="Text 69"/>
          <p:cNvSpPr/>
          <p:nvPr/>
        </p:nvSpPr>
        <p:spPr>
          <a:xfrm>
            <a:off x="960120" y="4261104"/>
            <a:ext cx="3557016" cy="182880"/>
          </a:xfrm>
          <a:prstGeom prst="rect">
            <a:avLst/>
          </a:prstGeom>
          <a:noFill/>
          <a:ln/>
        </p:spPr>
        <p:txBody>
          <a:bodyPr wrap="square" rtlCol="0" anchor="ctr"/>
          <a:lstStyle/>
          <a:p>
            <a:pPr indent="0" marL="0">
              <a:buNone/>
            </a:pPr>
            <a:r>
              <a:rPr lang="en-US" sz="750" dirty="0">
                <a:solidFill>
                  <a:srgbClr val="3D5260"/>
                </a:solidFill>
                <a:latin typeface="Calibri" pitchFamily="34" charset="0"/>
                <a:ea typeface="Calibri" pitchFamily="34" charset="-122"/>
                <a:cs typeface="Calibri" pitchFamily="34" charset="-120"/>
              </a:rPr>
              <a:t>Plaid applies per-institution rate limits on all API calls. Webhook delivery has built-in backpressure and retry throttling.</a:t>
            </a:r>
            <a:endParaRPr lang="en-US" sz="750" dirty="0"/>
          </a:p>
        </p:txBody>
      </p:sp>
      <p:sp>
        <p:nvSpPr>
          <p:cNvPr id="72" name="Text 70"/>
          <p:cNvSpPr/>
          <p:nvPr/>
        </p:nvSpPr>
        <p:spPr>
          <a:xfrm>
            <a:off x="384048" y="4462272"/>
            <a:ext cx="566928" cy="182880"/>
          </a:xfrm>
          <a:prstGeom prst="rect">
            <a:avLst/>
          </a:prstGeom>
          <a:noFill/>
          <a:ln/>
        </p:spPr>
        <p:txBody>
          <a:bodyPr wrap="square" rtlCol="0" anchor="ctr"/>
          <a:lstStyle/>
          <a:p>
            <a:pPr indent="0" marL="0">
              <a:buNone/>
            </a:pPr>
            <a:r>
              <a:rPr lang="en-US" sz="750" b="1" dirty="0">
                <a:solidFill>
                  <a:srgbClr val="0A1628"/>
                </a:solidFill>
              </a:rPr>
              <a:t>⬡ BBH:</a:t>
            </a:r>
            <a:endParaRPr lang="en-US" sz="750" dirty="0"/>
          </a:p>
        </p:txBody>
      </p:sp>
      <p:sp>
        <p:nvSpPr>
          <p:cNvPr id="73" name="Text 71"/>
          <p:cNvSpPr/>
          <p:nvPr/>
        </p:nvSpPr>
        <p:spPr>
          <a:xfrm>
            <a:off x="932688" y="4462272"/>
            <a:ext cx="3584448" cy="182880"/>
          </a:xfrm>
          <a:prstGeom prst="rect">
            <a:avLst/>
          </a:prstGeom>
          <a:noFill/>
          <a:ln/>
        </p:spPr>
        <p:txBody>
          <a:bodyPr wrap="square" rtlCol="0" anchor="ctr"/>
          <a:lstStyle/>
          <a:p>
            <a:pPr indent="0" marL="0">
              <a:buNone/>
            </a:pPr>
            <a:r>
              <a:rPr lang="en-US" sz="750" dirty="0">
                <a:solidFill>
                  <a:srgbClr val="3D5260"/>
                </a:solidFill>
                <a:latin typeface="Calibri" pitchFamily="34" charset="0"/>
                <a:ea typeface="Calibri" pitchFamily="34" charset="-122"/>
                <a:cs typeface="Calibri" pitchFamily="34" charset="-120"/>
              </a:rPr>
              <a:t>Apigee token-bucket throttling on inbound channel; OpenShift HPA on CP Services pods; circuit-breaker pattern in fan-out logic.</a:t>
            </a:r>
            <a:endParaRPr lang="en-US" sz="750" dirty="0"/>
          </a:p>
        </p:txBody>
      </p:sp>
      <p:sp>
        <p:nvSpPr>
          <p:cNvPr id="74" name="Shape 72"/>
          <p:cNvSpPr/>
          <p:nvPr/>
        </p:nvSpPr>
        <p:spPr>
          <a:xfrm>
            <a:off x="4736592" y="3675888"/>
            <a:ext cx="4315968" cy="1115568"/>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75" name="Shape 73"/>
          <p:cNvSpPr/>
          <p:nvPr/>
        </p:nvSpPr>
        <p:spPr>
          <a:xfrm>
            <a:off x="4736592" y="3675888"/>
            <a:ext cx="64008" cy="1115568"/>
          </a:xfrm>
          <a:prstGeom prst="rect">
            <a:avLst/>
          </a:prstGeom>
          <a:solidFill>
            <a:srgbClr val="A04000"/>
          </a:solidFill>
          <a:ln w="12700">
            <a:solidFill>
              <a:srgbClr val="A04000"/>
            </a:solidFill>
            <a:prstDash val="solid"/>
          </a:ln>
        </p:spPr>
      </p:sp>
      <p:sp>
        <p:nvSpPr>
          <p:cNvPr id="76" name="Shape 74"/>
          <p:cNvSpPr/>
          <p:nvPr/>
        </p:nvSpPr>
        <p:spPr>
          <a:xfrm>
            <a:off x="4846320" y="3739896"/>
            <a:ext cx="310896" cy="310896"/>
          </a:xfrm>
          <a:prstGeom prst="rect">
            <a:avLst>
              <a:gd name="adj" fmla="val 11765"/>
            </a:avLst>
          </a:prstGeom>
          <a:solidFill>
            <a:srgbClr val="A04000"/>
          </a:solidFill>
          <a:ln w="12700">
            <a:solidFill>
              <a:srgbClr val="A04000"/>
            </a:solidFill>
            <a:prstDash val="solid"/>
          </a:ln>
        </p:spPr>
      </p:sp>
      <p:sp>
        <p:nvSpPr>
          <p:cNvPr id="77" name="Text 75"/>
          <p:cNvSpPr/>
          <p:nvPr/>
        </p:nvSpPr>
        <p:spPr>
          <a:xfrm>
            <a:off x="4846320" y="373989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rPr>
              <a:t>E</a:t>
            </a:r>
            <a:endParaRPr lang="en-US" sz="1300" dirty="0"/>
          </a:p>
        </p:txBody>
      </p:sp>
      <p:sp>
        <p:nvSpPr>
          <p:cNvPr id="78" name="Text 76"/>
          <p:cNvSpPr/>
          <p:nvPr/>
        </p:nvSpPr>
        <p:spPr>
          <a:xfrm>
            <a:off x="5230368" y="3758184"/>
            <a:ext cx="2560320" cy="201168"/>
          </a:xfrm>
          <a:prstGeom prst="rect">
            <a:avLst/>
          </a:prstGeom>
          <a:noFill/>
          <a:ln/>
        </p:spPr>
        <p:txBody>
          <a:bodyPr wrap="square" rtlCol="0" anchor="ctr"/>
          <a:lstStyle/>
          <a:p>
            <a:pPr indent="0" marL="0">
              <a:buNone/>
            </a:pPr>
            <a:r>
              <a:rPr lang="en-US" sz="950" b="1" spc="50" kern="0" dirty="0">
                <a:solidFill>
                  <a:srgbClr val="A04000"/>
                </a:solidFill>
                <a:latin typeface="Calibri" pitchFamily="34" charset="0"/>
                <a:ea typeface="Calibri" pitchFamily="34" charset="-122"/>
                <a:cs typeface="Calibri" pitchFamily="34" charset="-120"/>
              </a:rPr>
              <a:t>ELEVATION OF PRIVILEGE</a:t>
            </a:r>
            <a:endParaRPr lang="en-US" sz="950" dirty="0"/>
          </a:p>
        </p:txBody>
      </p:sp>
      <p:sp>
        <p:nvSpPr>
          <p:cNvPr id="79" name="Shape 77"/>
          <p:cNvSpPr/>
          <p:nvPr/>
        </p:nvSpPr>
        <p:spPr>
          <a:xfrm>
            <a:off x="8266176" y="3758184"/>
            <a:ext cx="713232" cy="201168"/>
          </a:xfrm>
          <a:prstGeom prst="rect">
            <a:avLst>
              <a:gd name="adj" fmla="val 18182"/>
            </a:avLst>
          </a:prstGeom>
          <a:solidFill>
            <a:srgbClr val="1E8449"/>
          </a:solidFill>
          <a:ln w="12700">
            <a:solidFill>
              <a:srgbClr val="1E8449"/>
            </a:solidFill>
            <a:prstDash val="solid"/>
          </a:ln>
        </p:spPr>
      </p:sp>
      <p:sp>
        <p:nvSpPr>
          <p:cNvPr id="80" name="Text 78"/>
          <p:cNvSpPr/>
          <p:nvPr/>
        </p:nvSpPr>
        <p:spPr>
          <a:xfrm>
            <a:off x="8266176" y="3758184"/>
            <a:ext cx="713232" cy="201168"/>
          </a:xfrm>
          <a:prstGeom prst="rect">
            <a:avLst/>
          </a:prstGeom>
          <a:noFill/>
          <a:ln/>
        </p:spPr>
        <p:txBody>
          <a:bodyPr wrap="square" lIns="0" tIns="0" rIns="0" bIns="0" rtlCol="0" anchor="ctr"/>
          <a:lstStyle/>
          <a:p>
            <a:pPr algn="ctr" indent="0" marL="0">
              <a:buNone/>
            </a:pPr>
            <a:r>
              <a:rPr lang="en-US" sz="750" b="1" dirty="0">
                <a:solidFill>
                  <a:srgbClr val="FFFFFF"/>
                </a:solidFill>
              </a:rPr>
              <a:t>LOW</a:t>
            </a:r>
            <a:endParaRPr lang="en-US" sz="750" dirty="0"/>
          </a:p>
        </p:txBody>
      </p:sp>
      <p:sp>
        <p:nvSpPr>
          <p:cNvPr id="81" name="Text 79"/>
          <p:cNvSpPr/>
          <p:nvPr/>
        </p:nvSpPr>
        <p:spPr>
          <a:xfrm>
            <a:off x="4846320" y="4059936"/>
            <a:ext cx="658368" cy="182880"/>
          </a:xfrm>
          <a:prstGeom prst="rect">
            <a:avLst/>
          </a:prstGeom>
          <a:noFill/>
          <a:ln/>
        </p:spPr>
        <p:txBody>
          <a:bodyPr wrap="square" rtlCol="0" anchor="ctr"/>
          <a:lstStyle/>
          <a:p>
            <a:pPr indent="0" marL="0">
              <a:buNone/>
            </a:pPr>
            <a:r>
              <a:rPr lang="en-US" sz="750" b="1" dirty="0">
                <a:solidFill>
                  <a:srgbClr val="7B3333"/>
                </a:solidFill>
              </a:rPr>
              <a:t>⚠ Threat:</a:t>
            </a:r>
            <a:endParaRPr lang="en-US" sz="750" dirty="0"/>
          </a:p>
        </p:txBody>
      </p:sp>
      <p:sp>
        <p:nvSpPr>
          <p:cNvPr id="82" name="Text 80"/>
          <p:cNvSpPr/>
          <p:nvPr/>
        </p:nvSpPr>
        <p:spPr>
          <a:xfrm>
            <a:off x="5486400" y="4059936"/>
            <a:ext cx="3493008" cy="182880"/>
          </a:xfrm>
          <a:prstGeom prst="rect">
            <a:avLst/>
          </a:prstGeom>
          <a:noFill/>
          <a:ln/>
        </p:spPr>
        <p:txBody>
          <a:bodyPr wrap="square" rtlCol="0" anchor="ctr"/>
          <a:lstStyle/>
          <a:p>
            <a:pPr indent="0" marL="0">
              <a:buNone/>
            </a:pPr>
            <a:r>
              <a:rPr lang="en-US" sz="750" dirty="0">
                <a:solidFill>
                  <a:srgbClr val="3D5260"/>
                </a:solidFill>
                <a:latin typeface="Calibri" pitchFamily="34" charset="0"/>
                <a:ea typeface="Calibri" pitchFamily="34" charset="-122"/>
                <a:cs typeface="Calibri" pitchFamily="34" charset="-120"/>
              </a:rPr>
              <a:t>A compromised Plaid access token used to access data beyond the client's authorized scope (e.g., other accounts or admin APIs).</a:t>
            </a:r>
            <a:endParaRPr lang="en-US" sz="750" dirty="0"/>
          </a:p>
        </p:txBody>
      </p:sp>
      <p:sp>
        <p:nvSpPr>
          <p:cNvPr id="83" name="Text 81"/>
          <p:cNvSpPr/>
          <p:nvPr/>
        </p:nvSpPr>
        <p:spPr>
          <a:xfrm>
            <a:off x="4846320" y="4261104"/>
            <a:ext cx="594360" cy="182880"/>
          </a:xfrm>
          <a:prstGeom prst="rect">
            <a:avLst/>
          </a:prstGeom>
          <a:noFill/>
          <a:ln/>
        </p:spPr>
        <p:txBody>
          <a:bodyPr wrap="square" rtlCol="0" anchor="ctr"/>
          <a:lstStyle/>
          <a:p>
            <a:pPr indent="0" marL="0">
              <a:buNone/>
            </a:pPr>
            <a:r>
              <a:rPr lang="en-US" sz="750" b="1" dirty="0">
                <a:solidFill>
                  <a:srgbClr val="028090"/>
                </a:solidFill>
              </a:rPr>
              <a:t>✔ Plaid:</a:t>
            </a:r>
            <a:endParaRPr lang="en-US" sz="750" dirty="0"/>
          </a:p>
        </p:txBody>
      </p:sp>
      <p:sp>
        <p:nvSpPr>
          <p:cNvPr id="84" name="Text 82"/>
          <p:cNvSpPr/>
          <p:nvPr/>
        </p:nvSpPr>
        <p:spPr>
          <a:xfrm>
            <a:off x="5422392" y="4261104"/>
            <a:ext cx="3557016" cy="182880"/>
          </a:xfrm>
          <a:prstGeom prst="rect">
            <a:avLst/>
          </a:prstGeom>
          <a:noFill/>
          <a:ln/>
        </p:spPr>
        <p:txBody>
          <a:bodyPr wrap="square" rtlCol="0" anchor="ctr"/>
          <a:lstStyle/>
          <a:p>
            <a:pPr indent="0" marL="0">
              <a:buNone/>
            </a:pPr>
            <a:r>
              <a:rPr lang="en-US" sz="750" dirty="0">
                <a:solidFill>
                  <a:srgbClr val="3D5260"/>
                </a:solidFill>
                <a:latin typeface="Calibri" pitchFamily="34" charset="0"/>
                <a:ea typeface="Calibri" pitchFamily="34" charset="-122"/>
                <a:cs typeface="Calibri" pitchFamily="34" charset="-120"/>
              </a:rPr>
              <a:t>Tokens are scoped at issuance to specific Plaid products (Read-only: Balance, Transactions). Admin APIs are unreachable via Plaid channel.</a:t>
            </a:r>
            <a:endParaRPr lang="en-US" sz="750" dirty="0"/>
          </a:p>
        </p:txBody>
      </p:sp>
      <p:sp>
        <p:nvSpPr>
          <p:cNvPr id="85" name="Text 83"/>
          <p:cNvSpPr/>
          <p:nvPr/>
        </p:nvSpPr>
        <p:spPr>
          <a:xfrm>
            <a:off x="4846320" y="4462272"/>
            <a:ext cx="566928" cy="182880"/>
          </a:xfrm>
          <a:prstGeom prst="rect">
            <a:avLst/>
          </a:prstGeom>
          <a:noFill/>
          <a:ln/>
        </p:spPr>
        <p:txBody>
          <a:bodyPr wrap="square" rtlCol="0" anchor="ctr"/>
          <a:lstStyle/>
          <a:p>
            <a:pPr indent="0" marL="0">
              <a:buNone/>
            </a:pPr>
            <a:r>
              <a:rPr lang="en-US" sz="750" b="1" dirty="0">
                <a:solidFill>
                  <a:srgbClr val="0A1628"/>
                </a:solidFill>
              </a:rPr>
              <a:t>⬡ BBH:</a:t>
            </a:r>
            <a:endParaRPr lang="en-US" sz="750" dirty="0"/>
          </a:p>
        </p:txBody>
      </p:sp>
      <p:sp>
        <p:nvSpPr>
          <p:cNvPr id="86" name="Text 84"/>
          <p:cNvSpPr/>
          <p:nvPr/>
        </p:nvSpPr>
        <p:spPr>
          <a:xfrm>
            <a:off x="5394960" y="4462272"/>
            <a:ext cx="3584448" cy="182880"/>
          </a:xfrm>
          <a:prstGeom prst="rect">
            <a:avLst/>
          </a:prstGeom>
          <a:noFill/>
          <a:ln/>
        </p:spPr>
        <p:txBody>
          <a:bodyPr wrap="square" rtlCol="0" anchor="ctr"/>
          <a:lstStyle/>
          <a:p>
            <a:pPr indent="0" marL="0">
              <a:buNone/>
            </a:pPr>
            <a:r>
              <a:rPr lang="en-US" sz="750" dirty="0">
                <a:solidFill>
                  <a:srgbClr val="3D5260"/>
                </a:solidFill>
                <a:latin typeface="Calibri" pitchFamily="34" charset="0"/>
                <a:ea typeface="Calibri" pitchFamily="34" charset="-122"/>
                <a:cs typeface="Calibri" pitchFamily="34" charset="-120"/>
              </a:rPr>
              <a:t>BBH Auth layer validates token scope before any routing to PB DataWarehouse or BBH DataStore. RBAC enforced at PingFederate.</a:t>
            </a:r>
            <a:endParaRPr lang="en-US" sz="750" dirty="0"/>
          </a:p>
        </p:txBody>
      </p:sp>
      <p:sp>
        <p:nvSpPr>
          <p:cNvPr id="87" name="Shape 85"/>
          <p:cNvSpPr/>
          <p:nvPr/>
        </p:nvSpPr>
        <p:spPr>
          <a:xfrm>
            <a:off x="0" y="4864608"/>
            <a:ext cx="9144000" cy="278892"/>
          </a:xfrm>
          <a:prstGeom prst="rect">
            <a:avLst/>
          </a:prstGeom>
          <a:solidFill>
            <a:srgbClr val="0A1628"/>
          </a:solidFill>
          <a:ln w="12700">
            <a:solidFill>
              <a:srgbClr val="0A1628"/>
            </a:solidFill>
            <a:prstDash val="solid"/>
          </a:ln>
        </p:spPr>
      </p:sp>
      <p:sp>
        <p:nvSpPr>
          <p:cNvPr id="88" name="Text 86"/>
          <p:cNvSpPr/>
          <p:nvPr/>
        </p:nvSpPr>
        <p:spPr>
          <a:xfrm>
            <a:off x="320040" y="4878324"/>
            <a:ext cx="7772400" cy="237744"/>
          </a:xfrm>
          <a:prstGeom prst="rect">
            <a:avLst/>
          </a:prstGeom>
          <a:noFill/>
          <a:ln/>
        </p:spPr>
        <p:txBody>
          <a:bodyPr wrap="square" rtlCol="0" anchor="ctr"/>
          <a:lstStyle/>
          <a:p>
            <a:pPr indent="0" marL="0">
              <a:buNone/>
            </a:pPr>
            <a:r>
              <a:rPr lang="en-US" sz="850" dirty="0">
                <a:solidFill>
                  <a:srgbClr val="8FA3A8"/>
                </a:solidFill>
              </a:rPr>
              <a:t>BBH × Plaid | Architecture Review Board | Confidential &amp; Proprietary</a:t>
            </a:r>
            <a:endParaRPr lang="en-US" sz="850" dirty="0"/>
          </a:p>
        </p:txBody>
      </p:sp>
      <p:sp>
        <p:nvSpPr>
          <p:cNvPr id="89" name="Text 87"/>
          <p:cNvSpPr/>
          <p:nvPr/>
        </p:nvSpPr>
        <p:spPr>
          <a:xfrm>
            <a:off x="8503920" y="4878324"/>
            <a:ext cx="457200" cy="237744"/>
          </a:xfrm>
          <a:prstGeom prst="rect">
            <a:avLst/>
          </a:prstGeom>
          <a:noFill/>
          <a:ln/>
        </p:spPr>
        <p:txBody>
          <a:bodyPr wrap="square" rtlCol="0" anchor="ctr"/>
          <a:lstStyle/>
          <a:p>
            <a:pPr algn="r" indent="0" marL="0">
              <a:buNone/>
            </a:pPr>
            <a:r>
              <a:rPr lang="en-US" sz="850" dirty="0">
                <a:solidFill>
                  <a:srgbClr val="8FA3A8"/>
                </a:solidFill>
              </a:rPr>
              <a:t>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9"/>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A1628"/>
          </a:solidFill>
          <a:ln w="12700">
            <a:solidFill>
              <a:srgbClr val="0A1628"/>
            </a:solidFill>
            <a:prstDash val="solid"/>
          </a:ln>
        </p:spPr>
      </p:sp>
      <p:sp>
        <p:nvSpPr>
          <p:cNvPr id="3" name="Shape 1"/>
          <p:cNvSpPr/>
          <p:nvPr/>
        </p:nvSpPr>
        <p:spPr>
          <a:xfrm>
            <a:off x="0" y="749808"/>
            <a:ext cx="9144000" cy="54864"/>
          </a:xfrm>
          <a:prstGeom prst="rect">
            <a:avLst/>
          </a:prstGeom>
          <a:solidFill>
            <a:srgbClr val="00A896"/>
          </a:solidFill>
          <a:ln w="12700">
            <a:solidFill>
              <a:srgbClr val="00A896"/>
            </a:solidFill>
            <a:prstDash val="solid"/>
          </a:ln>
        </p:spPr>
      </p:sp>
      <p:sp>
        <p:nvSpPr>
          <p:cNvPr id="4" name="Text 2"/>
          <p:cNvSpPr/>
          <p:nvPr/>
        </p:nvSpPr>
        <p:spPr>
          <a:xfrm>
            <a:off x="365760" y="0"/>
            <a:ext cx="7315200" cy="74980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Infrastructure Security — Questions &amp; Responses</a:t>
            </a:r>
            <a:endParaRPr lang="en-US" sz="2200" dirty="0"/>
          </a:p>
        </p:txBody>
      </p:sp>
      <p:sp>
        <p:nvSpPr>
          <p:cNvPr id="5" name="Shape 3"/>
          <p:cNvSpPr/>
          <p:nvPr/>
        </p:nvSpPr>
        <p:spPr>
          <a:xfrm>
            <a:off x="7516368" y="146304"/>
            <a:ext cx="1389888" cy="457200"/>
          </a:xfrm>
          <a:prstGeom prst="rect">
            <a:avLst>
              <a:gd name="adj" fmla="val 8000"/>
            </a:avLst>
          </a:prstGeom>
          <a:solidFill>
            <a:srgbClr val="028090"/>
          </a:solidFill>
          <a:ln w="12700">
            <a:solidFill>
              <a:srgbClr val="028090"/>
            </a:solidFill>
            <a:prstDash val="solid"/>
          </a:ln>
        </p:spPr>
      </p:sp>
      <p:sp>
        <p:nvSpPr>
          <p:cNvPr id="6" name="Text 4"/>
          <p:cNvSpPr/>
          <p:nvPr/>
        </p:nvSpPr>
        <p:spPr>
          <a:xfrm>
            <a:off x="7516368" y="146304"/>
            <a:ext cx="1389888" cy="457200"/>
          </a:xfrm>
          <a:prstGeom prst="rect">
            <a:avLst/>
          </a:prstGeom>
          <a:noFill/>
          <a:ln/>
        </p:spPr>
        <p:txBody>
          <a:bodyPr wrap="square" lIns="0" tIns="0" rIns="0" bIns="0" rtlCol="0" anchor="ctr"/>
          <a:lstStyle/>
          <a:p>
            <a:pPr algn="ctr" indent="0" marL="0">
              <a:buNone/>
            </a:pPr>
            <a:r>
              <a:rPr lang="en-US" sz="850" b="1" spc="50" kern="0" dirty="0">
                <a:solidFill>
                  <a:srgbClr val="FFFFFF"/>
                </a:solidFill>
              </a:rPr>
              <a:t>INFRA SEC</a:t>
            </a:r>
            <a:endParaRPr lang="en-US" sz="850" dirty="0"/>
          </a:p>
        </p:txBody>
      </p:sp>
      <p:sp>
        <p:nvSpPr>
          <p:cNvPr id="7" name="Shape 5"/>
          <p:cNvSpPr/>
          <p:nvPr/>
        </p:nvSpPr>
        <p:spPr>
          <a:xfrm>
            <a:off x="274320" y="905256"/>
            <a:ext cx="4251960" cy="886968"/>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8" name="Shape 6"/>
          <p:cNvSpPr/>
          <p:nvPr/>
        </p:nvSpPr>
        <p:spPr>
          <a:xfrm>
            <a:off x="274320" y="905256"/>
            <a:ext cx="64008" cy="886968"/>
          </a:xfrm>
          <a:prstGeom prst="rect">
            <a:avLst/>
          </a:prstGeom>
          <a:solidFill>
            <a:srgbClr val="028090"/>
          </a:solidFill>
          <a:ln w="12700">
            <a:solidFill>
              <a:srgbClr val="028090"/>
            </a:solidFill>
            <a:prstDash val="solid"/>
          </a:ln>
        </p:spPr>
      </p:sp>
      <p:sp>
        <p:nvSpPr>
          <p:cNvPr id="9" name="Shape 7"/>
          <p:cNvSpPr/>
          <p:nvPr/>
        </p:nvSpPr>
        <p:spPr>
          <a:xfrm>
            <a:off x="3858768" y="969264"/>
            <a:ext cx="603504" cy="182880"/>
          </a:xfrm>
          <a:prstGeom prst="rect">
            <a:avLst>
              <a:gd name="adj" fmla="val 20000"/>
            </a:avLst>
          </a:prstGeom>
          <a:solidFill>
            <a:srgbClr val="1E8449"/>
          </a:solidFill>
          <a:ln w="12700">
            <a:solidFill>
              <a:srgbClr val="1E8449"/>
            </a:solidFill>
            <a:prstDash val="solid"/>
          </a:ln>
        </p:spPr>
      </p:sp>
      <p:sp>
        <p:nvSpPr>
          <p:cNvPr id="10" name="Text 8"/>
          <p:cNvSpPr/>
          <p:nvPr/>
        </p:nvSpPr>
        <p:spPr>
          <a:xfrm>
            <a:off x="3858768" y="969264"/>
            <a:ext cx="603504" cy="182880"/>
          </a:xfrm>
          <a:prstGeom prst="rect">
            <a:avLst/>
          </a:prstGeom>
          <a:noFill/>
          <a:ln/>
        </p:spPr>
        <p:txBody>
          <a:bodyPr wrap="square" lIns="0" tIns="0" rIns="0" bIns="0" rtlCol="0" anchor="ctr"/>
          <a:lstStyle/>
          <a:p>
            <a:pPr algn="ctr" indent="0" marL="0">
              <a:buNone/>
            </a:pPr>
            <a:r>
              <a:rPr lang="en-US" sz="650" b="1" dirty="0">
                <a:solidFill>
                  <a:srgbClr val="FFFFFF"/>
                </a:solidFill>
              </a:rPr>
              <a:t>ADDRESSED</a:t>
            </a:r>
            <a:endParaRPr lang="en-US" sz="650" dirty="0"/>
          </a:p>
        </p:txBody>
      </p:sp>
      <p:sp>
        <p:nvSpPr>
          <p:cNvPr id="11" name="Text 9"/>
          <p:cNvSpPr/>
          <p:nvPr/>
        </p:nvSpPr>
        <p:spPr>
          <a:xfrm>
            <a:off x="420624" y="950976"/>
            <a:ext cx="3364992" cy="237744"/>
          </a:xfrm>
          <a:prstGeom prst="rect">
            <a:avLst/>
          </a:prstGeom>
          <a:noFill/>
          <a:ln/>
        </p:spPr>
        <p:txBody>
          <a:bodyPr wrap="square" rtlCol="0" anchor="ctr"/>
          <a:lstStyle/>
          <a:p>
            <a:pPr indent="0" marL="0">
              <a:buNone/>
            </a:pPr>
            <a:r>
              <a:rPr lang="en-US" sz="900" b="1" dirty="0">
                <a:solidFill>
                  <a:srgbClr val="0A1628"/>
                </a:solidFill>
                <a:latin typeface="Calibri" pitchFamily="34" charset="0"/>
                <a:ea typeface="Calibri" pitchFamily="34" charset="-122"/>
                <a:cs typeface="Calibri" pitchFamily="34" charset="-120"/>
              </a:rPr>
              <a:t>Q1.  Phishing risk via fake portals using BBH branding?</a:t>
            </a:r>
            <a:endParaRPr lang="en-US" sz="900" dirty="0"/>
          </a:p>
        </p:txBody>
      </p:sp>
      <p:sp>
        <p:nvSpPr>
          <p:cNvPr id="12" name="Text 10"/>
          <p:cNvSpPr/>
          <p:nvPr/>
        </p:nvSpPr>
        <p:spPr>
          <a:xfrm>
            <a:off x="420624" y="1216152"/>
            <a:ext cx="4041648" cy="530352"/>
          </a:xfrm>
          <a:prstGeom prst="rect">
            <a:avLst/>
          </a:prstGeom>
          <a:noFill/>
          <a:ln/>
        </p:spPr>
        <p:txBody>
          <a:bodyPr wrap="square" rtlCol="0" anchor="ctr"/>
          <a:lstStyle/>
          <a:p>
            <a:pPr indent="0" marL="0">
              <a:buNone/>
            </a:pPr>
            <a:r>
              <a:rPr lang="en-US" sz="800" dirty="0">
                <a:solidFill>
                  <a:srgbClr val="3D5260"/>
                </a:solidFill>
                <a:latin typeface="Calibri" pitchFamily="34" charset="0"/>
                <a:ea typeface="Calibri" pitchFamily="34" charset="-122"/>
                <a:cs typeface="Calibri" pitchFamily="34" charset="-120"/>
              </a:rPr>
              <a:t>Plaid's OAuth flow redirects users to their bank's own verified domain — no credentials are ever typed into a Plaid-hosted screen. Certificate pinning and redirect_uri whitelisting prevent rogue portals. BBH must enforce proxy URL allow-listing and phishing-awareness training as compensating controls.</a:t>
            </a:r>
            <a:endParaRPr lang="en-US" sz="800" dirty="0"/>
          </a:p>
        </p:txBody>
      </p:sp>
      <p:sp>
        <p:nvSpPr>
          <p:cNvPr id="13" name="Shape 11"/>
          <p:cNvSpPr/>
          <p:nvPr/>
        </p:nvSpPr>
        <p:spPr>
          <a:xfrm>
            <a:off x="274320" y="1892808"/>
            <a:ext cx="4251960" cy="886968"/>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14" name="Shape 12"/>
          <p:cNvSpPr/>
          <p:nvPr/>
        </p:nvSpPr>
        <p:spPr>
          <a:xfrm>
            <a:off x="274320" y="1892808"/>
            <a:ext cx="64008" cy="886968"/>
          </a:xfrm>
          <a:prstGeom prst="rect">
            <a:avLst/>
          </a:prstGeom>
          <a:solidFill>
            <a:srgbClr val="028090"/>
          </a:solidFill>
          <a:ln w="12700">
            <a:solidFill>
              <a:srgbClr val="028090"/>
            </a:solidFill>
            <a:prstDash val="solid"/>
          </a:ln>
        </p:spPr>
      </p:sp>
      <p:sp>
        <p:nvSpPr>
          <p:cNvPr id="15" name="Shape 13"/>
          <p:cNvSpPr/>
          <p:nvPr/>
        </p:nvSpPr>
        <p:spPr>
          <a:xfrm>
            <a:off x="3858768" y="1956816"/>
            <a:ext cx="603504" cy="182880"/>
          </a:xfrm>
          <a:prstGeom prst="rect">
            <a:avLst>
              <a:gd name="adj" fmla="val 20000"/>
            </a:avLst>
          </a:prstGeom>
          <a:solidFill>
            <a:srgbClr val="1E8449"/>
          </a:solidFill>
          <a:ln w="12700">
            <a:solidFill>
              <a:srgbClr val="1E8449"/>
            </a:solidFill>
            <a:prstDash val="solid"/>
          </a:ln>
        </p:spPr>
      </p:sp>
      <p:sp>
        <p:nvSpPr>
          <p:cNvPr id="16" name="Text 14"/>
          <p:cNvSpPr/>
          <p:nvPr/>
        </p:nvSpPr>
        <p:spPr>
          <a:xfrm>
            <a:off x="3858768" y="1956816"/>
            <a:ext cx="603504" cy="182880"/>
          </a:xfrm>
          <a:prstGeom prst="rect">
            <a:avLst/>
          </a:prstGeom>
          <a:noFill/>
          <a:ln/>
        </p:spPr>
        <p:txBody>
          <a:bodyPr wrap="square" lIns="0" tIns="0" rIns="0" bIns="0" rtlCol="0" anchor="ctr"/>
          <a:lstStyle/>
          <a:p>
            <a:pPr algn="ctr" indent="0" marL="0">
              <a:buNone/>
            </a:pPr>
            <a:r>
              <a:rPr lang="en-US" sz="650" b="1" dirty="0">
                <a:solidFill>
                  <a:srgbClr val="FFFFFF"/>
                </a:solidFill>
              </a:rPr>
              <a:t>ADDRESSED</a:t>
            </a:r>
            <a:endParaRPr lang="en-US" sz="650" dirty="0"/>
          </a:p>
        </p:txBody>
      </p:sp>
      <p:sp>
        <p:nvSpPr>
          <p:cNvPr id="17" name="Text 15"/>
          <p:cNvSpPr/>
          <p:nvPr/>
        </p:nvSpPr>
        <p:spPr>
          <a:xfrm>
            <a:off x="420624" y="1938528"/>
            <a:ext cx="3364992" cy="237744"/>
          </a:xfrm>
          <a:prstGeom prst="rect">
            <a:avLst/>
          </a:prstGeom>
          <a:noFill/>
          <a:ln/>
        </p:spPr>
        <p:txBody>
          <a:bodyPr wrap="square" rtlCol="0" anchor="ctr"/>
          <a:lstStyle/>
          <a:p>
            <a:pPr indent="0" marL="0">
              <a:buNone/>
            </a:pPr>
            <a:r>
              <a:rPr lang="en-US" sz="900" b="1" dirty="0">
                <a:solidFill>
                  <a:srgbClr val="0A1628"/>
                </a:solidFill>
                <a:latin typeface="Calibri" pitchFamily="34" charset="0"/>
                <a:ea typeface="Calibri" pitchFamily="34" charset="-122"/>
                <a:cs typeface="Calibri" pitchFamily="34" charset="-120"/>
              </a:rPr>
              <a:t>Q2.  MFA compliance with NYDFS 500.12 &amp; risk-based step-up?</a:t>
            </a:r>
            <a:endParaRPr lang="en-US" sz="900" dirty="0"/>
          </a:p>
        </p:txBody>
      </p:sp>
      <p:sp>
        <p:nvSpPr>
          <p:cNvPr id="18" name="Text 16"/>
          <p:cNvSpPr/>
          <p:nvPr/>
        </p:nvSpPr>
        <p:spPr>
          <a:xfrm>
            <a:off x="420624" y="2203704"/>
            <a:ext cx="4041648" cy="530352"/>
          </a:xfrm>
          <a:prstGeom prst="rect">
            <a:avLst/>
          </a:prstGeom>
          <a:noFill/>
          <a:ln/>
        </p:spPr>
        <p:txBody>
          <a:bodyPr wrap="square" rtlCol="0" anchor="ctr"/>
          <a:lstStyle/>
          <a:p>
            <a:pPr indent="0" marL="0">
              <a:buNone/>
            </a:pPr>
            <a:r>
              <a:rPr lang="en-US" sz="800" dirty="0">
                <a:solidFill>
                  <a:srgbClr val="3D5260"/>
                </a:solidFill>
                <a:latin typeface="Calibri" pitchFamily="34" charset="0"/>
                <a:ea typeface="Calibri" pitchFamily="34" charset="-122"/>
                <a:cs typeface="Calibri" pitchFamily="34" charset="-120"/>
              </a:rPr>
              <a:t>Plaid surfaces bank-issued MFA (SMS, TOTP, security questions) without bypassing it. BBH PingFederate enforces risk-based step-up authentication post-token exchange, fully satisfying NYDFS 500.12 AAL2 requirements.</a:t>
            </a:r>
            <a:endParaRPr lang="en-US" sz="800" dirty="0"/>
          </a:p>
        </p:txBody>
      </p:sp>
      <p:sp>
        <p:nvSpPr>
          <p:cNvPr id="19" name="Shape 17"/>
          <p:cNvSpPr/>
          <p:nvPr/>
        </p:nvSpPr>
        <p:spPr>
          <a:xfrm>
            <a:off x="274320" y="2880360"/>
            <a:ext cx="4251960" cy="886968"/>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20" name="Shape 18"/>
          <p:cNvSpPr/>
          <p:nvPr/>
        </p:nvSpPr>
        <p:spPr>
          <a:xfrm>
            <a:off x="274320" y="2880360"/>
            <a:ext cx="64008" cy="886968"/>
          </a:xfrm>
          <a:prstGeom prst="rect">
            <a:avLst/>
          </a:prstGeom>
          <a:solidFill>
            <a:srgbClr val="028090"/>
          </a:solidFill>
          <a:ln w="12700">
            <a:solidFill>
              <a:srgbClr val="028090"/>
            </a:solidFill>
            <a:prstDash val="solid"/>
          </a:ln>
        </p:spPr>
      </p:sp>
      <p:sp>
        <p:nvSpPr>
          <p:cNvPr id="21" name="Shape 19"/>
          <p:cNvSpPr/>
          <p:nvPr/>
        </p:nvSpPr>
        <p:spPr>
          <a:xfrm>
            <a:off x="3858768" y="2944368"/>
            <a:ext cx="603504" cy="182880"/>
          </a:xfrm>
          <a:prstGeom prst="rect">
            <a:avLst>
              <a:gd name="adj" fmla="val 20000"/>
            </a:avLst>
          </a:prstGeom>
          <a:solidFill>
            <a:srgbClr val="1E8449"/>
          </a:solidFill>
          <a:ln w="12700">
            <a:solidFill>
              <a:srgbClr val="1E8449"/>
            </a:solidFill>
            <a:prstDash val="solid"/>
          </a:ln>
        </p:spPr>
      </p:sp>
      <p:sp>
        <p:nvSpPr>
          <p:cNvPr id="22" name="Text 20"/>
          <p:cNvSpPr/>
          <p:nvPr/>
        </p:nvSpPr>
        <p:spPr>
          <a:xfrm>
            <a:off x="3858768" y="2944368"/>
            <a:ext cx="603504" cy="182880"/>
          </a:xfrm>
          <a:prstGeom prst="rect">
            <a:avLst/>
          </a:prstGeom>
          <a:noFill/>
          <a:ln/>
        </p:spPr>
        <p:txBody>
          <a:bodyPr wrap="square" lIns="0" tIns="0" rIns="0" bIns="0" rtlCol="0" anchor="ctr"/>
          <a:lstStyle/>
          <a:p>
            <a:pPr algn="ctr" indent="0" marL="0">
              <a:buNone/>
            </a:pPr>
            <a:r>
              <a:rPr lang="en-US" sz="650" b="1" dirty="0">
                <a:solidFill>
                  <a:srgbClr val="FFFFFF"/>
                </a:solidFill>
              </a:rPr>
              <a:t>ADDRESSED</a:t>
            </a:r>
            <a:endParaRPr lang="en-US" sz="650" dirty="0"/>
          </a:p>
        </p:txBody>
      </p:sp>
      <p:sp>
        <p:nvSpPr>
          <p:cNvPr id="23" name="Text 21"/>
          <p:cNvSpPr/>
          <p:nvPr/>
        </p:nvSpPr>
        <p:spPr>
          <a:xfrm>
            <a:off x="420624" y="2926080"/>
            <a:ext cx="3364992" cy="237744"/>
          </a:xfrm>
          <a:prstGeom prst="rect">
            <a:avLst/>
          </a:prstGeom>
          <a:noFill/>
          <a:ln/>
        </p:spPr>
        <p:txBody>
          <a:bodyPr wrap="square" rtlCol="0" anchor="ctr"/>
          <a:lstStyle/>
          <a:p>
            <a:pPr indent="0" marL="0">
              <a:buNone/>
            </a:pPr>
            <a:r>
              <a:rPr lang="en-US" sz="900" b="1" dirty="0">
                <a:solidFill>
                  <a:srgbClr val="0A1628"/>
                </a:solidFill>
                <a:latin typeface="Calibri" pitchFamily="34" charset="0"/>
                <a:ea typeface="Calibri" pitchFamily="34" charset="-122"/>
                <a:cs typeface="Calibri" pitchFamily="34" charset="-120"/>
              </a:rPr>
              <a:t>Q3.  Can we block Plaid while still allowing direct user login?</a:t>
            </a:r>
            <a:endParaRPr lang="en-US" sz="900" dirty="0"/>
          </a:p>
        </p:txBody>
      </p:sp>
      <p:sp>
        <p:nvSpPr>
          <p:cNvPr id="24" name="Text 22"/>
          <p:cNvSpPr/>
          <p:nvPr/>
        </p:nvSpPr>
        <p:spPr>
          <a:xfrm>
            <a:off x="420624" y="3191256"/>
            <a:ext cx="4041648" cy="530352"/>
          </a:xfrm>
          <a:prstGeom prst="rect">
            <a:avLst/>
          </a:prstGeom>
          <a:noFill/>
          <a:ln/>
        </p:spPr>
        <p:txBody>
          <a:bodyPr wrap="square" rtlCol="0" anchor="ctr"/>
          <a:lstStyle/>
          <a:p>
            <a:pPr indent="0" marL="0">
              <a:buNone/>
            </a:pPr>
            <a:r>
              <a:rPr lang="en-US" sz="800" dirty="0">
                <a:solidFill>
                  <a:srgbClr val="3D5260"/>
                </a:solidFill>
                <a:latin typeface="Calibri" pitchFamily="34" charset="0"/>
                <a:ea typeface="Calibri" pitchFamily="34" charset="-122"/>
                <a:cs typeface="Calibri" pitchFamily="34" charset="-120"/>
              </a:rPr>
              <a:t>Yes. Revoking Plaid API access tokens immediately terminates all Plaid-brokered sessions. Users retain the ability to log in directly to their bank. The Plaid channel and direct-login channel share no session state — revocation of one does not affect the other.</a:t>
            </a:r>
            <a:endParaRPr lang="en-US" sz="800" dirty="0"/>
          </a:p>
        </p:txBody>
      </p:sp>
      <p:sp>
        <p:nvSpPr>
          <p:cNvPr id="25" name="Shape 23"/>
          <p:cNvSpPr/>
          <p:nvPr/>
        </p:nvSpPr>
        <p:spPr>
          <a:xfrm>
            <a:off x="274320" y="3867912"/>
            <a:ext cx="4251960" cy="886968"/>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26" name="Shape 24"/>
          <p:cNvSpPr/>
          <p:nvPr/>
        </p:nvSpPr>
        <p:spPr>
          <a:xfrm>
            <a:off x="274320" y="3867912"/>
            <a:ext cx="64008" cy="886968"/>
          </a:xfrm>
          <a:prstGeom prst="rect">
            <a:avLst/>
          </a:prstGeom>
          <a:solidFill>
            <a:srgbClr val="028090"/>
          </a:solidFill>
          <a:ln w="12700">
            <a:solidFill>
              <a:srgbClr val="028090"/>
            </a:solidFill>
            <a:prstDash val="solid"/>
          </a:ln>
        </p:spPr>
      </p:sp>
      <p:sp>
        <p:nvSpPr>
          <p:cNvPr id="27" name="Shape 25"/>
          <p:cNvSpPr/>
          <p:nvPr/>
        </p:nvSpPr>
        <p:spPr>
          <a:xfrm>
            <a:off x="3858768" y="3931920"/>
            <a:ext cx="603504" cy="182880"/>
          </a:xfrm>
          <a:prstGeom prst="rect">
            <a:avLst>
              <a:gd name="adj" fmla="val 20000"/>
            </a:avLst>
          </a:prstGeom>
          <a:solidFill>
            <a:srgbClr val="BA4A00"/>
          </a:solidFill>
          <a:ln w="12700">
            <a:solidFill>
              <a:srgbClr val="BA4A00"/>
            </a:solidFill>
            <a:prstDash val="solid"/>
          </a:ln>
        </p:spPr>
      </p:sp>
      <p:sp>
        <p:nvSpPr>
          <p:cNvPr id="28" name="Text 26"/>
          <p:cNvSpPr/>
          <p:nvPr/>
        </p:nvSpPr>
        <p:spPr>
          <a:xfrm>
            <a:off x="3858768" y="3931920"/>
            <a:ext cx="603504" cy="182880"/>
          </a:xfrm>
          <a:prstGeom prst="rect">
            <a:avLst/>
          </a:prstGeom>
          <a:noFill/>
          <a:ln/>
        </p:spPr>
        <p:txBody>
          <a:bodyPr wrap="square" lIns="0" tIns="0" rIns="0" bIns="0" rtlCol="0" anchor="ctr"/>
          <a:lstStyle/>
          <a:p>
            <a:pPr algn="ctr" indent="0" marL="0">
              <a:buNone/>
            </a:pPr>
            <a:r>
              <a:rPr lang="en-US" sz="650" b="1" dirty="0">
                <a:solidFill>
                  <a:srgbClr val="FFFFFF"/>
                </a:solidFill>
              </a:rPr>
              <a:t>BBH CONTROL</a:t>
            </a:r>
            <a:endParaRPr lang="en-US" sz="650" dirty="0"/>
          </a:p>
        </p:txBody>
      </p:sp>
      <p:sp>
        <p:nvSpPr>
          <p:cNvPr id="29" name="Text 27"/>
          <p:cNvSpPr/>
          <p:nvPr/>
        </p:nvSpPr>
        <p:spPr>
          <a:xfrm>
            <a:off x="420624" y="3913632"/>
            <a:ext cx="3364992" cy="237744"/>
          </a:xfrm>
          <a:prstGeom prst="rect">
            <a:avLst/>
          </a:prstGeom>
          <a:noFill/>
          <a:ln/>
        </p:spPr>
        <p:txBody>
          <a:bodyPr wrap="square" rtlCol="0" anchor="ctr"/>
          <a:lstStyle/>
          <a:p>
            <a:pPr indent="0" marL="0">
              <a:buNone/>
            </a:pPr>
            <a:r>
              <a:rPr lang="en-US" sz="900" b="1" dirty="0">
                <a:solidFill>
                  <a:srgbClr val="0A1628"/>
                </a:solidFill>
                <a:latin typeface="Calibri" pitchFamily="34" charset="0"/>
                <a:ea typeface="Calibri" pitchFamily="34" charset="-122"/>
                <a:cs typeface="Calibri" pitchFamily="34" charset="-120"/>
              </a:rPr>
              <a:t>Q4.  Can we block Plaid access from specific countries or regions?</a:t>
            </a:r>
            <a:endParaRPr lang="en-US" sz="900" dirty="0"/>
          </a:p>
        </p:txBody>
      </p:sp>
      <p:sp>
        <p:nvSpPr>
          <p:cNvPr id="30" name="Text 28"/>
          <p:cNvSpPr/>
          <p:nvPr/>
        </p:nvSpPr>
        <p:spPr>
          <a:xfrm>
            <a:off x="420624" y="4178808"/>
            <a:ext cx="4041648" cy="530352"/>
          </a:xfrm>
          <a:prstGeom prst="rect">
            <a:avLst/>
          </a:prstGeom>
          <a:noFill/>
          <a:ln/>
        </p:spPr>
        <p:txBody>
          <a:bodyPr wrap="square" rtlCol="0" anchor="ctr"/>
          <a:lstStyle/>
          <a:p>
            <a:pPr indent="0" marL="0">
              <a:buNone/>
            </a:pPr>
            <a:r>
              <a:rPr lang="en-US" sz="800" dirty="0">
                <a:solidFill>
                  <a:srgbClr val="3D5260"/>
                </a:solidFill>
                <a:latin typeface="Calibri" pitchFamily="34" charset="0"/>
                <a:ea typeface="Calibri" pitchFamily="34" charset="-122"/>
                <a:cs typeface="Calibri" pitchFamily="34" charset="-120"/>
              </a:rPr>
              <a:t>Plaid does not provide native per-customer geo-blocking. BBH can implement geo-fencing at the Apigee API Gateway (IP-based allow/block lists) or at the Zscaler Internet Access proxy. This is a BBH-owned compensating control, not a Plaid-native feature.</a:t>
            </a:r>
            <a:endParaRPr lang="en-US" sz="800" dirty="0"/>
          </a:p>
        </p:txBody>
      </p:sp>
      <p:sp>
        <p:nvSpPr>
          <p:cNvPr id="31" name="Shape 29"/>
          <p:cNvSpPr/>
          <p:nvPr/>
        </p:nvSpPr>
        <p:spPr>
          <a:xfrm>
            <a:off x="4736592" y="905256"/>
            <a:ext cx="4133088" cy="1188720"/>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32" name="Shape 30"/>
          <p:cNvSpPr/>
          <p:nvPr/>
        </p:nvSpPr>
        <p:spPr>
          <a:xfrm>
            <a:off x="4736592" y="905256"/>
            <a:ext cx="64008" cy="1188720"/>
          </a:xfrm>
          <a:prstGeom prst="rect">
            <a:avLst/>
          </a:prstGeom>
          <a:solidFill>
            <a:srgbClr val="00A896"/>
          </a:solidFill>
          <a:ln w="12700">
            <a:solidFill>
              <a:srgbClr val="00A896"/>
            </a:solidFill>
            <a:prstDash val="solid"/>
          </a:ln>
        </p:spPr>
      </p:sp>
      <p:sp>
        <p:nvSpPr>
          <p:cNvPr id="33" name="Shape 31"/>
          <p:cNvSpPr/>
          <p:nvPr/>
        </p:nvSpPr>
        <p:spPr>
          <a:xfrm>
            <a:off x="8229600" y="969264"/>
            <a:ext cx="566928" cy="182880"/>
          </a:xfrm>
          <a:prstGeom prst="rect">
            <a:avLst>
              <a:gd name="adj" fmla="val 20000"/>
            </a:avLst>
          </a:prstGeom>
          <a:solidFill>
            <a:srgbClr val="BA4A00"/>
          </a:solidFill>
          <a:ln w="12700">
            <a:solidFill>
              <a:srgbClr val="BA4A00"/>
            </a:solidFill>
            <a:prstDash val="solid"/>
          </a:ln>
        </p:spPr>
      </p:sp>
      <p:sp>
        <p:nvSpPr>
          <p:cNvPr id="34" name="Text 32"/>
          <p:cNvSpPr/>
          <p:nvPr/>
        </p:nvSpPr>
        <p:spPr>
          <a:xfrm>
            <a:off x="8229600" y="969264"/>
            <a:ext cx="566928" cy="182880"/>
          </a:xfrm>
          <a:prstGeom prst="rect">
            <a:avLst/>
          </a:prstGeom>
          <a:noFill/>
          <a:ln/>
        </p:spPr>
        <p:txBody>
          <a:bodyPr wrap="square" lIns="0" tIns="0" rIns="0" bIns="0" rtlCol="0" anchor="ctr"/>
          <a:lstStyle/>
          <a:p>
            <a:pPr algn="ctr" indent="0" marL="0">
              <a:buNone/>
            </a:pPr>
            <a:r>
              <a:rPr lang="en-US" sz="650" b="1" dirty="0">
                <a:solidFill>
                  <a:srgbClr val="FFFFFF"/>
                </a:solidFill>
              </a:rPr>
              <a:t>CUSTOM IMPL</a:t>
            </a:r>
            <a:endParaRPr lang="en-US" sz="650" dirty="0"/>
          </a:p>
        </p:txBody>
      </p:sp>
      <p:sp>
        <p:nvSpPr>
          <p:cNvPr id="35" name="Text 33"/>
          <p:cNvSpPr/>
          <p:nvPr/>
        </p:nvSpPr>
        <p:spPr>
          <a:xfrm>
            <a:off x="4882896" y="950976"/>
            <a:ext cx="3273552" cy="237744"/>
          </a:xfrm>
          <a:prstGeom prst="rect">
            <a:avLst/>
          </a:prstGeom>
          <a:noFill/>
          <a:ln/>
        </p:spPr>
        <p:txBody>
          <a:bodyPr wrap="square" rtlCol="0" anchor="ctr"/>
          <a:lstStyle/>
          <a:p>
            <a:pPr indent="0" marL="0">
              <a:buNone/>
            </a:pPr>
            <a:r>
              <a:rPr lang="en-US" sz="900" b="1" dirty="0">
                <a:solidFill>
                  <a:srgbClr val="0A1628"/>
                </a:solidFill>
                <a:latin typeface="Calibri" pitchFamily="34" charset="0"/>
                <a:ea typeface="Calibri" pitchFamily="34" charset="-122"/>
                <a:cs typeface="Calibri" pitchFamily="34" charset="-120"/>
              </a:rPr>
              <a:t>Q5.  Can Plaid preserve original source IP in SAML assertion headers?</a:t>
            </a:r>
            <a:endParaRPr lang="en-US" sz="900" dirty="0"/>
          </a:p>
        </p:txBody>
      </p:sp>
      <p:sp>
        <p:nvSpPr>
          <p:cNvPr id="36" name="Text 34"/>
          <p:cNvSpPr/>
          <p:nvPr/>
        </p:nvSpPr>
        <p:spPr>
          <a:xfrm>
            <a:off x="4882896" y="1234440"/>
            <a:ext cx="3913632" cy="804672"/>
          </a:xfrm>
          <a:prstGeom prst="rect">
            <a:avLst/>
          </a:prstGeom>
          <a:noFill/>
          <a:ln/>
        </p:spPr>
        <p:txBody>
          <a:bodyPr wrap="square" rtlCol="0" anchor="ctr"/>
          <a:lstStyle/>
          <a:p>
            <a:pPr indent="0" marL="0">
              <a:buNone/>
            </a:pPr>
            <a:r>
              <a:rPr lang="en-US" sz="800" dirty="0">
                <a:solidFill>
                  <a:srgbClr val="3D5260"/>
                </a:solidFill>
                <a:latin typeface="Calibri" pitchFamily="34" charset="0"/>
                <a:ea typeface="Calibri" pitchFamily="34" charset="-122"/>
                <a:cs typeface="Calibri" pitchFamily="34" charset="-120"/>
              </a:rPr>
              <a:t>Plaid logs the initiating client IP internally. Passing the original IP in SAML assertion headers (e.g., X-Forwarded-For) is non-standard but achievable via the BBH application layer before PingFederate constructs the SAML assertion. Recommended for forensic audit chain completeness.</a:t>
            </a:r>
            <a:endParaRPr lang="en-US" sz="800" dirty="0"/>
          </a:p>
        </p:txBody>
      </p:sp>
      <p:sp>
        <p:nvSpPr>
          <p:cNvPr id="37" name="Shape 35"/>
          <p:cNvSpPr/>
          <p:nvPr/>
        </p:nvSpPr>
        <p:spPr>
          <a:xfrm>
            <a:off x="4736592" y="2221992"/>
            <a:ext cx="4133088" cy="1188720"/>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38" name="Shape 36"/>
          <p:cNvSpPr/>
          <p:nvPr/>
        </p:nvSpPr>
        <p:spPr>
          <a:xfrm>
            <a:off x="4736592" y="2221992"/>
            <a:ext cx="64008" cy="1188720"/>
          </a:xfrm>
          <a:prstGeom prst="rect">
            <a:avLst/>
          </a:prstGeom>
          <a:solidFill>
            <a:srgbClr val="00A896"/>
          </a:solidFill>
          <a:ln w="12700">
            <a:solidFill>
              <a:srgbClr val="00A896"/>
            </a:solidFill>
            <a:prstDash val="solid"/>
          </a:ln>
        </p:spPr>
      </p:sp>
      <p:sp>
        <p:nvSpPr>
          <p:cNvPr id="39" name="Shape 37"/>
          <p:cNvSpPr/>
          <p:nvPr/>
        </p:nvSpPr>
        <p:spPr>
          <a:xfrm>
            <a:off x="8229600" y="2286000"/>
            <a:ext cx="566928" cy="182880"/>
          </a:xfrm>
          <a:prstGeom prst="rect">
            <a:avLst>
              <a:gd name="adj" fmla="val 20000"/>
            </a:avLst>
          </a:prstGeom>
          <a:solidFill>
            <a:srgbClr val="1E8449"/>
          </a:solidFill>
          <a:ln w="12700">
            <a:solidFill>
              <a:srgbClr val="1E8449"/>
            </a:solidFill>
            <a:prstDash val="solid"/>
          </a:ln>
        </p:spPr>
      </p:sp>
      <p:sp>
        <p:nvSpPr>
          <p:cNvPr id="40" name="Text 38"/>
          <p:cNvSpPr/>
          <p:nvPr/>
        </p:nvSpPr>
        <p:spPr>
          <a:xfrm>
            <a:off x="8229600" y="2286000"/>
            <a:ext cx="566928" cy="182880"/>
          </a:xfrm>
          <a:prstGeom prst="rect">
            <a:avLst/>
          </a:prstGeom>
          <a:noFill/>
          <a:ln/>
        </p:spPr>
        <p:txBody>
          <a:bodyPr wrap="square" lIns="0" tIns="0" rIns="0" bIns="0" rtlCol="0" anchor="ctr"/>
          <a:lstStyle/>
          <a:p>
            <a:pPr algn="ctr" indent="0" marL="0">
              <a:buNone/>
            </a:pPr>
            <a:r>
              <a:rPr lang="en-US" sz="650" b="1" dirty="0">
                <a:solidFill>
                  <a:srgbClr val="FFFFFF"/>
                </a:solidFill>
              </a:rPr>
              <a:t>ADDRESSED</a:t>
            </a:r>
            <a:endParaRPr lang="en-US" sz="650" dirty="0"/>
          </a:p>
        </p:txBody>
      </p:sp>
      <p:sp>
        <p:nvSpPr>
          <p:cNvPr id="41" name="Text 39"/>
          <p:cNvSpPr/>
          <p:nvPr/>
        </p:nvSpPr>
        <p:spPr>
          <a:xfrm>
            <a:off x="4882896" y="2267712"/>
            <a:ext cx="3273552" cy="237744"/>
          </a:xfrm>
          <a:prstGeom prst="rect">
            <a:avLst/>
          </a:prstGeom>
          <a:noFill/>
          <a:ln/>
        </p:spPr>
        <p:txBody>
          <a:bodyPr wrap="square" rtlCol="0" anchor="ctr"/>
          <a:lstStyle/>
          <a:p>
            <a:pPr indent="0" marL="0">
              <a:buNone/>
            </a:pPr>
            <a:r>
              <a:rPr lang="en-US" sz="900" b="1" dirty="0">
                <a:solidFill>
                  <a:srgbClr val="0A1628"/>
                </a:solidFill>
                <a:latin typeface="Calibri" pitchFamily="34" charset="0"/>
                <a:ea typeface="Calibri" pitchFamily="34" charset="-122"/>
                <a:cs typeface="Calibri" pitchFamily="34" charset="-120"/>
              </a:rPr>
              <a:t>Q6.  Do we receive system admin logs &amp; user authentication details?</a:t>
            </a:r>
            <a:endParaRPr lang="en-US" sz="900" dirty="0"/>
          </a:p>
        </p:txBody>
      </p:sp>
      <p:sp>
        <p:nvSpPr>
          <p:cNvPr id="42" name="Text 40"/>
          <p:cNvSpPr/>
          <p:nvPr/>
        </p:nvSpPr>
        <p:spPr>
          <a:xfrm>
            <a:off x="4882896" y="2551176"/>
            <a:ext cx="3913632" cy="804672"/>
          </a:xfrm>
          <a:prstGeom prst="rect">
            <a:avLst/>
          </a:prstGeom>
          <a:noFill/>
          <a:ln/>
        </p:spPr>
        <p:txBody>
          <a:bodyPr wrap="square" rtlCol="0" anchor="ctr"/>
          <a:lstStyle/>
          <a:p>
            <a:pPr indent="0" marL="0">
              <a:buNone/>
            </a:pPr>
            <a:r>
              <a:rPr lang="en-US" sz="800" dirty="0">
                <a:solidFill>
                  <a:srgbClr val="3D5260"/>
                </a:solidFill>
                <a:latin typeface="Calibri" pitchFamily="34" charset="0"/>
                <a:ea typeface="Calibri" pitchFamily="34" charset="-122"/>
                <a:cs typeface="Calibri" pitchFamily="34" charset="-120"/>
              </a:rPr>
              <a:t>Yes. Plaid exposes connection creation, transaction, and full token lifecycle events (issuance, refresh, revocation) via API and webhooks. Raw credentials are never included. All events are scoped strictly to BBH's Plaid tenant — no cross-tenant data exposure is possible.</a:t>
            </a:r>
            <a:endParaRPr lang="en-US" sz="800" dirty="0"/>
          </a:p>
        </p:txBody>
      </p:sp>
      <p:sp>
        <p:nvSpPr>
          <p:cNvPr id="43" name="Shape 41"/>
          <p:cNvSpPr/>
          <p:nvPr/>
        </p:nvSpPr>
        <p:spPr>
          <a:xfrm>
            <a:off x="4736592" y="3538728"/>
            <a:ext cx="4133088" cy="1188720"/>
          </a:xfrm>
          <a:prstGeom prst="rect">
            <a:avLst/>
          </a:prstGeom>
          <a:solidFill>
            <a:srgbClr val="FFFFFF"/>
          </a:solidFill>
          <a:ln w="9525">
            <a:solidFill>
              <a:srgbClr val="E8EEF0"/>
            </a:solidFill>
            <a:prstDash val="solid"/>
          </a:ln>
          <a:effectLst>
            <a:outerShdw sx="100000" sy="100000" kx="0" ky="0" algn="bl" rotWithShape="0" blurRad="63500" dist="25400" dir="8100000">
              <a:srgbClr val="000000">
                <a:alpha val="8000"/>
              </a:srgbClr>
            </a:outerShdw>
          </a:effectLst>
        </p:spPr>
      </p:sp>
      <p:sp>
        <p:nvSpPr>
          <p:cNvPr id="44" name="Shape 42"/>
          <p:cNvSpPr/>
          <p:nvPr/>
        </p:nvSpPr>
        <p:spPr>
          <a:xfrm>
            <a:off x="4736592" y="3538728"/>
            <a:ext cx="64008" cy="1188720"/>
          </a:xfrm>
          <a:prstGeom prst="rect">
            <a:avLst/>
          </a:prstGeom>
          <a:solidFill>
            <a:srgbClr val="00A896"/>
          </a:solidFill>
          <a:ln w="12700">
            <a:solidFill>
              <a:srgbClr val="00A896"/>
            </a:solidFill>
            <a:prstDash val="solid"/>
          </a:ln>
        </p:spPr>
      </p:sp>
      <p:sp>
        <p:nvSpPr>
          <p:cNvPr id="45" name="Shape 43"/>
          <p:cNvSpPr/>
          <p:nvPr/>
        </p:nvSpPr>
        <p:spPr>
          <a:xfrm>
            <a:off x="8229600" y="3602736"/>
            <a:ext cx="566928" cy="182880"/>
          </a:xfrm>
          <a:prstGeom prst="rect">
            <a:avLst>
              <a:gd name="adj" fmla="val 20000"/>
            </a:avLst>
          </a:prstGeom>
          <a:solidFill>
            <a:srgbClr val="1E8449"/>
          </a:solidFill>
          <a:ln w="12700">
            <a:solidFill>
              <a:srgbClr val="1E8449"/>
            </a:solidFill>
            <a:prstDash val="solid"/>
          </a:ln>
        </p:spPr>
      </p:sp>
      <p:sp>
        <p:nvSpPr>
          <p:cNvPr id="46" name="Text 44"/>
          <p:cNvSpPr/>
          <p:nvPr/>
        </p:nvSpPr>
        <p:spPr>
          <a:xfrm>
            <a:off x="8229600" y="3602736"/>
            <a:ext cx="566928" cy="182880"/>
          </a:xfrm>
          <a:prstGeom prst="rect">
            <a:avLst/>
          </a:prstGeom>
          <a:noFill/>
          <a:ln/>
        </p:spPr>
        <p:txBody>
          <a:bodyPr wrap="square" lIns="0" tIns="0" rIns="0" bIns="0" rtlCol="0" anchor="ctr"/>
          <a:lstStyle/>
          <a:p>
            <a:pPr algn="ctr" indent="0" marL="0">
              <a:buNone/>
            </a:pPr>
            <a:r>
              <a:rPr lang="en-US" sz="650" b="1" dirty="0">
                <a:solidFill>
                  <a:srgbClr val="FFFFFF"/>
                </a:solidFill>
              </a:rPr>
              <a:t>ADDRESSED</a:t>
            </a:r>
            <a:endParaRPr lang="en-US" sz="650" dirty="0"/>
          </a:p>
        </p:txBody>
      </p:sp>
      <p:sp>
        <p:nvSpPr>
          <p:cNvPr id="47" name="Text 45"/>
          <p:cNvSpPr/>
          <p:nvPr/>
        </p:nvSpPr>
        <p:spPr>
          <a:xfrm>
            <a:off x="4882896" y="3584448"/>
            <a:ext cx="3273552" cy="237744"/>
          </a:xfrm>
          <a:prstGeom prst="rect">
            <a:avLst/>
          </a:prstGeom>
          <a:noFill/>
          <a:ln/>
        </p:spPr>
        <p:txBody>
          <a:bodyPr wrap="square" rtlCol="0" anchor="ctr"/>
          <a:lstStyle/>
          <a:p>
            <a:pPr indent="0" marL="0">
              <a:buNone/>
            </a:pPr>
            <a:r>
              <a:rPr lang="en-US" sz="900" b="1" dirty="0">
                <a:solidFill>
                  <a:srgbClr val="0A1628"/>
                </a:solidFill>
                <a:latin typeface="Calibri" pitchFamily="34" charset="0"/>
                <a:ea typeface="Calibri" pitchFamily="34" charset="-122"/>
                <a:cs typeface="Calibri" pitchFamily="34" charset="-120"/>
              </a:rPr>
              <a:t>Q7.  Can we ingest Plaid authentication logs into our SIEM?</a:t>
            </a:r>
            <a:endParaRPr lang="en-US" sz="900" dirty="0"/>
          </a:p>
        </p:txBody>
      </p:sp>
      <p:sp>
        <p:nvSpPr>
          <p:cNvPr id="48" name="Text 46"/>
          <p:cNvSpPr/>
          <p:nvPr/>
        </p:nvSpPr>
        <p:spPr>
          <a:xfrm>
            <a:off x="4882896" y="3867912"/>
            <a:ext cx="3913632" cy="804672"/>
          </a:xfrm>
          <a:prstGeom prst="rect">
            <a:avLst/>
          </a:prstGeom>
          <a:noFill/>
          <a:ln/>
        </p:spPr>
        <p:txBody>
          <a:bodyPr wrap="square" rtlCol="0" anchor="ctr"/>
          <a:lstStyle/>
          <a:p>
            <a:pPr indent="0" marL="0">
              <a:buNone/>
            </a:pPr>
            <a:r>
              <a:rPr lang="en-US" sz="800" dirty="0">
                <a:solidFill>
                  <a:srgbClr val="3D5260"/>
                </a:solidFill>
                <a:latin typeface="Calibri" pitchFamily="34" charset="0"/>
                <a:ea typeface="Calibri" pitchFamily="34" charset="-122"/>
                <a:cs typeface="Calibri" pitchFamily="34" charset="-120"/>
              </a:rPr>
              <a:t>Yes. Plaid webhooks deliver auth events (link creation, MFA completion, token revocation) in near real-time. Events are ingestible directly into BBH's SIEM (Splunk or equivalent) for continuous monitoring, compliance alerting, and regulatory audit trails. Raw MFA responses are not exposed.</a:t>
            </a:r>
            <a:endParaRPr lang="en-US" sz="800" dirty="0"/>
          </a:p>
        </p:txBody>
      </p:sp>
      <p:sp>
        <p:nvSpPr>
          <p:cNvPr id="49" name="Shape 47"/>
          <p:cNvSpPr/>
          <p:nvPr/>
        </p:nvSpPr>
        <p:spPr>
          <a:xfrm>
            <a:off x="274320" y="4846320"/>
            <a:ext cx="118872" cy="118872"/>
          </a:xfrm>
          <a:prstGeom prst="rect">
            <a:avLst/>
          </a:prstGeom>
          <a:solidFill>
            <a:srgbClr val="1E8449"/>
          </a:solidFill>
          <a:ln w="12700">
            <a:solidFill>
              <a:srgbClr val="1E8449"/>
            </a:solidFill>
            <a:prstDash val="solid"/>
          </a:ln>
        </p:spPr>
      </p:sp>
      <p:sp>
        <p:nvSpPr>
          <p:cNvPr id="50" name="Text 48"/>
          <p:cNvSpPr/>
          <p:nvPr/>
        </p:nvSpPr>
        <p:spPr>
          <a:xfrm>
            <a:off x="457200" y="4837176"/>
            <a:ext cx="2651760" cy="146304"/>
          </a:xfrm>
          <a:prstGeom prst="rect">
            <a:avLst/>
          </a:prstGeom>
          <a:noFill/>
          <a:ln/>
        </p:spPr>
        <p:txBody>
          <a:bodyPr wrap="square" rtlCol="0" anchor="ctr"/>
          <a:lstStyle/>
          <a:p>
            <a:pPr indent="0" marL="0">
              <a:buNone/>
            </a:pPr>
            <a:r>
              <a:rPr lang="en-US" sz="750" dirty="0">
                <a:solidFill>
                  <a:srgbClr val="8FA3A8"/>
                </a:solidFill>
                <a:latin typeface="Calibri" pitchFamily="34" charset="0"/>
                <a:ea typeface="Calibri" pitchFamily="34" charset="-122"/>
                <a:cs typeface="Calibri" pitchFamily="34" charset="-120"/>
              </a:rPr>
              <a:t>ADDRESSED — Plaid native or standard control</a:t>
            </a:r>
            <a:endParaRPr lang="en-US" sz="750" dirty="0"/>
          </a:p>
        </p:txBody>
      </p:sp>
      <p:sp>
        <p:nvSpPr>
          <p:cNvPr id="51" name="Shape 49"/>
          <p:cNvSpPr/>
          <p:nvPr/>
        </p:nvSpPr>
        <p:spPr>
          <a:xfrm>
            <a:off x="3172968" y="4846320"/>
            <a:ext cx="118872" cy="118872"/>
          </a:xfrm>
          <a:prstGeom prst="rect">
            <a:avLst/>
          </a:prstGeom>
          <a:solidFill>
            <a:srgbClr val="BA4A00"/>
          </a:solidFill>
          <a:ln w="12700">
            <a:solidFill>
              <a:srgbClr val="BA4A00"/>
            </a:solidFill>
            <a:prstDash val="solid"/>
          </a:ln>
        </p:spPr>
      </p:sp>
      <p:sp>
        <p:nvSpPr>
          <p:cNvPr id="52" name="Text 50"/>
          <p:cNvSpPr/>
          <p:nvPr/>
        </p:nvSpPr>
        <p:spPr>
          <a:xfrm>
            <a:off x="3355848" y="4837176"/>
            <a:ext cx="2651760" cy="146304"/>
          </a:xfrm>
          <a:prstGeom prst="rect">
            <a:avLst/>
          </a:prstGeom>
          <a:noFill/>
          <a:ln/>
        </p:spPr>
        <p:txBody>
          <a:bodyPr wrap="square" rtlCol="0" anchor="ctr"/>
          <a:lstStyle/>
          <a:p>
            <a:pPr indent="0" marL="0">
              <a:buNone/>
            </a:pPr>
            <a:r>
              <a:rPr lang="en-US" sz="750" dirty="0">
                <a:solidFill>
                  <a:srgbClr val="8FA3A8"/>
                </a:solidFill>
                <a:latin typeface="Calibri" pitchFamily="34" charset="0"/>
                <a:ea typeface="Calibri" pitchFamily="34" charset="-122"/>
                <a:cs typeface="Calibri" pitchFamily="34" charset="-120"/>
              </a:rPr>
              <a:t>BBH CONTROL — Requires BBH-side implementation</a:t>
            </a:r>
            <a:endParaRPr lang="en-US" sz="750" dirty="0"/>
          </a:p>
        </p:txBody>
      </p:sp>
      <p:sp>
        <p:nvSpPr>
          <p:cNvPr id="53" name="Shape 51"/>
          <p:cNvSpPr/>
          <p:nvPr/>
        </p:nvSpPr>
        <p:spPr>
          <a:xfrm>
            <a:off x="6071616" y="4846320"/>
            <a:ext cx="118872" cy="118872"/>
          </a:xfrm>
          <a:prstGeom prst="rect">
            <a:avLst/>
          </a:prstGeom>
          <a:solidFill>
            <a:srgbClr val="BA4A00"/>
          </a:solidFill>
          <a:ln w="12700">
            <a:solidFill>
              <a:srgbClr val="BA4A00"/>
            </a:solidFill>
            <a:prstDash val="solid"/>
          </a:ln>
        </p:spPr>
      </p:sp>
      <p:sp>
        <p:nvSpPr>
          <p:cNvPr id="54" name="Text 52"/>
          <p:cNvSpPr/>
          <p:nvPr/>
        </p:nvSpPr>
        <p:spPr>
          <a:xfrm>
            <a:off x="6254496" y="4837176"/>
            <a:ext cx="2651760" cy="146304"/>
          </a:xfrm>
          <a:prstGeom prst="rect">
            <a:avLst/>
          </a:prstGeom>
          <a:noFill/>
          <a:ln/>
        </p:spPr>
        <p:txBody>
          <a:bodyPr wrap="square" rtlCol="0" anchor="ctr"/>
          <a:lstStyle/>
          <a:p>
            <a:pPr indent="0" marL="0">
              <a:buNone/>
            </a:pPr>
            <a:r>
              <a:rPr lang="en-US" sz="750" dirty="0">
                <a:solidFill>
                  <a:srgbClr val="8FA3A8"/>
                </a:solidFill>
                <a:latin typeface="Calibri" pitchFamily="34" charset="0"/>
                <a:ea typeface="Calibri" pitchFamily="34" charset="-122"/>
                <a:cs typeface="Calibri" pitchFamily="34" charset="-120"/>
              </a:rPr>
              <a:t>CUSTOM IMPL — Non-standard; BBH app layer required</a:t>
            </a:r>
            <a:endParaRPr lang="en-US" sz="750" dirty="0"/>
          </a:p>
        </p:txBody>
      </p:sp>
      <p:sp>
        <p:nvSpPr>
          <p:cNvPr id="55" name="Shape 53"/>
          <p:cNvSpPr/>
          <p:nvPr/>
        </p:nvSpPr>
        <p:spPr>
          <a:xfrm>
            <a:off x="0" y="4864608"/>
            <a:ext cx="9144000" cy="278892"/>
          </a:xfrm>
          <a:prstGeom prst="rect">
            <a:avLst/>
          </a:prstGeom>
          <a:solidFill>
            <a:srgbClr val="0A1628"/>
          </a:solidFill>
          <a:ln w="12700">
            <a:solidFill>
              <a:srgbClr val="0A1628"/>
            </a:solidFill>
            <a:prstDash val="solid"/>
          </a:ln>
        </p:spPr>
      </p:sp>
      <p:sp>
        <p:nvSpPr>
          <p:cNvPr id="56" name="Text 54"/>
          <p:cNvSpPr/>
          <p:nvPr/>
        </p:nvSpPr>
        <p:spPr>
          <a:xfrm>
            <a:off x="320040" y="4878324"/>
            <a:ext cx="7772400" cy="237744"/>
          </a:xfrm>
          <a:prstGeom prst="rect">
            <a:avLst/>
          </a:prstGeom>
          <a:noFill/>
          <a:ln/>
        </p:spPr>
        <p:txBody>
          <a:bodyPr wrap="square" rtlCol="0" anchor="ctr"/>
          <a:lstStyle/>
          <a:p>
            <a:pPr indent="0" marL="0">
              <a:buNone/>
            </a:pPr>
            <a:r>
              <a:rPr lang="en-US" sz="850" dirty="0">
                <a:solidFill>
                  <a:srgbClr val="8FA3A8"/>
                </a:solidFill>
              </a:rPr>
              <a:t>BBH × Plaid | Architecture Review Board | Confidential &amp; Proprietary</a:t>
            </a:r>
            <a:endParaRPr lang="en-US" sz="850" dirty="0"/>
          </a:p>
        </p:txBody>
      </p:sp>
      <p:sp>
        <p:nvSpPr>
          <p:cNvPr id="57" name="Text 55"/>
          <p:cNvSpPr/>
          <p:nvPr/>
        </p:nvSpPr>
        <p:spPr>
          <a:xfrm>
            <a:off x="8503920" y="4878324"/>
            <a:ext cx="457200" cy="237744"/>
          </a:xfrm>
          <a:prstGeom prst="rect">
            <a:avLst/>
          </a:prstGeom>
          <a:noFill/>
          <a:ln/>
        </p:spPr>
        <p:txBody>
          <a:bodyPr wrap="square" rtlCol="0" anchor="ctr"/>
          <a:lstStyle/>
          <a:p>
            <a:pPr algn="r" indent="0" marL="0">
              <a:buNone/>
            </a:pPr>
            <a:r>
              <a:rPr lang="en-US" sz="850" dirty="0">
                <a:solidFill>
                  <a:srgbClr val="8FA3A8"/>
                </a:solidFill>
              </a:rPr>
              <a:t>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028090"/>
          </a:solidFill>
          <a:ln w="12700">
            <a:solidFill>
              <a:srgbClr val="028090"/>
            </a:solidFill>
            <a:prstDash val="solid"/>
          </a:ln>
        </p:spPr>
      </p:sp>
      <p:sp>
        <p:nvSpPr>
          <p:cNvPr id="3" name="Shape 1"/>
          <p:cNvSpPr/>
          <p:nvPr/>
        </p:nvSpPr>
        <p:spPr>
          <a:xfrm>
            <a:off x="182880" y="0"/>
            <a:ext cx="8961120" cy="64008"/>
          </a:xfrm>
          <a:prstGeom prst="rect">
            <a:avLst/>
          </a:prstGeom>
          <a:solidFill>
            <a:srgbClr val="00A896"/>
          </a:solidFill>
          <a:ln w="12700">
            <a:solidFill>
              <a:srgbClr val="00A896"/>
            </a:solidFill>
            <a:prstDash val="solid"/>
          </a:ln>
        </p:spPr>
      </p:sp>
      <p:sp>
        <p:nvSpPr>
          <p:cNvPr id="4" name="Shape 2"/>
          <p:cNvSpPr/>
          <p:nvPr/>
        </p:nvSpPr>
        <p:spPr>
          <a:xfrm>
            <a:off x="5669280" y="274320"/>
            <a:ext cx="4389120" cy="4389120"/>
          </a:xfrm>
          <a:prstGeom prst="ellipse">
            <a:avLst/>
          </a:prstGeom>
          <a:solidFill>
            <a:srgbClr val="028090">
              <a:alpha val="10000"/>
            </a:srgbClr>
          </a:solidFill>
          <a:ln w="12700">
            <a:solidFill>
              <a:srgbClr val="028090">
                <a:alpha val="22000"/>
              </a:srgbClr>
            </a:solidFill>
            <a:prstDash val="solid"/>
          </a:ln>
        </p:spPr>
      </p:sp>
      <p:sp>
        <p:nvSpPr>
          <p:cNvPr id="5" name="Shape 3"/>
          <p:cNvSpPr/>
          <p:nvPr/>
        </p:nvSpPr>
        <p:spPr>
          <a:xfrm>
            <a:off x="6583680" y="1097280"/>
            <a:ext cx="2743200" cy="2743200"/>
          </a:xfrm>
          <a:prstGeom prst="ellipse">
            <a:avLst/>
          </a:prstGeom>
          <a:solidFill>
            <a:srgbClr val="00A896">
              <a:alpha val="15000"/>
            </a:srgbClr>
          </a:solidFill>
          <a:ln w="12700">
            <a:solidFill>
              <a:srgbClr val="00A896">
                <a:alpha val="28000"/>
              </a:srgbClr>
            </a:solidFill>
            <a:prstDash val="solid"/>
          </a:ln>
        </p:spPr>
      </p:sp>
      <p:sp>
        <p:nvSpPr>
          <p:cNvPr id="6" name="Text 4"/>
          <p:cNvSpPr/>
          <p:nvPr/>
        </p:nvSpPr>
        <p:spPr>
          <a:xfrm>
            <a:off x="457200" y="822960"/>
            <a:ext cx="5943600" cy="914400"/>
          </a:xfrm>
          <a:prstGeom prst="rect">
            <a:avLst/>
          </a:prstGeom>
          <a:noFill/>
          <a:ln/>
        </p:spPr>
        <p:txBody>
          <a:bodyPr wrap="square" rtlCol="0" anchor="ctr"/>
          <a:lstStyle/>
          <a:p>
            <a:pPr indent="0" marL="0">
              <a:buNone/>
            </a:pPr>
            <a:r>
              <a:rPr lang="en-US" sz="5000" b="1" dirty="0">
                <a:solidFill>
                  <a:srgbClr val="FFFFFF"/>
                </a:solidFill>
                <a:latin typeface="Calibri" pitchFamily="34" charset="0"/>
                <a:ea typeface="Calibri" pitchFamily="34" charset="-122"/>
                <a:cs typeface="Calibri" pitchFamily="34" charset="-120"/>
              </a:rPr>
              <a:t>Thank You</a:t>
            </a:r>
            <a:endParaRPr lang="en-US" sz="5000" dirty="0"/>
          </a:p>
        </p:txBody>
      </p:sp>
      <p:sp>
        <p:nvSpPr>
          <p:cNvPr id="7" name="Text 5"/>
          <p:cNvSpPr/>
          <p:nvPr/>
        </p:nvSpPr>
        <p:spPr>
          <a:xfrm>
            <a:off x="457200" y="1828800"/>
            <a:ext cx="5943600" cy="457200"/>
          </a:xfrm>
          <a:prstGeom prst="rect">
            <a:avLst/>
          </a:prstGeom>
          <a:noFill/>
          <a:ln/>
        </p:spPr>
        <p:txBody>
          <a:bodyPr wrap="square" rtlCol="0" anchor="ctr"/>
          <a:lstStyle/>
          <a:p>
            <a:pPr indent="0" marL="0">
              <a:buNone/>
            </a:pPr>
            <a:r>
              <a:rPr lang="en-US" sz="2000" dirty="0">
                <a:solidFill>
                  <a:srgbClr val="02C39A"/>
                </a:solidFill>
                <a:latin typeface="Calibri" pitchFamily="34" charset="0"/>
                <a:ea typeface="Calibri" pitchFamily="34" charset="-122"/>
                <a:cs typeface="Calibri" pitchFamily="34" charset="-120"/>
              </a:rPr>
              <a:t>Questions &amp; Discussion</a:t>
            </a:r>
            <a:endParaRPr lang="en-US" sz="2000" dirty="0"/>
          </a:p>
        </p:txBody>
      </p:sp>
      <p:sp>
        <p:nvSpPr>
          <p:cNvPr id="8" name="Shape 6"/>
          <p:cNvSpPr/>
          <p:nvPr/>
        </p:nvSpPr>
        <p:spPr>
          <a:xfrm>
            <a:off x="457200" y="2395728"/>
            <a:ext cx="4572000" cy="36576"/>
          </a:xfrm>
          <a:prstGeom prst="rect">
            <a:avLst/>
          </a:prstGeom>
          <a:solidFill>
            <a:srgbClr val="028090"/>
          </a:solidFill>
          <a:ln w="12700">
            <a:solidFill>
              <a:srgbClr val="028090"/>
            </a:solidFill>
            <a:prstDash val="solid"/>
          </a:ln>
        </p:spPr>
      </p:sp>
      <p:sp>
        <p:nvSpPr>
          <p:cNvPr id="9" name="Text 7"/>
          <p:cNvSpPr/>
          <p:nvPr/>
        </p:nvSpPr>
        <p:spPr>
          <a:xfrm>
            <a:off x="457200" y="2560320"/>
            <a:ext cx="6400800" cy="274320"/>
          </a:xfrm>
          <a:prstGeom prst="rect">
            <a:avLst/>
          </a:prstGeom>
          <a:noFill/>
          <a:ln/>
        </p:spPr>
        <p:txBody>
          <a:bodyPr wrap="square" rtlCol="0" anchor="ctr"/>
          <a:lstStyle/>
          <a:p>
            <a:pPr indent="0" marL="0">
              <a:buNone/>
            </a:pPr>
            <a:r>
              <a:rPr lang="en-US" sz="1100" b="1" dirty="0">
                <a:solidFill>
                  <a:srgbClr val="8FA3A8"/>
                </a:solidFill>
                <a:latin typeface="Calibri" pitchFamily="34" charset="0"/>
                <a:ea typeface="Calibri" pitchFamily="34" charset="-122"/>
                <a:cs typeface="Calibri" pitchFamily="34" charset="-120"/>
              </a:rPr>
              <a:t>Presented by: BBH Solution Architecture &amp; Enterprise Architecture</a:t>
            </a:r>
            <a:endParaRPr lang="en-US" sz="1100" dirty="0"/>
          </a:p>
        </p:txBody>
      </p:sp>
      <p:sp>
        <p:nvSpPr>
          <p:cNvPr id="10" name="Text 8"/>
          <p:cNvSpPr/>
          <p:nvPr/>
        </p:nvSpPr>
        <p:spPr>
          <a:xfrm>
            <a:off x="457200" y="2889504"/>
            <a:ext cx="5486400" cy="256032"/>
          </a:xfrm>
          <a:prstGeom prst="rect">
            <a:avLst/>
          </a:prstGeom>
          <a:noFill/>
          <a:ln/>
        </p:spPr>
        <p:txBody>
          <a:bodyPr wrap="square" rtlCol="0" anchor="ctr"/>
          <a:lstStyle/>
          <a:p>
            <a:pPr indent="0" marL="0">
              <a:buNone/>
            </a:pPr>
            <a:r>
              <a:rPr lang="en-US" sz="1100" dirty="0">
                <a:solidFill>
                  <a:srgbClr val="8FA3A8"/>
                </a:solidFill>
                <a:latin typeface="Calibri" pitchFamily="34" charset="0"/>
                <a:ea typeface="Calibri" pitchFamily="34" charset="-122"/>
                <a:cs typeface="Calibri" pitchFamily="34" charset="-120"/>
              </a:rPr>
              <a:t>Architecture Review Board | March 2026</a:t>
            </a:r>
            <a:endParaRPr lang="en-US" sz="1100" dirty="0"/>
          </a:p>
        </p:txBody>
      </p:sp>
      <p:sp>
        <p:nvSpPr>
          <p:cNvPr id="11" name="Text 9"/>
          <p:cNvSpPr/>
          <p:nvPr/>
        </p:nvSpPr>
        <p:spPr>
          <a:xfrm>
            <a:off x="457200" y="3218688"/>
            <a:ext cx="5943600" cy="256032"/>
          </a:xfrm>
          <a:prstGeom prst="rect">
            <a:avLst/>
          </a:prstGeom>
          <a:noFill/>
          <a:ln/>
        </p:spPr>
        <p:txBody>
          <a:bodyPr wrap="square" rtlCol="0" anchor="ctr"/>
          <a:lstStyle/>
          <a:p>
            <a:pPr indent="0" marL="0">
              <a:buNone/>
            </a:pPr>
            <a:r>
              <a:rPr lang="en-US" sz="1000" dirty="0">
                <a:solidFill>
                  <a:srgbClr val="8FA3A8"/>
                </a:solidFill>
                <a:latin typeface="Calibri" pitchFamily="34" charset="0"/>
                <a:ea typeface="Calibri" pitchFamily="34" charset="-122"/>
                <a:cs typeface="Calibri" pitchFamily="34" charset="-120"/>
              </a:rPr>
              <a:t>© 2026 Brown Brothers Harriman &amp; Co. | Confidential &amp; Proprietary</a:t>
            </a:r>
            <a:endParaRPr lang="en-US" sz="1000" dirty="0"/>
          </a:p>
        </p:txBody>
      </p:sp>
      <p:sp>
        <p:nvSpPr>
          <p:cNvPr id="12" name="Shape 10"/>
          <p:cNvSpPr/>
          <p:nvPr/>
        </p:nvSpPr>
        <p:spPr>
          <a:xfrm>
            <a:off x="0" y="4709160"/>
            <a:ext cx="9144000" cy="434340"/>
          </a:xfrm>
          <a:prstGeom prst="rect">
            <a:avLst/>
          </a:prstGeom>
          <a:solidFill>
            <a:srgbClr val="1A2F4E"/>
          </a:solidFill>
          <a:ln w="12700">
            <a:solidFill>
              <a:srgbClr val="1A2F4E"/>
            </a:solidFill>
            <a:prstDash val="solid"/>
          </a:ln>
        </p:spPr>
      </p:sp>
      <p:sp>
        <p:nvSpPr>
          <p:cNvPr id="13" name="Text 11"/>
          <p:cNvSpPr/>
          <p:nvPr/>
        </p:nvSpPr>
        <p:spPr>
          <a:xfrm>
            <a:off x="320040" y="4727448"/>
            <a:ext cx="8503920" cy="329184"/>
          </a:xfrm>
          <a:prstGeom prst="rect">
            <a:avLst/>
          </a:prstGeom>
          <a:noFill/>
          <a:ln/>
        </p:spPr>
        <p:txBody>
          <a:bodyPr wrap="square" rtlCol="0" anchor="ctr"/>
          <a:lstStyle/>
          <a:p>
            <a:pPr indent="0" marL="0">
              <a:buNone/>
            </a:pPr>
            <a:r>
              <a:rPr lang="en-US" sz="850" dirty="0">
                <a:solidFill>
                  <a:srgbClr val="8FA3A8"/>
                </a:solidFill>
              </a:rPr>
              <a:t>© 2026 Brown Brothers Harriman &amp; Co. | Confidential &amp; Proprietary | Not to be reproduced without the explicit consent of BBH &amp; Co.</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BBH × Plaid | Open Banking Integration</dc:title>
  <dc:subject>PptxGenJS Presentation</dc:subject>
  <dc:creator>BBH Enterprise Architecture</dc:creator>
  <cp:lastModifiedBy>BBH Enterprise Architecture</cp:lastModifiedBy>
  <cp:revision>1</cp:revision>
  <dcterms:created xsi:type="dcterms:W3CDTF">2026-03-11T00:42:48Z</dcterms:created>
  <dcterms:modified xsi:type="dcterms:W3CDTF">2026-03-11T00:42:48Z</dcterms:modified>
</cp:coreProperties>
</file>