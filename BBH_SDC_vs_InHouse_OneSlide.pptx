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4754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BBH SWP  |  SEI Data Cloud vs In-House Build — Pricing, Features &amp; Pros/Cons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1089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D0EAEF"/>
                </a:solidFill>
              </a:rPr>
              <a:t>Confirmed SEI Q&amp;A responses incorporated  | 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" y="512064"/>
            <a:ext cx="2148840" cy="30175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539496"/>
            <a:ext cx="20756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512064"/>
            <a:ext cx="4617720" cy="301752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539496"/>
            <a:ext cx="4526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☁️  SEI DATA CLOUD  (PaaS — Azure + Snowflake)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512064"/>
            <a:ext cx="5239512" cy="301752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8" y="539496"/>
            <a:ext cx="5148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🏗  IN-HOUSE BUILD  (Airflow + dbt + Oracle + Own Snowflake)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3408" y="512064"/>
            <a:ext cx="164592" cy="30175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548640"/>
            <a:ext cx="146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F5C6B"/>
                </a:solidFill>
              </a:rPr>
              <a:t>VS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850392"/>
            <a:ext cx="12188952" cy="19659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" y="875995"/>
            <a:ext cx="117957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C00"/>
                </a:solidFill>
              </a:rPr>
              <a:t>💰  PRICING &amp; COST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" y="1057960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" y="1080820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One-Time Setup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1057960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1057960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0280" y="1057960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1074420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$389K total  (Prod $220K + Test $169K)
No SOW — $389K at risk without milestones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1057960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76288" y="1057960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7" y="1074420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$240K build  (team allocation — existing headcount)
No setup fee, no third-party dependency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" y="1281988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" y="1304848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Monthly Recurring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1281988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0280" y="1281988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40280" y="1281988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1298448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Prod $31,085/mo + Test $14,593/mo = $45,678/mo
Test env is PERMANENT — not migration-phase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1281988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76288" y="1281988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7" y="1298448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~$20K/mo  (team + OpenShift + Snowflake from M9)
Full cost control — no external invoice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" y="1506016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" y="1528876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Snowflake Compute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3408" y="1506016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40280" y="1506016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0280" y="1506016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1522476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$7/hr per warehouse — multi-cluster UNCAPPED
SEI answer vague — parallel query billing TBC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1506016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76288" y="1506016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7" y="1522476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BBH direct Snowflake contract ~$8K/mo
Auto-suspend, cap, tune — 100% BBH-controlled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" y="1730044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" y="1752904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Account Overage &gt;15K  ✅ CONFIRMED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93408" y="1730044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40280" y="1730044"/>
            <a:ext cx="4617720" cy="213055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40280" y="1730044"/>
            <a:ext cx="50292" cy="213055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20" y="1746504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$0.75/account/yr above 15K — confirmed by SEI
Lock rate in contract — risk of escalation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76288" y="1730044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76288" y="1730044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67727" y="1746504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Oracle storage — no per-account pricing
Scales with data volume only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" y="1954072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6304" y="1976932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Year 1 / 3-Year Total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93408" y="1954072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40280" y="1954072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40280" y="1954072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1970532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Yr1: ~$1,007K  |  3yr: ~$2,367K
(excl. $3M already paid — total SEI = $5.4M+)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76288" y="1954072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76288" y="1954072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67727" y="1970532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Yr1: ~$628K  |  3yr: ~$1,340K
3-year saving vs SDC: ~$1,027K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" y="2178100"/>
            <a:ext cx="12188952" cy="19659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2203704"/>
            <a:ext cx="117957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C00"/>
                </a:solidFill>
              </a:rPr>
              <a:t>🔄  DATA REPLICATION &amp; INGESTION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" y="2385669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6304" y="2408529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Mechanism &amp; Ownership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2385669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40280" y="2385669"/>
            <a:ext cx="4617720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40280" y="2385669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31720" y="2402128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SEI manages SWP→Azure replication fully
Domain Views available near-instantaneously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76288" y="2385669"/>
            <a:ext cx="5239512" cy="213055"/>
          </a:xfrm>
          <a:prstGeom prst="rect">
            <a:avLst/>
          </a:prstGeom>
          <a:solidFill>
            <a:srgbClr val="F4F6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876288" y="2385669"/>
            <a:ext cx="50292" cy="213055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67727" y="2402128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Airflow DAGs pull SFTP files from SEI SWP
BBH owns Bronze→Silver→Gold pipeline fully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" y="2609697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6304" y="2632557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Data Extract API  ❌ CONFIRMED MISSING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93408" y="2609697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40280" y="2609697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40280" y="2609697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31720" y="2626156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NO data extract API from SDV — confirmed
REST embed only — CANNOT feed PB DW, OMS, CRM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76288" y="2609697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76288" y="2609697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67727" y="2626156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Full programmatic access via Oracle + Snowflake
dbt outputs feed all ~1,000 downstream apps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" y="2833725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6304" y="2856585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Read-and-Save Pattern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93408" y="2833725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240280" y="2833725"/>
            <a:ext cx="4617720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40280" y="2833725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31720" y="2850184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Query Domain View → save to BBH Oracle
No egress charge — only $7/hr compute window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76288" y="2833725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76288" y="2833725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67727" y="2850184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Same pattern on BBH-owned Snowflake
Zero SEI dependency after initial read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" y="3057753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6304" y="3080613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SWP Schema Change Risk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93408" y="3057753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40280" y="3057753"/>
            <a:ext cx="4617720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240280" y="3057753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331720" y="3074212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Domain Views insulate BBH from SWP changes
SEI absorbs schema migration impact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76288" y="3057753"/>
            <a:ext cx="5239512" cy="213055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876288" y="3057753"/>
            <a:ext cx="50292" cy="213055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67727" y="3074212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SFTP file format changes break Airflow DAGs
Require 90-day SEI change notice in contract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" y="3281781"/>
            <a:ext cx="12188952" cy="19659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64592" y="3307384"/>
            <a:ext cx="117957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C00"/>
                </a:solidFill>
              </a:rPr>
              <a:t>⚡  EVENT HUB / BUSINESS EVENTS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152" y="3489350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6304" y="3512210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Throughput  ✅ CONFIRMED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93408" y="3489350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240280" y="3489350"/>
            <a:ext cx="4617720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240280" y="3489350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31720" y="3505809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1–2M events/sec  (Dedicated Azure 1 CU)
BBH peak ~50/sec — &lt;0.01% of capacity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76288" y="3489350"/>
            <a:ext cx="5239512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876288" y="3489350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967727" y="3505809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Must build via Airflow sensors / Oracle AQ
Significant engineering effort required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" y="3713378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46304" y="3736238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Month-End Spikes  ✅ CONFIRMED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93408" y="3713378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240280" y="3713378"/>
            <a:ext cx="4617720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40280" y="3713378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331720" y="3729837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No additional charge — Dedicated tier fixed
Get confirmed in contract schedule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876288" y="3713378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876288" y="3713378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67727" y="3729837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Airflow auto-scales pods on OpenShift
No external cost — infrastructure owned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152" y="3937406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46304" y="3960266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Event Retention  ✅ CONFIRMED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693408" y="3937406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240280" y="3937406"/>
            <a:ext cx="4617720" cy="213055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40280" y="3937406"/>
            <a:ext cx="50292" cy="213055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331720" y="3953865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7 days default / 90 days max
⚠️ Cost of 90-day extension unconfirmed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876288" y="3937406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876288" y="3937406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967727" y="3953865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Oracle — BBH controls retention policy
6-year NYDFS retention built-in, no extra cost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3152" y="4161434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46304" y="4184294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Retry on Bad Data  ⚠️ UNRESOLVED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693408" y="4161434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240280" y="4161434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240280" y="4161434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331720" y="4177893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SEI: 'Exception scenario — let's discuss'
No contractual protection — negotiate now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876288" y="4161434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876288" y="4161434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67727" y="4177893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Airflow retry policy — BBH defines rules
No external cost — just OpenShift compute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3152" y="4385462"/>
            <a:ext cx="12188952" cy="19659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64592" y="4411065"/>
            <a:ext cx="117957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C00"/>
                </a:solidFill>
              </a:rPr>
              <a:t>📊  REPORTING, ANALYTICS &amp; SDV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152" y="4593031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46304" y="4615891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Pre-Built Reports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93408" y="4593031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240280" y="4593031"/>
            <a:ext cx="4617720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240280" y="4593031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331720" y="4609490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Standard templates included out-of-box
Fastest path to client-facing reporting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876288" y="4593031"/>
            <a:ext cx="5239512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876288" y="4593031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67727" y="4609490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BBH builds dbt Gold layer models
6–12 months to reach SDV feature parity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3152" y="4817059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46304" y="4839919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Custom Reports  ❌ CONFIRMED EXTRA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693408" y="4817059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240280" y="4817059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240280" y="4817059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331720" y="4833518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NOT included in $12,335/mo — confirmed
Additional PS cost — budget $50K–$200K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876288" y="4817059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876288" y="4817059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67727" y="4833518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Unlimited — dbt SQL in Git, zero extra cost
Any schema, any consumer, any schedule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3152" y="5041087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6304" y="5063947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Concurrent Users  ⚠️ UNCONFIRMED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693408" y="5041087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240280" y="5041087"/>
            <a:ext cx="4617720" cy="213055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240280" y="5041087"/>
            <a:ext cx="50292" cy="213055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331720" y="5057546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SEI needs: total users + 10% concurrent est.
BBH must provide numbers — tier unknown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876288" y="5041087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76288" y="5041087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967727" y="5057546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No user licence limit — Oracle + Snowflake
BBH RBAC controls access natively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3152" y="5265115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46304" y="5287975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NYDFS Regulatory Reports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693408" y="5265115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240280" y="5265115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240280" y="5265115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331720" y="5281574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⚠️ Not confirmed in baseline — likely extra
Budget $20K–$50K/yr additional module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876288" y="5265115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76288" y="5265115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967727" y="5281574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Hema builds DQ rules natively in dbt
Full audit trail in Oracle — 6-yr retention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3152" y="5489143"/>
            <a:ext cx="12188952" cy="196596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64592" y="5514746"/>
            <a:ext cx="117957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C00"/>
                </a:solidFill>
              </a:rPr>
              <a:t>🔒  CONTROL, COMPLIANCE &amp; STRATEGIC RISK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3152" y="5696712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6304" y="5719572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Data Residency &amp; NYDFS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693408" y="5696712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240280" y="5696712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2240280" y="5696712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331720" y="5713171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Data in SEI Azure — region unconfirmed
NYDFS Part 500 residency confirmation needed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876288" y="5696712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876288" y="5696712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967727" y="5713171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Data in BBH Oracle on-prem — never leaves
Already inside NYDFS-confirmed perimeter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3152" y="5920740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46304" y="5943600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Vendor Lock-In &amp; Exit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693408" y="5920740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240280" y="5920740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2240280" y="5920740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331720" y="5937199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Extreme — SEI controls Azure, Snowflake, pricing
Exit cost $100K–$300K — no portability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876288" y="5920740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876288" y="5920740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967727" y="5937199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Zero — BBH owns all assets and pipelines
Portable to Databricks with one config change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3152" y="6144768"/>
            <a:ext cx="2148840" cy="213055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46304" y="6167628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AI/ML &amp; Future Capability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693408" y="6144768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240280" y="6144768"/>
            <a:ext cx="4617720" cy="213055"/>
          </a:xfrm>
          <a:prstGeom prst="rect">
            <a:avLst/>
          </a:prstGeom>
          <a:solidFill>
            <a:srgbClr val="FFEB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240280" y="6144768"/>
            <a:ext cx="50292" cy="21305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331720" y="6161227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❌ Data locked in SEI Azure Snowflake
Cannot run LLM agents on client data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876288" y="6144768"/>
            <a:ext cx="5239512" cy="213055"/>
          </a:xfrm>
          <a:prstGeom prst="rect">
            <a:avLst/>
          </a:prstGeom>
          <a:solidFill>
            <a:srgbClr val="E6F5EB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876288" y="6144768"/>
            <a:ext cx="50292" cy="213055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967727" y="6161227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✅ Own Snowflake from Month 9
Aneesh LLM agents — NL queries, anomaly detection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3152" y="6368796"/>
            <a:ext cx="2148840" cy="213055"/>
          </a:xfrm>
          <a:prstGeom prst="rect">
            <a:avLst/>
          </a:prstGeom>
          <a:solidFill>
            <a:srgbClr val="EEF1F4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46304" y="6391656"/>
            <a:ext cx="2020824" cy="17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F5C6B"/>
                </a:solidFill>
              </a:rPr>
              <a:t>Key-Person / Operational Risk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693408" y="6368796"/>
            <a:ext cx="164592" cy="213055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240280" y="6368796"/>
            <a:ext cx="4617720" cy="213055"/>
          </a:xfrm>
          <a:prstGeom prst="rect">
            <a:avLst/>
          </a:prstGeom>
          <a:solidFill>
            <a:srgbClr val="F4F6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240280" y="6368796"/>
            <a:ext cx="50292" cy="213055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331720" y="6385255"/>
            <a:ext cx="4480559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Risk distributed across SEI organisation
BBH has limited operational visibility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876288" y="6368796"/>
            <a:ext cx="5239512" cy="213055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876288" y="6368796"/>
            <a:ext cx="50292" cy="213055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67727" y="6385255"/>
            <a:ext cx="5102352" cy="18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Andrew + Jorge critical path — mitigate with
runbooks, cross-training, documentation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3152" y="6611112"/>
            <a:ext cx="12042648" cy="21945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46304" y="6638544"/>
            <a:ext cx="1188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VERDICT  |  SDC wins: speed to market, native SWP events, managed infra, pre-built reports  //  In-House wins: cost ($1M+ 3yr saving), full control, NYDFS perimeter, AI/ML capability, zero lock-in  //  CRITICAL: SDV has NO data extract API — BBH must build downstream distribution in both approaches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3152" y="6858000"/>
            <a:ext cx="1572768" cy="164592"/>
          </a:xfrm>
          <a:prstGeom prst="rect">
            <a:avLst/>
          </a:prstGeom>
          <a:solidFill>
            <a:srgbClr val="E6F5EB"/>
          </a:solidFill>
          <a:ln w="4445">
            <a:solidFill>
              <a:srgbClr val="1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46304" y="687628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A5C2E"/>
                </a:solidFill>
              </a:rPr>
              <a:t>✅  Advantage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700784" y="6858000"/>
            <a:ext cx="1572768" cy="164592"/>
          </a:xfrm>
          <a:prstGeom prst="rect">
            <a:avLst/>
          </a:prstGeom>
          <a:solidFill>
            <a:srgbClr val="FFF8DD"/>
          </a:solidFill>
          <a:ln w="444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773936" y="687628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BF8F00"/>
                </a:solidFill>
              </a:rPr>
              <a:t>⚠️  Caution / Unresolved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328416" y="6858000"/>
            <a:ext cx="1572768" cy="164592"/>
          </a:xfrm>
          <a:prstGeom prst="rect">
            <a:avLst/>
          </a:prstGeom>
          <a:solidFill>
            <a:srgbClr val="FFEBEB"/>
          </a:solidFill>
          <a:ln w="444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401568" y="687628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00000"/>
                </a:solidFill>
              </a:rPr>
              <a:t>❌  Risk / Gap / Missing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956048" y="6858000"/>
            <a:ext cx="1572768" cy="164592"/>
          </a:xfrm>
          <a:prstGeom prst="rect">
            <a:avLst/>
          </a:prstGeom>
          <a:solidFill>
            <a:srgbClr val="F4F6F8"/>
          </a:solidFill>
          <a:ln w="444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29200" y="687628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5555"/>
                </a:solidFill>
              </a:rPr>
              <a:t>—  Neutral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949440" y="6867144"/>
            <a:ext cx="5166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1">
                <a:solidFill>
                  <a:srgbClr val="555555"/>
                </a:solidFill>
              </a:rPr>
              <a:t>Source: SEI pricing sheet + confirmed SEI Q&amp;A + BBH architecture analysis  |  BBH Capital Partners Technology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