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4F0"/>
                </a:solidFill>
              </a:rPr>
              <a:t>BBH SWP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3258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SEI Data Cloud
vs In-House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6E4F0"/>
                </a:solidFill>
              </a:rPr>
              <a:t>Full Cost Distribution, Risk Analysis
&amp; 5-Year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48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966"/>
                </a:solidFill>
              </a:rPr>
              <a:t>TOTAL COST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0000"/>
                </a:solidFill>
              </a:rPr>
              <a:t>$6.4M+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BFBF"/>
                </a:solidFill>
              </a:rPr>
              <a:t>Total SEI spend
(incl. $3M paid)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47672"/>
            <a:ext cx="3200400" cy="9144"/>
          </a:xfrm>
          <a:prstGeom prst="rect">
            <a:avLst/>
          </a:prstGeom>
          <a:solidFill>
            <a:srgbClr val="4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194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2EFDA"/>
                </a:solidFill>
              </a:rPr>
              <a:t>$1.04M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700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BFBF"/>
                </a:solidFill>
              </a:rPr>
              <a:t>In-House 5yr
total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44952"/>
            <a:ext cx="3200400" cy="9144"/>
          </a:xfrm>
          <a:prstGeom prst="rect">
            <a:avLst/>
          </a:prstGeom>
          <a:solidFill>
            <a:srgbClr val="4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2918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966"/>
                </a:solidFill>
              </a:rPr>
              <a:t>$2.3M+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6732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BFBF"/>
                </a:solidFill>
              </a:rPr>
              <a:t>5-Year saving
if built in-house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42231"/>
            <a:ext cx="3200400" cy="9144"/>
          </a:xfrm>
          <a:prstGeom prst="rect">
            <a:avLst/>
          </a:prstGeom>
          <a:solidFill>
            <a:srgbClr val="4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4389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6E4F0"/>
                </a:solidFill>
              </a:rPr>
              <a:t>Month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8646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BFBF"/>
                </a:solidFill>
              </a:rPr>
              <a:t>In-House
breakeven 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39512"/>
            <a:ext cx="3200400" cy="9144"/>
          </a:xfrm>
          <a:prstGeom prst="rect">
            <a:avLst/>
          </a:prstGeom>
          <a:solidFill>
            <a:srgbClr val="4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B0C0"/>
                </a:solidFill>
              </a:rPr>
              <a:t>Capital Partners Technology  |  David / CTO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A0B0"/>
                </a:solidFill>
              </a:rPr>
              <a:t>Prepared by: Aneesh  |  May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5669280"/>
            <a:ext cx="2926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5715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01  SDC Pricing &amp; 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5669280"/>
            <a:ext cx="2926080" cy="64008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5715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02  In-House Build Overview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5669280"/>
            <a:ext cx="2926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5715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03  Risk &amp; Pros / Cons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5669280"/>
            <a:ext cx="2926080" cy="64008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5715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04  Decision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BFBF"/>
                </a:solidFill>
              </a:rPr>
              <a:t>BBH Capital Partners Technology | SWP Migration Program |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556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D966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01  SEI DATA CLOUD — PRICING STRUCTURE &amp; 5-YEAR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BFBF"/>
                </a:solidFill>
              </a:rPr>
              <a:t>BBH Capital Partners Technology | SWP Migration Program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56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D966"/>
                </a:solidFill>
              </a:rPr>
              <a:t>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356616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REPLICATION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3444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$150K setup
$12K/month recurring
$9K/year (Test)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78308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10512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Moves BBH data into
SEI Azure (up to 15K accounts)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822960"/>
            <a:ext cx="3566160" cy="91440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8686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EVENT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23444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$20K setup
$6,750/month recurring
$4,725/month (Test)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78308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810512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Azure Event Hubs — streams
business events in real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822960"/>
            <a:ext cx="3566160" cy="9144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86868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SDV DATA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23444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$50K setup
$12,335/month recurring
$9,868/month (Test)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1783080"/>
            <a:ext cx="3566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1810512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Snowflake-powered analytics
&amp; reporting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514600"/>
            <a:ext cx="11731752" cy="502920"/>
          </a:xfrm>
          <a:prstGeom prst="rect">
            <a:avLst/>
          </a:prstGeom>
          <a:solidFill>
            <a:srgbClr val="FFE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56032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600"/>
                </a:solidFill>
              </a:rPr>
              <a:t>⚠️  SNOWFLAKE COMPUTE — $7/hr per cluster | Uncapped | BBH has ZERO visibility or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108960"/>
            <a:ext cx="2898648" cy="320040"/>
          </a:xfrm>
          <a:prstGeom prst="rect">
            <a:avLst/>
          </a:prstGeom>
          <a:solidFill>
            <a:srgbClr val="1F386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136391"/>
            <a:ext cx="28072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Cost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108960"/>
            <a:ext cx="1801368" cy="320040"/>
          </a:xfrm>
          <a:prstGeom prst="rect">
            <a:avLst/>
          </a:prstGeom>
          <a:solidFill>
            <a:srgbClr val="1F386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313639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108960"/>
            <a:ext cx="1801368" cy="320040"/>
          </a:xfrm>
          <a:prstGeom prst="rect">
            <a:avLst/>
          </a:prstGeom>
          <a:solidFill>
            <a:srgbClr val="1F386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13639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Test Env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108960"/>
            <a:ext cx="2258568" cy="320040"/>
          </a:xfrm>
          <a:prstGeom prst="rect">
            <a:avLst/>
          </a:prstGeom>
          <a:solidFill>
            <a:srgbClr val="1F386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136391"/>
            <a:ext cx="21671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Combined Annual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3108960"/>
            <a:ext cx="1801368" cy="320040"/>
          </a:xfrm>
          <a:prstGeom prst="rect">
            <a:avLst/>
          </a:prstGeom>
          <a:solidFill>
            <a:srgbClr val="1F386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313639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5-Year Total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429000"/>
            <a:ext cx="289864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456432"/>
            <a:ext cx="28072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One-Time Setup Fees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3429000"/>
            <a:ext cx="1801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3456432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$220,000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83480" y="3429000"/>
            <a:ext cx="1801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3456432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$169,000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3429000"/>
            <a:ext cx="22585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456432"/>
            <a:ext cx="21671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$389,000 (one-time)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80" y="3429000"/>
            <a:ext cx="1801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3456432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749039"/>
            <a:ext cx="289864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776472"/>
            <a:ext cx="28072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Data Replication Recurring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749039"/>
            <a:ext cx="18013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3776472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$144,000/yr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83480" y="3749039"/>
            <a:ext cx="18013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0" y="3776472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$9,000/yr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12280" y="3749039"/>
            <a:ext cx="22585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3776472"/>
            <a:ext cx="21671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$153,000/yr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3749039"/>
            <a:ext cx="18013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3776472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$765,000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069079"/>
            <a:ext cx="289864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096511"/>
            <a:ext cx="28072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Event Hub Recurring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54680" y="4069079"/>
            <a:ext cx="1801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0" y="409651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$81,000/yr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83480" y="4069079"/>
            <a:ext cx="1801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409651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$56,700/yr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12280" y="4069079"/>
            <a:ext cx="22585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4096511"/>
            <a:ext cx="21671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$137,700/yr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98280" y="4069079"/>
            <a:ext cx="1801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0" y="409651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$688,500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4389119"/>
            <a:ext cx="289864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4320" y="4416551"/>
            <a:ext cx="28072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SDV Data Vision Recurring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54680" y="4389119"/>
            <a:ext cx="18013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0" y="441655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$148,020/yr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83480" y="4389119"/>
            <a:ext cx="18013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0" y="441655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$118,416/yr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12280" y="4389119"/>
            <a:ext cx="22585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0" y="4416551"/>
            <a:ext cx="21671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$266,436/yr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98280" y="4389119"/>
            <a:ext cx="18013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0" y="441655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$1,332,180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709159"/>
            <a:ext cx="289864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4736591"/>
            <a:ext cx="28072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Snowflake Compute (moderate)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54680" y="4709159"/>
            <a:ext cx="1801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0" y="473659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$20,160/yr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83480" y="4709159"/>
            <a:ext cx="1801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0" y="473659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$10,080/yr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12280" y="4709159"/>
            <a:ext cx="22585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58000" y="4736591"/>
            <a:ext cx="21671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$30,240/yr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98280" y="4709159"/>
            <a:ext cx="180136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0" y="473659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$151,200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5029199"/>
            <a:ext cx="289864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" y="5056631"/>
            <a:ext cx="28072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Hidden Costs (est.)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154680" y="5029199"/>
            <a:ext cx="18013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0" y="505663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983480" y="5029199"/>
            <a:ext cx="18013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0" y="505663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12280" y="5029199"/>
            <a:ext cx="22585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0" y="5056631"/>
            <a:ext cx="21671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$130,000/yr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98280" y="5029199"/>
            <a:ext cx="1801368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0" y="505663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04040"/>
                </a:solidFill>
              </a:rPr>
              <a:t>$650,000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" y="5349239"/>
            <a:ext cx="2898648" cy="320040"/>
          </a:xfrm>
          <a:prstGeom prst="rect">
            <a:avLst/>
          </a:prstGeom>
          <a:solidFill>
            <a:srgbClr val="2E75B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4320" y="5376671"/>
            <a:ext cx="28072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YEAR 1 TOTAL (incl. setup)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154680" y="5349239"/>
            <a:ext cx="1801368" cy="320040"/>
          </a:xfrm>
          <a:prstGeom prst="rect">
            <a:avLst/>
          </a:prstGeom>
          <a:solidFill>
            <a:srgbClr val="2E75B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00400" y="537667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4983480" y="5349239"/>
            <a:ext cx="1801368" cy="320040"/>
          </a:xfrm>
          <a:prstGeom prst="rect">
            <a:avLst/>
          </a:prstGeom>
          <a:solidFill>
            <a:srgbClr val="2E75B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29200" y="537667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6812280" y="5349239"/>
            <a:ext cx="2258568" cy="320040"/>
          </a:xfrm>
          <a:prstGeom prst="rect">
            <a:avLst/>
          </a:prstGeom>
          <a:solidFill>
            <a:srgbClr val="2E75B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58000" y="5376671"/>
            <a:ext cx="21671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$986,376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98280" y="5349239"/>
            <a:ext cx="1801368" cy="320040"/>
          </a:xfrm>
          <a:prstGeom prst="rect">
            <a:avLst/>
          </a:prstGeom>
          <a:solidFill>
            <a:srgbClr val="2E75B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0" y="537667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5669279"/>
            <a:ext cx="2898648" cy="320040"/>
          </a:xfrm>
          <a:prstGeom prst="rect">
            <a:avLst/>
          </a:prstGeom>
          <a:solidFill>
            <a:srgbClr val="C0000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4320" y="5696711"/>
            <a:ext cx="280720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5-YEAR TOTAL (excl. $3M paid)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54680" y="5669279"/>
            <a:ext cx="1801368" cy="320040"/>
          </a:xfrm>
          <a:prstGeom prst="rect">
            <a:avLst/>
          </a:prstGeom>
          <a:solidFill>
            <a:srgbClr val="C0000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0400" y="569671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8" name="Rectangle 107"/>
          <p:cNvSpPr/>
          <p:nvPr/>
        </p:nvSpPr>
        <p:spPr>
          <a:xfrm>
            <a:off x="4983480" y="5669279"/>
            <a:ext cx="1801368" cy="320040"/>
          </a:xfrm>
          <a:prstGeom prst="rect">
            <a:avLst/>
          </a:prstGeom>
          <a:solidFill>
            <a:srgbClr val="C0000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29200" y="569671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812280" y="5669279"/>
            <a:ext cx="2258568" cy="320040"/>
          </a:xfrm>
          <a:prstGeom prst="rect">
            <a:avLst/>
          </a:prstGeom>
          <a:solidFill>
            <a:srgbClr val="C0000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58000" y="5696711"/>
            <a:ext cx="21671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9098280" y="5669279"/>
            <a:ext cx="1801368" cy="320040"/>
          </a:xfrm>
          <a:prstGeom prst="rect">
            <a:avLst/>
          </a:prstGeom>
          <a:solidFill>
            <a:srgbClr val="C0000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44000" y="5696711"/>
            <a:ext cx="170992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$3,375,000+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601200" y="3108960"/>
            <a:ext cx="2450592" cy="2240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46920" y="3154680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966"/>
                </a:solidFill>
              </a:rPr>
              <a:t>COMPUTE REALITY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92640" y="34930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1 cluster:  $7/hr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92640" y="367588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 clusters: $14/hr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92640" y="38587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3 clusters: $21/hr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92640" y="40416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4 clusters: $28/hr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692640" y="42245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92640" y="44074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Month-end peak: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692640" y="45902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6600"/>
                </a:solidFill>
              </a:rPr>
              <a:t>→ 3 clusters typical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692640" y="47731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D966"/>
                </a:solidFill>
              </a:rPr>
              <a:t>→ $35/hr worst case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692640" y="49560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92640" y="51389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966"/>
                </a:solidFill>
              </a:rPr>
              <a:t>BBH CANNOT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92640" y="532180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CAP OR SEE THIS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02  IN-HOUSE BUILD — OVERVIEW, PRICING &amp; 5-YEAR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BFBF"/>
                </a:solidFill>
              </a:rPr>
              <a:t>BBH Capital Partners Technology | SWP Migration Program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56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D966"/>
                </a:solidFill>
              </a:rPr>
              <a:t>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777240"/>
            <a:ext cx="5303520" cy="32004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795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 BBH ALREADY HAS (No additional cost)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1430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 OpenShift Cluster (Christopher)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17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 Airflow 3.x KubernetesExecutor (Andrew/Jorge)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69164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 dbt-oracle 1.8 + Medallion Architecture (Aneesh)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9659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 Oracle DB — tuned &amp; operational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4027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 Splunk Observability — already licensed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51459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✅  BBH Nexus Air-Gapped Environment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944368"/>
            <a:ext cx="5303520" cy="32004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29626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BUILD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310128"/>
            <a:ext cx="8229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3328416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Month 1–6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" y="3310128"/>
            <a:ext cx="44074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328416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5B6"/>
                </a:solidFill>
              </a:rPr>
              <a:t>Foundation  |  $240K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49300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Airflow ingestion + dbt Bronze/Silver/Gold + AddVantage layer + NYDFS DQ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749039"/>
            <a:ext cx="822960" cy="384048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767327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Month 7–9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992" y="3749039"/>
            <a:ext cx="44074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767327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5C6B"/>
                </a:solidFill>
              </a:rPr>
              <a:t>Own Snowflake  |  $96K/yr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93192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BBH direct Snowflake contract. Oracle Gold → Snowflake. Same dbt 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187952"/>
            <a:ext cx="822960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4206240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Year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992" y="4187952"/>
            <a:ext cx="44074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20624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600"/>
                </a:solidFill>
              </a:rPr>
              <a:t>AI/ML Layer  |  $80K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37083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LLM agents on Snowflake. Natural language queries. Automated NYDFS reports.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626864"/>
            <a:ext cx="822960" cy="38404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" y="4645152"/>
            <a:ext cx="768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Year 3+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8992" y="4626864"/>
            <a:ext cx="440740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645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75623"/>
                </a:solidFill>
              </a:rPr>
              <a:t>Databricks  |  $102K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809744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04040"/>
                </a:solidFill>
              </a:rPr>
              <a:t>Full modern platform. Unity Catalog. Delta Lake. Real-time streaming.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777240"/>
            <a:ext cx="6217920" cy="32004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79552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5-YEAR COST MODEL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1143000"/>
            <a:ext cx="4114800" cy="274320"/>
          </a:xfrm>
          <a:prstGeom prst="rect">
            <a:avLst/>
          </a:prstGeom>
          <a:solidFill>
            <a:srgbClr val="1F386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93808" y="1143000"/>
            <a:ext cx="2084831" cy="274320"/>
          </a:xfrm>
          <a:prstGeom prst="rect">
            <a:avLst/>
          </a:prstGeom>
          <a:solidFill>
            <a:srgbClr val="1F386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1161288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YEAR 1 — BUILD + OPERATE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9528" y="1161288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1417320"/>
            <a:ext cx="411480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93808" y="1417320"/>
            <a:ext cx="2084831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06440" y="1435608"/>
            <a:ext cx="40233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Airflow Ingestion Pipeline Dev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39528" y="1435608"/>
            <a:ext cx="199339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</a:rPr>
              <a:t>$80,000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0" y="1659636"/>
            <a:ext cx="4114800" cy="242316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93808" y="1659636"/>
            <a:ext cx="2084831" cy="242316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1677924"/>
            <a:ext cx="40233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dbt Transformation Models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9528" y="1677924"/>
            <a:ext cx="199339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</a:rPr>
              <a:t>$60,000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1901952"/>
            <a:ext cx="4114800" cy="242316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893808" y="1901952"/>
            <a:ext cx="2084831" cy="242316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06440" y="1920240"/>
            <a:ext cx="40233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AddVantage Presentation Layer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39528" y="1920240"/>
            <a:ext cx="199339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</a:rPr>
              <a:t>$50,000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2144268"/>
            <a:ext cx="411480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93808" y="2144268"/>
            <a:ext cx="2084831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06440" y="2162556"/>
            <a:ext cx="40233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NYDFS DQ Framework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39528" y="2162556"/>
            <a:ext cx="199339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</a:rPr>
              <a:t>$50,000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60720" y="2386584"/>
            <a:ext cx="4114800" cy="242316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93808" y="2386584"/>
            <a:ext cx="2084831" cy="242316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06440" y="2404872"/>
            <a:ext cx="40233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BBH Team Allocation (annual)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39528" y="2404872"/>
            <a:ext cx="199339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</a:rPr>
              <a:t>$240,000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60720" y="2628900"/>
            <a:ext cx="411480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93808" y="2628900"/>
            <a:ext cx="2084831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06440" y="2647188"/>
            <a:ext cx="40233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OpenShift Incremental Compute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39528" y="2647188"/>
            <a:ext cx="199339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</a:rPr>
              <a:t>$40,000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0" y="2871216"/>
            <a:ext cx="411480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93808" y="2871216"/>
            <a:ext cx="2084831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06440" y="2889504"/>
            <a:ext cx="40233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Oracle Storage Expansion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39528" y="2889504"/>
            <a:ext cx="199339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</a:rPr>
              <a:t>$40,000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3113532"/>
            <a:ext cx="4114800" cy="274320"/>
          </a:xfrm>
          <a:prstGeom prst="rect">
            <a:avLst/>
          </a:prstGeom>
          <a:solidFill>
            <a:srgbClr val="2E75B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893808" y="3113532"/>
            <a:ext cx="2084831" cy="274320"/>
          </a:xfrm>
          <a:prstGeom prst="rect">
            <a:avLst/>
          </a:prstGeom>
          <a:solidFill>
            <a:srgbClr val="2E75B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06440" y="313182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YEAR 1 TOTAL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39528" y="3131820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$560,000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60720" y="3387852"/>
            <a:ext cx="4114800" cy="274320"/>
          </a:xfrm>
          <a:prstGeom prst="rect">
            <a:avLst/>
          </a:prstGeom>
          <a:solidFill>
            <a:srgbClr val="1F386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893808" y="3387852"/>
            <a:ext cx="2084831" cy="274320"/>
          </a:xfrm>
          <a:prstGeom prst="rect">
            <a:avLst/>
          </a:prstGeom>
          <a:solidFill>
            <a:srgbClr val="1F3864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06440" y="340614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YEAR 2+ — RECURRING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39528" y="3406140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5760720" y="3662172"/>
            <a:ext cx="4114800" cy="242316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893808" y="3662172"/>
            <a:ext cx="2084831" cy="242316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06440" y="3680460"/>
            <a:ext cx="40233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Team + Infrastructure (annual)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39528" y="3680460"/>
            <a:ext cx="199339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</a:rPr>
              <a:t>$240,000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760720" y="3904488"/>
            <a:ext cx="4114800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893808" y="3904488"/>
            <a:ext cx="2084831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06440" y="3922776"/>
            <a:ext cx="402336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4040"/>
                </a:solidFill>
              </a:rPr>
              <a:t>Own Snowflake Direct Contract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39528" y="3922776"/>
            <a:ext cx="199339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04040"/>
                </a:solidFill>
              </a:rPr>
              <a:t>$96,000/yr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60720" y="4146804"/>
            <a:ext cx="4114800" cy="274320"/>
          </a:xfrm>
          <a:prstGeom prst="rect">
            <a:avLst/>
          </a:prstGeom>
          <a:solidFill>
            <a:srgbClr val="2E75B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893808" y="4146804"/>
            <a:ext cx="2084831" cy="274320"/>
          </a:xfrm>
          <a:prstGeom prst="rect">
            <a:avLst/>
          </a:prstGeom>
          <a:solidFill>
            <a:srgbClr val="2E75B6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06440" y="4165091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YEAR 2+ ANNUAL TOTAL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39528" y="4165091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$336,000/yr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60720" y="4421124"/>
            <a:ext cx="4114800" cy="274320"/>
          </a:xfrm>
          <a:prstGeom prst="rect">
            <a:avLst/>
          </a:prstGeom>
          <a:solidFill>
            <a:srgbClr val="37562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893808" y="4421124"/>
            <a:ext cx="2084831" cy="274320"/>
          </a:xfrm>
          <a:prstGeom prst="rect">
            <a:avLst/>
          </a:prstGeom>
          <a:solidFill>
            <a:srgbClr val="37562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06440" y="443941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5-YEAR TOTAL (ALL IN)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39528" y="4439412"/>
            <a:ext cx="1993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$1,040,000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60720" y="4892040"/>
            <a:ext cx="621792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852160" y="49377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966"/>
                </a:solidFill>
              </a:rPr>
              <a:t>vs SEI SDC 5-YEAR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52160" y="52303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0000"/>
                </a:solidFill>
              </a:rPr>
              <a:t>$3,375,000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52160" y="57607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BFBF"/>
                </a:solidFill>
              </a:rPr>
              <a:t>SEI SDC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869680" y="52303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EFDA"/>
                </a:solidFill>
              </a:rPr>
              <a:t>$1,040,000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69680" y="5760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FBFBF"/>
                </a:solidFill>
              </a:rPr>
              <a:t>In-House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852160" y="6016752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966"/>
                </a:solidFill>
              </a:rPr>
              <a:t>SAVING: $2,335,000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03  RISK ANALYSIS &amp; PROS / CONS — BOTH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BFBF"/>
                </a:solidFill>
              </a:rPr>
              <a:t>BBH Capital Partners Technology | SWP Migration Program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56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D966"/>
                </a:solidFill>
              </a:rPr>
              <a:t>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749808"/>
            <a:ext cx="576072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76809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SEI SDC RISKS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115568"/>
            <a:ext cx="91440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133856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" y="1115568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133856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Snowflake compute uncapped — $7/hr is FLOOR not ceiling. 3 clusters = $21/hr.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408176"/>
            <a:ext cx="91440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1426464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5568" y="1408176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1426464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$3M paid + $3.4M more = $6.4M total. SEI charging twice for same capability.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700784"/>
            <a:ext cx="91440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1719072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568" y="1700784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1719072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No SOW for $389K. No enforceable deliverables. $389K fully at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993392"/>
            <a:ext cx="91440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2011680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5568" y="1993392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2011680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Production data unmasked in Test = NYDFS Part 500 violation risk.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286000"/>
            <a:ext cx="914400" cy="27432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2304288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5568" y="2286000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2304288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Test environment $184K/yr permanent — not migration-phase only.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578608"/>
            <a:ext cx="914400" cy="27432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2596896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5568" y="2578608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" y="2596896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No annual price escalation cap — SEI can raise fees at renewal.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2871215"/>
            <a:ext cx="914400" cy="27432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1168" y="2889503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5568" y="2871215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" y="2889503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No SLA credits — BBH pays $31K/month regardless of downtime.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163823"/>
            <a:ext cx="914400" cy="27432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" y="3182111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5568" y="3163823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" y="3182111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Exit cost $100K–$300K — data in proprietary Snowflake format.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8" y="749808"/>
            <a:ext cx="5760720" cy="32004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1928" y="76809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IN-HOUSE RISKS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1115568"/>
            <a:ext cx="914400" cy="27432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54496" y="1133856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68896" y="1115568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6" y="1133856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Andrew/Jorge key-person risk. Pipeline knowledge must be documented.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208" y="1408176"/>
            <a:ext cx="914400" cy="27432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54496" y="1426464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8896" y="1408176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14616" y="1426464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SEI SWP API changes can break BBH ingestion pipelines without notice.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36208" y="1700784"/>
            <a:ext cx="914400" cy="27432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54496" y="1719072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68896" y="1700784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6" y="1719072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6-month build timeline — slower to go-live vs SDC out-of-box.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36208" y="1993392"/>
            <a:ext cx="914400" cy="27432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54496" y="2011680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68896" y="1993392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14616" y="2011680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SDV reporting takes 6–12 months to match SEI pre-built reports.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36208" y="2286000"/>
            <a:ext cx="914400" cy="27432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54496" y="2304288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68896" y="2286000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4616" y="2304288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Oracle analytical performance vs Snowflake columnar engine.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36208" y="2578608"/>
            <a:ext cx="914400" cy="2743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54496" y="2596896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8896" y="2578608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14616" y="2596896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OpenShift capacity assessment needed for additional SWP workloads.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36208" y="2871215"/>
            <a:ext cx="914400" cy="2743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54496" y="2889503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8896" y="2871215"/>
            <a:ext cx="48280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14616" y="2889503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Snowflake own-account setup one-time complexity (Month 7–9).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36208" y="3163823"/>
            <a:ext cx="5760720" cy="274320"/>
          </a:xfrm>
          <a:prstGeom prst="rect">
            <a:avLst/>
          </a:prstGeom>
          <a:solidFill>
            <a:srgbClr val="E2EFDA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81928" y="3182111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75623"/>
                </a:solidFill>
              </a:rPr>
              <a:t>✅  NO vendor lock-in, NO exit cost, NO price escalation risk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98464" y="749808"/>
            <a:ext cx="36576" cy="53035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" y="3730752"/>
            <a:ext cx="11823192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3749039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FACTOR SCORECARD (1–10, higher = better)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0312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Cost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001768"/>
            <a:ext cx="413811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4039" y="4425696"/>
            <a:ext cx="413811" cy="7406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4039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92631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Cost Predictability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56639" y="5001768"/>
            <a:ext cx="413811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956358" y="4425696"/>
            <a:ext cx="413811" cy="7406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56639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56358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74950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Platform Control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38958" y="5084064"/>
            <a:ext cx="413811" cy="82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138677" y="4343400"/>
            <a:ext cx="413811" cy="82296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38958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138677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57269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Data Ownership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21277" y="5001768"/>
            <a:ext cx="413811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20997" y="4343400"/>
            <a:ext cx="413811" cy="82296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21277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20997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39588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NYDFS Compliance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03596" y="4754880"/>
            <a:ext cx="413811" cy="41148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503316" y="4343400"/>
            <a:ext cx="413811" cy="82296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03596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03316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21908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Vendor Independence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85916" y="5084064"/>
            <a:ext cx="413811" cy="82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85635" y="4343400"/>
            <a:ext cx="413811" cy="82296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85916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85635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04227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AI/ML Capability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368235" y="5001768"/>
            <a:ext cx="413811" cy="1645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867954" y="4425696"/>
            <a:ext cx="413811" cy="7406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368235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67954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86546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Exit Risk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550554" y="5084064"/>
            <a:ext cx="413811" cy="82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050274" y="4425696"/>
            <a:ext cx="413811" cy="7406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550554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0274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68865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Speed to Go-Live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32873" y="4507992"/>
            <a:ext cx="413811" cy="65836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232593" y="4754880"/>
            <a:ext cx="413811" cy="41148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732873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32593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51184" y="4041648"/>
            <a:ext cx="1127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SWP Integration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915192" y="4425696"/>
            <a:ext cx="413811" cy="74066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414912" y="4837176"/>
            <a:ext cx="413811" cy="329184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915192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414912" y="5184648"/>
            <a:ext cx="4138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04040"/>
                </a:solidFill>
              </a:rPr>
              <a:t>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82880" y="5394960"/>
            <a:ext cx="228600" cy="182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8912" y="540410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= SEI SDC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737360" y="5394960"/>
            <a:ext cx="228600" cy="18288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993392" y="540410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= In-House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474720" y="5394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SDC wins on speed &amp; native SWP integration only. In-House wins on every financial and strategic dimension.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04  DECISION SUMMARY &amp; DEVELOPMENT TASKS — SDC vs IN-HOUSE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56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FBFBF"/>
                </a:solidFill>
              </a:rPr>
              <a:t>For David / CTO Sign-Off  |  BBH Capital Partners Technology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56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D966"/>
                </a:solidFill>
              </a:rPr>
              <a:t>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777240"/>
            <a:ext cx="3749039" cy="1691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82296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OPTION A
Sign SDC As-Is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966"/>
                </a:solidFill>
              </a:rPr>
              <a:t>$986K Yr1
$3.4M 5yr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0512"/>
            <a:ext cx="320039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32003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❌ DO NOT 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212848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BFBF"/>
                </a:solidFill>
              </a:rPr>
              <a:t>No SOW · Uncapped compute · Full vendor lock-in · $6.4M total with $3M paid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777240"/>
            <a:ext cx="3749039" cy="1691640"/>
          </a:xfrm>
          <a:prstGeom prst="rect">
            <a:avLst/>
          </a:prstGeom>
          <a:solidFill>
            <a:srgbClr val="E26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82296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OPTION B
Negotiate SDC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3716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966"/>
                </a:solidFill>
              </a:rPr>
              <a:t>$450K Yr1
$1.5M 5yr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810512"/>
            <a:ext cx="320039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828800"/>
            <a:ext cx="32003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6B0A"/>
                </a:solidFill>
              </a:rPr>
              <a:t>⚠️ ONLY IF FORCED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212848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BFBF"/>
                </a:solidFill>
              </a:rPr>
              <a:t>Use $3M leverage · Demand 50% discount · Cap compute · Require SOW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777240"/>
            <a:ext cx="3749039" cy="169164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82296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OPTION C
Build In-House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9" y="137160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966"/>
                </a:solidFill>
              </a:rPr>
              <a:t>$240K Yr1
$1.04M 5yr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810512"/>
            <a:ext cx="3200399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828800"/>
            <a:ext cx="320039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5623"/>
                </a:solidFill>
              </a:rPr>
              <a:t>✅ RECOMMENDED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2212848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FBFBF"/>
                </a:solidFill>
              </a:rPr>
              <a:t>BBH owns everything · Own Snowflake Month 9 · AI/ML ready · $2.3M saving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542032"/>
            <a:ext cx="1182319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25603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</a:rPr>
              <a:t>DEVELOPMENT TASKS — SDC vs IN-HOUSE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852928"/>
            <a:ext cx="475488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2880360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6048" y="2852928"/>
            <a:ext cx="324612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01768" y="2880360"/>
            <a:ext cx="31546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SDC APPROACH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2852928"/>
            <a:ext cx="3785615" cy="2743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2880360"/>
            <a:ext cx="36941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IN-HOUSE APPROACH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154680"/>
            <a:ext cx="4754880" cy="475488"/>
          </a:xfrm>
          <a:prstGeom prst="rect">
            <a:avLst/>
          </a:prstGeom>
          <a:solidFill>
            <a:srgbClr val="253A5A"/>
          </a:solidFill>
          <a:ln w="381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3182112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Ingestion from SWP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3154680"/>
            <a:ext cx="3246120" cy="475488"/>
          </a:xfrm>
          <a:prstGeom prst="rect">
            <a:avLst/>
          </a:prstGeom>
          <a:solidFill>
            <a:srgbClr val="2A1505"/>
          </a:solidFill>
          <a:ln w="3810">
            <a:solidFill>
              <a:srgbClr val="5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01768" y="3182112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CC"/>
                </a:solidFill>
              </a:rPr>
              <a:t>SEI manages replication
→ BBH configures endpoints 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3154680"/>
            <a:ext cx="3785615" cy="475488"/>
          </a:xfrm>
          <a:prstGeom prst="rect">
            <a:avLst/>
          </a:prstGeom>
          <a:solidFill>
            <a:srgbClr val="10251A"/>
          </a:solidFill>
          <a:ln w="3810">
            <a:solidFill>
              <a:srgbClr val="2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6175" y="3182112"/>
            <a:ext cx="3694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FFCC"/>
                </a:solidFill>
              </a:rPr>
              <a:t>Andrew/Jorge build Airflow DAGs
→ SWP API → Oracle Bronze layer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3648456"/>
            <a:ext cx="4754880" cy="475488"/>
          </a:xfrm>
          <a:prstGeom prst="rect">
            <a:avLst/>
          </a:prstGeom>
          <a:solidFill>
            <a:srgbClr val="253A5A"/>
          </a:solidFill>
          <a:ln w="381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3675888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Transformation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3648456"/>
            <a:ext cx="3246120" cy="475488"/>
          </a:xfrm>
          <a:prstGeom prst="rect">
            <a:avLst/>
          </a:prstGeom>
          <a:solidFill>
            <a:srgbClr val="2A1505"/>
          </a:solidFill>
          <a:ln w="3810">
            <a:solidFill>
              <a:srgbClr val="5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01768" y="3675888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CC"/>
                </a:solidFill>
              </a:rPr>
              <a:t>SEI SDV handles internally
→ BBH has no dbt control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3648456"/>
            <a:ext cx="3785615" cy="475488"/>
          </a:xfrm>
          <a:prstGeom prst="rect">
            <a:avLst/>
          </a:prstGeom>
          <a:solidFill>
            <a:srgbClr val="10251A"/>
          </a:solidFill>
          <a:ln w="3810">
            <a:solidFill>
              <a:srgbClr val="2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66175" y="3675888"/>
            <a:ext cx="3694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FFCC"/>
                </a:solidFill>
              </a:rPr>
              <a:t>dbt Bronze→Silver→Gold models
→ Aneesh + Andrew own all logic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142232"/>
            <a:ext cx="4754880" cy="475488"/>
          </a:xfrm>
          <a:prstGeom prst="rect">
            <a:avLst/>
          </a:prstGeom>
          <a:solidFill>
            <a:srgbClr val="1F3864"/>
          </a:solidFill>
          <a:ln w="381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4169664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AddVantage Compatibility Layer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6048" y="4142232"/>
            <a:ext cx="3246120" cy="475488"/>
          </a:xfrm>
          <a:prstGeom prst="rect">
            <a:avLst/>
          </a:prstGeom>
          <a:solidFill>
            <a:srgbClr val="3A1010"/>
          </a:solidFill>
          <a:ln w="3810">
            <a:solidFill>
              <a:srgbClr val="5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01768" y="4169664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CC"/>
                </a:solidFill>
              </a:rPr>
              <a:t>❌ SEI cannot build this
→ BBH's 2,500 consumers still break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0456" y="4142232"/>
            <a:ext cx="3785615" cy="475488"/>
          </a:xfrm>
          <a:prstGeom prst="rect">
            <a:avLst/>
          </a:prstGeom>
          <a:solidFill>
            <a:srgbClr val="0A250A"/>
          </a:solidFill>
          <a:ln w="3810">
            <a:solidFill>
              <a:srgbClr val="2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66175" y="4169664"/>
            <a:ext cx="3694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FFCC"/>
                </a:solidFill>
              </a:rPr>
              <a:t>✅ dbt AV presentation views
→ Seamless consumer cutover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" y="4636008"/>
            <a:ext cx="4754880" cy="475488"/>
          </a:xfrm>
          <a:prstGeom prst="rect">
            <a:avLst/>
          </a:prstGeom>
          <a:solidFill>
            <a:srgbClr val="1F3864"/>
          </a:solidFill>
          <a:ln w="381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" y="4663440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NYDFS Compliance Reporting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56048" y="4636008"/>
            <a:ext cx="3246120" cy="475488"/>
          </a:xfrm>
          <a:prstGeom prst="rect">
            <a:avLst/>
          </a:prstGeom>
          <a:solidFill>
            <a:srgbClr val="2A1505"/>
          </a:solidFill>
          <a:ln w="3810">
            <a:solidFill>
              <a:srgbClr val="5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01768" y="4663440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CC"/>
                </a:solidFill>
              </a:rPr>
              <a:t>SDV module — extra cost est.
→ $20K–$50K unconfirmed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0456" y="4636008"/>
            <a:ext cx="3785615" cy="475488"/>
          </a:xfrm>
          <a:prstGeom prst="rect">
            <a:avLst/>
          </a:prstGeom>
          <a:solidFill>
            <a:srgbClr val="10251A"/>
          </a:solidFill>
          <a:ln w="3810">
            <a:solidFill>
              <a:srgbClr val="2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66175" y="4663440"/>
            <a:ext cx="3694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FFCC"/>
                </a:solidFill>
              </a:rPr>
              <a:t>Hema builds DQ rules in dbt
→ Splunk audit trail included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2880" y="5129784"/>
            <a:ext cx="4754880" cy="475488"/>
          </a:xfrm>
          <a:prstGeom prst="rect">
            <a:avLst/>
          </a:prstGeom>
          <a:solidFill>
            <a:srgbClr val="1F3864"/>
          </a:solidFill>
          <a:ln w="381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5157216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Snowflake / Analytics Layer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6048" y="5129784"/>
            <a:ext cx="3246120" cy="475488"/>
          </a:xfrm>
          <a:prstGeom prst="rect">
            <a:avLst/>
          </a:prstGeom>
          <a:solidFill>
            <a:srgbClr val="2A1505"/>
          </a:solidFill>
          <a:ln w="3810">
            <a:solidFill>
              <a:srgbClr val="5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01768" y="5157216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CC"/>
                </a:solidFill>
              </a:rPr>
              <a:t>SEI's Azure Snowflake
→ BBH pays $7/hr, zero control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0456" y="5129784"/>
            <a:ext cx="3785615" cy="475488"/>
          </a:xfrm>
          <a:prstGeom prst="rect">
            <a:avLst/>
          </a:prstGeom>
          <a:solidFill>
            <a:srgbClr val="10251A"/>
          </a:solidFill>
          <a:ln w="3810">
            <a:solidFill>
              <a:srgbClr val="2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6175" y="5157216"/>
            <a:ext cx="3694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FFCC"/>
                </a:solidFill>
              </a:rPr>
              <a:t>BBH-owned Snowflake (Month 9)
→ Full control, direct pricing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5623560"/>
            <a:ext cx="4754880" cy="475488"/>
          </a:xfrm>
          <a:prstGeom prst="rect">
            <a:avLst/>
          </a:prstGeom>
          <a:solidFill>
            <a:srgbClr val="253A5A"/>
          </a:solidFill>
          <a:ln w="3810">
            <a:solidFill>
              <a:srgbClr val="3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5650992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AI/ML &amp; LLM Integration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56048" y="5623560"/>
            <a:ext cx="3246120" cy="475488"/>
          </a:xfrm>
          <a:prstGeom prst="rect">
            <a:avLst/>
          </a:prstGeom>
          <a:solidFill>
            <a:srgbClr val="3A1010"/>
          </a:solidFill>
          <a:ln w="3810">
            <a:solidFill>
              <a:srgbClr val="5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01768" y="5650992"/>
            <a:ext cx="3154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CC"/>
                </a:solidFill>
              </a:rPr>
              <a:t>❌ Not possible
→ Data locked in SEI Azure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20456" y="5623560"/>
            <a:ext cx="3785615" cy="475488"/>
          </a:xfrm>
          <a:prstGeom prst="rect">
            <a:avLst/>
          </a:prstGeom>
          <a:solidFill>
            <a:srgbClr val="0A250A"/>
          </a:solidFill>
          <a:ln w="3810">
            <a:solidFill>
              <a:srgbClr val="2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66175" y="5650992"/>
            <a:ext cx="369417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FFCC"/>
                </a:solidFill>
              </a:rPr>
              <a:t>✅ Aneesh LLM agents on Snowflake
→ NL queries + automation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6053328"/>
            <a:ext cx="11823192" cy="38404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6071616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IMMEDIATE ACTIONS:  (1) Pull $3M SOW  |  (2) Do NOT sign SDC until 44 questions answered  |  (3) Start in-house build sprint  |  (4) David to open SEI commercial renegotiation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