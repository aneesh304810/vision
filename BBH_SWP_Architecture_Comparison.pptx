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0058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6B"/>
                </a:solidFill>
              </a:rPr>
              <a:t>BBH SWP MIGRATION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1732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E44"/>
                </a:solidFill>
              </a:rPr>
              <a:t>SEI Data Cloud
vs In-House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3464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Architecture Comparison, Cost Projection
&amp; Risk Analysis for CTO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C00"/>
                </a:solidFill>
              </a:rPr>
              <a:t>WHAT THIS DECK COVERS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4297680" cy="1325880"/>
          </a:xfrm>
          <a:prstGeom prst="rect">
            <a:avLst/>
          </a:prstGeom>
          <a:solidFill>
            <a:srgbClr val="17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161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C00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CTO Task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18488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EAEF"/>
                </a:solidFill>
              </a:rPr>
              <a:t>What we build in each approach
What goes away vs what is new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624328"/>
            <a:ext cx="4297680" cy="1325880"/>
          </a:xfrm>
          <a:prstGeom prst="rect">
            <a:avLst/>
          </a:prstGeom>
          <a:solidFill>
            <a:srgbClr val="17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6974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C00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15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Pricing &amp; 3-Year Projection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6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EAEF"/>
                </a:solidFill>
              </a:rPr>
              <a:t>SDC vs In-House cost distribution
&amp; financial impact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105656"/>
            <a:ext cx="4297680" cy="1325880"/>
          </a:xfrm>
          <a:prstGeom prst="rect">
            <a:avLst/>
          </a:prstGeom>
          <a:solidFill>
            <a:srgbClr val="17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788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C00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970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Pros, Cons &amp; Risk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81144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EAEF"/>
                </a:solidFill>
              </a:rPr>
              <a:t>Operational, maintenance &amp;
strategic risk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947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Prepared by: Aneesh  |  May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4663440"/>
            <a:ext cx="6858000" cy="1143000"/>
          </a:xfrm>
          <a:prstGeom prst="rect">
            <a:avLst/>
          </a:prstGeom>
          <a:solidFill>
            <a:srgbClr val="EAF5F7"/>
          </a:solidFill>
          <a:ln w="6350">
            <a:solidFill>
              <a:srgbClr val="D0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4736592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5C6B"/>
                </a:solidFill>
              </a:rPr>
              <a:t>BASED ON ARCHITECTURE DIAGRAMS: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5029200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• Day 1 Integration: SEI SWP → SFTP → Oracle → dbt/Airflow → AddVantage consumers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524865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• CP Integration Hub: Data Hub Architecture with ODI/dbt transformer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5468112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• SEI Data Cloud: Proposed integration via Domain Views, SDC Events, Webhooks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36576" cy="256032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6202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</a:rPr>
              <a:t>BBH Capital Partners Technology  |  SWP Migration Program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6202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45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79E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92608"/>
            <a:ext cx="9144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5C6B"/>
                </a:solidFill>
              </a:rPr>
              <a:t>CTO TASK OVERVIEW — What We Build, What Goes Away, What Is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Based on Day 1 Integration Architecture &amp; CP Integration Hub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2188952" cy="3657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36576" cy="256032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02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</a:rPr>
              <a:t>BBH Capital Partners Technology  |  SWP Migration Program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6202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Slide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868680"/>
            <a:ext cx="5806440" cy="347472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89611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🏗  IN-HOUSE BUILD  (Airflow + dbt + Oracle + OpenShift)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868680"/>
            <a:ext cx="5806440" cy="347472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89611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☁️  SEI DATA CLOUD APPROACH  (SDC + BBH Custom Orchestrator)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868680"/>
            <a:ext cx="256032" cy="5486400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7608" y="33832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5C6B"/>
                </a:solidFill>
              </a:rPr>
              <a:t>VS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261872"/>
            <a:ext cx="5806440" cy="256032"/>
          </a:xfrm>
          <a:prstGeom prst="rect">
            <a:avLst/>
          </a:prstGeom>
          <a:solidFill>
            <a:srgbClr val="D0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1" y="1298448"/>
            <a:ext cx="5660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F5C6B"/>
                </a:solidFill>
              </a:rPr>
              <a:t>WHAT BBH BUILDS / OWNS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1261872"/>
            <a:ext cx="5806440" cy="256032"/>
          </a:xfrm>
          <a:prstGeom prst="rect">
            <a:avLst/>
          </a:prstGeom>
          <a:solidFill>
            <a:srgbClr val="C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298448"/>
            <a:ext cx="5660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879E"/>
                </a:solidFill>
              </a:rPr>
              <a:t>WHAT BBH BUILDS / OWNS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1554480"/>
            <a:ext cx="5806440" cy="393192"/>
          </a:xfrm>
          <a:prstGeom prst="rect">
            <a:avLst/>
          </a:prstGeom>
          <a:solidFill>
            <a:srgbClr val="EAF5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158191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5C6B"/>
                </a:solidFill>
              </a:rPr>
              <a:t>SFTP Ingestion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1581912"/>
            <a:ext cx="4005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Airflow DAGs pull SEI CSV files from SFTP server into Oracle Staging — EOD/Intraday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554480"/>
            <a:ext cx="5806440" cy="393192"/>
          </a:xfrm>
          <a:prstGeom prst="rect">
            <a:avLst/>
          </a:prstGeom>
          <a:solidFill>
            <a:srgbClr val="EAF4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581912"/>
            <a:ext cx="1691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BBH Custom 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1581912"/>
            <a:ext cx="39136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Subscribe to SDC Domain Views — Accounts, Txn &amp; Taxlots, Positions, Assets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1965960"/>
            <a:ext cx="5806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1993391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5C6B"/>
                </a:solidFill>
              </a:rPr>
              <a:t>Oracle Staging (Bronze)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1993391"/>
            <a:ext cx="4005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Raw SEI files land as-received — no transformation, full audit trail preserved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1965960"/>
            <a:ext cx="5806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993391"/>
            <a:ext cx="1691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BBH Custom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1993391"/>
            <a:ext cx="39136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Consumes SDC Events and manages downstream routing to PB DW and IM Data 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2377440"/>
            <a:ext cx="5806440" cy="393192"/>
          </a:xfrm>
          <a:prstGeom prst="rect">
            <a:avLst/>
          </a:prstGeom>
          <a:solidFill>
            <a:srgbClr val="EAF5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240487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5C6B"/>
                </a:solidFill>
              </a:rPr>
              <a:t>dbt Silver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2404872"/>
            <a:ext cx="4005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Schema normalisation, business rule validation, duplicate detection in Oracle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5352" y="2377440"/>
            <a:ext cx="5806440" cy="393192"/>
          </a:xfrm>
          <a:prstGeom prst="rect">
            <a:avLst/>
          </a:prstGeom>
          <a:solidFill>
            <a:srgbClr val="EAF4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404872"/>
            <a:ext cx="1691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SWP Custom Transformer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2404872"/>
            <a:ext cx="39136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BBH-specific business logic applied after SDC data lands — Webhooks trigger transforms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2788920"/>
            <a:ext cx="5806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" y="281635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5C6B"/>
                </a:solidFill>
              </a:rPr>
              <a:t>dbt Gold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2816352"/>
            <a:ext cx="4005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BBH-specific transforms, AddVantage-ready format, mart tables for ~1,000 consumers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5352" y="2788920"/>
            <a:ext cx="5806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816352"/>
            <a:ext cx="1691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Webhook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1" y="2816352"/>
            <a:ext cx="39136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Intraday/Realtime triggers from BBH Data Extract back to SEI via Webhook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3200400"/>
            <a:ext cx="5806440" cy="393192"/>
          </a:xfrm>
          <a:prstGeom prst="rect">
            <a:avLst/>
          </a:prstGeom>
          <a:solidFill>
            <a:srgbClr val="EAF5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1168" y="322783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5C6B"/>
                </a:solidFill>
              </a:rPr>
              <a:t>BBH Custom Transformer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74519" y="3227832"/>
            <a:ext cx="4005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Business logic models — replaces complex ODI mappings with readable dbt SQL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5352" y="3200400"/>
            <a:ext cx="5806440" cy="393192"/>
          </a:xfrm>
          <a:prstGeom prst="rect">
            <a:avLst/>
          </a:prstGeom>
          <a:solidFill>
            <a:srgbClr val="EAF4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227832"/>
            <a:ext cx="1691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Private Link Setup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1" y="3227832"/>
            <a:ext cx="39136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Secure Azure Private Link from SEI SDC to BBH network — no public internet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" y="3611880"/>
            <a:ext cx="5806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1168" y="363931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5C6B"/>
                </a:solidFill>
              </a:rPr>
              <a:t>Airflow Orchestration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74519" y="3639312"/>
            <a:ext cx="4005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OpenShift pods schedule, monitor, trigger dbt via BashOperator — auto-scales 3–9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45352" y="3611880"/>
            <a:ext cx="5806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3639312"/>
            <a:ext cx="1691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.NET App Layer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8431" y="3639312"/>
            <a:ext cx="39136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BBH .NET application connects PB Data Warehouse to Pivotal, OMS, CRM, Reporting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4023360"/>
            <a:ext cx="5806440" cy="393192"/>
          </a:xfrm>
          <a:prstGeom prst="rect">
            <a:avLst/>
          </a:prstGeom>
          <a:solidFill>
            <a:srgbClr val="EAF5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1168" y="405079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5C6B"/>
                </a:solidFill>
              </a:rPr>
              <a:t>AddVantage Presentation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74519" y="4050792"/>
            <a:ext cx="40050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dbt views mirror AddVantage schema — seamless consumer cutover layer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45352" y="4023360"/>
            <a:ext cx="5806440" cy="393192"/>
          </a:xfrm>
          <a:prstGeom prst="rect">
            <a:avLst/>
          </a:prstGeom>
          <a:solidFill>
            <a:srgbClr val="EAF4F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4050792"/>
            <a:ext cx="1691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BBH Data Exchange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28431" y="4050792"/>
            <a:ext cx="39136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API / SFTP / DFX-FDX outputs to downstream consumers — CRM, CRD, Advantage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" y="4480560"/>
            <a:ext cx="2816352" cy="256032"/>
          </a:xfrm>
          <a:prstGeom prst="rect">
            <a:avLst/>
          </a:prstGeom>
          <a:solidFill>
            <a:srgbClr val="E2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0311" y="4517136"/>
            <a:ext cx="2670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653A"/>
                </a:solidFill>
              </a:rPr>
              <a:t>✅  WHAT STAYS / IS REUSED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90088" y="4480560"/>
            <a:ext cx="2953512" cy="256032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63240" y="4517136"/>
            <a:ext cx="2807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0000"/>
                </a:solidFill>
              </a:rPr>
              <a:t>❌  WHAT IS NOT NEEDED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45352" y="4480560"/>
            <a:ext cx="2816352" cy="256032"/>
          </a:xfrm>
          <a:prstGeom prst="rect">
            <a:avLst/>
          </a:prstGeom>
          <a:solidFill>
            <a:srgbClr val="E2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18504" y="4517136"/>
            <a:ext cx="2670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653A"/>
                </a:solidFill>
              </a:rPr>
              <a:t>✅  WHAT SDC PROVIDES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98280" y="4480560"/>
            <a:ext cx="2953512" cy="256032"/>
          </a:xfrm>
          <a:prstGeom prst="rect">
            <a:avLst/>
          </a:prstGeom>
          <a:solidFill>
            <a:srgbClr val="FFF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71432" y="4517136"/>
            <a:ext cx="2807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F8F00"/>
                </a:solidFill>
              </a:rPr>
              <a:t>🆕  NEW BBH MUST BUILD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7160" y="4754880"/>
            <a:ext cx="2816352" cy="310896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8600" y="4782312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653A"/>
                </a:solidFill>
              </a:rPr>
              <a:t>OpenShift cluster
(Christopher)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" y="5084064"/>
            <a:ext cx="2816352" cy="310896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28600" y="511149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653A"/>
                </a:solidFill>
              </a:rPr>
              <a:t>Oracle DB (existing)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" y="5413248"/>
            <a:ext cx="2816352" cy="310896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8600" y="544068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653A"/>
                </a:solidFill>
              </a:rPr>
              <a:t>Splunk monitoring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" y="5742432"/>
            <a:ext cx="2816352" cy="310896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8600" y="5769864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653A"/>
                </a:solidFill>
              </a:rPr>
              <a:t>BBH Nexus (air-gapped)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90088" y="4754880"/>
            <a:ext cx="2953512" cy="310896"/>
          </a:xfrm>
          <a:prstGeom prst="rect">
            <a:avLst/>
          </a:prstGeom>
          <a:solidFill>
            <a:srgbClr val="FFE8E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81528" y="4782312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0000"/>
                </a:solidFill>
              </a:rPr>
              <a:t>SDC subscription fees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90088" y="5084064"/>
            <a:ext cx="2953512" cy="310896"/>
          </a:xfrm>
          <a:prstGeom prst="rect">
            <a:avLst/>
          </a:prstGeom>
          <a:solidFill>
            <a:srgbClr val="FFE8E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81528" y="5111496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0000"/>
                </a:solidFill>
              </a:rPr>
              <a:t>SEI Azure Snowflake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90088" y="5413248"/>
            <a:ext cx="2953512" cy="310896"/>
          </a:xfrm>
          <a:prstGeom prst="rect">
            <a:avLst/>
          </a:prstGeom>
          <a:solidFill>
            <a:srgbClr val="FFE8E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81528" y="5440680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0000"/>
                </a:solidFill>
              </a:rPr>
              <a:t>SEI-managed replication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0088" y="5742432"/>
            <a:ext cx="2953512" cy="310896"/>
          </a:xfrm>
          <a:prstGeom prst="rect">
            <a:avLst/>
          </a:prstGeom>
          <a:solidFill>
            <a:srgbClr val="FFE8E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081528" y="5769864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0000"/>
                </a:solidFill>
              </a:rPr>
              <a:t>Event Hub licensing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5352" y="4754880"/>
            <a:ext cx="2816352" cy="310896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36792" y="4782312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653A"/>
                </a:solidFill>
              </a:rPr>
              <a:t>Data replication
(SEI manages)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45352" y="5084064"/>
            <a:ext cx="2816352" cy="310896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36792" y="511149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653A"/>
                </a:solidFill>
              </a:rPr>
              <a:t>Snowflake compute
(Azure-hosted)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45352" y="5413248"/>
            <a:ext cx="2816352" cy="310896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36792" y="544068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653A"/>
                </a:solidFill>
              </a:rPr>
              <a:t>SDC Events stream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5352" y="5742432"/>
            <a:ext cx="2816352" cy="310896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36792" y="5769864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653A"/>
                </a:solidFill>
              </a:rPr>
              <a:t>Domain Views layer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98280" y="4754880"/>
            <a:ext cx="2953512" cy="310896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89719" y="4782312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8F00"/>
                </a:solidFill>
              </a:rPr>
              <a:t>Custom Orchestrator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98280" y="5084064"/>
            <a:ext cx="2953512" cy="310896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189719" y="5111496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8F00"/>
                </a:solidFill>
              </a:rPr>
              <a:t>Webhook integration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98280" y="5413248"/>
            <a:ext cx="2953512" cy="310896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89719" y="5440680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8F00"/>
                </a:solidFill>
              </a:rPr>
              <a:t>Private Link setup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98280" y="5742432"/>
            <a:ext cx="2953512" cy="310896"/>
          </a:xfrm>
          <a:prstGeom prst="rect">
            <a:avLst/>
          </a:prstGeom>
          <a:solidFill>
            <a:srgbClr val="FFF8DD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89719" y="5769864"/>
            <a:ext cx="2770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8F00"/>
                </a:solidFill>
              </a:rPr>
              <a:t>.NET BBH App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45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79E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92608"/>
            <a:ext cx="9144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5C6B"/>
                </a:solidFill>
              </a:rPr>
              <a:t>PRICING &amp; 3-YEAR COST PROJECTION — SEI Data Cloud vs In-House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Includes $3M professional services context | Source: SEI pricing sheet + BBH estimates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2188952" cy="3657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36576" cy="256032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02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</a:rPr>
              <a:t>BBH Capital Partners Technology  |  SWP Migration Program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6202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Slide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868680"/>
            <a:ext cx="2880360" cy="82296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89611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131673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Already Paid to SEI
(on-prem build)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868680"/>
            <a:ext cx="288036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89611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$986K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31673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DDDD"/>
                </a:solidFill>
              </a:rPr>
              <a:t>SDC Year 1 Cost
(new spend)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868680"/>
            <a:ext cx="2880360" cy="822960"/>
          </a:xfrm>
          <a:prstGeom prst="rect">
            <a:avLst/>
          </a:prstGeom>
          <a:solidFill>
            <a:srgbClr val="1E6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89611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$240K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31673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FFCC"/>
                </a:solidFill>
              </a:rPr>
              <a:t>In-House Year 1
(new spend)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868680"/>
            <a:ext cx="2880360" cy="822960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896112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$2.0M+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31673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3-Year Saving
In-House vs SDC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828800"/>
            <a:ext cx="11914632" cy="27432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" y="1856231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Cost Component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1856231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Prod/Test 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2703" y="1856231"/>
            <a:ext cx="1463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Year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2903" y="1856231"/>
            <a:ext cx="1463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Year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1856231"/>
            <a:ext cx="1463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Year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3304" y="1856231"/>
            <a:ext cx="1581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3-Yr 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" y="2148840"/>
            <a:ext cx="11914632" cy="237744"/>
          </a:xfrm>
          <a:prstGeom prst="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" y="217627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5C6B"/>
                </a:solidFill>
              </a:rPr>
              <a:t>SEI DATA CLOUD (PaaS) — OPTION 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2404872"/>
            <a:ext cx="11914632" cy="274320"/>
          </a:xfrm>
          <a:prstGeom prst="rect">
            <a:avLst/>
          </a:prstGeom>
          <a:solidFill>
            <a:srgbClr val="EAF5F7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" y="24414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Data Replication Setup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584" y="244144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Prod $150K / Test $120K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2703" y="2441448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$270,000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2903" y="2441448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2441448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33304" y="2441448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$270,000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2679191"/>
            <a:ext cx="1191463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" y="27157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Event Hub + SDV Setup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9584" y="271576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Prod $70K / Test $49K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2703" y="2715768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$119,000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2903" y="2715768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2715768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3304" y="2715768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$119,000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" y="2953511"/>
            <a:ext cx="11914632" cy="274320"/>
          </a:xfrm>
          <a:prstGeom prst="rect">
            <a:avLst/>
          </a:prstGeom>
          <a:solidFill>
            <a:srgbClr val="EAF5F7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024" y="299008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Data Replication Recurring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9584" y="2990087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Prod $12K/mo / Test $750/mo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2703" y="299008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$153,000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2903" y="299008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$153,000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33104" y="299008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$161,000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33304" y="2990087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$467,000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3227831"/>
            <a:ext cx="1191463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2024" y="326440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Event Hub Recurring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9584" y="3264407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Prod $6,750/mo / Test $4,725/mo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2703" y="326440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$138,000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32903" y="326440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$138,000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33104" y="326440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$145,000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33304" y="3264407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$421,000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3502151"/>
            <a:ext cx="11914632" cy="274320"/>
          </a:xfrm>
          <a:prstGeom prst="rect">
            <a:avLst/>
          </a:prstGeom>
          <a:solidFill>
            <a:srgbClr val="EAF5F7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2024" y="353872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SDV Data Vision Recurring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9584" y="3538727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Prod $12,335/mo / Test $9,868/mo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2703" y="353872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$267,000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32903" y="353872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$267,000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3104" y="353872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$280,000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33304" y="3538727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$814,000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" y="3776471"/>
            <a:ext cx="1191463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024" y="381304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Snowflake Compute (moderate est.)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29584" y="3813047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$7/hr × 8hrs/day + peaks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32703" y="381304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00000"/>
                </a:solidFill>
              </a:rPr>
              <a:t>$40,000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32903" y="381304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00000"/>
                </a:solidFill>
              </a:rPr>
              <a:t>$42,000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381304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00000"/>
                </a:solidFill>
              </a:rPr>
              <a:t>$44,000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33304" y="3813047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00000"/>
                </a:solidFill>
              </a:rPr>
              <a:t>$126,000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4050791"/>
            <a:ext cx="11914632" cy="274320"/>
          </a:xfrm>
          <a:prstGeom prst="rect">
            <a:avLst/>
          </a:prstGeom>
          <a:solidFill>
            <a:srgbClr val="EAF5F7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2024" y="408736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Hidden Costs (NYDFS, egress, TAM)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29584" y="4087367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Est. — not in pricing sheet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32703" y="408736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00000"/>
                </a:solidFill>
              </a:rPr>
              <a:t>$20,000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32903" y="408736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00000"/>
                </a:solidFill>
              </a:rPr>
              <a:t>$65,000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33104" y="408736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00000"/>
                </a:solidFill>
              </a:rPr>
              <a:t>$65,000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33304" y="4087367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00000"/>
                </a:solidFill>
              </a:rPr>
              <a:t>$150,000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160" y="4325111"/>
            <a:ext cx="11914632" cy="27432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2024" y="436168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SDC TOTAL (excl. $3M paid)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29584" y="4361687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32703" y="436168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$1,007,000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32903" y="436168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$665,000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33104" y="4361687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$695,000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33304" y="4361687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$2,367,000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7160" y="4645151"/>
            <a:ext cx="11914632" cy="237744"/>
          </a:xfrm>
          <a:prstGeom prst="rect">
            <a:avLst/>
          </a:prstGeom>
          <a:solidFill>
            <a:srgbClr val="FFE8E8"/>
          </a:solidFill>
          <a:ln w="508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1168" y="4672583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⚠️  $3M Professional Services (already paid) + SDC 3yr Total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05872" y="4672583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00000"/>
                </a:solidFill>
              </a:rPr>
              <a:t>$5,367,000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7160" y="4965191"/>
            <a:ext cx="11914632" cy="237744"/>
          </a:xfrm>
          <a:prstGeom prst="rect">
            <a:avLst/>
          </a:prstGeom>
          <a:solidFill>
            <a:srgbClr val="E2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1168" y="4992623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53A"/>
                </a:solidFill>
              </a:rPr>
              <a:t>IN-HOUSE BUILD (OpenShift + Airflow + dbt + Own Snowflake) — OPTION B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" y="5221223"/>
            <a:ext cx="11914632" cy="274320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2024" y="525779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One-Time Build (Airflow, dbt, AV Layer, DQ)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29584" y="5257799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Andrew, Jorge, Hema, Aneesh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32703" y="525779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$240,000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32903" y="525779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33104" y="525779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33304" y="5257799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$240,000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37160" y="5495543"/>
            <a:ext cx="1191463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92024" y="553211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BBH Team Annual Allocation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29584" y="5532119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Partial — existing headcount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32703" y="553211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$240,000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32903" y="553211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$200,000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833104" y="553211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$200,000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33304" y="5532119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$640,000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7160" y="5769863"/>
            <a:ext cx="11914632" cy="274320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92024" y="580643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OpenShift Incremental Compute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29584" y="5806439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Additional pods — existing cluster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32703" y="580643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$40,000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32903" y="580643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$40,000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33104" y="580643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$40,000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33304" y="5806439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$120,000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37160" y="6044183"/>
            <a:ext cx="1191463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2024" y="608075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Oracle Storage Expansion (one-time)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29584" y="6080759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SWP data volume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32703" y="608075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$40,000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32903" y="608075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833104" y="608075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33304" y="6080759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$40,000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37160" y="6318503"/>
            <a:ext cx="11914632" cy="274320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92024" y="635507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Own Snowflake (from Month 9, Yr 1)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9584" y="6355079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BBH direct contract — full control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32703" y="635507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$48,000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32903" y="635507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$96,000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833104" y="635507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$96,000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33304" y="6355079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$240,000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7160" y="6592823"/>
            <a:ext cx="11914632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92024" y="662939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Splunk (incremental log volume)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29584" y="6629399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</a:rPr>
              <a:t>Already licensed base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32703" y="662939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$20,000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232903" y="662939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$20,000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833104" y="662939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$20,000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433304" y="6629399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33333"/>
                </a:solidFill>
              </a:rPr>
              <a:t>$60,000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37160" y="6867143"/>
            <a:ext cx="11914632" cy="274320"/>
          </a:xfrm>
          <a:prstGeom prst="rect">
            <a:avLst/>
          </a:prstGeom>
          <a:solidFill>
            <a:srgbClr val="1E6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92024" y="690371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IN-HOUSE TOTAL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29584" y="6903719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32703" y="690371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$628,000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232903" y="690371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$356,000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833104" y="6903719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$356,000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33304" y="6903719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$1,340,000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37160" y="7159751"/>
            <a:ext cx="11914632" cy="256032"/>
          </a:xfrm>
          <a:prstGeom prst="rect">
            <a:avLst/>
          </a:prstGeom>
          <a:solidFill>
            <a:srgbClr val="FFF8DD"/>
          </a:solidFill>
          <a:ln w="5080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92024" y="7196327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F8F00"/>
                </a:solidFill>
              </a:rPr>
              <a:t>💰  3-YEAR SAVING — In-House vs SDC (excl. $3M sunk)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29584" y="7196327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F8F00"/>
                </a:solidFill>
              </a:rPr>
              <a:t/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632703" y="7196327"/>
            <a:ext cx="1463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BF8F00"/>
                </a:solidFill>
              </a:rPr>
              <a:t>$379,000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232903" y="7196327"/>
            <a:ext cx="1463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BF8F00"/>
                </a:solidFill>
              </a:rPr>
              <a:t>$309,000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833104" y="7196327"/>
            <a:ext cx="1463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BF8F00"/>
                </a:solidFill>
              </a:rPr>
              <a:t>$339,000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433304" y="7196327"/>
            <a:ext cx="1581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BF8F00"/>
                </a:solidFill>
              </a:rPr>
              <a:t>$1,027,000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45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79E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92608"/>
            <a:ext cx="9144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5C6B"/>
                </a:solidFill>
              </a:rPr>
              <a:t>PROS, CONS &amp; RISK ANALYSIS — Both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Operational · Maintenance · Commercial · Strategic · Compliance 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2188952" cy="3657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36576" cy="256032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02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</a:rPr>
              <a:t>BBH Capital Partners Technology  |  SWP Migration Program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6202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Slide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841248"/>
            <a:ext cx="5806440" cy="27432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85953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IN-HOUSE 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841248"/>
            <a:ext cx="5806440" cy="274320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85953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SEI DATA 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841248"/>
            <a:ext cx="246888" cy="274320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" y="1143000"/>
            <a:ext cx="5806440" cy="219456"/>
          </a:xfrm>
          <a:prstGeom prst="rect">
            <a:avLst/>
          </a:prstGeom>
          <a:solidFill>
            <a:srgbClr val="E2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1" y="1179576"/>
            <a:ext cx="5660136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653A"/>
                </a:solidFill>
              </a:rPr>
              <a:t>✅  PROS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1143000"/>
            <a:ext cx="5806440" cy="219456"/>
          </a:xfrm>
          <a:prstGeom prst="rect">
            <a:avLst/>
          </a:prstGeom>
          <a:solidFill>
            <a:srgbClr val="E2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179576"/>
            <a:ext cx="5660136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653A"/>
                </a:solidFill>
              </a:rPr>
              <a:t>✅  PROS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143000"/>
            <a:ext cx="246888" cy="219456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" y="1389888"/>
            <a:ext cx="5806440" cy="338328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1426464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53A"/>
                </a:solidFill>
              </a:rPr>
              <a:t>Full data &amp; platform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1426464"/>
            <a:ext cx="39136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BBH owns Oracle, dbt models, pipelines — no vendor can change terms or pricing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389888"/>
            <a:ext cx="5806440" cy="338328"/>
          </a:xfrm>
          <a:prstGeom prst="rect">
            <a:avLst/>
          </a:prstGeom>
          <a:solidFill>
            <a:srgbClr val="EAF4F7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26464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Fastest time to go-live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1426464"/>
            <a:ext cx="38679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SEI manages SWP-to-Azure replication — BBH configures endpoints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389888"/>
            <a:ext cx="246888" cy="338328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7160" y="1746504"/>
            <a:ext cx="5806440" cy="338328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1783080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53A"/>
                </a:solidFill>
              </a:rPr>
              <a:t>BBH controls Snowflake costs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1783080"/>
            <a:ext cx="39136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Direct contract — auto-suspend, warehouse size, credit cap all in BBH hands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1746504"/>
            <a:ext cx="5806440" cy="338328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783080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Native SWP event streaming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1783080"/>
            <a:ext cx="38679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SDC Events give BBH real-time access to SWP business events automatically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746504"/>
            <a:ext cx="246888" cy="338328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103120"/>
            <a:ext cx="5806440" cy="338328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" y="2139696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53A"/>
                </a:solidFill>
              </a:rPr>
              <a:t>AddVantage compatibility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2139696"/>
            <a:ext cx="39136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dbt presentation views mirror AV schema — 1,000 consumers see zero disruption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45352" y="2103120"/>
            <a:ext cx="5806440" cy="338328"/>
          </a:xfrm>
          <a:prstGeom prst="rect">
            <a:avLst/>
          </a:prstGeom>
          <a:solidFill>
            <a:srgbClr val="EAF4F7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2139696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SEI owns SWP schema changes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2139696"/>
            <a:ext cx="38679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Domain Views abstract SWP schema — BBH Custom Views insulated from changes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2103120"/>
            <a:ext cx="246888" cy="338328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37160" y="2459736"/>
            <a:ext cx="5806440" cy="338328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" y="24963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53A"/>
                </a:solidFill>
              </a:rPr>
              <a:t>NYDFS data never leaves BBH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2496312"/>
            <a:ext cx="39136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Oracle on-prem — data in confirmed BBH perimeter, no Azure residency question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45352" y="2459736"/>
            <a:ext cx="5806440" cy="338328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24963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Pre-built Domain Views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4152" y="2496312"/>
            <a:ext cx="38679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Accounts, Positions, Txlots, Assets available out-of-box — no ingestion build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2459736"/>
            <a:ext cx="246888" cy="338328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7160" y="2816352"/>
            <a:ext cx="5806440" cy="338328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" y="2852928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53A"/>
                </a:solidFill>
              </a:rPr>
              <a:t>AI/ML roadmap enabled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5960" y="2852928"/>
            <a:ext cx="39136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Aneesh's LLM agents connect to own Snowflake — NL queries, anomaly detection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45352" y="2816352"/>
            <a:ext cx="5806440" cy="338328"/>
          </a:xfrm>
          <a:prstGeom prst="rect">
            <a:avLst/>
          </a:prstGeom>
          <a:solidFill>
            <a:srgbClr val="EAF4F7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2852928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Managed infrastructure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74152" y="2852928"/>
            <a:ext cx="38679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SEI runs Azure + Snowflake — Christopher's team not stretched on new infra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2816352"/>
            <a:ext cx="246888" cy="338328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7160" y="3172968"/>
            <a:ext cx="5806440" cy="338328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1168" y="3209544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53A"/>
                </a:solidFill>
              </a:rPr>
              <a:t>dbt portability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65960" y="3209544"/>
            <a:ext cx="391363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One config change moves entire platform to Snowflake or Databricks — zero rewrite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45352" y="3172968"/>
            <a:ext cx="5806440" cy="338328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3209544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879E"/>
                </a:solidFill>
              </a:rPr>
              <a:t>Webhook-driven real-time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74152" y="3209544"/>
            <a:ext cx="386791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Intraday realtime webhook triggers without BBH building streaming pipeline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3172968"/>
            <a:ext cx="246888" cy="338328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7160" y="3584448"/>
            <a:ext cx="5806440" cy="21945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0311" y="3621024"/>
            <a:ext cx="5660136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0000"/>
                </a:solidFill>
              </a:rPr>
              <a:t>❌  CONS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45352" y="3584448"/>
            <a:ext cx="5806440" cy="21945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18504" y="3621024"/>
            <a:ext cx="5660136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0000"/>
                </a:solidFill>
              </a:rPr>
              <a:t>❌  CONS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89320" y="3584448"/>
            <a:ext cx="246888" cy="219456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7160" y="3831336"/>
            <a:ext cx="5806440" cy="347472"/>
          </a:xfrm>
          <a:prstGeom prst="rect">
            <a:avLst/>
          </a:prstGeom>
          <a:solidFill>
            <a:srgbClr val="FFE8E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1168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</a:rPr>
              <a:t>6-month build timeline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65960" y="3867912"/>
            <a:ext cx="3913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Slower to go-live vs SDC out-of-box — reporting delay during build phase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45352" y="3831336"/>
            <a:ext cx="5806440" cy="347472"/>
          </a:xfrm>
          <a:prstGeom prst="rect">
            <a:avLst/>
          </a:prstGeom>
          <a:solidFill>
            <a:srgbClr val="FFE8E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3867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</a:rPr>
              <a:t>Snowflake compute uncapped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74152" y="3867912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$7/hr is the floor — 3 clusters at month-end = $21/hr, BBH cannot cap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89320" y="3831336"/>
            <a:ext cx="246888" cy="34747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4197096"/>
            <a:ext cx="5806440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1168" y="4233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</a:rPr>
              <a:t>Key-person dependency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65960" y="4233672"/>
            <a:ext cx="3913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Andrew &amp; Jorge critical path — runbooks and cross-training mandatory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45352" y="4197096"/>
            <a:ext cx="5806440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0" y="4233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</a:rPr>
              <a:t>Zero platform control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74152" y="4233672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BBH cannot see compute, set auto-suspend, or tune warehouse sizing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89320" y="4197096"/>
            <a:ext cx="246888" cy="34747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37160" y="4562856"/>
            <a:ext cx="5806440" cy="347472"/>
          </a:xfrm>
          <a:prstGeom prst="rect">
            <a:avLst/>
          </a:prstGeom>
          <a:solidFill>
            <a:srgbClr val="FFE8E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1168" y="4599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</a:rPr>
              <a:t>SWP API break risk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65960" y="4599432"/>
            <a:ext cx="3913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SEI schema changes can break ingestion DAGs — 90-day notice clause needed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45352" y="4562856"/>
            <a:ext cx="5806440" cy="347472"/>
          </a:xfrm>
          <a:prstGeom prst="rect">
            <a:avLst/>
          </a:prstGeom>
          <a:solidFill>
            <a:srgbClr val="FFE8E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09360" y="4599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</a:rPr>
              <a:t>Paying twice for capability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74152" y="4599432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$3M on-prem + $986K Yr1 SDC = SEI charging again for same data flows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89320" y="4562856"/>
            <a:ext cx="246888" cy="34747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37160" y="4928616"/>
            <a:ext cx="5806440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1168" y="4965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</a:rPr>
              <a:t>SDV reporting rebuild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65960" y="4965192"/>
            <a:ext cx="3913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Gold layer + reporting takes 6–12 months to match SEI pre-built SDV reports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45352" y="4928616"/>
            <a:ext cx="5806440" cy="347472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09360" y="4965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0000"/>
                </a:solidFill>
              </a:rPr>
              <a:t>Permanent test env cost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74152" y="4965192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$184K/yr for test environment — not a migration phase cost, ongoing forever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89320" y="4928616"/>
            <a:ext cx="246888" cy="34747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37160" y="5367528"/>
            <a:ext cx="11914632" cy="237744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1168" y="5394960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⚠️  RISK REGISTER — Operational · Maintenance · Commercial · Compliance · Strategic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5623560"/>
            <a:ext cx="731520" cy="237744"/>
          </a:xfrm>
          <a:prstGeom prst="rect">
            <a:avLst/>
          </a:prstGeom>
          <a:solidFill>
            <a:srgbClr val="FFE8E8"/>
          </a:solidFill>
          <a:ln w="508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64592" y="5650992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0000"/>
                </a:solidFill>
              </a:rPr>
              <a:t>CRITICAL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86968" y="5623560"/>
            <a:ext cx="685800" cy="237744"/>
          </a:xfrm>
          <a:prstGeom prst="rect">
            <a:avLst/>
          </a:prstGeom>
          <a:solidFill>
            <a:srgbClr val="E0F0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0" y="5650992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E879E"/>
                </a:solidFill>
              </a:rPr>
              <a:t>SDC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591056" y="5623560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18488" y="5650992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Financial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386584" y="5623560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414016" y="5650992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Compute cost spike at month-end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736592" y="5623560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64024" y="5650992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3 clusters × $7/hr — $21/hr with zero BBH visibility. No cap mechanism exists.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37160" y="5870448"/>
            <a:ext cx="731520" cy="237744"/>
          </a:xfrm>
          <a:prstGeom prst="rect">
            <a:avLst/>
          </a:prstGeom>
          <a:solidFill>
            <a:srgbClr val="FFE8E8"/>
          </a:solidFill>
          <a:ln w="508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64592" y="5897880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0000"/>
                </a:solidFill>
              </a:rPr>
              <a:t>CRITICAL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86968" y="5870448"/>
            <a:ext cx="685800" cy="237744"/>
          </a:xfrm>
          <a:prstGeom prst="rect">
            <a:avLst/>
          </a:prstGeom>
          <a:solidFill>
            <a:srgbClr val="E0F0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4400" y="5897880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E879E"/>
                </a:solidFill>
              </a:rPr>
              <a:t>SDC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591056" y="5870448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618488" y="5897880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Commercial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86584" y="5870448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414016" y="5897880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$3M sunk + double charging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36592" y="5870448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64024" y="5897880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BBH paid $3M for on-prem. SDC is SEI charging again for the same data flows on their cloud.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6117336"/>
            <a:ext cx="731520" cy="237744"/>
          </a:xfrm>
          <a:prstGeom prst="rect">
            <a:avLst/>
          </a:prstGeom>
          <a:solidFill>
            <a:srgbClr val="FFE8E8"/>
          </a:solidFill>
          <a:ln w="508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64592" y="6144768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0000"/>
                </a:solidFill>
              </a:rPr>
              <a:t>CRITICAL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86968" y="6117336"/>
            <a:ext cx="685800" cy="237744"/>
          </a:xfrm>
          <a:prstGeom prst="rect">
            <a:avLst/>
          </a:prstGeom>
          <a:solidFill>
            <a:srgbClr val="E0F0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4400" y="6144768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E879E"/>
                </a:solidFill>
              </a:rPr>
              <a:t>SDC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91056" y="6117336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618488" y="6144768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Contractual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386584" y="6117336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414016" y="6144768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No SOW for $389K setup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36592" y="6117336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64024" y="6144768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No enforceable deliverables. $389K paid with no milestone-based acceptance criteria.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7160" y="6364224"/>
            <a:ext cx="731520" cy="237744"/>
          </a:xfrm>
          <a:prstGeom prst="rect">
            <a:avLst/>
          </a:prstGeom>
          <a:solidFill>
            <a:srgbClr val="FFF0E0"/>
          </a:solidFill>
          <a:ln w="5080">
            <a:solidFill>
              <a:srgbClr val="D4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64592" y="6391656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6500"/>
                </a:solidFill>
              </a:rPr>
              <a:t>HIGH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86968" y="6364224"/>
            <a:ext cx="685800" cy="237744"/>
          </a:xfrm>
          <a:prstGeom prst="rect">
            <a:avLst/>
          </a:prstGeom>
          <a:solidFill>
            <a:srgbClr val="E0F0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4400" y="6391656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E879E"/>
                </a:solidFill>
              </a:rPr>
              <a:t>SDC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591056" y="6364224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618488" y="6391656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Compliance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386584" y="6364224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414016" y="6391656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NYDFS data outside BBH perimeter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736592" y="6364224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764024" y="6391656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Data replicates to SEI Azure. OCI/Azure region must be confirmed for NYDFS data residency.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37160" y="6611112"/>
            <a:ext cx="731520" cy="237744"/>
          </a:xfrm>
          <a:prstGeom prst="rect">
            <a:avLst/>
          </a:prstGeom>
          <a:solidFill>
            <a:srgbClr val="FFF0E0"/>
          </a:solidFill>
          <a:ln w="5080">
            <a:solidFill>
              <a:srgbClr val="D4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64592" y="6638544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6500"/>
                </a:solidFill>
              </a:rPr>
              <a:t>HIGH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6968" y="6611112"/>
            <a:ext cx="685800" cy="237744"/>
          </a:xfrm>
          <a:prstGeom prst="rect">
            <a:avLst/>
          </a:prstGeom>
          <a:solidFill>
            <a:srgbClr val="E0F0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14400" y="6638544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E879E"/>
                </a:solidFill>
              </a:rPr>
              <a:t>SDC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91056" y="6611112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618488" y="6638544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Strategic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86584" y="6611112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414016" y="6638544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Vendor lock-in + exit cost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736592" y="6611112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64024" y="6638544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Exit requires data migration from SEI Snowflake. $100K–$300K cost. BBH owns nothing.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37160" y="6858000"/>
            <a:ext cx="731520" cy="237744"/>
          </a:xfrm>
          <a:prstGeom prst="rect">
            <a:avLst/>
          </a:prstGeom>
          <a:solidFill>
            <a:srgbClr val="FFF0E0"/>
          </a:solidFill>
          <a:ln w="5080">
            <a:solidFill>
              <a:srgbClr val="D4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64592" y="6885432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6500"/>
                </a:solidFill>
              </a:rPr>
              <a:t>HIGH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86968" y="6858000"/>
            <a:ext cx="685800" cy="237744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4400" y="6885432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653A"/>
                </a:solidFill>
              </a:rPr>
              <a:t>In-House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591056" y="6858000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618488" y="6885432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Operational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386584" y="6858000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414016" y="6885432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SWP API breaking changes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736592" y="6858000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764024" y="6885432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SEI SWP schema changes break BBH SFTP/dbt ingestion DAGs without guaranteed notice.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37160" y="7104888"/>
            <a:ext cx="731520" cy="237744"/>
          </a:xfrm>
          <a:prstGeom prst="rect">
            <a:avLst/>
          </a:prstGeom>
          <a:solidFill>
            <a:srgbClr val="FFF0E0"/>
          </a:solidFill>
          <a:ln w="5080">
            <a:solidFill>
              <a:srgbClr val="D4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64592" y="7132320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6500"/>
                </a:solidFill>
              </a:rPr>
              <a:t>HIGH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6968" y="7104888"/>
            <a:ext cx="685800" cy="237744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4400" y="7132320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653A"/>
                </a:solidFill>
              </a:rPr>
              <a:t>In-House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591056" y="7104888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618488" y="7132320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Operational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386584" y="7104888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414016" y="7132320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Andrew/Jorge key-person risk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736592" y="7104888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764024" y="7132320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Pipeline knowledge concentrated. Departure = loss of Bronze→Gold architecture expertise.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37160" y="7351776"/>
            <a:ext cx="731520" cy="237744"/>
          </a:xfrm>
          <a:prstGeom prst="rect">
            <a:avLst/>
          </a:prstGeom>
          <a:solidFill>
            <a:srgbClr val="FFF0E0"/>
          </a:solidFill>
          <a:ln w="5080">
            <a:solidFill>
              <a:srgbClr val="D4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64592" y="7379208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6500"/>
                </a:solidFill>
              </a:rPr>
              <a:t>HIGH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86968" y="7351776"/>
            <a:ext cx="685800" cy="237744"/>
          </a:xfrm>
          <a:prstGeom prst="rect">
            <a:avLst/>
          </a:prstGeom>
          <a:solidFill>
            <a:srgbClr val="E0F0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4400" y="7379208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E879E"/>
                </a:solidFill>
              </a:rPr>
              <a:t>SDC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591056" y="7351776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618488" y="7379208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Commercial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386584" y="7351776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414016" y="7379208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No price lock on SDC recurring fees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736592" y="7351776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764024" y="7379208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No annual escalation cap. $31K/mo recurring can increase at every renewal cycle.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37160" y="7598664"/>
            <a:ext cx="731520" cy="237744"/>
          </a:xfrm>
          <a:prstGeom prst="rect">
            <a:avLst/>
          </a:prstGeom>
          <a:solidFill>
            <a:srgbClr val="FFF0E0"/>
          </a:solidFill>
          <a:ln w="5080">
            <a:solidFill>
              <a:srgbClr val="D4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64592" y="7626096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6500"/>
                </a:solidFill>
              </a:rPr>
              <a:t>HIGH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86968" y="7598664"/>
            <a:ext cx="685800" cy="237744"/>
          </a:xfrm>
          <a:prstGeom prst="rect">
            <a:avLst/>
          </a:prstGeom>
          <a:solidFill>
            <a:srgbClr val="E0F0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14400" y="7626096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E879E"/>
                </a:solidFill>
              </a:rPr>
              <a:t>SDC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591056" y="7598664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618488" y="7626096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Financial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86584" y="7598664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414016" y="7626096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Test env permanent $184K/yr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736592" y="7598664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764024" y="7626096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Test environment is not a migration-phase cost. It's permanent ongoing opex post go-live.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7845552"/>
            <a:ext cx="731520" cy="237744"/>
          </a:xfrm>
          <a:prstGeom prst="rect">
            <a:avLst/>
          </a:prstGeom>
          <a:solidFill>
            <a:srgbClr val="FFF8DD"/>
          </a:solidFill>
          <a:ln w="5080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64592" y="7872983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F8F00"/>
                </a:solidFill>
              </a:rPr>
              <a:t>MEDIUM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86968" y="7845552"/>
            <a:ext cx="685800" cy="237744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14400" y="7872983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653A"/>
                </a:solidFill>
              </a:rPr>
              <a:t>In-House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591056" y="7845552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618488" y="7872983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Delivery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386584" y="7845552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414016" y="7872983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Reporting build delay (in-house)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736592" y="7845552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4764024" y="7872983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Gold layer + SDV-equivalent reporting takes 6–12 months to reach feature parity with SDC.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37160" y="8092440"/>
            <a:ext cx="731520" cy="237744"/>
          </a:xfrm>
          <a:prstGeom prst="rect">
            <a:avLst/>
          </a:prstGeom>
          <a:solidFill>
            <a:srgbClr val="FFF8DD"/>
          </a:solidFill>
          <a:ln w="5080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64592" y="8119871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F8F00"/>
                </a:solidFill>
              </a:rPr>
              <a:t>MEDIUM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86968" y="8092440"/>
            <a:ext cx="685800" cy="237744"/>
          </a:xfrm>
          <a:prstGeom prst="rect">
            <a:avLst/>
          </a:prstGeom>
          <a:solidFill>
            <a:srgbClr val="E2F5E9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14400" y="8119871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653A"/>
                </a:solidFill>
              </a:rPr>
              <a:t>In-House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591056" y="8092440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618488" y="8119871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Technical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386584" y="8092440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414016" y="8119871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Oracle analytical performance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736592" y="8092440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764024" y="8119871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Columnar analytics at scale may need own Snowflake sooner — plan for Month 7–9 migration.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37160" y="8339327"/>
            <a:ext cx="731520" cy="237744"/>
          </a:xfrm>
          <a:prstGeom prst="rect">
            <a:avLst/>
          </a:prstGeom>
          <a:solidFill>
            <a:srgbClr val="FFF8DD"/>
          </a:solidFill>
          <a:ln w="5080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64592" y="8366759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BF8F00"/>
                </a:solidFill>
              </a:rPr>
              <a:t>MEDIUM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86968" y="8339327"/>
            <a:ext cx="685800" cy="237744"/>
          </a:xfrm>
          <a:prstGeom prst="rect">
            <a:avLst/>
          </a:prstGeom>
          <a:solidFill>
            <a:srgbClr val="E0F0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14400" y="8366759"/>
            <a:ext cx="630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E879E"/>
                </a:solidFill>
              </a:rPr>
              <a:t>SDC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591056" y="8339327"/>
            <a:ext cx="777240" cy="237744"/>
          </a:xfrm>
          <a:prstGeom prst="rect">
            <a:avLst/>
          </a:prstGeom>
          <a:solidFill>
            <a:srgbClr val="F5F5F5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618488" y="8366759"/>
            <a:ext cx="722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Compliance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386584" y="8339327"/>
            <a:ext cx="233172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414016" y="8366759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</a:rPr>
              <a:t>Unmasked prod data in test (SDC)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736592" y="8339327"/>
            <a:ext cx="7315200" cy="23774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764024" y="8366759"/>
            <a:ext cx="7242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NYDFS Part 500 violation risk if production PII lands unmasked in SEI test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45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79E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92608"/>
            <a:ext cx="9144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5C6B"/>
                </a:solidFill>
              </a:rPr>
              <a:t>RECOMMENDATION &amp; IMMEDIATE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1206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Decision framework for David / CTO sign-off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2188952" cy="3657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36576" cy="256032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6202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</a:rPr>
              <a:t>BBH Capital Partners Technology  |  SWP Migration Program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6202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Slide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868680"/>
            <a:ext cx="11914632" cy="658368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905256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RECOMMENDATION: BUILD IN-HOUSE FIRST — NEGOTIATE SEI SDC FROM A POSITION OF STRENGTH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120700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EAEF"/>
                </a:solidFill>
              </a:rPr>
              <a:t>BBH already has OpenShift · Airflow · dbt-oracle · Oracle DB · Splunk — 80% of the stack exists. $3M already paid gives negotiating leverage. In-house build costs $628K in Year 1 vs $1,007K for SDC.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1600200"/>
            <a:ext cx="3840480" cy="32004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16276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HYBRID (RECOMMENDED)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1938528"/>
            <a:ext cx="3840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1F5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" y="1975104"/>
            <a:ext cx="3621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Use in-house Airflow/dbt for transformation &amp; governance.
Use SDC only for SWP native event streaming (unavoidable).
Own Snowflake from Month 9.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600200"/>
            <a:ext cx="3840480" cy="320040"/>
          </a:xfrm>
          <a:prstGeom prst="rect">
            <a:avLst/>
          </a:prstGeom>
          <a:solidFill>
            <a:srgbClr val="1E6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6276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FULL IN-HOUSE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1938528"/>
            <a:ext cx="3840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6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1975104"/>
            <a:ext cx="3621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Build entire stack on OpenShift.
Own Snowflake by Month 9, Databricks Year 3.
Negotiate SEI API access only.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600200"/>
            <a:ext cx="3840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6276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⚠️  FULL SDC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938528"/>
            <a:ext cx="3840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1975104"/>
            <a:ext cx="36210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Only if SEI waives setup, caps compute,
provides SOW and 50% discount.
Do NOT sign current pricing sheet.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944368"/>
            <a:ext cx="11914632" cy="2560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2971800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IMMEDIATE ACTIONS — Before Any Contract Is Signed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" y="3246120"/>
            <a:ext cx="34747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333756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246120"/>
            <a:ext cx="11548872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2826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</a:rPr>
              <a:t>Pull the original $3M SOW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51129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Review deliverables — confirm what was contracted vs what was delivered. Use as negotiation anchor.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3785615"/>
            <a:ext cx="34747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" y="3877055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785615"/>
            <a:ext cx="11548872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822191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</a:rPr>
              <a:t>Do NOT sign SDC pricing sheet as-is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050791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44 open questions unanswered. No SOW, no compute cap, no SLA credits, no price lock.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" y="4325112"/>
            <a:ext cx="347472" cy="502920"/>
          </a:xfrm>
          <a:prstGeom prst="rect">
            <a:avLst/>
          </a:prstGeom>
          <a:solidFill>
            <a:srgbClr val="1E6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" y="4416551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325112"/>
            <a:ext cx="11548872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3616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53A"/>
                </a:solidFill>
              </a:rPr>
              <a:t>Start in-house Airflow ingestion sprint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5902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Andrew + Jorge begin SWP SFTP → Oracle Bronze DAGs immediately — 6 week target.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" y="4864607"/>
            <a:ext cx="347472" cy="50292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4956047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864607"/>
            <a:ext cx="11548872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90118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5C6B"/>
                </a:solidFill>
              </a:rPr>
              <a:t>Engage SEI commercial renegotiation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129783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David opens negotiation: waive $389K setup, 50% recurring discount, cap Snowflake compute.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" y="5404103"/>
            <a:ext cx="347472" cy="502920"/>
          </a:xfrm>
          <a:prstGeom prst="rect">
            <a:avLst/>
          </a:prstGeom>
          <a:solidFill>
            <a:srgbClr val="D4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" y="5495543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404103"/>
            <a:ext cx="11548872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44067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6500"/>
                </a:solidFill>
              </a:rPr>
              <a:t>Hema confirms NYDFS compliance boundary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669279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Define which data flows require NYDFS Part 500 controls — in-house vs SDC perimeter.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5943599"/>
            <a:ext cx="347472" cy="502920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" y="6035039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943599"/>
            <a:ext cx="11548872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5980175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79E"/>
                </a:solidFill>
              </a:rPr>
              <a:t>Christopher scopes OpenShift capacity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6208775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Additional pods for SWP workloads — confirm no new hardware needed on existing cluster.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6309360"/>
            <a:ext cx="11914632" cy="256032"/>
          </a:xfrm>
          <a:prstGeom prst="rect">
            <a:avLst/>
          </a:prstGeom>
          <a:solidFill>
            <a:srgbClr val="FFF8DD"/>
          </a:solidFill>
          <a:ln w="6350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" y="6336792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F8F00"/>
                </a:solidFill>
              </a:rPr>
              <a:t>💰  3-Year saving if in-house route taken:  $1,027,000  |  5-Year saving:  $2,335,000  |  Including $3M sunk cost — total SEI spend avoidance:  $3,362,000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