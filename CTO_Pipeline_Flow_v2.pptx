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11430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Pipeline: SFTP → Airflow → dbt → Warehouse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365760" y="621792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batch flow: files land at 2 AM, insights ready by 3:35 AM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Zone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Landing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548640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sales_transactions.csv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customer_data.json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product_inventory.parquet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arrive nightly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arrival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40080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 AM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31720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51176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61488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61488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61488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DAG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61488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852928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validate_sftp_files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load_raw_data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dbt_transform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dbt_test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+ alerting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944368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44368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 AM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36008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55464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65776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65776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65776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65776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157216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layer (views)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models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fct_daily_sales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DQ tests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248656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48656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3:15 AM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940296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59752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70064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70064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70064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70064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Data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461504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versioned data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tables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Partitioned by date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BI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tracked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552944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52944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3:30 AM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244584" y="2633472"/>
            <a:ext cx="384048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464040" y="2496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7D8E"/>
                </a:solidFill>
              </a:rPr>
              <a:t>▶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674352" y="1024128"/>
            <a:ext cx="1828800" cy="321868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674352" y="1024128"/>
            <a:ext cx="1828800" cy="43891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74352" y="10607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/ Dashboard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74352" y="129844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Insights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9765792" y="1536192"/>
            <a:ext cx="1664208" cy="2322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channel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sales trends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analytics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status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Auto-refreshed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857232" y="3877056"/>
            <a:ext cx="146304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857232" y="38770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3:35 AM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65760" y="4352544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Airflow Retries &amp; Alerting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679192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dbt Built-in Data Quality Tests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946904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 Full Git Version Control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214616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Auto Data Lineage Docs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482328" y="44622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Scalable Across Any Source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365760" y="489204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Airflow + dbt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 — Three-Layer Transformation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raw files become trusted, analytics-ready data: Staging → Intermediate → Marts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77824"/>
            <a:ext cx="3547872" cy="534924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77824"/>
            <a:ext cx="64008" cy="534924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9235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Staging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612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MATERIALIZED AS: VIEW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38912" y="1399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1-to-1 source mapping. Clean &amp; rename only. No business logic.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29768" y="1764792"/>
            <a:ext cx="3364992" cy="235915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81051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MODEL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84632" y="1984248"/>
            <a:ext cx="327355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2A7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stg_sales_transactions.sql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config(materialized='view') }}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transaction_id,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customer_id,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quantity,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unit_price,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total_amount,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CAST(transaction_ts AS TIMESTAMP)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 txn_ts,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channel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{{ source('raw',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'sales_transactions') 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transaction_ts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&gt;= CURRENT_DATE - 7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448056" y="4187952"/>
            <a:ext cx="334670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to canonical names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data types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bad rows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cross-source joins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lightweight VIEW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source table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93192" y="5879592"/>
            <a:ext cx="3429000" cy="31089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9768" y="5934456"/>
            <a:ext cx="3364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stg_sales_transactions  ·  stg_customers  ·  stg_products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206240" y="877824"/>
            <a:ext cx="3547872" cy="534924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877824"/>
            <a:ext cx="64008" cy="534924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062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25112" y="9235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Intermediate Layer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25112" y="11612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MATERIALIZED AS: TABLE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25112" y="1399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Cross-source joins &amp; business logic. Reusable building blocks.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315968" y="1764792"/>
            <a:ext cx="3364992" cy="235915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70832" y="181051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MODEL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370832" y="1984248"/>
            <a:ext cx="327355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2A7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int_sales_enriched.sql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config(materialized='table') }}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t.transaction_id,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t.txn_ts,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c.customer_segment,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c.region,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p.product_category,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p.brand,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t.quantity,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t.total_amount,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t.channel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{{ ref('stg_sales_transactions') }} 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{{ ref('stg_customers') }} c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t.customer_id = c.id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{{ ref('stg_products') }} p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t.product_id = p.id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4334256" y="4187952"/>
            <a:ext cx="334670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staging models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business rules &amp; segments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derived fields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TABLE for speed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by multiple marts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int_ by convention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279392" y="5879592"/>
            <a:ext cx="3429000" cy="31089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15968" y="5934456"/>
            <a:ext cx="3364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int_sales_enriched  ·  int_customer_lifetime  ·  int_inventory_status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092440" y="877824"/>
            <a:ext cx="3547872" cy="534924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877824"/>
            <a:ext cx="64008" cy="534924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877824"/>
            <a:ext cx="3547872" cy="47548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11312" y="9235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Marts Layer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11312" y="11612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MATERIALIZED AS: TABLE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11312" y="13990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Business-facing facts &amp; dims. BI-ready, tested, documented.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202168" y="1764792"/>
            <a:ext cx="3364992" cy="235915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57032" y="181051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MODEL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57032" y="1984248"/>
            <a:ext cx="3273552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2A7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fct_daily_sales.sql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config(materialized='table') }}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DATE(txn_ts)        AS sales_date,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channel,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product_category,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region,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COUNT(*)            AS txn_count,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SUM(total_amount)   AS revenue,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AVG(total_amount)   AS avg_order,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COUNT(DISTINCT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customer_id)      AS unique_cust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{{ ref('int_sales_enriched') }}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1,2,3,4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8220456" y="4187952"/>
            <a:ext cx="334670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to business grain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 prefix for fact tables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 prefix for dimensions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tests: not_null, unique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data docs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directly into BI tools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65592" y="5879592"/>
            <a:ext cx="3429000" cy="31089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02168" y="5934456"/>
            <a:ext cx="3364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fct_daily_sales  ·  dim_customers  ·  dim_products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3945636" y="3552444"/>
            <a:ext cx="301752" cy="0"/>
          </a:xfrm>
          <a:prstGeom prst="line">
            <a:avLst/>
          </a:prstGeom>
          <a:noFill/>
          <a:ln w="31750">
            <a:solidFill>
              <a:srgbClr val="2D7D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37076" y="33969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831836" y="3552444"/>
            <a:ext cx="301752" cy="0"/>
          </a:xfrm>
          <a:prstGeom prst="line">
            <a:avLst/>
          </a:prstGeom>
          <a:noFill/>
          <a:ln w="31750">
            <a:solidFill>
              <a:srgbClr val="2D7D8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23276" y="33969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0040" y="6318504"/>
            <a:ext cx="11521440" cy="338328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638251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LINEAGE: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344168" y="6382512"/>
            <a:ext cx="10149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raw.sales_transactions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l" indent="0" marL="0">
              <a:buNone/>
            </a:pPr>
            <a:r>
              <a:rPr lang="en-US" sz="85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stg_sales_transactions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algn="l" indent="0" marL="0">
              <a:buNone/>
            </a:pPr>
            <a:r>
              <a:rPr lang="en-US" sz="8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int_sales_enriched</a:t>
            </a:r>
            <a:pPr algn="l" indent="0" marL="0">
              <a:buNone/>
            </a:pPr>
            <a:r>
              <a:rPr lang="en-US" sz="850" dirty="0">
                <a:solidFill>
                  <a:srgbClr val="8AA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(joins: stg_customers + stg_products)  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fct_daily_sales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dim_customers</a:t>
            </a:r>
            <a:pPr algn="l" indent="0" marL="0">
              <a:buNone/>
            </a:pPr>
            <a:r>
              <a:rPr lang="en-US" sz="85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|   </a:t>
            </a:r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dim_products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20040" y="6693408"/>
            <a:ext cx="11521440" cy="292608"/>
          </a:xfrm>
          <a:prstGeom prst="rect">
            <a:avLst/>
          </a:prstGeom>
          <a:solidFill>
            <a:srgbClr val="EAF6EE"/>
          </a:solidFill>
          <a:ln w="12700">
            <a:solidFill>
              <a:srgbClr val="A0D0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6748272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dbt Tests (schema.yml):  </a:t>
            </a:r>
            <a:pPr algn="l" indent="0" marL="0">
              <a:buNone/>
            </a:pPr>
            <a:r>
              <a:rPr lang="en-US" sz="80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not_null(transaction_id)   unique(transaction_id)   accepted_values(channel)   relationships(customer_id)   positive_total_amount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65760" y="6611112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dbt-oracle Layer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37160"/>
            <a:ext cx="11430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Layers — What Actually Happens to Your Data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plain-English walkthrough of how raw CSV rows become the revenue numbers on your dashboard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11430000" cy="0"/>
          </a:xfrm>
          <a:prstGeom prst="line">
            <a:avLst/>
          </a:prstGeom>
          <a:noFill/>
          <a:ln w="19050">
            <a:solidFill>
              <a:srgbClr val="D6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86968"/>
            <a:ext cx="3547872" cy="565099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86968"/>
            <a:ext cx="64008" cy="5650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86968"/>
            <a:ext cx="3547872" cy="49377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" y="9326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Staging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117957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"The Translator"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8912" y="1453896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a spreadsheet arrives from three different teams — sales used 'txn_date', the app team called it 'created_at', the store used 'sale_timestamp'.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438912" y="1975104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Staging layer is your Rosetta Stone. It reads every raw file exactly as it arrives and renames, recasts, and lightly filters — nothing more.</a:t>
            </a:r>
            <a:endParaRPr lang="en-US" sz="780" dirty="0"/>
          </a:p>
        </p:txBody>
      </p:sp>
      <p:sp>
        <p:nvSpPr>
          <p:cNvPr id="12" name="Text 10"/>
          <p:cNvSpPr/>
          <p:nvPr/>
        </p:nvSpPr>
        <p:spPr>
          <a:xfrm>
            <a:off x="438912" y="24963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calculations. No joins. Just clean, predictable columns with consistent names that the rest of the pipeline can trust.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11480" y="3081528"/>
            <a:ext cx="3392424" cy="164592"/>
          </a:xfrm>
          <a:prstGeom prst="rect">
            <a:avLst/>
          </a:prstGeom>
          <a:solidFill>
            <a:srgbClr val="FFF8E6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3090672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 (as it lands in SFTP)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11480" y="3255264"/>
            <a:ext cx="3392424" cy="566928"/>
          </a:xfrm>
          <a:prstGeom prst="rect">
            <a:avLst/>
          </a:prstGeom>
          <a:solidFill>
            <a:srgbClr val="FFFDF0"/>
          </a:solidFill>
          <a:ln w="12700">
            <a:solidFill>
              <a:srgbClr val="D4D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891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txn_id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9910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cust_id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759306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241950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sale_timestamp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307969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43891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9910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88291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759306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149.99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241950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 02:14:33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07969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43891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T-00143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9910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759306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89.00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41950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 date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307969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11480" y="3858768"/>
            <a:ext cx="3392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transformed into  ↓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11480" y="4050792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4059936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STAGING (stg_sales_transactions)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411480" y="4224528"/>
            <a:ext cx="3392424" cy="384048"/>
          </a:xfrm>
          <a:prstGeom prst="rect">
            <a:avLst/>
          </a:prstGeom>
          <a:solidFill>
            <a:srgbClr val="EAF6F8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transaction_id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09910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1759306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unit_price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41950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txn_ts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307969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438912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1099109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88291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1759306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149.99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2419502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 02:14:33 UTC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3079699" y="442569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411480" y="463600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Renamed  ✓ Typed  ✓ Null row filtered  ✓ Bad date removed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11480" y="4837176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8056" y="4846320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38912" y="5020056"/>
            <a:ext cx="3364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per source table — no mixing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everything to a canonical standard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strings to proper types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only obviously invalid rows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a VIEW — no storage cost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referenced directly by BI tools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206240" y="886968"/>
            <a:ext cx="3547872" cy="565099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206240" y="886968"/>
            <a:ext cx="64008" cy="5650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06240" y="886968"/>
            <a:ext cx="3547872" cy="49377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5112" y="9326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Intermediate Layer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325112" y="117957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"The Enricher"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325112" y="1453896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we know what every column means. But a sales row alone doesn't tell you whether that customer is a Premier member in the Northeast, or what category the product belongs to.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4325112" y="1975104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Intermediate layer joins the cleaned staging models together and applies business rules — customer segmentation, product categorisation, margin calculations.</a:t>
            </a:r>
            <a:endParaRPr lang="en-US" sz="780" dirty="0"/>
          </a:p>
        </p:txBody>
      </p:sp>
      <p:sp>
        <p:nvSpPr>
          <p:cNvPr id="56" name="Text 54"/>
          <p:cNvSpPr/>
          <p:nvPr/>
        </p:nvSpPr>
        <p:spPr>
          <a:xfrm>
            <a:off x="4325112" y="24963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enriched rows become the single source of truth that multiple downstream reports all pull from, so business logic is never duplicated.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4297680" y="3081528"/>
            <a:ext cx="3392424" cy="164592"/>
          </a:xfrm>
          <a:prstGeom prst="rect">
            <a:avLst/>
          </a:prstGeom>
          <a:solidFill>
            <a:srgbClr val="FFF8E6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25112" y="3090672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Three staging models joined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297680" y="3255264"/>
            <a:ext cx="3392424" cy="384048"/>
          </a:xfrm>
          <a:prstGeom prst="rect">
            <a:avLst/>
          </a:prstGeom>
          <a:solidFill>
            <a:srgbClr val="FFFDF0"/>
          </a:solidFill>
          <a:ln w="12700">
            <a:solidFill>
              <a:srgbClr val="D4D09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32511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transaction_id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498530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5645506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product_id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630570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696589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432511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498530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88291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5645506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P-09</a:t>
            </a:r>
            <a:endParaRPr lang="en-US" sz="650" dirty="0"/>
          </a:p>
        </p:txBody>
      </p:sp>
      <p:sp>
        <p:nvSpPr>
          <p:cNvPr id="68" name="Text 66"/>
          <p:cNvSpPr/>
          <p:nvPr/>
        </p:nvSpPr>
        <p:spPr>
          <a:xfrm>
            <a:off x="630570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299.98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696589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4297680" y="3675888"/>
            <a:ext cx="3392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transformed into  ↓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297680" y="3867912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325112" y="3877056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INTERMEDIATE (int_sales_enriched)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297680" y="4041648"/>
            <a:ext cx="3392424" cy="384048"/>
          </a:xfrm>
          <a:prstGeom prst="rect">
            <a:avLst/>
          </a:prstGeom>
          <a:solidFill>
            <a:srgbClr val="EAF6F8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325112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transaction_id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4985309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customer_segment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5645506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650" dirty="0"/>
          </a:p>
        </p:txBody>
      </p:sp>
      <p:sp>
        <p:nvSpPr>
          <p:cNvPr id="77" name="Text 75"/>
          <p:cNvSpPr/>
          <p:nvPr/>
        </p:nvSpPr>
        <p:spPr>
          <a:xfrm>
            <a:off x="6305702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product_category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6965899" y="405993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432511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T-00142</a:t>
            </a:r>
            <a:endParaRPr lang="en-US" sz="650" dirty="0"/>
          </a:p>
        </p:txBody>
      </p:sp>
      <p:sp>
        <p:nvSpPr>
          <p:cNvPr id="80" name="Text 78"/>
          <p:cNvSpPr/>
          <p:nvPr/>
        </p:nvSpPr>
        <p:spPr>
          <a:xfrm>
            <a:off x="498530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Premier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5645506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6305702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6965899" y="4242816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299.98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4297680" y="445312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Joined 3 tables  ✓ Segment applied  ✓ Category resolved  ✓ Stored as TABLE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297680" y="4654296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334256" y="4663440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325112" y="4837176"/>
            <a:ext cx="3364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across multiple staging models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segmentation and classification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derived fields (e.g. margin %)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TABLE — faster for marts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with int_ prefix by convention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by fct_, dim_, and report models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092440" y="886968"/>
            <a:ext cx="3547872" cy="565099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092440" y="886968"/>
            <a:ext cx="64008" cy="5650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092440" y="886968"/>
            <a:ext cx="3547872" cy="493776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1312" y="93268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Marts Layer</a:t>
            </a:r>
            <a:endParaRPr lang="en-US" sz="1300" dirty="0"/>
          </a:p>
        </p:txBody>
      </p:sp>
      <p:sp>
        <p:nvSpPr>
          <p:cNvPr id="92" name="Text 90"/>
          <p:cNvSpPr/>
          <p:nvPr/>
        </p:nvSpPr>
        <p:spPr>
          <a:xfrm>
            <a:off x="8211312" y="1179576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"The Aggregator"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8211312" y="1453896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enriched rows are still one-row-per-transaction — millions of them. A CTO dashboard doesn't show individual sales; it shows 'total revenue by channel, today vs yesterday'.</a:t>
            </a:r>
            <a:endParaRPr lang="en-US" sz="780" dirty="0"/>
          </a:p>
        </p:txBody>
      </p:sp>
      <p:sp>
        <p:nvSpPr>
          <p:cNvPr id="94" name="Text 92"/>
          <p:cNvSpPr/>
          <p:nvPr/>
        </p:nvSpPr>
        <p:spPr>
          <a:xfrm>
            <a:off x="8211312" y="1975104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Marts layer aggregates the intermediate data to the exact business grain your BI tool needs — daily, by channel, by region, by product category.</a:t>
            </a:r>
            <a:endParaRPr lang="en-US" sz="780" dirty="0"/>
          </a:p>
        </p:txBody>
      </p:sp>
      <p:sp>
        <p:nvSpPr>
          <p:cNvPr id="95" name="Text 93"/>
          <p:cNvSpPr/>
          <p:nvPr/>
        </p:nvSpPr>
        <p:spPr>
          <a:xfrm>
            <a:off x="8211312" y="2496312"/>
            <a:ext cx="3364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mart model has dbt tests attached: if revenue ever goes negative, or a customer ID doesn't exist in the customer table, the pipeline fails before bad data reaches any dashboard.</a:t>
            </a:r>
            <a:endParaRPr lang="en-US" sz="780" dirty="0"/>
          </a:p>
        </p:txBody>
      </p:sp>
      <p:sp>
        <p:nvSpPr>
          <p:cNvPr id="96" name="Shape 94"/>
          <p:cNvSpPr/>
          <p:nvPr/>
        </p:nvSpPr>
        <p:spPr>
          <a:xfrm>
            <a:off x="8183880" y="3081528"/>
            <a:ext cx="3392424" cy="164592"/>
          </a:xfrm>
          <a:prstGeom prst="rect">
            <a:avLst/>
          </a:prstGeom>
          <a:solidFill>
            <a:srgbClr val="FFF8E6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211312" y="3090672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int_sales_enriched (row per transaction)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8183880" y="3255264"/>
            <a:ext cx="3392424" cy="749808"/>
          </a:xfrm>
          <a:prstGeom prst="rect">
            <a:avLst/>
          </a:prstGeom>
          <a:solidFill>
            <a:srgbClr val="FFFDF0"/>
          </a:solidFill>
          <a:ln w="12700">
            <a:solidFill>
              <a:srgbClr val="D4D09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821131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txn_ts</a:t>
            </a:r>
            <a:endParaRPr lang="en-US" sz="650" dirty="0"/>
          </a:p>
        </p:txBody>
      </p:sp>
      <p:sp>
        <p:nvSpPr>
          <p:cNvPr id="100" name="Text 98"/>
          <p:cNvSpPr/>
          <p:nvPr/>
        </p:nvSpPr>
        <p:spPr>
          <a:xfrm>
            <a:off x="887150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101" name="Text 99"/>
          <p:cNvSpPr/>
          <p:nvPr/>
        </p:nvSpPr>
        <p:spPr>
          <a:xfrm>
            <a:off x="9531706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650" dirty="0"/>
          </a:p>
        </p:txBody>
      </p:sp>
      <p:sp>
        <p:nvSpPr>
          <p:cNvPr id="102" name="Text 100"/>
          <p:cNvSpPr/>
          <p:nvPr/>
        </p:nvSpPr>
        <p:spPr>
          <a:xfrm>
            <a:off x="10191902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650" dirty="0"/>
          </a:p>
        </p:txBody>
      </p:sp>
      <p:sp>
        <p:nvSpPr>
          <p:cNvPr id="103" name="Text 101"/>
          <p:cNvSpPr/>
          <p:nvPr/>
        </p:nvSpPr>
        <p:spPr>
          <a:xfrm>
            <a:off x="10852099" y="327355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total_amount</a:t>
            </a:r>
            <a:endParaRPr lang="en-US" sz="650" dirty="0"/>
          </a:p>
        </p:txBody>
      </p:sp>
      <p:sp>
        <p:nvSpPr>
          <p:cNvPr id="104" name="Text 102"/>
          <p:cNvSpPr/>
          <p:nvPr/>
        </p:nvSpPr>
        <p:spPr>
          <a:xfrm>
            <a:off x="821131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887150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9531706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10191902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108" name="Text 106"/>
          <p:cNvSpPr/>
          <p:nvPr/>
        </p:nvSpPr>
        <p:spPr>
          <a:xfrm>
            <a:off x="10852099" y="345643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299.98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821131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887150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9531706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10191902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10852099" y="363931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149.99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8211312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8871509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9531706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Apparel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10191902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Southeast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10852099" y="3822192"/>
            <a:ext cx="66019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A5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59.99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8183880" y="4041648"/>
            <a:ext cx="3392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transformed into  ↓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8183880" y="4233672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8211312" y="4242816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MARTS (fct_daily_sales — aggregated)</a:t>
            </a:r>
            <a:endParaRPr lang="en-US" sz="700" dirty="0"/>
          </a:p>
        </p:txBody>
      </p:sp>
      <p:sp>
        <p:nvSpPr>
          <p:cNvPr id="122" name="Shape 120"/>
          <p:cNvSpPr/>
          <p:nvPr/>
        </p:nvSpPr>
        <p:spPr>
          <a:xfrm>
            <a:off x="8183880" y="4407408"/>
            <a:ext cx="3392424" cy="566928"/>
          </a:xfrm>
          <a:prstGeom prst="rect">
            <a:avLst/>
          </a:prstGeom>
          <a:solidFill>
            <a:srgbClr val="EAF6F8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211312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sales_date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761476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9311640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9861804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11968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txn_count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962132" y="442569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revenue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211312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30" name="Text 128"/>
          <p:cNvSpPr/>
          <p:nvPr/>
        </p:nvSpPr>
        <p:spPr>
          <a:xfrm>
            <a:off x="8761476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9311640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Electronics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9861804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Northeast</a:t>
            </a:r>
            <a:endParaRPr lang="en-US" sz="650" dirty="0"/>
          </a:p>
        </p:txBody>
      </p:sp>
      <p:sp>
        <p:nvSpPr>
          <p:cNvPr id="133" name="Text 131"/>
          <p:cNvSpPr/>
          <p:nvPr/>
        </p:nvSpPr>
        <p:spPr>
          <a:xfrm>
            <a:off x="10411968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650" dirty="0"/>
          </a:p>
        </p:txBody>
      </p:sp>
      <p:sp>
        <p:nvSpPr>
          <p:cNvPr id="134" name="Text 132"/>
          <p:cNvSpPr/>
          <p:nvPr/>
        </p:nvSpPr>
        <p:spPr>
          <a:xfrm>
            <a:off x="10962132" y="460857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449.97</a:t>
            </a:r>
            <a:endParaRPr lang="en-US" sz="650" dirty="0"/>
          </a:p>
        </p:txBody>
      </p:sp>
      <p:sp>
        <p:nvSpPr>
          <p:cNvPr id="135" name="Text 133"/>
          <p:cNvSpPr/>
          <p:nvPr/>
        </p:nvSpPr>
        <p:spPr>
          <a:xfrm>
            <a:off x="8211312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2026-04-15</a:t>
            </a:r>
            <a:endParaRPr lang="en-US" sz="650" dirty="0"/>
          </a:p>
        </p:txBody>
      </p:sp>
      <p:sp>
        <p:nvSpPr>
          <p:cNvPr id="136" name="Text 134"/>
          <p:cNvSpPr/>
          <p:nvPr/>
        </p:nvSpPr>
        <p:spPr>
          <a:xfrm>
            <a:off x="8761476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</a:t>
            </a:r>
            <a:endParaRPr lang="en-US" sz="650" dirty="0"/>
          </a:p>
        </p:txBody>
      </p:sp>
      <p:sp>
        <p:nvSpPr>
          <p:cNvPr id="137" name="Text 135"/>
          <p:cNvSpPr/>
          <p:nvPr/>
        </p:nvSpPr>
        <p:spPr>
          <a:xfrm>
            <a:off x="9311640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Apparel</a:t>
            </a:r>
            <a:endParaRPr lang="en-US" sz="650" dirty="0"/>
          </a:p>
        </p:txBody>
      </p:sp>
      <p:sp>
        <p:nvSpPr>
          <p:cNvPr id="138" name="Text 136"/>
          <p:cNvSpPr/>
          <p:nvPr/>
        </p:nvSpPr>
        <p:spPr>
          <a:xfrm>
            <a:off x="9861804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Southeast</a:t>
            </a:r>
            <a:endParaRPr lang="en-US" sz="650" dirty="0"/>
          </a:p>
        </p:txBody>
      </p:sp>
      <p:sp>
        <p:nvSpPr>
          <p:cNvPr id="139" name="Text 137"/>
          <p:cNvSpPr/>
          <p:nvPr/>
        </p:nvSpPr>
        <p:spPr>
          <a:xfrm>
            <a:off x="10411968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650" dirty="0"/>
          </a:p>
        </p:txBody>
      </p:sp>
      <p:sp>
        <p:nvSpPr>
          <p:cNvPr id="140" name="Text 138"/>
          <p:cNvSpPr/>
          <p:nvPr/>
        </p:nvSpPr>
        <p:spPr>
          <a:xfrm>
            <a:off x="10962132" y="4791456"/>
            <a:ext cx="5501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59.99</a:t>
            </a:r>
            <a:endParaRPr lang="en-US" sz="650" dirty="0"/>
          </a:p>
        </p:txBody>
      </p:sp>
      <p:sp>
        <p:nvSpPr>
          <p:cNvPr id="141" name="Text 139"/>
          <p:cNvSpPr/>
          <p:nvPr/>
        </p:nvSpPr>
        <p:spPr>
          <a:xfrm>
            <a:off x="8183880" y="5001768"/>
            <a:ext cx="3392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Aggregated  ✓ Business grain  ✓ dbt-tested  ✓ BI-ready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183880" y="5202936"/>
            <a:ext cx="3392424" cy="16459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220456" y="5212080"/>
            <a:ext cx="3346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RULES</a:t>
            </a:r>
            <a:endParaRPr lang="en-US" sz="700" dirty="0"/>
          </a:p>
        </p:txBody>
      </p:sp>
      <p:sp>
        <p:nvSpPr>
          <p:cNvPr id="144" name="Text 142"/>
          <p:cNvSpPr/>
          <p:nvPr/>
        </p:nvSpPr>
        <p:spPr>
          <a:xfrm>
            <a:off x="8211312" y="5385816"/>
            <a:ext cx="33649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to the grain BI tools need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 tables: measurable events over time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 tables: descriptive attributes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tests run before data is visible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Auto-documented with dbt docs generate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Tableau / Power BI queries</a:t>
            </a:r>
            <a:endParaRPr lang="en-US" sz="800" dirty="0"/>
          </a:p>
        </p:txBody>
      </p:sp>
      <p:sp>
        <p:nvSpPr>
          <p:cNvPr id="145" name="Shape 143"/>
          <p:cNvSpPr/>
          <p:nvPr/>
        </p:nvSpPr>
        <p:spPr>
          <a:xfrm>
            <a:off x="3945636" y="3712464"/>
            <a:ext cx="301752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037076" y="355701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7831836" y="3712464"/>
            <a:ext cx="301752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7923276" y="355701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7D8E"/>
                </a:solidFill>
              </a:rPr>
              <a:t>▶</a:t>
            </a:r>
            <a:endParaRPr lang="en-US" sz="1300" dirty="0"/>
          </a:p>
        </p:txBody>
      </p:sp>
      <p:sp>
        <p:nvSpPr>
          <p:cNvPr id="149" name="Text 147"/>
          <p:cNvSpPr/>
          <p:nvPr/>
        </p:nvSpPr>
        <p:spPr>
          <a:xfrm>
            <a:off x="365760" y="6638544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dbt-oracle Layer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78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Tower for Your Entire Data Operation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921240" y="182880"/>
            <a:ext cx="1874520" cy="694944"/>
          </a:xfrm>
          <a:prstGeom prst="rect">
            <a:avLst/>
          </a:prstGeom>
          <a:solidFill>
            <a:srgbClr val="FFFFFF">
              <a:alpha val="20000"/>
            </a:srgbClr>
          </a:solidFill>
          <a:ln w="19050">
            <a:solidFill>
              <a:srgbClr val="D6E8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939528" y="210312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Standard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Engine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1521440" cy="512064"/>
          </a:xfrm>
          <a:prstGeom prst="rect">
            <a:avLst/>
          </a:prstGeom>
          <a:solidFill>
            <a:srgbClr val="FEF4F4"/>
          </a:solidFill>
          <a:ln w="19050">
            <a:solidFill>
              <a:srgbClr val="C030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216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The Problem Without Apache Airflow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13990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cron jobs firing blindly, no dependency management, no retry logic, no visibility. One failure cascades silently — your CTO sees stale numbers on Monday morning with no idea why.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1828800"/>
            <a:ext cx="3566160" cy="42519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828800"/>
            <a:ext cx="64008" cy="425196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828800"/>
            <a:ext cx="3566160" cy="45720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 What It 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8056" y="2377440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0664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Workflow Orchestrator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defines, schedules, and monitors data pipelines as code — not as brittle cron scripts or drag-and-drop GUIs that no one can version-control.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48056" y="3675888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0664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DAGs: Directed Acyclic Graphs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pipeline is a DAG — a visual graph of tasks with explicit dependencies. Task B only runs after Task A succeeds. No guesswork, no race conditions.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48056" y="4974336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0664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Code-First, Git-Native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are Python files committed to Git. Every change is reviewed, versioned, and auditable — the same engineering discipline applied to your application code.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224528" y="1828800"/>
            <a:ext cx="3566160" cy="4251960"/>
          </a:xfrm>
          <a:prstGeom prst="rect">
            <a:avLst/>
          </a:prstGeom>
          <a:solidFill>
            <a:srgbClr val="FAF5FF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24528" y="1828800"/>
            <a:ext cx="64008" cy="425196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24528" y="1828800"/>
            <a:ext cx="3566160" cy="457200"/>
          </a:xfrm>
          <a:prstGeom prst="rect">
            <a:avLst/>
          </a:prstGeom>
          <a:solidFill>
            <a:srgbClr val="E8D8F8"/>
          </a:solidFill>
          <a:ln w="12700">
            <a:solidFill>
              <a:srgbClr val="E8D8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43400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 Why We Need 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52544" y="2377440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45152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Enforcement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SFTP file hasn't landed, dbt never runs. If dbt tests fail, the warehouse never gets updated. The pipeline is self-protecting by design.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52544" y="3675888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52544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45152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Retry &amp; Alerting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361688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blip at 3 AM? Airflow retries with exponential backoff and pages the on-call engineer — not the CTO. Failures are caught before business hours.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352544" y="4974336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52544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45152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61688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execution is logged with duration, status, and lineage. Audit trails are built-in. When a regulator asks 'when did this data arrive?' — you have the answer in two clicks.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129016" y="1828800"/>
            <a:ext cx="3566160" cy="4251960"/>
          </a:xfrm>
          <a:prstGeom prst="rect">
            <a:avLst/>
          </a:prstGeom>
          <a:solidFill>
            <a:srgbClr val="F0FAF5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29016" y="1828800"/>
            <a:ext cx="64008" cy="425196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9016" y="1828800"/>
            <a:ext cx="3566160" cy="457200"/>
          </a:xfrm>
          <a:prstGeom prst="rect">
            <a:avLst/>
          </a:prstGeom>
          <a:solidFill>
            <a:srgbClr val="C8EDD8"/>
          </a:solidFill>
          <a:ln w="12700">
            <a:solidFill>
              <a:srgbClr val="C8ED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47888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 In Our Architecture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257032" y="2377440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57032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549640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OpenShift / Kubernetes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66176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runs in an isolated container via KubernetesPodOperator — no shared state, no resource contention. The platform scales horizontally with zero manual intervention.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257032" y="3675888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57032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549640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the Full SWP Pipeline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66176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is the single entry point: SFTP file detection → raw load → dbt transformations → data quality gates → warehouse publish. One DAG, full control.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257032" y="4974336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57032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49640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~1,000 Point-to-Point Jobs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66176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estate has ~1,000 RMJ jobs with no central oversight. Airflow collapses these into fewer than 100 orchestrated pipelines — reducing operational risk by 90%.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0040" y="6190488"/>
            <a:ext cx="11521440" cy="420624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" y="6236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Executive Takeaway: 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2670048" y="6236208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is not a tool — it is the operating system of your data platform. Without it, every pipeline is a liability. With it, every pipeline is an auditable, self-healing, observable asset.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Apache Airflow on OpenShift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789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Core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Discipline Your SQL Has Always Deserved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921240" y="182880"/>
            <a:ext cx="1874520" cy="694944"/>
          </a:xfrm>
          <a:prstGeom prst="rect">
            <a:avLst/>
          </a:prstGeom>
          <a:solidFill>
            <a:srgbClr val="FFFFFF">
              <a:alpha val="20000"/>
            </a:srgbClr>
          </a:solidFill>
          <a:ln w="19050">
            <a:solidFill>
              <a:srgbClr val="D6E8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939528" y="210312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50,000+ Companies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dbt in Prod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1521440" cy="512064"/>
          </a:xfrm>
          <a:prstGeom prst="rect">
            <a:avLst/>
          </a:prstGeom>
          <a:solidFill>
            <a:srgbClr val="FEF4F4"/>
          </a:solidFill>
          <a:ln w="19050">
            <a:solidFill>
              <a:srgbClr val="C030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2161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The Problem Without dbt Core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13990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buried in stored procedures no one owns, transformations copy-pasted across 50 reports, zero test coverage, zero documentation. A single field rename breaks three dashboards and no one knows until the CFO calls.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" y="1828800"/>
            <a:ext cx="3566160" cy="425196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" y="1828800"/>
            <a:ext cx="64008" cy="425196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1828800"/>
            <a:ext cx="3566160" cy="45720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 What It 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8056" y="2377440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0664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Transformation Framework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turns raw SQL SELECT statements into a fully managed, tested, and documented data transformation pipeline. Engineers write SQL; dbt handles everything else.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48056" y="3675888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0664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Architecture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(clean raw data) → Intermediate (join + enrich) → Marts (business-grain aggregates). Every layer has a defined purpose — no spaghetti SQL, no mystery models.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48056" y="4974336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0664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ref() and source() — Built-In Lineage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hardcoding table names, models reference each other with {{ ref('model') }}. dbt builds a full dependency graph automatically — and so does your documentation.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224528" y="1828800"/>
            <a:ext cx="3566160" cy="4251960"/>
          </a:xfrm>
          <a:prstGeom prst="rect">
            <a:avLst/>
          </a:prstGeom>
          <a:solidFill>
            <a:srgbClr val="FAF5FF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24528" y="1828800"/>
            <a:ext cx="64008" cy="425196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24528" y="1828800"/>
            <a:ext cx="3566160" cy="457200"/>
          </a:xfrm>
          <a:prstGeom prst="rect">
            <a:avLst/>
          </a:prstGeom>
          <a:solidFill>
            <a:srgbClr val="E8D8F8"/>
          </a:solidFill>
          <a:ln w="12700">
            <a:solidFill>
              <a:srgbClr val="E8D8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43400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 Why We Need 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52544" y="2377440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645152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Version-Controlled Business Logic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transformation lives in Git. Every change goes through code review. Business logic is no longer tribal knowledge sitting in someone's head or a stored procedure from 2014.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352544" y="3675888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52544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45152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Data Quality Tests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361688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tests run on every pipeline execution: not_null, unique, referential integrity, accepted values. Bad data is caught before it reaches a dashboard — not after an executive flags it.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352544" y="4974336"/>
            <a:ext cx="237744" cy="237744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52544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45152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Documentation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61688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docs generate produces a full data catalogue — every model, every column, every dependency, every owner — with lineage graphs a CTO can actually read. No Confluence page required.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129016" y="1828800"/>
            <a:ext cx="3566160" cy="4251960"/>
          </a:xfrm>
          <a:prstGeom prst="rect">
            <a:avLst/>
          </a:prstGeom>
          <a:solidFill>
            <a:srgbClr val="F0FAF5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29016" y="1828800"/>
            <a:ext cx="64008" cy="4251960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9016" y="1828800"/>
            <a:ext cx="3566160" cy="457200"/>
          </a:xfrm>
          <a:prstGeom prst="rect">
            <a:avLst/>
          </a:prstGeom>
          <a:solidFill>
            <a:srgbClr val="C8EDD8"/>
          </a:solidFill>
          <a:ln w="12700">
            <a:solidFill>
              <a:srgbClr val="C8EDD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47888" y="1892808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  In Our Architecture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257032" y="2377440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257032" y="2377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549640" y="237744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dbt-oracle on OpenShift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66176" y="2633472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run dbt-oracle 1.8.x targeting the SEI SWP Oracle schema directly — no intermediate data lake required for Day 1. Transformations execute inside the database, maximising performance.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257032" y="3675888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57032" y="3675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549640" y="367588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Triggered by Airflow, Not Humans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66176" y="3931920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analyst manually runs dbt. Airflow's KubernetesPodOperator spins up a dbt container, executes models, runs tests, and reports pass/fail — fully automated, fully auditable.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257032" y="4974336"/>
            <a:ext cx="237744" cy="237744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57032" y="49743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549640" y="4974336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~1,000 RMJ Point-to-Point Jobs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66176" y="5230368"/>
            <a:ext cx="33467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Advent Advantage estate has hundreds of bespoke scripts. dbt collapses these into fewer than 100 models with shared logic, shared tests, and a single source of truth for every downstream consumer.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20040" y="6190488"/>
            <a:ext cx="11521440" cy="420624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" y="6236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Executive Takeaway: 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2670048" y="6236208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is not a reporting tool — it is the engineering layer that makes your data trustworthy at scale. It is the difference between a data team that ships and one that firefights.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dbt-oracle on OpenShift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008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Connection &amp; Session Management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475488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dbt on Oracle — Architecture, Flow &amp; Top Design Considerations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058400" y="137160"/>
            <a:ext cx="1737360" cy="621792"/>
          </a:xfrm>
          <a:prstGeom prst="rect">
            <a:avLst/>
          </a:prstGeom>
          <a:solidFill>
            <a:srgbClr val="FFFFFF">
              <a:alpha val="20000"/>
            </a:srgbClr>
          </a:solidFill>
          <a:ln w="19050">
            <a:solidFill>
              <a:srgbClr val="D6E8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76688" y="164592"/>
            <a:ext cx="1700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dbt-oracle 1.8.x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20040" y="1005840"/>
            <a:ext cx="5029200" cy="5486400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005840"/>
            <a:ext cx="5029200" cy="384048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1060704"/>
            <a:ext cx="486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Connections Flow: Airflow → dbt → Oracle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1463040"/>
            <a:ext cx="4828032" cy="877824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" y="1536192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" y="15361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" y="153619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Schedules the DAG Task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6344" y="178308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KubernetesPodOperator spins up a fresh dbt container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persistent DB connection held by the scheduler itself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Connection credentials injected via Airflow Connections → K8s Secret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2834640" y="2368296"/>
            <a:ext cx="0" cy="9144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2368296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7D8E"/>
                </a:solidFill>
              </a:rPr>
              <a:t>▼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9768" y="2450592"/>
            <a:ext cx="4828032" cy="1325880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" y="2523744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5237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58952" y="2523744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Reads profiles.yml — Connection Profile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6344" y="2770632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profiles.yml defines the Oracle target (host, port, service, schema)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Credentials sourced from env vars — never hardcoded in Git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cx_Oracle / python-oracledb driver initialises the connection pool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466344" y="3054096"/>
            <a:ext cx="4773168" cy="43891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081528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dbt_swp: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target: prod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outputs: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prod: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type: oracle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host: "{{ env_var('ORA_HOST') }}"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port: 1521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service: SWP_PROD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user: "{{ env_var('ORA_USER') }}"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password: "{{ env_var('ORA_PASS') }}"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schema: SWP_STAGING</a:t>
            </a:r>
            <a:endParaRPr lang="en-US" sz="680" dirty="0"/>
          </a:p>
          <a:p>
            <a:pPr indent="0" marL="0">
              <a:buNone/>
            </a:pPr>
            <a:r>
              <a:rPr lang="en-US" sz="680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threads: 4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2834640" y="3803904"/>
            <a:ext cx="0" cy="9144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97480" y="3803904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7D8E"/>
                </a:solidFill>
              </a:rPr>
              <a:t>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" y="3886200"/>
            <a:ext cx="4828032" cy="877824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" y="3959352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" y="39593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8952" y="395935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Opens a Session Per Thread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66344" y="420624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threads: 4 → 4 parallel Oracle sessions per dbt run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Each model execution = one session → one transaction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Session is committed and closed after each model completes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34640" y="4791456"/>
            <a:ext cx="0" cy="9144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97480" y="4791456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7D8E"/>
                </a:solidFill>
              </a:rPr>
              <a:t>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29768" y="4873752"/>
            <a:ext cx="4828032" cy="877824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" y="4946904"/>
            <a:ext cx="237744" cy="237744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" y="49469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58952" y="4946904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Lifecycle Per Model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66344" y="5193792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 → SET ROLE / ALTER SESSION → DDL/DML → COMMIT → DISCONNECT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Views: no data written, session is read-only, closes immediately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Tables: full write transaction, explicit COMMIT on success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5577840" y="1005840"/>
            <a:ext cx="6263640" cy="548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77840" y="1005840"/>
            <a:ext cx="6263640" cy="384048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87568" y="1060704"/>
            <a:ext cx="6099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Design Considerations for Optimal Performance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87568" y="1481328"/>
            <a:ext cx="2903220" cy="1536192"/>
          </a:xfrm>
          <a:prstGeom prst="rect">
            <a:avLst/>
          </a:prstGeom>
          <a:solidFill>
            <a:srgbClr val="FEF4F4"/>
          </a:solidFill>
          <a:ln w="15240">
            <a:solidFill>
              <a:srgbClr val="E8B0B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87568" y="1481328"/>
            <a:ext cx="45720" cy="1536192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03236" y="1527048"/>
            <a:ext cx="950976" cy="173736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03236" y="1527048"/>
            <a:ext cx="9509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779008" y="1536192"/>
            <a:ext cx="18059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Thread Count vs. Oracle Connection Limits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779008" y="1773936"/>
            <a:ext cx="27660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in profiles.yml directly controls how many concurrent Oracle sessions dbt opens. Too high → ORA-00020 (max processes exceeded). Too low → pipeline is unnecessarily serialised.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5760720" y="2359152"/>
            <a:ext cx="278434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B0B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97296" y="2377440"/>
            <a:ext cx="27203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Recommendation: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797296" y="2542032"/>
            <a:ext cx="27203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threads: 4. Profile your Oracle max_processes (ALTER SYSTEM SHOW PARAMETER processes). Never exceed 50% of the available headroom. Use connection pooling (oracle.pool_size) for high-volume runs.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8755380" y="1481328"/>
            <a:ext cx="2903220" cy="1536192"/>
          </a:xfrm>
          <a:prstGeom prst="rect">
            <a:avLst/>
          </a:prstGeom>
          <a:solidFill>
            <a:srgbClr val="FEF4F4"/>
          </a:solidFill>
          <a:ln w="15240">
            <a:solidFill>
              <a:srgbClr val="E8B0B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755380" y="1481328"/>
            <a:ext cx="45720" cy="1536192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671048" y="1527048"/>
            <a:ext cx="950976" cy="173736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71048" y="1527048"/>
            <a:ext cx="9509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846820" y="1536192"/>
            <a:ext cx="18059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Credential Management — Never in Git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8846820" y="1773936"/>
            <a:ext cx="27660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profiles.yml with hardcoded passwords in a Git repo is a critical security exposure. Airflow's Connection store + K8s Secrets is the correct pattern.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8828532" y="2359152"/>
            <a:ext cx="278434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B0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65108" y="2377440"/>
            <a:ext cx="27203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Recommendation: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865108" y="2542032"/>
            <a:ext cx="27203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ORA_USER / ORA_PASS / ORA_HOST as Kubernetes Secrets. Mount into the dbt pod as env vars. Airflow Variable/Connection UI is acceptable for non-prod. Rotate credentials on a schedule via Vault.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5687568" y="3108960"/>
            <a:ext cx="2903220" cy="1536192"/>
          </a:xfrm>
          <a:prstGeom prst="rect">
            <a:avLst/>
          </a:prstGeom>
          <a:solidFill>
            <a:srgbClr val="FDF8EE"/>
          </a:solidFill>
          <a:ln w="15240">
            <a:solidFill>
              <a:srgbClr val="E8D0A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87568" y="3108960"/>
            <a:ext cx="45720" cy="1536192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603236" y="3154680"/>
            <a:ext cx="950976" cy="173736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03236" y="3154680"/>
            <a:ext cx="9509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779008" y="3163824"/>
            <a:ext cx="18059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Session Timeout &amp; Long-Running Models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779008" y="3401568"/>
            <a:ext cx="27660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SQLNET.EXPIRE_TIME and IDLE_TIME profile parameters will kill idle sessions. A large dbt model (e.g. full portfolio restatement) that pauses between statements can be silently disconnected mid-run.</a:t>
            </a:r>
            <a:endParaRPr lang="en-US" sz="720" dirty="0"/>
          </a:p>
        </p:txBody>
      </p:sp>
      <p:sp>
        <p:nvSpPr>
          <p:cNvPr id="65" name="Shape 63"/>
          <p:cNvSpPr/>
          <p:nvPr/>
        </p:nvSpPr>
        <p:spPr>
          <a:xfrm>
            <a:off x="5760720" y="3986784"/>
            <a:ext cx="278434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0A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97296" y="4005072"/>
            <a:ext cx="27203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Recommendation: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797296" y="4169664"/>
            <a:ext cx="27203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sqlnet.ora SQLNET.EXPIRE_TIME=10 (keepalive). Override the Oracle user profile: ALTER PROFILE dbt_user LIMIT IDLE_TIME UNLIMITED. Add dbt's query_timeout in profiles.yml as a safeguard.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8755380" y="3108960"/>
            <a:ext cx="2903220" cy="1536192"/>
          </a:xfrm>
          <a:prstGeom prst="rect">
            <a:avLst/>
          </a:prstGeom>
          <a:solidFill>
            <a:srgbClr val="FDF8EE"/>
          </a:solidFill>
          <a:ln w="15240">
            <a:solidFill>
              <a:srgbClr val="E8D0A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755380" y="3108960"/>
            <a:ext cx="45720" cy="1536192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671048" y="3154680"/>
            <a:ext cx="950976" cy="173736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671048" y="3154680"/>
            <a:ext cx="9509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8846820" y="3163824"/>
            <a:ext cx="18059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Transaction Isolation &amp; COMMIT Strategy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8846820" y="3401568"/>
            <a:ext cx="27660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runs each model in its own transaction. For incremental models, a failed mid-run leaves a partially updated table visible to downstream queries — Oracle's READ COMMITTED default won't protect you.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8828532" y="3986784"/>
            <a:ext cx="278434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0A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65108" y="4005072"/>
            <a:ext cx="27203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Recommendation: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8865108" y="4169664"/>
            <a:ext cx="27203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dbt's on_schema_change: fail for incremental models in prod. Wrap critical multi-model sequences in a single Airflow task with explicit pre/post hooks. Use Oracle synonyms to atomically swap staging → prod.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5687568" y="4736592"/>
            <a:ext cx="2903220" cy="1536192"/>
          </a:xfrm>
          <a:prstGeom prst="rect">
            <a:avLst/>
          </a:prstGeom>
          <a:solidFill>
            <a:srgbClr val="EAF3F6"/>
          </a:solidFill>
          <a:ln w="15240">
            <a:solidFill>
              <a:srgbClr val="B0D4D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687568" y="4736592"/>
            <a:ext cx="45720" cy="15361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603236" y="4782312"/>
            <a:ext cx="950976" cy="173736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603236" y="4782312"/>
            <a:ext cx="9509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779008" y="4791456"/>
            <a:ext cx="18059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Connection Pooling &amp; cx_Oracle Configuration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5779008" y="5029200"/>
            <a:ext cx="27660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dbt-oracle uses python-oracledb (thin mode by default in 1.8.x). Each thread opens its own connection — there is no built-in pool across threads. Without configuration, cold-connection overhead adds latency to every model.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5760720" y="5614416"/>
            <a:ext cx="278434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797296" y="5632704"/>
            <a:ext cx="27203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Recommendation: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5797296" y="5797296"/>
            <a:ext cx="27203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thick mode (Oracle Instant Client) for production: oracledb.init_oracle_client(). Set pool_min/pool_max in the adapter config. Thick mode is required for Kerberos, wallets, and advanced Oracle features.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8755380" y="4736592"/>
            <a:ext cx="2903220" cy="1536192"/>
          </a:xfrm>
          <a:prstGeom prst="rect">
            <a:avLst/>
          </a:prstGeom>
          <a:solidFill>
            <a:srgbClr val="EAF3F6"/>
          </a:solidFill>
          <a:ln w="15240">
            <a:solidFill>
              <a:srgbClr val="B0D4D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755380" y="4736592"/>
            <a:ext cx="45720" cy="15361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0671048" y="4782312"/>
            <a:ext cx="950976" cy="173736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0671048" y="4782312"/>
            <a:ext cx="9509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8846820" y="4791456"/>
            <a:ext cx="18059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 Separate Service Accounts Per Environment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8846820" y="5029200"/>
            <a:ext cx="27660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Oracle user across dev/test/prod is an audit and accidental-write risk. dbt models that run in dev must never touch prod schemas — and your CISO will want proof.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8828532" y="5614416"/>
            <a:ext cx="278434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8865108" y="5632704"/>
            <a:ext cx="27203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Recommendation: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8865108" y="5797296"/>
            <a:ext cx="27203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dedicated Oracle service accounts: SWP_DBT_DEV / SWP_DBT_TEST / SWP_DBT_PROD. Grant minimum privileges (CREATE TABLE, CREATE VIEW on own schema only). Use dbt targets (dev/prod) to enforce separation in profiles.yml.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365760" y="665683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Airflow + dbt-oracle Connection Architecture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6868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008"/>
            <a:ext cx="9144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Bottlenecks, Constraints &amp; Optimal Design Strategy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dbt + Oracle DRCP on OpenShift — all critical factors unified into one view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966960" y="109728"/>
            <a:ext cx="640080" cy="164592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43616" y="10972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9966960" y="329184"/>
            <a:ext cx="640080" cy="164592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43616" y="3291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9966960" y="548640"/>
            <a:ext cx="640080" cy="1645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3616" y="54864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56032" y="914400"/>
            <a:ext cx="1165860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" y="950976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03504" y="950976"/>
            <a:ext cx="1801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Area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23744" y="950976"/>
            <a:ext cx="2898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541264" y="950976"/>
            <a:ext cx="2258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918704" y="950976"/>
            <a:ext cx="3904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Design Strategy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6032" y="1207008"/>
            <a:ext cx="11658600" cy="850392"/>
          </a:xfrm>
          <a:prstGeom prst="rect">
            <a:avLst/>
          </a:prstGeom>
          <a:solidFill>
            <a:srgbClr val="FEF6F6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1207008"/>
            <a:ext cx="45720" cy="850392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1752" y="1261872"/>
            <a:ext cx="475488" cy="182880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1752" y="126187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566928" y="1261872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Process Ceiling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468880" y="1261872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× concurrent dbt pods exhausts Oracle max_processes → ORA-00020 kills the pipeline. Airflow retries compound the problem by spawning more sessions on top of stuck ones.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486400" y="1261872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session budget enforcement at orchestration layer. Airflow schedules dbt tasks with no awareness of how many Oracle sessions are already active.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863840" y="1261872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Reserve 20% of max_processes for dbt exclusively.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Set Airflow pool slots = max allowed concurrent dbt tasks.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Add v$session pre-flight check as DAG sensor before every dbt task fires.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Enable DRCP: pool absorbs burst, prevents process spawn storm.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450592" y="1280160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68112" y="1280160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45552" y="1280160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6032" y="2103120"/>
            <a:ext cx="11658600" cy="850392"/>
          </a:xfrm>
          <a:prstGeom prst="rect">
            <a:avLst/>
          </a:prstGeom>
          <a:solidFill>
            <a:srgbClr val="FEF6F6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6032" y="2103120"/>
            <a:ext cx="45720" cy="850392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1752" y="2157984"/>
            <a:ext cx="475488" cy="182880"/>
          </a:xfrm>
          <a:prstGeom prst="rect">
            <a:avLst/>
          </a:prstGeom>
          <a:solidFill>
            <a:srgbClr val="C03030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1752" y="215798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66928" y="2157984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&amp;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Exposure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468880" y="2157984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Oracle credentials in profiles.yml committed to Git = immediate critical security breach. Credential rotation requires redeployment. Audit trail is non-existent.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5486400" y="2157984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profiles.yml is a static file — teams paste credentials in for convenience. No native secret injection in dbt; relies entirely on the surrounding platform.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863840" y="2157984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Credentials only via env vars: {{ env_var('ORA_PASS') }}.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Store in K8s Secrets mounted into dbt pod by Airflow KubernetesPodOperator.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Rotate via HashiCorp Vault on a 90-day schedule.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Separate Oracle service accounts per env: SWP_DBT_DEV / TEST / PROD.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450592" y="2176272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68112" y="2176272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45552" y="2176272"/>
            <a:ext cx="0" cy="704088"/>
          </a:xfrm>
          <a:prstGeom prst="line">
            <a:avLst/>
          </a:prstGeom>
          <a:noFill/>
          <a:ln w="9525">
            <a:solidFill>
              <a:srgbClr val="E0B0B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6032" y="2999232"/>
            <a:ext cx="11658600" cy="850392"/>
          </a:xfrm>
          <a:prstGeom prst="rect">
            <a:avLst/>
          </a:prstGeom>
          <a:solidFill>
            <a:srgbClr val="FDF9EE"/>
          </a:solidFill>
          <a:ln w="12700">
            <a:solidFill>
              <a:srgbClr val="E8D09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6032" y="2999232"/>
            <a:ext cx="45720" cy="850392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" y="3054096"/>
            <a:ext cx="475488" cy="182880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1752" y="305409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566928" y="3054096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Window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Data Visibility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2468880" y="3054096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table materialisation does DROP → RENAME with a visibility gap. Concurrent readers hit ORA-00942 during swap. Incremental model failures leave partial data visible — no rollback.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486400" y="3054096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dbt's default table strategy is not atomic in Oracle. No client-side transaction wrapping across the DROP/RENAME boundary. Incremental models have no two-phase commit.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863840" y="3054096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Synonym swap pattern: dbt writes to FCT_DAILY_SALES_NEW, post-hook atomically swaps synonym.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on_schema_change: fail on all incremental models in prod.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ExternalTaskSensor between DAGs sharing target schemas — enforce single-writer discipline.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Pre/post audit hooks log every model run to SWP_PIPELINE_AUDIT table.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450592" y="3072384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468112" y="3072384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845552" y="3072384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56032" y="3895344"/>
            <a:ext cx="11658600" cy="850392"/>
          </a:xfrm>
          <a:prstGeom prst="rect">
            <a:avLst/>
          </a:prstGeom>
          <a:solidFill>
            <a:srgbClr val="FDF9EE"/>
          </a:solidFill>
          <a:ln w="12700">
            <a:solidFill>
              <a:srgbClr val="E8D09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6032" y="3895344"/>
            <a:ext cx="45720" cy="850392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1752" y="3950208"/>
            <a:ext cx="475488" cy="182880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1752" y="39502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566928" y="3950208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Timeout &amp;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Idle Kill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468880" y="3950208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IDLE_TIME profile + OpenShift NetworkPolicy TCP idle timeout silently kills dbt sessions mid-run. dbt has no reconnect logic — the thread hangs or errors with a cryptic broken pipe.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5486400" y="3950208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dbt-oracle assumes sessions stay alive for the run duration. OpenShift firewall and Oracle profile parameters are tuned for interactive users, not long-running batch threads.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863840" y="3950208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Set SQLNET.EXPIRE_TIME=1 in sqlnet.ora (1-min TCP keepalive probe).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ALTER PROFILE swp_dbt_profile LIMIT IDLE_TIME UNLIMITED.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Configure OpenShift NetworkPolicy TCP idle timeout ≥ 30 min for dbt→Oracle traffic.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Tune SDU=65535 in tnsnames.ora to reduce round-trips on large result sets.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2450592" y="3968496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468112" y="3968496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845552" y="3968496"/>
            <a:ext cx="0" cy="704088"/>
          </a:xfrm>
          <a:prstGeom prst="line">
            <a:avLst/>
          </a:prstGeom>
          <a:noFill/>
          <a:ln w="9525">
            <a:solidFill>
              <a:srgbClr val="D8C08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032" y="4791456"/>
            <a:ext cx="11658600" cy="85039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56032" y="4791456"/>
            <a:ext cx="45720" cy="8503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1752" y="4846320"/>
            <a:ext cx="475488" cy="18288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01752" y="48463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566928" y="4846320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 Memory &amp;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Parallelism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2468880" y="4846320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set too high for graph width wastes Oracle PGA (idle sessions holding memory). Mart aggregations on millions of rows pressure pga_aggregate_limit → ORA-04036 session kill.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5486400" y="4846320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is set as a fixed config, not derived from graph topology. Wide staging layer and deep mart layer have different optimal parallelism. PGA budget not segmented by pipeline stage.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7863840" y="4846320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Profile graph width: dbt ls --output json to find max parallel band.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Set threads to staging width; run marts as a sequential Airflow task after staging completes (PGA freed).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Monitor pga_alloc_mem per session in Splunk.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Add dbt query_timeout in profiles.yml as a hard circuit breaker on runaway models.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450592" y="4864608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68112" y="4864608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5552" y="4864608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56032" y="5687568"/>
            <a:ext cx="11658600" cy="850392"/>
          </a:xfrm>
          <a:prstGeom prst="rect">
            <a:avLst/>
          </a:prstGeom>
          <a:solidFill>
            <a:srgbClr val="EAF3F6"/>
          </a:solidFill>
          <a:ln w="12700">
            <a:solidFill>
              <a:srgbClr val="B0D4D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56032" y="5687568"/>
            <a:ext cx="45720" cy="8503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01752" y="5742432"/>
            <a:ext cx="475488" cy="18288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01752" y="574243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566928" y="5742432"/>
            <a:ext cx="18288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DRCP Pool Sizing</a:t>
            </a:r>
            <a:endParaRPr lang="en-US" sz="850" dirty="0"/>
          </a:p>
          <a:p>
            <a:pPr algn="l" indent="0" marL="0">
              <a:buNone/>
            </a:pPr>
            <a:r>
              <a:rPr lang="en-US" sz="850" b="1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Thin/Thick Mode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2468880" y="5742432"/>
            <a:ext cx="294436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python-oracledb thin mode (dbt-oracle 1.8.x default) has no built-in pool. Cold TCP handshakes on every Airflow DAG run. Thick mode required for Kerberos, wallets, and advanced Oracle features — not configured by default.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5486400" y="5742432"/>
            <a:ext cx="23042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dbt-oracle defaults to thin mode for zero-dependency deployment. DRCP requires explicit connection string configuration and DBA-side pool startup. Most teams skip this until they hit connection ceiling issues.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7863840" y="5742432"/>
            <a:ext cx="39319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Enable Oracle DRCP: DBMS_CONNECTION_POOL.START_POOL(minsize=4, maxsize=40).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Add (SERVER=POOLED) to tnsnames.ora service descriptor.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Enable thick mode: oracledb.init_oracle_client() in dbt-oracle adapter config for Kerberos + wallet support.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Set max_think_time=120s on DRCP to auto-release hung borrows.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2450592" y="5760720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468112" y="5760720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845552" y="5760720"/>
            <a:ext cx="0" cy="704088"/>
          </a:xfrm>
          <a:prstGeom prst="line">
            <a:avLst/>
          </a:prstGeom>
          <a:noFill/>
          <a:ln w="9525">
            <a:solidFill>
              <a:srgbClr val="B0D4D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56032" y="6601968"/>
            <a:ext cx="11658600" cy="402336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4048" y="66568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Three Layers of Defence: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2542032" y="66659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CAPACITY GUARDRAILS — DRCP pool + Airflow slot limits + v$session pre-flight sensor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2487168" y="6675120"/>
            <a:ext cx="0" cy="256032"/>
          </a:xfrm>
          <a:prstGeom prst="line">
            <a:avLst/>
          </a:prstGeom>
          <a:noFill/>
          <a:ln w="9525">
            <a:solidFill>
              <a:srgbClr val="D6E8ED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632704" y="66659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ISOLATION — Separate service accounts + Airflow pools per domain + ExternalTaskSensor single-writer guard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5577840" y="6675120"/>
            <a:ext cx="0" cy="256032"/>
          </a:xfrm>
          <a:prstGeom prst="line">
            <a:avLst/>
          </a:prstGeom>
          <a:noFill/>
          <a:ln w="9525">
            <a:solidFill>
              <a:srgbClr val="D6E8ED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723376" y="666597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DEFENSIVE TRANSACTIONS — Synonym swap atomicity + on_schema_change:fail + audit post-hooks on every model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Airflow + dbt-oracle + DRCP Design Reference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6400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Deep-Dive: How a Single Airflow DAG Run Actually Works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84048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daily SWP batch — 4 dbt threads, 4 Oracle sessions, concurrent PGA + network + CPU lifecycle visualised end-to-end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28600" y="859536"/>
            <a:ext cx="7223760" cy="5888736"/>
          </a:xfrm>
          <a:prstGeom prst="rect">
            <a:avLst/>
          </a:prstGeom>
          <a:solidFill>
            <a:srgbClr val="F8FCFD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3192" y="996696"/>
            <a:ext cx="1645920" cy="914400"/>
          </a:xfrm>
          <a:prstGeom prst="rect">
            <a:avLst/>
          </a:prstGeom>
          <a:solidFill>
            <a:srgbClr val="D6E8ED"/>
          </a:solidFill>
          <a:ln w="19050">
            <a:solidFill>
              <a:srgbClr val="1F5C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24128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Airflow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3898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DAG: swp_daily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 AM trigger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Pool: 4 slots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039112" y="1453896"/>
            <a:ext cx="502920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138074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7D8E"/>
                </a:solidFill>
              </a:rPr>
              <a:t>▶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39112" y="152704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KubernetesPodOperator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dbt pod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2697480" y="996696"/>
            <a:ext cx="2606040" cy="5120640"/>
          </a:xfrm>
          <a:prstGeom prst="rect">
            <a:avLst/>
          </a:prstGeom>
          <a:solidFill>
            <a:srgbClr val="E8F5FF"/>
          </a:solidFill>
          <a:ln w="25400">
            <a:solidFill>
              <a:srgbClr val="2D7D8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97480" y="996696"/>
            <a:ext cx="2606040" cy="274320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70632" y="1033272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 OpenShift Pod: dbt-oracle-runner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788920" y="1307592"/>
            <a:ext cx="2459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process: 4 threads | python-oracledb thin mode | profiles.yml loaded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88920" y="1527048"/>
            <a:ext cx="244144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88920" y="1527048"/>
            <a:ext cx="2441448" cy="201168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25496" y="1545336"/>
            <a:ext cx="2350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1  ·  stg_sales_transactions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825496" y="1764792"/>
            <a:ext cx="685800" cy="1645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25496" y="176479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SQL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825496" y="1965960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3090672" y="1984248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90672" y="1984248"/>
            <a:ext cx="352044" cy="109728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0" y="196596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2825496" y="2130552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3090672" y="2148840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90672" y="2148840"/>
            <a:ext cx="422453" cy="109728"/>
          </a:xfrm>
          <a:prstGeom prst="rect">
            <a:avLst/>
          </a:prstGeom>
          <a:solidFill>
            <a:srgbClr val="B06010"/>
          </a:solidFill>
          <a:ln w="12700">
            <a:solidFill>
              <a:srgbClr val="B0601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0" y="2130552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MB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825496" y="2313432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TCP session: ESTABLISHED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788920" y="2587752"/>
            <a:ext cx="244144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88920" y="2587752"/>
            <a:ext cx="2441448" cy="201168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2606040"/>
            <a:ext cx="2350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2  ·  stg_customers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825496" y="2825496"/>
            <a:ext cx="685800" cy="16459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25496" y="282549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SQL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825496" y="3026664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090672" y="3044952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90672" y="3044952"/>
            <a:ext cx="281635" cy="109728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0" y="302666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2825496" y="3191256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3090672" y="3209544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90672" y="3209544"/>
            <a:ext cx="181051" cy="109728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0" y="3191256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MB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2825496" y="3374136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TCP session: ESTABLISHED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788920" y="3648456"/>
            <a:ext cx="2441448" cy="1024128"/>
          </a:xfrm>
          <a:prstGeom prst="rect">
            <a:avLst/>
          </a:prstGeom>
          <a:solidFill>
            <a:srgbClr val="F5F5F5"/>
          </a:solidFill>
          <a:ln w="12700">
            <a:solidFill>
              <a:srgbClr val="3D9DA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88920" y="3648456"/>
            <a:ext cx="2441448" cy="201168"/>
          </a:xfrm>
          <a:prstGeom prst="rect">
            <a:avLst/>
          </a:prstGeom>
          <a:solidFill>
            <a:srgbClr val="3D9DAE"/>
          </a:solidFill>
          <a:ln w="12700">
            <a:solidFill>
              <a:srgbClr val="3D9D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25496" y="3666744"/>
            <a:ext cx="2350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3  ·  stg_products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825496" y="3886200"/>
            <a:ext cx="685800" cy="164592"/>
          </a:xfrm>
          <a:prstGeom prst="rect">
            <a:avLst/>
          </a:prstGeom>
          <a:solidFill>
            <a:srgbClr val="8090A0"/>
          </a:solidFill>
          <a:ln w="12700">
            <a:solidFill>
              <a:srgbClr val="8090A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388620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825496" y="4087368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3090672" y="4105656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090672" y="4105656"/>
            <a:ext cx="50292" cy="109728"/>
          </a:xfrm>
          <a:prstGeom prst="rect">
            <a:avLst/>
          </a:prstGeom>
          <a:solidFill>
            <a:srgbClr val="B0B0B0"/>
          </a:solidFill>
          <a:ln w="12700">
            <a:solidFill>
              <a:srgbClr val="3D9D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14800" y="40873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D9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2825496" y="4251960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3090672" y="4270248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090672" y="4270248"/>
            <a:ext cx="120701" cy="109728"/>
          </a:xfrm>
          <a:prstGeom prst="rect">
            <a:avLst/>
          </a:prstGeom>
          <a:solidFill>
            <a:srgbClr val="3D9DAE"/>
          </a:solidFill>
          <a:ln w="12700">
            <a:solidFill>
              <a:srgbClr val="3D9D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14800" y="4251960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D9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MB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2825496" y="4434840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TCP session: ESTABLISHED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2788920" y="4709160"/>
            <a:ext cx="2441448" cy="1024128"/>
          </a:xfrm>
          <a:prstGeom prst="rect">
            <a:avLst/>
          </a:prstGeom>
          <a:solidFill>
            <a:srgbClr val="F0FFF4"/>
          </a:solidFill>
          <a:ln w="12700">
            <a:solidFill>
              <a:srgbClr val="4DBDC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788920" y="4709160"/>
            <a:ext cx="2441448" cy="201168"/>
          </a:xfrm>
          <a:prstGeom prst="rect">
            <a:avLst/>
          </a:prstGeom>
          <a:solidFill>
            <a:srgbClr val="4DBDCE"/>
          </a:solidFill>
          <a:ln w="12700">
            <a:solidFill>
              <a:srgbClr val="4DBDC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825496" y="4727448"/>
            <a:ext cx="2350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4  ·  int_sales_enriched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825496" y="4946904"/>
            <a:ext cx="685800" cy="164592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825496" y="49469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825496" y="5148072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3090672" y="5166360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90672" y="5166360"/>
            <a:ext cx="80467" cy="109728"/>
          </a:xfrm>
          <a:prstGeom prst="rect">
            <a:avLst/>
          </a:prstGeom>
          <a:solidFill>
            <a:srgbClr val="4DBDCE"/>
          </a:solidFill>
          <a:ln w="12700">
            <a:solidFill>
              <a:srgbClr val="4DBDC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14800" y="514807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4DBD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2825496" y="5312664"/>
            <a:ext cx="256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3090672" y="5330952"/>
            <a:ext cx="1005840" cy="109728"/>
          </a:xfrm>
          <a:prstGeom prst="rect">
            <a:avLst/>
          </a:prstGeom>
          <a:solidFill>
            <a:srgbClr val="E0E0E0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90672" y="5330952"/>
            <a:ext cx="683971" cy="109728"/>
          </a:xfrm>
          <a:prstGeom prst="rect">
            <a:avLst/>
          </a:prstGeom>
          <a:solidFill>
            <a:srgbClr val="C04040"/>
          </a:solidFill>
          <a:ln w="12700">
            <a:solidFill>
              <a:srgbClr val="C0404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14800" y="5312664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MB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2825496" y="5495544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TCP session: ESTABLISHED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5413248" y="996696"/>
            <a:ext cx="685800" cy="5120640"/>
          </a:xfrm>
          <a:prstGeom prst="rect">
            <a:avLst/>
          </a:prstGeom>
          <a:solidFill>
            <a:srgbClr val="FFF8EC"/>
          </a:solidFill>
          <a:ln w="12700">
            <a:solidFill>
              <a:srgbClr val="D4C06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413248" y="33284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458968" y="1984248"/>
            <a:ext cx="594360" cy="0"/>
          </a:xfrm>
          <a:prstGeom prst="line">
            <a:avLst/>
          </a:prstGeom>
          <a:noFill/>
          <a:ln w="25400">
            <a:solidFill>
              <a:srgbClr val="1F5C6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16168" y="18928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5C6B"/>
                </a:solidFill>
              </a:rPr>
              <a:t>▶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5486400" y="17830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SDU</a:t>
            </a:r>
            <a:endParaRPr lang="en-US" sz="55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</a:t>
            </a:r>
            <a:endParaRPr lang="en-US" sz="550" dirty="0"/>
          </a:p>
        </p:txBody>
      </p:sp>
      <p:sp>
        <p:nvSpPr>
          <p:cNvPr id="77" name="Shape 75"/>
          <p:cNvSpPr/>
          <p:nvPr/>
        </p:nvSpPr>
        <p:spPr>
          <a:xfrm>
            <a:off x="5458968" y="3044952"/>
            <a:ext cx="594360" cy="0"/>
          </a:xfrm>
          <a:prstGeom prst="line">
            <a:avLst/>
          </a:prstGeom>
          <a:noFill/>
          <a:ln w="25400">
            <a:solidFill>
              <a:srgbClr val="2D7D8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916168" y="295351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D7D8E"/>
                </a:solidFill>
              </a:rPr>
              <a:t>▶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486400" y="28437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SDU</a:t>
            </a:r>
            <a:endParaRPr lang="en-US" sz="55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5458968" y="4105656"/>
            <a:ext cx="594360" cy="0"/>
          </a:xfrm>
          <a:prstGeom prst="line">
            <a:avLst/>
          </a:prstGeom>
          <a:noFill/>
          <a:ln w="12700">
            <a:solidFill>
              <a:srgbClr val="C0C0C0"/>
            </a:solidFill>
            <a:prstDash val="dash"/>
          </a:ln>
        </p:spPr>
      </p:sp>
      <p:sp>
        <p:nvSpPr>
          <p:cNvPr id="81" name="Text 79"/>
          <p:cNvSpPr/>
          <p:nvPr/>
        </p:nvSpPr>
        <p:spPr>
          <a:xfrm>
            <a:off x="5916168" y="401421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0C0C0"/>
                </a:solidFill>
              </a:rPr>
              <a:t>▶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5486400" y="390448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SDU</a:t>
            </a:r>
            <a:endParaRPr lang="en-US" sz="55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5458968" y="5166360"/>
            <a:ext cx="594360" cy="0"/>
          </a:xfrm>
          <a:prstGeom prst="line">
            <a:avLst/>
          </a:prstGeom>
          <a:noFill/>
          <a:ln w="25400">
            <a:solidFill>
              <a:srgbClr val="4DBDC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916168" y="50749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DBDCE"/>
                </a:solidFill>
              </a:rPr>
              <a:t>▶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5486400" y="4965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SDU</a:t>
            </a:r>
            <a:endParaRPr lang="en-US" sz="55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65535</a:t>
            </a:r>
            <a:endParaRPr lang="en-US" sz="550" dirty="0"/>
          </a:p>
        </p:txBody>
      </p:sp>
      <p:sp>
        <p:nvSpPr>
          <p:cNvPr id="86" name="Text 84"/>
          <p:cNvSpPr/>
          <p:nvPr/>
        </p:nvSpPr>
        <p:spPr>
          <a:xfrm>
            <a:off x="5431536" y="1024128"/>
            <a:ext cx="6492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EXPIRE_TIME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=1 min probe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6190488" y="996696"/>
            <a:ext cx="1755648" cy="5120640"/>
          </a:xfrm>
          <a:prstGeom prst="rect">
            <a:avLst/>
          </a:prstGeom>
          <a:solidFill>
            <a:srgbClr val="FFF5F5"/>
          </a:solidFill>
          <a:ln w="25400">
            <a:solidFill>
              <a:srgbClr val="C8404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190488" y="996696"/>
            <a:ext cx="1755648" cy="274320"/>
          </a:xfrm>
          <a:prstGeom prst="rect">
            <a:avLst/>
          </a:prstGeom>
          <a:solidFill>
            <a:srgbClr val="C84040"/>
          </a:solidFill>
          <a:ln w="12700">
            <a:solidFill>
              <a:srgbClr val="C8404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263640" y="1033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  Oracle DB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281928" y="1325880"/>
            <a:ext cx="1591056" cy="475488"/>
          </a:xfrm>
          <a:prstGeom prst="rect">
            <a:avLst/>
          </a:prstGeom>
          <a:solidFill>
            <a:srgbClr val="FFE8E8"/>
          </a:solidFill>
          <a:ln w="12700">
            <a:solidFill>
              <a:srgbClr val="E0909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318504" y="13441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8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DRCP Pool (CMON)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318504" y="1508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minsize=4  maxsize=40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think_time=120s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6281928" y="1856232"/>
            <a:ext cx="1591056" cy="1014984"/>
          </a:xfrm>
          <a:prstGeom prst="rect">
            <a:avLst/>
          </a:prstGeom>
          <a:solidFill>
            <a:srgbClr val="F0FFF8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318504" y="18928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 201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976872" y="1901952"/>
            <a:ext cx="640080" cy="146304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976872" y="190195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600" dirty="0"/>
          </a:p>
        </p:txBody>
      </p:sp>
      <p:sp>
        <p:nvSpPr>
          <p:cNvPr id="97" name="Text 95"/>
          <p:cNvSpPr/>
          <p:nvPr/>
        </p:nvSpPr>
        <p:spPr>
          <a:xfrm>
            <a:off x="6318504" y="2075688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SWP_STAGING</a:t>
            </a:r>
            <a:endParaRPr lang="en-US" sz="650" dirty="0"/>
          </a:p>
        </p:txBody>
      </p:sp>
      <p:sp>
        <p:nvSpPr>
          <p:cNvPr id="98" name="Text 96"/>
          <p:cNvSpPr/>
          <p:nvPr/>
        </p:nvSpPr>
        <p:spPr>
          <a:xfrm>
            <a:off x="6318504" y="2221992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 42 MB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6318504" y="2368296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stg_sales__dbt_tmp AS...</a:t>
            </a:r>
            <a:endParaRPr lang="en-US" sz="580" dirty="0"/>
          </a:p>
        </p:txBody>
      </p:sp>
      <p:sp>
        <p:nvSpPr>
          <p:cNvPr id="100" name="Shape 98"/>
          <p:cNvSpPr/>
          <p:nvPr/>
        </p:nvSpPr>
        <p:spPr>
          <a:xfrm>
            <a:off x="6281928" y="2907792"/>
            <a:ext cx="1591056" cy="1014984"/>
          </a:xfrm>
          <a:prstGeom prst="rect">
            <a:avLst/>
          </a:prstGeom>
          <a:solidFill>
            <a:srgbClr val="F0FFF8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318504" y="294436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 202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6976872" y="2953512"/>
            <a:ext cx="640080" cy="146304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976872" y="295351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6318504" y="3127248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SWP_STAGING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6318504" y="3273552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 18 MB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6318504" y="3419856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stg_customers__dbt_tmp AS...</a:t>
            </a:r>
            <a:endParaRPr lang="en-US" sz="580" dirty="0"/>
          </a:p>
        </p:txBody>
      </p:sp>
      <p:sp>
        <p:nvSpPr>
          <p:cNvPr id="107" name="Shape 105"/>
          <p:cNvSpPr/>
          <p:nvPr/>
        </p:nvSpPr>
        <p:spPr>
          <a:xfrm>
            <a:off x="6281928" y="3959352"/>
            <a:ext cx="1591056" cy="1014984"/>
          </a:xfrm>
          <a:prstGeom prst="rect">
            <a:avLst/>
          </a:prstGeom>
          <a:solidFill>
            <a:srgbClr val="F8F8F8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6318504" y="399592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D9D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 203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6976872" y="4005072"/>
            <a:ext cx="640080" cy="146304"/>
          </a:xfrm>
          <a:prstGeom prst="rect">
            <a:avLst/>
          </a:prstGeom>
          <a:solidFill>
            <a:srgbClr val="909090"/>
          </a:solidFill>
          <a:ln w="12700">
            <a:solidFill>
              <a:srgbClr val="90909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6976872" y="400507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</a:t>
            </a:r>
            <a:endParaRPr lang="en-US" sz="600" dirty="0"/>
          </a:p>
        </p:txBody>
      </p:sp>
      <p:sp>
        <p:nvSpPr>
          <p:cNvPr id="111" name="Text 109"/>
          <p:cNvSpPr/>
          <p:nvPr/>
        </p:nvSpPr>
        <p:spPr>
          <a:xfrm>
            <a:off x="6318504" y="4178808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SWP_STAGING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6318504" y="4325112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 12 MB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6318504" y="4471416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C0C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(idle - waiting for model)</a:t>
            </a:r>
            <a:endParaRPr lang="en-US" sz="580" dirty="0"/>
          </a:p>
        </p:txBody>
      </p:sp>
      <p:sp>
        <p:nvSpPr>
          <p:cNvPr id="114" name="Shape 112"/>
          <p:cNvSpPr/>
          <p:nvPr/>
        </p:nvSpPr>
        <p:spPr>
          <a:xfrm>
            <a:off x="6281928" y="5010912"/>
            <a:ext cx="1591056" cy="1014984"/>
          </a:xfrm>
          <a:prstGeom prst="rect">
            <a:avLst/>
          </a:prstGeom>
          <a:solidFill>
            <a:srgbClr val="F0FFF8"/>
          </a:solidFill>
          <a:ln w="12700">
            <a:solidFill>
              <a:srgbClr val="4DBDCE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318504" y="504748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DBDC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 204</a:t>
            </a:r>
            <a:endParaRPr lang="en-US" sz="750" dirty="0"/>
          </a:p>
        </p:txBody>
      </p:sp>
      <p:sp>
        <p:nvSpPr>
          <p:cNvPr id="116" name="Shape 114"/>
          <p:cNvSpPr/>
          <p:nvPr/>
        </p:nvSpPr>
        <p:spPr>
          <a:xfrm>
            <a:off x="6976872" y="5056632"/>
            <a:ext cx="640080" cy="146304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976872" y="5056632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6318504" y="5230368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SWP_STAGING</a:t>
            </a:r>
            <a:endParaRPr lang="en-US" sz="650" dirty="0"/>
          </a:p>
        </p:txBody>
      </p:sp>
      <p:sp>
        <p:nvSpPr>
          <p:cNvPr id="119" name="Text 117"/>
          <p:cNvSpPr/>
          <p:nvPr/>
        </p:nvSpPr>
        <p:spPr>
          <a:xfrm>
            <a:off x="6318504" y="5376672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PGA: 68 MB</a:t>
            </a:r>
            <a:endParaRPr lang="en-US" sz="650" dirty="0"/>
          </a:p>
        </p:txBody>
      </p:sp>
      <p:sp>
        <p:nvSpPr>
          <p:cNvPr id="120" name="Text 118"/>
          <p:cNvSpPr/>
          <p:nvPr/>
        </p:nvSpPr>
        <p:spPr>
          <a:xfrm>
            <a:off x="6318504" y="5522976"/>
            <a:ext cx="1499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— int_sales_enriched</a:t>
            </a:r>
            <a:endParaRPr lang="en-US" sz="580" dirty="0"/>
          </a:p>
        </p:txBody>
      </p:sp>
      <p:sp>
        <p:nvSpPr>
          <p:cNvPr id="121" name="Shape 119"/>
          <p:cNvSpPr/>
          <p:nvPr/>
        </p:nvSpPr>
        <p:spPr>
          <a:xfrm>
            <a:off x="393192" y="2029968"/>
            <a:ext cx="1645920" cy="621792"/>
          </a:xfrm>
          <a:prstGeom prst="rect">
            <a:avLst/>
          </a:prstGeom>
          <a:solidFill>
            <a:srgbClr val="FEF4F4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11480" y="2048256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Pre-Flight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850" dirty="0"/>
          </a:p>
        </p:txBody>
      </p:sp>
      <p:sp>
        <p:nvSpPr>
          <p:cNvPr id="123" name="Text 121"/>
          <p:cNvSpPr/>
          <p:nvPr/>
        </p:nvSpPr>
        <p:spPr>
          <a:xfrm>
            <a:off x="411480" y="2304288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COUNT(*)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v$session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user='SWP_DBT'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A2E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&gt; 16 → WAIT</a:t>
            </a:r>
            <a:endParaRPr lang="en-US" sz="650" dirty="0"/>
          </a:p>
        </p:txBody>
      </p:sp>
      <p:sp>
        <p:nvSpPr>
          <p:cNvPr id="124" name="Shape 122"/>
          <p:cNvSpPr/>
          <p:nvPr/>
        </p:nvSpPr>
        <p:spPr>
          <a:xfrm>
            <a:off x="2039112" y="2340864"/>
            <a:ext cx="658368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dash"/>
          </a:ln>
        </p:spPr>
      </p:sp>
      <p:sp>
        <p:nvSpPr>
          <p:cNvPr id="125" name="Shape 123"/>
          <p:cNvSpPr/>
          <p:nvPr/>
        </p:nvSpPr>
        <p:spPr>
          <a:xfrm>
            <a:off x="393192" y="2761488"/>
            <a:ext cx="1645920" cy="530352"/>
          </a:xfrm>
          <a:prstGeom prst="rect">
            <a:avLst/>
          </a:prstGeom>
          <a:solidFill>
            <a:srgbClr val="EAF6EE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1480" y="2779776"/>
            <a:ext cx="1609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🏊 Airflow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'oracle_dbt_pool'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slots: 4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393192" y="3401568"/>
            <a:ext cx="1645920" cy="658368"/>
          </a:xfrm>
          <a:prstGeom prst="rect">
            <a:avLst/>
          </a:prstGeom>
          <a:solidFill>
            <a:srgbClr val="D6E8ED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11480" y="3419856"/>
            <a:ext cx="1609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☸ OpenShift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411480" y="3694176"/>
            <a:ext cx="1609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limit: 2 cores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 limit: 4 GB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restarts: 0</a:t>
            </a:r>
            <a:endParaRPr lang="en-US" sz="700" dirty="0"/>
          </a:p>
        </p:txBody>
      </p:sp>
      <p:sp>
        <p:nvSpPr>
          <p:cNvPr id="130" name="Shape 128"/>
          <p:cNvSpPr/>
          <p:nvPr/>
        </p:nvSpPr>
        <p:spPr>
          <a:xfrm>
            <a:off x="393192" y="4169664"/>
            <a:ext cx="1645920" cy="566928"/>
          </a:xfrm>
          <a:prstGeom prst="rect">
            <a:avLst/>
          </a:prstGeom>
          <a:solidFill>
            <a:srgbClr val="FEF4F4"/>
          </a:solidFill>
          <a:ln w="12700">
            <a:solidFill>
              <a:srgbClr val="C0303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11480" y="4187952"/>
            <a:ext cx="16093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03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🔑 K8s Secret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03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ORA_USER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03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ORA_PASS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030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ORA_HOST</a:t>
            </a:r>
            <a:endParaRPr lang="en-US" sz="750" dirty="0"/>
          </a:p>
        </p:txBody>
      </p:sp>
      <p:sp>
        <p:nvSpPr>
          <p:cNvPr id="132" name="Shape 130"/>
          <p:cNvSpPr/>
          <p:nvPr/>
        </p:nvSpPr>
        <p:spPr>
          <a:xfrm>
            <a:off x="2039112" y="4443984"/>
            <a:ext cx="658368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dash"/>
          </a:ln>
        </p:spPr>
      </p:sp>
      <p:sp>
        <p:nvSpPr>
          <p:cNvPr id="133" name="Text 131"/>
          <p:cNvSpPr/>
          <p:nvPr/>
        </p:nvSpPr>
        <p:spPr>
          <a:xfrm>
            <a:off x="1984248" y="4517136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vars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</a:t>
            </a:r>
            <a:endParaRPr lang="en-US" sz="600" dirty="0"/>
          </a:p>
        </p:txBody>
      </p:sp>
      <p:sp>
        <p:nvSpPr>
          <p:cNvPr id="134" name="Shape 132"/>
          <p:cNvSpPr/>
          <p:nvPr/>
        </p:nvSpPr>
        <p:spPr>
          <a:xfrm>
            <a:off x="7571232" y="859536"/>
            <a:ext cx="4343400" cy="5888736"/>
          </a:xfrm>
          <a:prstGeom prst="rect">
            <a:avLst/>
          </a:prstGeom>
          <a:solidFill>
            <a:srgbClr val="F8FCFD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7680960" y="950976"/>
            <a:ext cx="4142232" cy="237744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7717536" y="969264"/>
            <a:ext cx="4105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Execution Timeline (3:00 AM – 3:35 AM)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7699248" y="124358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3:00:00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366760" y="1280160"/>
            <a:ext cx="91440" cy="91440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407908" y="1371600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503920" y="1243584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triggers DAG — v$session sensor fires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7699248" y="157276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3:00:05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366760" y="1609344"/>
            <a:ext cx="91440" cy="91440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407908" y="1700784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503920" y="157276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Sensor: 0 active SWP_DBT sessions → green light</a:t>
            </a:r>
            <a:endParaRPr lang="en-US" sz="720" dirty="0"/>
          </a:p>
        </p:txBody>
      </p:sp>
      <p:sp>
        <p:nvSpPr>
          <p:cNvPr id="145" name="Text 143"/>
          <p:cNvSpPr/>
          <p:nvPr/>
        </p:nvSpPr>
        <p:spPr>
          <a:xfrm>
            <a:off x="7699248" y="190195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3:00:08</a:t>
            </a:r>
            <a:endParaRPr lang="en-US" sz="700" dirty="0"/>
          </a:p>
        </p:txBody>
      </p:sp>
      <p:sp>
        <p:nvSpPr>
          <p:cNvPr id="146" name="Shape 144"/>
          <p:cNvSpPr/>
          <p:nvPr/>
        </p:nvSpPr>
        <p:spPr>
          <a:xfrm>
            <a:off x="8366760" y="1938528"/>
            <a:ext cx="91440" cy="91440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8407908" y="2029968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503920" y="1901952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KubernetesPodOperator spawns dbt-oracle-runner pod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7699248" y="223113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60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3:00:12</a:t>
            </a:r>
            <a:endParaRPr lang="en-US" sz="700" dirty="0"/>
          </a:p>
        </p:txBody>
      </p:sp>
      <p:sp>
        <p:nvSpPr>
          <p:cNvPr id="150" name="Shape 148"/>
          <p:cNvSpPr/>
          <p:nvPr/>
        </p:nvSpPr>
        <p:spPr>
          <a:xfrm>
            <a:off x="8366760" y="2267712"/>
            <a:ext cx="91440" cy="91440"/>
          </a:xfrm>
          <a:prstGeom prst="ellipse">
            <a:avLst/>
          </a:prstGeom>
          <a:solidFill>
            <a:srgbClr val="8B6010"/>
          </a:solidFill>
          <a:ln w="12700">
            <a:solidFill>
              <a:srgbClr val="8B601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407908" y="2359152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503920" y="2231136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starts — env vars injected from K8s Secret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7699248" y="256032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D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3:00:15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8366760" y="2596896"/>
            <a:ext cx="91440" cy="91440"/>
          </a:xfrm>
          <a:prstGeom prst="ellipse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8407908" y="2688336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503920" y="2560320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reads profiles.yml — 4 threads initialised</a:t>
            </a:r>
            <a:endParaRPr lang="en-US" sz="720" dirty="0"/>
          </a:p>
        </p:txBody>
      </p:sp>
      <p:sp>
        <p:nvSpPr>
          <p:cNvPr id="157" name="Text 155"/>
          <p:cNvSpPr/>
          <p:nvPr/>
        </p:nvSpPr>
        <p:spPr>
          <a:xfrm>
            <a:off x="7699248" y="288950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3:00:18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8366760" y="2926080"/>
            <a:ext cx="91440" cy="91440"/>
          </a:xfrm>
          <a:prstGeom prst="ellipse">
            <a:avLst/>
          </a:prstGeom>
          <a:solidFill>
            <a:srgbClr val="C84040"/>
          </a:solidFill>
          <a:ln w="12700">
            <a:solidFill>
              <a:srgbClr val="C8404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407908" y="3017520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503920" y="2889504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1-4: TCP connect → Oracle Listener → DRCP borrow</a:t>
            </a:r>
            <a:endParaRPr lang="en-US" sz="720" dirty="0"/>
          </a:p>
        </p:txBody>
      </p:sp>
      <p:sp>
        <p:nvSpPr>
          <p:cNvPr id="161" name="Text 159"/>
          <p:cNvSpPr/>
          <p:nvPr/>
        </p:nvSpPr>
        <p:spPr>
          <a:xfrm>
            <a:off x="7699248" y="321868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3:00:20</a:t>
            </a:r>
            <a:endParaRPr lang="en-US" sz="700" dirty="0"/>
          </a:p>
        </p:txBody>
      </p:sp>
      <p:sp>
        <p:nvSpPr>
          <p:cNvPr id="162" name="Shape 160"/>
          <p:cNvSpPr/>
          <p:nvPr/>
        </p:nvSpPr>
        <p:spPr>
          <a:xfrm>
            <a:off x="8366760" y="3255264"/>
            <a:ext cx="91440" cy="91440"/>
          </a:xfrm>
          <a:prstGeom prst="ellipse">
            <a:avLst/>
          </a:prstGeom>
          <a:solidFill>
            <a:srgbClr val="C84040"/>
          </a:solidFill>
          <a:ln w="12700">
            <a:solidFill>
              <a:srgbClr val="C8404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407908" y="3346704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503920" y="321868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Oracle sessions ACTIVE (SID 201-204) — PGA allocated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7699248" y="354787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3:00:22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8366760" y="3584448"/>
            <a:ext cx="91440" cy="91440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407908" y="3675888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503920" y="3547872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graph: 3 staging models run in parallel (Threads 1-3)</a:t>
            </a:r>
            <a:endParaRPr lang="en-US" sz="720" dirty="0"/>
          </a:p>
        </p:txBody>
      </p:sp>
      <p:sp>
        <p:nvSpPr>
          <p:cNvPr id="169" name="Text 167"/>
          <p:cNvSpPr/>
          <p:nvPr/>
        </p:nvSpPr>
        <p:spPr>
          <a:xfrm>
            <a:off x="7699248" y="387705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3:05:00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8366760" y="3913632"/>
            <a:ext cx="91440" cy="91440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407908" y="4005072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8503920" y="3877056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stg_sales, stg_customers, stg_products — COMMIT ✓</a:t>
            </a:r>
            <a:endParaRPr lang="en-US" sz="720" dirty="0"/>
          </a:p>
        </p:txBody>
      </p:sp>
      <p:sp>
        <p:nvSpPr>
          <p:cNvPr id="173" name="Text 171"/>
          <p:cNvSpPr/>
          <p:nvPr/>
        </p:nvSpPr>
        <p:spPr>
          <a:xfrm>
            <a:off x="7699248" y="420624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040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3:05:10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8366760" y="4242816"/>
            <a:ext cx="91440" cy="91440"/>
          </a:xfrm>
          <a:prstGeom prst="ellipse">
            <a:avLst/>
          </a:prstGeom>
          <a:solidFill>
            <a:srgbClr val="C04040"/>
          </a:solidFill>
          <a:ln w="12700">
            <a:solidFill>
              <a:srgbClr val="C0404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8407908" y="4334256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03920" y="4206240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4: int_sales_enriched JOIN — PGA peaks 68 MB</a:t>
            </a:r>
            <a:endParaRPr lang="en-US" sz="720" dirty="0"/>
          </a:p>
        </p:txBody>
      </p:sp>
      <p:sp>
        <p:nvSpPr>
          <p:cNvPr id="177" name="Text 175"/>
          <p:cNvSpPr/>
          <p:nvPr/>
        </p:nvSpPr>
        <p:spPr>
          <a:xfrm>
            <a:off x="7699248" y="45354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3:15:00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8366760" y="4572000"/>
            <a:ext cx="91440" cy="91440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8407908" y="4663440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8503920" y="4535424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int_sales_enriched COMMIT ✓ — PGA drops to 12 MB</a:t>
            </a:r>
            <a:endParaRPr lang="en-US" sz="720" dirty="0"/>
          </a:p>
        </p:txBody>
      </p:sp>
      <p:sp>
        <p:nvSpPr>
          <p:cNvPr id="181" name="Text 179"/>
          <p:cNvSpPr/>
          <p:nvPr/>
        </p:nvSpPr>
        <p:spPr>
          <a:xfrm>
            <a:off x="7699248" y="4864608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3:15:05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8366760" y="4901184"/>
            <a:ext cx="91440" cy="91440"/>
          </a:xfrm>
          <a:prstGeom prst="ellipse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407908" y="4992624"/>
            <a:ext cx="0" cy="246888"/>
          </a:xfrm>
          <a:prstGeom prst="line">
            <a:avLst/>
          </a:prstGeom>
          <a:noFill/>
          <a:ln w="12700">
            <a:solidFill>
              <a:srgbClr val="D0D8DC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8503920" y="486460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fct_daily_sales synonym swap post-hook — atomic</a:t>
            </a:r>
            <a:endParaRPr lang="en-US" sz="720" dirty="0"/>
          </a:p>
        </p:txBody>
      </p:sp>
      <p:sp>
        <p:nvSpPr>
          <p:cNvPr id="185" name="Text 183"/>
          <p:cNvSpPr/>
          <p:nvPr/>
        </p:nvSpPr>
        <p:spPr>
          <a:xfrm>
            <a:off x="7699248" y="5193792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3:20:00</a:t>
            </a:r>
            <a:endParaRPr lang="en-US" sz="700" dirty="0"/>
          </a:p>
        </p:txBody>
      </p:sp>
      <p:sp>
        <p:nvSpPr>
          <p:cNvPr id="186" name="Shape 184"/>
          <p:cNvSpPr/>
          <p:nvPr/>
        </p:nvSpPr>
        <p:spPr>
          <a:xfrm>
            <a:off x="8366760" y="5230368"/>
            <a:ext cx="91440" cy="91440"/>
          </a:xfrm>
          <a:prstGeom prst="ellipse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8503920" y="5193792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tests pass — 4 sessions DISCONNECT — DRCP pool return</a:t>
            </a:r>
            <a:endParaRPr lang="en-US" sz="720" dirty="0"/>
          </a:p>
        </p:txBody>
      </p:sp>
      <p:sp>
        <p:nvSpPr>
          <p:cNvPr id="188" name="Shape 186"/>
          <p:cNvSpPr/>
          <p:nvPr/>
        </p:nvSpPr>
        <p:spPr>
          <a:xfrm>
            <a:off x="7680960" y="5358384"/>
            <a:ext cx="4142232" cy="237744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7717536" y="5394960"/>
            <a:ext cx="41056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Peak Resource Snapshot (3:05–3:15 AM window)</a:t>
            </a:r>
            <a:endParaRPr lang="en-US" sz="800" dirty="0"/>
          </a:p>
        </p:txBody>
      </p:sp>
      <p:sp>
        <p:nvSpPr>
          <p:cNvPr id="190" name="Text 188"/>
          <p:cNvSpPr/>
          <p:nvPr/>
        </p:nvSpPr>
        <p:spPr>
          <a:xfrm>
            <a:off x="7717536" y="563270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Sessions:</a:t>
            </a:r>
            <a:endParaRPr lang="en-US" sz="750" dirty="0"/>
          </a:p>
        </p:txBody>
      </p:sp>
      <p:sp>
        <p:nvSpPr>
          <p:cNvPr id="191" name="Text 189"/>
          <p:cNvSpPr/>
          <p:nvPr/>
        </p:nvSpPr>
        <p:spPr>
          <a:xfrm>
            <a:off x="8741664" y="563270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ACTIVE</a:t>
            </a:r>
            <a:endParaRPr lang="en-US" sz="750" dirty="0"/>
          </a:p>
        </p:txBody>
      </p:sp>
      <p:sp>
        <p:nvSpPr>
          <p:cNvPr id="192" name="Text 190"/>
          <p:cNvSpPr/>
          <p:nvPr/>
        </p:nvSpPr>
        <p:spPr>
          <a:xfrm>
            <a:off x="9674352" y="563270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(SID 201-204)</a:t>
            </a:r>
            <a:endParaRPr lang="en-US" sz="700" dirty="0"/>
          </a:p>
        </p:txBody>
      </p:sp>
      <p:sp>
        <p:nvSpPr>
          <p:cNvPr id="193" name="Text 191"/>
          <p:cNvSpPr/>
          <p:nvPr/>
        </p:nvSpPr>
        <p:spPr>
          <a:xfrm>
            <a:off x="7717536" y="582472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PGA:</a:t>
            </a:r>
            <a:endParaRPr lang="en-US" sz="750" dirty="0"/>
          </a:p>
        </p:txBody>
      </p:sp>
      <p:sp>
        <p:nvSpPr>
          <p:cNvPr id="194" name="Text 192"/>
          <p:cNvSpPr/>
          <p:nvPr/>
        </p:nvSpPr>
        <p:spPr>
          <a:xfrm>
            <a:off x="8741664" y="58247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MB</a:t>
            </a:r>
            <a:endParaRPr lang="en-US" sz="750" dirty="0"/>
          </a:p>
        </p:txBody>
      </p:sp>
      <p:sp>
        <p:nvSpPr>
          <p:cNvPr id="195" name="Text 193"/>
          <p:cNvSpPr/>
          <p:nvPr/>
        </p:nvSpPr>
        <p:spPr>
          <a:xfrm>
            <a:off x="9674352" y="582472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(68+42+18+12)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7717536" y="60167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CPU:</a:t>
            </a:r>
            <a:endParaRPr lang="en-US" sz="750" dirty="0"/>
          </a:p>
        </p:txBody>
      </p:sp>
      <p:sp>
        <p:nvSpPr>
          <p:cNvPr id="197" name="Text 195"/>
          <p:cNvSpPr/>
          <p:nvPr/>
        </p:nvSpPr>
        <p:spPr>
          <a:xfrm>
            <a:off x="8741664" y="60167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 cores</a:t>
            </a:r>
            <a:endParaRPr lang="en-US" sz="750" dirty="0"/>
          </a:p>
        </p:txBody>
      </p:sp>
      <p:sp>
        <p:nvSpPr>
          <p:cNvPr id="198" name="Text 196"/>
          <p:cNvSpPr/>
          <p:nvPr/>
        </p:nvSpPr>
        <p:spPr>
          <a:xfrm>
            <a:off x="9674352" y="601675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 core limit)</a:t>
            </a:r>
            <a:endParaRPr lang="en-US" sz="700" dirty="0"/>
          </a:p>
        </p:txBody>
      </p:sp>
      <p:sp>
        <p:nvSpPr>
          <p:cNvPr id="199" name="Text 197"/>
          <p:cNvSpPr/>
          <p:nvPr/>
        </p:nvSpPr>
        <p:spPr>
          <a:xfrm>
            <a:off x="7717536" y="620877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connections:</a:t>
            </a:r>
            <a:endParaRPr lang="en-US" sz="750" dirty="0"/>
          </a:p>
        </p:txBody>
      </p:sp>
      <p:sp>
        <p:nvSpPr>
          <p:cNvPr id="200" name="Text 198"/>
          <p:cNvSpPr/>
          <p:nvPr/>
        </p:nvSpPr>
        <p:spPr>
          <a:xfrm>
            <a:off x="8741664" y="62087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SDU 65K</a:t>
            </a:r>
            <a:endParaRPr lang="en-US" sz="750" dirty="0"/>
          </a:p>
        </p:txBody>
      </p:sp>
      <p:sp>
        <p:nvSpPr>
          <p:cNvPr id="201" name="Text 199"/>
          <p:cNvSpPr/>
          <p:nvPr/>
        </p:nvSpPr>
        <p:spPr>
          <a:xfrm>
            <a:off x="9674352" y="620877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(DRCP pooled)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7717536" y="640080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slots:</a:t>
            </a:r>
            <a:endParaRPr lang="en-US" sz="750" dirty="0"/>
          </a:p>
        </p:txBody>
      </p:sp>
      <p:sp>
        <p:nvSpPr>
          <p:cNvPr id="203" name="Text 201"/>
          <p:cNvSpPr/>
          <p:nvPr/>
        </p:nvSpPr>
        <p:spPr>
          <a:xfrm>
            <a:off x="8741664" y="64008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 used</a:t>
            </a:r>
            <a:endParaRPr lang="en-US" sz="750" dirty="0"/>
          </a:p>
        </p:txBody>
      </p:sp>
      <p:sp>
        <p:nvSpPr>
          <p:cNvPr id="204" name="Text 202"/>
          <p:cNvSpPr/>
          <p:nvPr/>
        </p:nvSpPr>
        <p:spPr>
          <a:xfrm>
            <a:off x="9674352" y="64008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(pool full)</a:t>
            </a:r>
            <a:endParaRPr lang="en-US" sz="700" dirty="0"/>
          </a:p>
        </p:txBody>
      </p:sp>
      <p:sp>
        <p:nvSpPr>
          <p:cNvPr id="205" name="Text 203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Infrastructure &amp; Resource Lifecycle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6400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SWP Platform — Daily Data Volume &amp; Feed Statistics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84048" y="4572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batch · Intraday REST API · 15-minute cycle · Loader feeds back to Advantage — all in one view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20040" y="896112"/>
            <a:ext cx="2743200" cy="14813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896112"/>
            <a:ext cx="2743200" cy="34747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96112"/>
            <a:ext cx="54864" cy="1481328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95097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End-of-Day Batch Feeds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29768" y="1298448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29768" y="175564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/ day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768" y="192024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 MB total ingested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828800" y="1298448"/>
            <a:ext cx="1179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SFTP delivery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types: CSV · JSON · Parquet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12 AM – 2 AM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93192" y="2103120"/>
            <a:ext cx="2615184" cy="237744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arrival: 85%   ·   Validation: 92%   ·   Load success: 98%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10128" y="896112"/>
            <a:ext cx="2743200" cy="14813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10128" y="896112"/>
            <a:ext cx="2743200" cy="347472"/>
          </a:xfrm>
          <a:prstGeom prst="rect">
            <a:avLst/>
          </a:prstGeom>
          <a:solidFill>
            <a:srgbClr val="D6EEF2"/>
          </a:solidFill>
          <a:ln w="12700">
            <a:solidFill>
              <a:srgbClr val="D6EE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0128" y="896112"/>
            <a:ext cx="54864" cy="1481328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19856" y="95097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Intraday REST API Calls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19856" y="1298448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3419856" y="175564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/ day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19856" y="192024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position &amp; price data (8 AM – 8 PM)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18888" y="1298448"/>
            <a:ext cx="1179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Apigee Gateway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8 AM – 8 PM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daily: ~100 MB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383280" y="2103120"/>
            <a:ext cx="2615184" cy="237744"/>
          </a:xfrm>
          <a:prstGeom prst="rect">
            <a:avLst/>
          </a:prstGeom>
          <a:solidFill>
            <a:srgbClr val="D6EEF2"/>
          </a:solidFill>
          <a:ln w="12700">
            <a:solidFill>
              <a:srgbClr val="D6EE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19856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success rate: 99%   ·   &lt;200ms response: 94%   ·   Auth token valid: 100%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6300216" y="896112"/>
            <a:ext cx="2743200" cy="14813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0216" y="896112"/>
            <a:ext cx="2743200" cy="347472"/>
          </a:xfrm>
          <a:prstGeom prst="rect">
            <a:avLst/>
          </a:prstGeom>
          <a:solidFill>
            <a:srgbClr val="D4EED8"/>
          </a:solidFill>
          <a:ln w="12700">
            <a:solidFill>
              <a:srgbClr val="D4EE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0216" y="896112"/>
            <a:ext cx="54864" cy="1481328"/>
          </a:xfrm>
          <a:prstGeom prst="rect">
            <a:avLst/>
          </a:prstGeom>
          <a:solidFill>
            <a:srgbClr val="1A7A40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9944" y="95097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15-Minute Batch Cycle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09944" y="1298448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6409944" y="175564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· 100 MB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9944" y="192024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position snapshots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08976" y="1298448"/>
            <a:ext cx="1179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cycles / day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+ API hybrid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in &lt;8 min window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373368" y="2103120"/>
            <a:ext cx="2615184" cy="237744"/>
          </a:xfrm>
          <a:prstGeom prst="rect">
            <a:avLst/>
          </a:prstGeom>
          <a:solidFill>
            <a:srgbClr val="D4EED8"/>
          </a:solidFill>
          <a:ln w="12700">
            <a:solidFill>
              <a:srgbClr val="D4EE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9944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delivery: 96%   ·   Transform success: 99%   ·   Cycle fit (&lt;8 min): 91%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9290304" y="896112"/>
            <a:ext cx="2743200" cy="14813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90304" y="896112"/>
            <a:ext cx="2743200" cy="347472"/>
          </a:xfrm>
          <a:prstGeom prst="rect">
            <a:avLst/>
          </a:prstGeom>
          <a:solidFill>
            <a:srgbClr val="F5E6DC"/>
          </a:solidFill>
          <a:ln w="12700">
            <a:solidFill>
              <a:srgbClr val="F5E6D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90304" y="896112"/>
            <a:ext cx="54864" cy="1481328"/>
          </a:xfrm>
          <a:prstGeom prst="rect">
            <a:avLst/>
          </a:prstGeom>
          <a:solidFill>
            <a:srgbClr val="8B3A10"/>
          </a:solidFill>
          <a:ln w="12700">
            <a:solidFill>
              <a:srgbClr val="8B3A1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00032" y="950976"/>
            <a:ext cx="2578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Loader — Back to Advantage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400032" y="1298448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3400" dirty="0"/>
          </a:p>
        </p:txBody>
      </p:sp>
      <p:sp>
        <p:nvSpPr>
          <p:cNvPr id="40" name="Text 38"/>
          <p:cNvSpPr/>
          <p:nvPr/>
        </p:nvSpPr>
        <p:spPr>
          <a:xfrm>
            <a:off x="9400032" y="175564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out · ~600 MB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400032" y="192024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data → Advantage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99064" y="1298448"/>
            <a:ext cx="1179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Post-dbt transformation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push + DB write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3:30 AM – 5 AM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9363456" y="2103120"/>
            <a:ext cx="2615184" cy="237744"/>
          </a:xfrm>
          <a:prstGeom prst="rect">
            <a:avLst/>
          </a:prstGeom>
          <a:solidFill>
            <a:srgbClr val="F5E6DC"/>
          </a:solidFill>
          <a:ln w="12700">
            <a:solidFill>
              <a:srgbClr val="F5E6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00032" y="21396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success: 97%   ·   Reconciliation: 99%   ·   On-time delivery: 95%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320040" y="2560320"/>
            <a:ext cx="7589520" cy="217627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0040" y="2560320"/>
            <a:ext cx="7589520" cy="27432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8056" y="2606040"/>
            <a:ext cx="7388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24-Hour Feed Activity &amp; Concurrency Timeline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2679192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AM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907792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80410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AM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3509010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81628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AM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4110228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482846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AM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4711446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084064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5312664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685282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PM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5913882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86500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PM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515100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87718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PM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116318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488936" y="287121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7717536" y="2871216"/>
            <a:ext cx="0" cy="54864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48056" y="31181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 Batch Feeds (500+ feeds, 700 MB)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2907792" y="3108960"/>
            <a:ext cx="400812" cy="182880"/>
          </a:xfrm>
          <a:prstGeom prst="rect">
            <a:avLst/>
          </a:prstGeom>
          <a:solidFill>
            <a:srgbClr val="1F5C6B">
              <a:alpha val="80000"/>
            </a:srgbClr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DAG Processing (dbt + loaders)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907792" y="3419856"/>
            <a:ext cx="701421" cy="182880"/>
          </a:xfrm>
          <a:prstGeom prst="rect">
            <a:avLst/>
          </a:prstGeom>
          <a:solidFill>
            <a:srgbClr val="2D7D8E">
              <a:alpha val="80000"/>
            </a:srgbClr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73989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 Batch Cycle (100 feeds, 100 MB × 64 cycles)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4511040" y="3730752"/>
            <a:ext cx="2404872" cy="182880"/>
          </a:xfrm>
          <a:prstGeom prst="rect">
            <a:avLst/>
          </a:prstGeom>
          <a:solidFill>
            <a:srgbClr val="1A7A40">
              <a:alpha val="80000"/>
            </a:srgbClr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48056" y="40507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REST API via Apigee (1,000+ calls, ~100 MB)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4511040" y="4041648"/>
            <a:ext cx="2404872" cy="182880"/>
          </a:xfrm>
          <a:prstGeom prst="rect">
            <a:avLst/>
          </a:prstGeom>
          <a:solidFill>
            <a:srgbClr val="2D7D8E">
              <a:alpha val="80000"/>
            </a:srgbClr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48056" y="43616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 → Advantage (50+ feeds, 600 MB)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3609213" y="4352544"/>
            <a:ext cx="300609" cy="182880"/>
          </a:xfrm>
          <a:prstGeom prst="rect">
            <a:avLst/>
          </a:prstGeom>
          <a:solidFill>
            <a:srgbClr val="8B3A10">
              <a:alpha val="80000"/>
            </a:srgbClr>
          </a:solidFill>
          <a:ln w="12700">
            <a:solidFill>
              <a:srgbClr val="8B3A1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55889" y="2999232"/>
            <a:ext cx="721462" cy="1627632"/>
          </a:xfrm>
          <a:prstGeom prst="rect">
            <a:avLst/>
          </a:prstGeom>
          <a:solidFill>
            <a:srgbClr val="C03030">
              <a:alpha val="12000"/>
            </a:srgbClr>
          </a:solidFill>
          <a:ln w="12700">
            <a:solidFill>
              <a:srgbClr val="C03030"/>
            </a:solidFill>
            <a:prstDash val="dash"/>
          </a:ln>
        </p:spPr>
      </p:sp>
      <p:sp>
        <p:nvSpPr>
          <p:cNvPr id="77" name="Text 75"/>
          <p:cNvSpPr/>
          <p:nvPr/>
        </p:nvSpPr>
        <p:spPr>
          <a:xfrm>
            <a:off x="2992465" y="2944368"/>
            <a:ext cx="66659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Peak: EOD+Airflow+Loader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AM – 3:30 AM</a:t>
            </a:r>
            <a:endParaRPr lang="en-US" sz="650" dirty="0"/>
          </a:p>
        </p:txBody>
      </p:sp>
      <p:sp>
        <p:nvSpPr>
          <p:cNvPr id="78" name="Shape 76"/>
          <p:cNvSpPr/>
          <p:nvPr/>
        </p:nvSpPr>
        <p:spPr>
          <a:xfrm>
            <a:off x="4511040" y="2999232"/>
            <a:ext cx="2404872" cy="1627632"/>
          </a:xfrm>
          <a:prstGeom prst="rect">
            <a:avLst/>
          </a:prstGeom>
          <a:solidFill>
            <a:srgbClr val="B06010">
              <a:alpha val="12000"/>
            </a:srgbClr>
          </a:solidFill>
          <a:ln w="12700">
            <a:solidFill>
              <a:srgbClr val="B06010"/>
            </a:solidFill>
            <a:prstDash val="dash"/>
          </a:ln>
        </p:spPr>
      </p:sp>
      <p:sp>
        <p:nvSpPr>
          <p:cNvPr id="79" name="Text 77"/>
          <p:cNvSpPr/>
          <p:nvPr/>
        </p:nvSpPr>
        <p:spPr>
          <a:xfrm>
            <a:off x="4547616" y="294436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Peak: 15-min Batch + Intraday API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B0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AM – 8 PM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8092440" y="2560320"/>
            <a:ext cx="4041648" cy="2176272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092440" y="2560320"/>
            <a:ext cx="4041648" cy="274320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20456" y="26060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Volume Aggregation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8183880" y="2907792"/>
            <a:ext cx="877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Type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9098280" y="290779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9738360" y="2907792"/>
            <a:ext cx="694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10469880" y="2907792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1475720" y="2907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8183880" y="3127248"/>
            <a:ext cx="3840480" cy="0"/>
          </a:xfrm>
          <a:prstGeom prst="line">
            <a:avLst/>
          </a:prstGeom>
          <a:noFill/>
          <a:ln w="12700">
            <a:solidFill>
              <a:srgbClr val="B0D4DC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183880" y="320954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 Batch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9098280" y="320954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9738360" y="320954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 MB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10469880" y="320954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/ night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11475720" y="320954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▼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183880" y="348386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Intraday API</a:t>
            </a:r>
            <a:endParaRPr lang="en-US" sz="750" dirty="0"/>
          </a:p>
        </p:txBody>
      </p:sp>
      <p:sp>
        <p:nvSpPr>
          <p:cNvPr id="95" name="Text 93"/>
          <p:cNvSpPr/>
          <p:nvPr/>
        </p:nvSpPr>
        <p:spPr>
          <a:xfrm>
            <a:off x="9098280" y="348386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9738360" y="348386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MB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10469880" y="348386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AM – 8 PM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11475720" y="34838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▼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8183880" y="375818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 Batch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9098280" y="375818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9738360" y="375818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MB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10469880" y="375818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96× / day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11475720" y="375818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▼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8183880" y="403250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 ← Adv.</a:t>
            </a:r>
            <a:endParaRPr lang="en-US" sz="750" dirty="0"/>
          </a:p>
        </p:txBody>
      </p:sp>
      <p:sp>
        <p:nvSpPr>
          <p:cNvPr id="105" name="Text 103"/>
          <p:cNvSpPr/>
          <p:nvPr/>
        </p:nvSpPr>
        <p:spPr>
          <a:xfrm>
            <a:off x="9098280" y="403250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9738360" y="403250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MB</a:t>
            </a:r>
            <a:endParaRPr lang="en-US" sz="750" dirty="0"/>
          </a:p>
        </p:txBody>
      </p:sp>
      <p:sp>
        <p:nvSpPr>
          <p:cNvPr id="107" name="Text 105"/>
          <p:cNvSpPr/>
          <p:nvPr/>
        </p:nvSpPr>
        <p:spPr>
          <a:xfrm>
            <a:off x="10469880" y="403250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Post-dbt nightly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11475720" y="40325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▲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8165592" y="4261104"/>
            <a:ext cx="3895344" cy="25603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183880" y="430682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INBOUND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9098280" y="430682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1,600+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9738360" y="430682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~900 MB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10469880" y="430682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day</a:t>
            </a:r>
            <a:endParaRPr lang="en-US" sz="750" dirty="0"/>
          </a:p>
        </p:txBody>
      </p:sp>
      <p:sp>
        <p:nvSpPr>
          <p:cNvPr id="114" name="Text 112"/>
          <p:cNvSpPr/>
          <p:nvPr/>
        </p:nvSpPr>
        <p:spPr>
          <a:xfrm>
            <a:off x="11475720" y="43068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8165592" y="4535424"/>
            <a:ext cx="3895344" cy="256032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183880" y="4581144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OUTBOUND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9098280" y="4581144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9738360" y="4581144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MB</a:t>
            </a:r>
            <a:endParaRPr lang="en-US" sz="750" dirty="0"/>
          </a:p>
        </p:txBody>
      </p:sp>
      <p:sp>
        <p:nvSpPr>
          <p:cNvPr id="119" name="Text 117"/>
          <p:cNvSpPr/>
          <p:nvPr/>
        </p:nvSpPr>
        <p:spPr>
          <a:xfrm>
            <a:off x="10469880" y="4581144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day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11475720" y="458114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900" dirty="0"/>
          </a:p>
        </p:txBody>
      </p:sp>
      <p:sp>
        <p:nvSpPr>
          <p:cNvPr id="121" name="Shape 119"/>
          <p:cNvSpPr/>
          <p:nvPr/>
        </p:nvSpPr>
        <p:spPr>
          <a:xfrm>
            <a:off x="8183880" y="4901184"/>
            <a:ext cx="3877056" cy="475488"/>
          </a:xfrm>
          <a:prstGeom prst="rect">
            <a:avLst/>
          </a:prstGeom>
          <a:solidFill>
            <a:srgbClr val="FEF8EC"/>
          </a:solidFill>
          <a:ln w="12700">
            <a:solidFill>
              <a:srgbClr val="D4B04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238744" y="4937760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6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Key Design Constraint: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8238744" y="5102352"/>
            <a:ext cx="3785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3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pressure windows: (1) 12 AM–3:30 AM — 1,300 MB+ across 550+ feeds, EOD + Airflow + Loader concurrent; (2) 8 AM–8 PM — sustained 200 MB/cycle across 100+ intraday feeds. DRCP + Airflow pool limits protect Oracle during both windows.</a:t>
            </a:r>
            <a:endParaRPr lang="en-US" sz="750" dirty="0"/>
          </a:p>
        </p:txBody>
      </p:sp>
      <p:sp>
        <p:nvSpPr>
          <p:cNvPr id="124" name="Text 122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Daily Feed Volume &amp; Concurrency Reference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04672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84048" y="64008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· Apigee · dbt — Connection, Thread &amp; Resource Management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84048" y="457200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D6E8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platform consumes Oracle connections, threads, memory and network — and why our design keeps them from interfering with each other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56032" y="868680"/>
            <a:ext cx="3246120" cy="51389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868680"/>
            <a:ext cx="64008" cy="5138928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868680"/>
            <a:ext cx="3246120" cy="502920"/>
          </a:xfrm>
          <a:prstGeom prst="rect">
            <a:avLst/>
          </a:prstGeom>
          <a:solidFill>
            <a:srgbClr val="D6E8ED"/>
          </a:solidFill>
          <a:ln w="12700">
            <a:solidFill>
              <a:srgbClr val="D6E8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914400"/>
            <a:ext cx="3081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Apache Airflow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4904" y="1161288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 —  Schedules, monitors &amp; controls — zero direct Oracle contact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7472" y="1435608"/>
            <a:ext cx="3081528" cy="182880"/>
          </a:xfrm>
          <a:prstGeom prst="rect">
            <a:avLst/>
          </a:prstGeom>
          <a:solidFill>
            <a:srgbClr val="1F5C6B">
              <a:alpha val="85000"/>
            </a:srgbClr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453896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Behaviour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47472" y="1636776"/>
            <a:ext cx="3081528" cy="320040"/>
          </a:xfrm>
          <a:prstGeom prst="rect">
            <a:avLst/>
          </a:prstGeom>
          <a:solidFill>
            <a:srgbClr val="FEF4F4"/>
          </a:solidFill>
          <a:ln w="9525">
            <a:solidFill>
              <a:srgbClr val="E0A0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" y="166420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sessions: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26464" y="1664208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(zero)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84048" y="1801368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NEVER opens an Oracle DB session directly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384048" y="2002536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DB: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426464" y="2002536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84048" y="213969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Airflow's own DB — completely separate from Oracle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384048" y="23408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pool: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26464" y="234086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conns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84048" y="2478024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its own Postgres metadata DB only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384048" y="267919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type: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426464" y="2679192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Connection store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84048" y="2816352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Oracle credentials for injection → K8s Secrets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347472" y="3035808"/>
            <a:ext cx="3081528" cy="182880"/>
          </a:xfrm>
          <a:prstGeom prst="rect">
            <a:avLst/>
          </a:prstGeom>
          <a:solidFill>
            <a:srgbClr val="2D7D8E">
              <a:alpha val="85000"/>
            </a:srgbClr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054096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&amp; Worker Model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84048" y="326440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Workers: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1426464" y="3264408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CeleryExecutor / K8s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84048" y="3401568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DAG task runs in an isolated pod or process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384048" y="3602736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Concurrency: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426464" y="3602736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Pool slots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84048" y="373989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oracle_dbt_pool: 4 slots caps concurrent dbt tasks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84048" y="39410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Parallelism: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426464" y="394106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DAG-level setting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84048" y="4078224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max_active_runs=1 prevents overlapping DAG instances</a:t>
            </a:r>
            <a:endParaRPr lang="en-US" sz="680" dirty="0"/>
          </a:p>
        </p:txBody>
      </p:sp>
      <p:sp>
        <p:nvSpPr>
          <p:cNvPr id="36" name="Text 34"/>
          <p:cNvSpPr/>
          <p:nvPr/>
        </p:nvSpPr>
        <p:spPr>
          <a:xfrm>
            <a:off x="384048" y="427939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CPU: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426464" y="4279392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&lt;0.5 cores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84048" y="4416552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— parsing DAGs + dispatching tasks only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47472" y="4636008"/>
            <a:ext cx="3081528" cy="182880"/>
          </a:xfrm>
          <a:prstGeom prst="rect">
            <a:avLst/>
          </a:prstGeom>
          <a:solidFill>
            <a:srgbClr val="1A7A40">
              <a:alpha val="85000"/>
            </a:srgbClr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4048" y="4654296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Footprint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84048" y="486460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memory: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426464" y="4864608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MB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384048" y="5001768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pod — very low overhead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384048" y="5202936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Network: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1426464" y="5202936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84048" y="534009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file checks + K8s API calls only</a:t>
            </a:r>
            <a:endParaRPr lang="en-US" sz="680" dirty="0"/>
          </a:p>
        </p:txBody>
      </p:sp>
      <p:sp>
        <p:nvSpPr>
          <p:cNvPr id="47" name="Text 45"/>
          <p:cNvSpPr/>
          <p:nvPr/>
        </p:nvSpPr>
        <p:spPr>
          <a:xfrm>
            <a:off x="384048" y="55412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impact: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1426464" y="554126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direct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384048" y="5678424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Oracle access happens inside dbt pods, not Airflow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384048" y="587959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risk: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1426464" y="5879592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starvation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84048" y="6016752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pool=4 and 5 dbt tasks queue → 5th waits, not fails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347472" y="5349240"/>
            <a:ext cx="3081528" cy="621792"/>
          </a:xfrm>
          <a:prstGeom prst="rect">
            <a:avLst/>
          </a:prstGeom>
          <a:solidFill>
            <a:srgbClr val="EAF6EE"/>
          </a:solidFill>
          <a:ln w="12700">
            <a:solidFill>
              <a:srgbClr val="1A7A4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4048" y="5385816"/>
            <a:ext cx="3026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Design Principle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384048" y="5550408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is the traffic controller — it never enters the intersection. All Oracle resource consumption is delegated to dbt pods. Airflow's only Oracle-adjacent action is the pre-flight v$session count sensor.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3630168" y="868680"/>
            <a:ext cx="3246120" cy="51389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30168" y="868680"/>
            <a:ext cx="64008" cy="5138928"/>
          </a:xfrm>
          <a:prstGeom prst="rect">
            <a:avLst/>
          </a:prstGeom>
          <a:solidFill>
            <a:srgbClr val="2D7D8E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30168" y="868680"/>
            <a:ext cx="3246120" cy="502920"/>
          </a:xfrm>
          <a:prstGeom prst="rect">
            <a:avLst/>
          </a:prstGeom>
          <a:solidFill>
            <a:srgbClr val="D0EAF0"/>
          </a:solidFill>
          <a:ln w="12700">
            <a:solidFill>
              <a:srgbClr val="D0EA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49040" y="914400"/>
            <a:ext cx="3081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Apigee API Gateway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3749040" y="1161288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API Throttle  —  Manages 1,000+ intraday API calls — protects Oracle from REST burst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3721608" y="1435608"/>
            <a:ext cx="3081528" cy="182880"/>
          </a:xfrm>
          <a:prstGeom prst="rect">
            <a:avLst/>
          </a:prstGeom>
          <a:solidFill>
            <a:srgbClr val="2D7D8E">
              <a:alpha val="85000"/>
            </a:srgbClr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758184" y="1453896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Behaviour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721608" y="1636776"/>
            <a:ext cx="3081528" cy="320040"/>
          </a:xfrm>
          <a:prstGeom prst="rect">
            <a:avLst/>
          </a:prstGeom>
          <a:solidFill>
            <a:srgbClr val="FEF4F4"/>
          </a:solidFill>
          <a:ln w="9525">
            <a:solidFill>
              <a:srgbClr val="E0A0A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758184" y="166420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sessions: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4800600" y="1664208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(zero)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3758184" y="1801368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Apigee is a pass-through — it does not touch Oracle</a:t>
            </a:r>
            <a:endParaRPr lang="en-US" sz="680" dirty="0"/>
          </a:p>
        </p:txBody>
      </p:sp>
      <p:sp>
        <p:nvSpPr>
          <p:cNvPr id="67" name="Text 65"/>
          <p:cNvSpPr/>
          <p:nvPr/>
        </p:nvSpPr>
        <p:spPr>
          <a:xfrm>
            <a:off x="3758184" y="2002536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target: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4800600" y="2002536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REST API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3758184" y="213969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Apigee proxies → SEI SWP endpoints, not our Oracle</a:t>
            </a:r>
            <a:endParaRPr lang="en-US" sz="680" dirty="0"/>
          </a:p>
        </p:txBody>
      </p:sp>
      <p:sp>
        <p:nvSpPr>
          <p:cNvPr id="70" name="Text 68"/>
          <p:cNvSpPr/>
          <p:nvPr/>
        </p:nvSpPr>
        <p:spPr>
          <a:xfrm>
            <a:off x="3758184" y="23408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pool: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800600" y="234086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keep-alive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3758184" y="2478024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Apigee maintains persistent HTTP/2 connections to SEI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3758184" y="267919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800600" y="2679192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tokens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3758184" y="2816352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PingFederate token exchange — cached, not per-call</a:t>
            </a:r>
            <a:endParaRPr lang="en-US" sz="680" dirty="0"/>
          </a:p>
        </p:txBody>
      </p:sp>
      <p:sp>
        <p:nvSpPr>
          <p:cNvPr id="76" name="Shape 74"/>
          <p:cNvSpPr/>
          <p:nvPr/>
        </p:nvSpPr>
        <p:spPr>
          <a:xfrm>
            <a:off x="3721608" y="3035808"/>
            <a:ext cx="3081528" cy="182880"/>
          </a:xfrm>
          <a:prstGeom prst="rect">
            <a:avLst/>
          </a:prstGeom>
          <a:solidFill>
            <a:srgbClr val="1A6A8A">
              <a:alpha val="85000"/>
            </a:srgbClr>
          </a:solidFill>
          <a:ln w="12700">
            <a:solidFill>
              <a:srgbClr val="1A6A8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758184" y="3054096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&amp; Rate Control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3758184" y="326440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limit: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4800600" y="3264408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req/min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3758184" y="3401568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arrest policy prevents burst overwhelming SEI</a:t>
            </a:r>
            <a:endParaRPr lang="en-US" sz="680" dirty="0"/>
          </a:p>
        </p:txBody>
      </p:sp>
      <p:sp>
        <p:nvSpPr>
          <p:cNvPr id="81" name="Text 79"/>
          <p:cNvSpPr/>
          <p:nvPr/>
        </p:nvSpPr>
        <p:spPr>
          <a:xfrm>
            <a:off x="3758184" y="3602736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Quota: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00600" y="3602736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calls/day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3758184" y="373989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quota enforced per client app in Apigee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3758184" y="39410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policy: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4800600" y="394106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exp. backoff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3758184" y="4078224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Too Many Requests → Apigee retries, not Airflow</a:t>
            </a:r>
            <a:endParaRPr lang="en-US" sz="680" dirty="0"/>
          </a:p>
        </p:txBody>
      </p:sp>
      <p:sp>
        <p:nvSpPr>
          <p:cNvPr id="87" name="Text 85"/>
          <p:cNvSpPr/>
          <p:nvPr/>
        </p:nvSpPr>
        <p:spPr>
          <a:xfrm>
            <a:off x="3758184" y="427939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Fan-in protection: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4800600" y="4279392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buffer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3758184" y="4416552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Pivotal burst events buffered — flat stream to Oracle</a:t>
            </a:r>
            <a:endParaRPr lang="en-US" sz="680" dirty="0"/>
          </a:p>
        </p:txBody>
      </p:sp>
      <p:sp>
        <p:nvSpPr>
          <p:cNvPr id="90" name="Shape 88"/>
          <p:cNvSpPr/>
          <p:nvPr/>
        </p:nvSpPr>
        <p:spPr>
          <a:xfrm>
            <a:off x="3721608" y="4636008"/>
            <a:ext cx="3081528" cy="182880"/>
          </a:xfrm>
          <a:prstGeom prst="rect">
            <a:avLst/>
          </a:prstGeom>
          <a:solidFill>
            <a:srgbClr val="8B3A10">
              <a:alpha val="85000"/>
            </a:srgbClr>
          </a:solidFill>
          <a:ln w="12700">
            <a:solidFill>
              <a:srgbClr val="8B3A1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758184" y="4654296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Footprint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758184" y="486460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integration: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4800600" y="4864608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HttpOperator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3758184" y="5001768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calls Apigee endpoint — Apigee fans out to SEI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758184" y="5202936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to Oracle: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4800600" y="5202936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KB / call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3758184" y="534009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Apigee response written by dbt loader task, not directly</a:t>
            </a:r>
            <a:endParaRPr lang="en-US" sz="680" dirty="0"/>
          </a:p>
        </p:txBody>
      </p:sp>
      <p:sp>
        <p:nvSpPr>
          <p:cNvPr id="98" name="Text 96"/>
          <p:cNvSpPr/>
          <p:nvPr/>
        </p:nvSpPr>
        <p:spPr>
          <a:xfrm>
            <a:off x="3758184" y="55412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bandwidth: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4800600" y="554126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MB / day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3758184" y="5678424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calls × 12 KB avg — very low Oracle network load</a:t>
            </a:r>
            <a:endParaRPr lang="en-US" sz="680" dirty="0"/>
          </a:p>
        </p:txBody>
      </p:sp>
      <p:sp>
        <p:nvSpPr>
          <p:cNvPr id="101" name="Text 99"/>
          <p:cNvSpPr/>
          <p:nvPr/>
        </p:nvSpPr>
        <p:spPr>
          <a:xfrm>
            <a:off x="3758184" y="587959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protection: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4800600" y="5879592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 isolation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3758184" y="6016752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Apigee, 1,000 simultaneous calls = Oracle overload</a:t>
            </a:r>
            <a:endParaRPr lang="en-US" sz="680" dirty="0"/>
          </a:p>
        </p:txBody>
      </p:sp>
      <p:sp>
        <p:nvSpPr>
          <p:cNvPr id="104" name="Shape 102"/>
          <p:cNvSpPr/>
          <p:nvPr/>
        </p:nvSpPr>
        <p:spPr>
          <a:xfrm>
            <a:off x="3721608" y="5349240"/>
            <a:ext cx="3081528" cy="621792"/>
          </a:xfrm>
          <a:prstGeom prst="rect">
            <a:avLst/>
          </a:prstGeom>
          <a:solidFill>
            <a:srgbClr val="E8F4F8"/>
          </a:solidFill>
          <a:ln w="12700">
            <a:solidFill>
              <a:srgbClr val="2D7D8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758184" y="5385816"/>
            <a:ext cx="3026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Design Principle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3758184" y="5550408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Apigee is the shock absorber between the chaotic intraday event world and our Oracle database. It converts unpredictable API bursts into a controlled, metered stream that dbt can process thread-by-thread without session pressure.</a:t>
            </a:r>
            <a:endParaRPr lang="en-US" sz="720" dirty="0"/>
          </a:p>
        </p:txBody>
      </p:sp>
      <p:sp>
        <p:nvSpPr>
          <p:cNvPr id="107" name="Shape 105"/>
          <p:cNvSpPr/>
          <p:nvPr/>
        </p:nvSpPr>
        <p:spPr>
          <a:xfrm>
            <a:off x="7004304" y="868680"/>
            <a:ext cx="3246120" cy="5138928"/>
          </a:xfrm>
          <a:prstGeom prst="rect">
            <a:avLst/>
          </a:prstGeom>
          <a:solidFill>
            <a:srgbClr val="F4FAFB"/>
          </a:solidFill>
          <a:ln w="19050">
            <a:solidFill>
              <a:srgbClr val="B0D4D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004304" y="868680"/>
            <a:ext cx="64008" cy="5138928"/>
          </a:xfrm>
          <a:prstGeom prst="rect">
            <a:avLst/>
          </a:prstGeom>
          <a:solidFill>
            <a:srgbClr val="8B3A10"/>
          </a:solidFill>
          <a:ln w="12700">
            <a:solidFill>
              <a:srgbClr val="8B3A1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004304" y="868680"/>
            <a:ext cx="3246120" cy="502920"/>
          </a:xfrm>
          <a:prstGeom prst="rect">
            <a:avLst/>
          </a:prstGeom>
          <a:solidFill>
            <a:srgbClr val="F0E0D0"/>
          </a:solidFill>
          <a:ln w="12700">
            <a:solidFill>
              <a:srgbClr val="F0E0D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123176" y="914400"/>
            <a:ext cx="3081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dbt Core (dbt-oracle)</a:t>
            </a:r>
            <a:endParaRPr lang="en-US" sz="1300" dirty="0"/>
          </a:p>
        </p:txBody>
      </p:sp>
      <p:sp>
        <p:nvSpPr>
          <p:cNvPr id="111" name="Text 109"/>
          <p:cNvSpPr/>
          <p:nvPr/>
        </p:nvSpPr>
        <p:spPr>
          <a:xfrm>
            <a:off x="7123176" y="1161288"/>
            <a:ext cx="3081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  —  The ONLY tool that opens Oracle sessions — fully instrumented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7095744" y="1435608"/>
            <a:ext cx="3081528" cy="182880"/>
          </a:xfrm>
          <a:prstGeom prst="rect">
            <a:avLst/>
          </a:prstGeom>
          <a:solidFill>
            <a:srgbClr val="8B3A10">
              <a:alpha val="85000"/>
            </a:srgbClr>
          </a:solidFill>
          <a:ln w="12700">
            <a:solidFill>
              <a:srgbClr val="8B3A1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7132320" y="1453896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Behaviour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7095744" y="1636776"/>
            <a:ext cx="3081528" cy="320040"/>
          </a:xfrm>
          <a:prstGeom prst="rect">
            <a:avLst/>
          </a:prstGeom>
          <a:solidFill>
            <a:srgbClr val="FEF4F4"/>
          </a:solidFill>
          <a:ln w="9525">
            <a:solidFill>
              <a:srgbClr val="E0A0A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132320" y="166420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sessions: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8174736" y="1664208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threads: 4</a:t>
            </a:r>
            <a:endParaRPr lang="en-US" sz="750" dirty="0"/>
          </a:p>
        </p:txBody>
      </p:sp>
      <p:sp>
        <p:nvSpPr>
          <p:cNvPr id="117" name="Text 115"/>
          <p:cNvSpPr/>
          <p:nvPr/>
        </p:nvSpPr>
        <p:spPr>
          <a:xfrm>
            <a:off x="7132320" y="1801368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sessions opened at run start, held until run completes</a:t>
            </a:r>
            <a:endParaRPr lang="en-US" sz="680" dirty="0"/>
          </a:p>
        </p:txBody>
      </p:sp>
      <p:sp>
        <p:nvSpPr>
          <p:cNvPr id="118" name="Text 116"/>
          <p:cNvSpPr/>
          <p:nvPr/>
        </p:nvSpPr>
        <p:spPr>
          <a:xfrm>
            <a:off x="7132320" y="2002536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type: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8174736" y="2002536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DRCP pooled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7132320" y="213969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SERVER=POOLED — pre-warmed processes from CMON broker</a:t>
            </a:r>
            <a:endParaRPr lang="en-US" sz="680" dirty="0"/>
          </a:p>
        </p:txBody>
      </p:sp>
      <p:sp>
        <p:nvSpPr>
          <p:cNvPr id="121" name="Text 119"/>
          <p:cNvSpPr/>
          <p:nvPr/>
        </p:nvSpPr>
        <p:spPr>
          <a:xfrm>
            <a:off x="7132320" y="23408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8174736" y="234086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env_var() only</a:t>
            </a:r>
            <a:endParaRPr lang="en-US" sz="750" dirty="0"/>
          </a:p>
        </p:txBody>
      </p:sp>
      <p:sp>
        <p:nvSpPr>
          <p:cNvPr id="123" name="Text 121"/>
          <p:cNvSpPr/>
          <p:nvPr/>
        </p:nvSpPr>
        <p:spPr>
          <a:xfrm>
            <a:off x="7132320" y="2478024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ORA_USER/ORA_PASS from K8s Secret, never profiles.yml</a:t>
            </a:r>
            <a:endParaRPr lang="en-US" sz="680" dirty="0"/>
          </a:p>
        </p:txBody>
      </p:sp>
      <p:sp>
        <p:nvSpPr>
          <p:cNvPr id="124" name="Text 122"/>
          <p:cNvSpPr/>
          <p:nvPr/>
        </p:nvSpPr>
        <p:spPr>
          <a:xfrm>
            <a:off x="7132320" y="267919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Reconnect: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8174736" y="2679192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built-in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7132320" y="2816352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SQLNET keepalive prevents silent drops; design for stateless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7095744" y="3035808"/>
            <a:ext cx="3081528" cy="182880"/>
          </a:xfrm>
          <a:prstGeom prst="rect">
            <a:avLst/>
          </a:prstGeom>
          <a:solidFill>
            <a:srgbClr val="C04040">
              <a:alpha val="85000"/>
            </a:srgbClr>
          </a:solidFill>
          <a:ln w="12700">
            <a:solidFill>
              <a:srgbClr val="C0404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132320" y="3054096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&amp; Parallelism Model</a:t>
            </a:r>
            <a:endParaRPr lang="en-US" sz="800" dirty="0"/>
          </a:p>
        </p:txBody>
      </p:sp>
      <p:sp>
        <p:nvSpPr>
          <p:cNvPr id="129" name="Text 127"/>
          <p:cNvSpPr/>
          <p:nvPr/>
        </p:nvSpPr>
        <p:spPr>
          <a:xfrm>
            <a:off x="7132320" y="326440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count: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8174736" y="3264408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(staging)</a:t>
            </a:r>
            <a:endParaRPr lang="en-US" sz="750" dirty="0"/>
          </a:p>
        </p:txBody>
      </p:sp>
      <p:sp>
        <p:nvSpPr>
          <p:cNvPr id="131" name="Text 129"/>
          <p:cNvSpPr/>
          <p:nvPr/>
        </p:nvSpPr>
        <p:spPr>
          <a:xfrm>
            <a:off x="7132320" y="3401568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widest parallel band in dependency graph</a:t>
            </a:r>
            <a:endParaRPr lang="en-US" sz="680" dirty="0"/>
          </a:p>
        </p:txBody>
      </p:sp>
      <p:sp>
        <p:nvSpPr>
          <p:cNvPr id="132" name="Text 130"/>
          <p:cNvSpPr/>
          <p:nvPr/>
        </p:nvSpPr>
        <p:spPr>
          <a:xfrm>
            <a:off x="7132320" y="3602736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count: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8174736" y="3602736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(marts)</a:t>
            </a:r>
            <a:endParaRPr lang="en-US" sz="750" dirty="0"/>
          </a:p>
        </p:txBody>
      </p:sp>
      <p:sp>
        <p:nvSpPr>
          <p:cNvPr id="134" name="Text 132"/>
          <p:cNvSpPr/>
          <p:nvPr/>
        </p:nvSpPr>
        <p:spPr>
          <a:xfrm>
            <a:off x="7132320" y="373989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Airflow task — PGA released between stages</a:t>
            </a:r>
            <a:endParaRPr lang="en-US" sz="680" dirty="0"/>
          </a:p>
        </p:txBody>
      </p:sp>
      <p:sp>
        <p:nvSpPr>
          <p:cNvPr id="135" name="Text 133"/>
          <p:cNvSpPr/>
          <p:nvPr/>
        </p:nvSpPr>
        <p:spPr>
          <a:xfrm>
            <a:off x="7132320" y="39410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execution: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8174736" y="394106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model / thread</a:t>
            </a:r>
            <a:endParaRPr lang="en-US" sz="750" dirty="0"/>
          </a:p>
        </p:txBody>
      </p:sp>
      <p:sp>
        <p:nvSpPr>
          <p:cNvPr id="137" name="Text 135"/>
          <p:cNvSpPr/>
          <p:nvPr/>
        </p:nvSpPr>
        <p:spPr>
          <a:xfrm>
            <a:off x="7132320" y="4078224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thread runs one model → COMMIT → next model</a:t>
            </a:r>
            <a:endParaRPr lang="en-US" sz="680" dirty="0"/>
          </a:p>
        </p:txBody>
      </p:sp>
      <p:sp>
        <p:nvSpPr>
          <p:cNvPr id="138" name="Text 136"/>
          <p:cNvSpPr/>
          <p:nvPr/>
        </p:nvSpPr>
        <p:spPr>
          <a:xfrm>
            <a:off x="7132320" y="427939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threads: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8174736" y="4279392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session open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7132320" y="4416552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idle threads block DRCP think_time — monitor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7095744" y="4636008"/>
            <a:ext cx="3081528" cy="182880"/>
          </a:xfrm>
          <a:prstGeom prst="rect">
            <a:avLst/>
          </a:prstGeom>
          <a:solidFill>
            <a:srgbClr val="1F5C6B">
              <a:alpha val="85000"/>
            </a:srgbClr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132320" y="4654296"/>
            <a:ext cx="3026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Footprint</a:t>
            </a:r>
            <a:endParaRPr lang="en-US" sz="800" dirty="0"/>
          </a:p>
        </p:txBody>
      </p:sp>
      <p:sp>
        <p:nvSpPr>
          <p:cNvPr id="143" name="Text 141"/>
          <p:cNvSpPr/>
          <p:nvPr/>
        </p:nvSpPr>
        <p:spPr>
          <a:xfrm>
            <a:off x="7132320" y="4864608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 peak:</a:t>
            </a:r>
            <a:endParaRPr lang="en-US" sz="700" dirty="0"/>
          </a:p>
        </p:txBody>
      </p:sp>
      <p:sp>
        <p:nvSpPr>
          <p:cNvPr id="144" name="Text 142"/>
          <p:cNvSpPr/>
          <p:nvPr/>
        </p:nvSpPr>
        <p:spPr>
          <a:xfrm>
            <a:off x="8174736" y="4864608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MB (4 threads)</a:t>
            </a:r>
            <a:endParaRPr lang="en-US" sz="750" dirty="0"/>
          </a:p>
        </p:txBody>
      </p:sp>
      <p:sp>
        <p:nvSpPr>
          <p:cNvPr id="145" name="Text 143"/>
          <p:cNvSpPr/>
          <p:nvPr/>
        </p:nvSpPr>
        <p:spPr>
          <a:xfrm>
            <a:off x="7132320" y="5001768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int_sales_enriched JOIN — largest hash join buffer</a:t>
            </a:r>
            <a:endParaRPr lang="en-US" sz="680" dirty="0"/>
          </a:p>
        </p:txBody>
      </p:sp>
      <p:sp>
        <p:nvSpPr>
          <p:cNvPr id="146" name="Text 144"/>
          <p:cNvSpPr/>
          <p:nvPr/>
        </p:nvSpPr>
        <p:spPr>
          <a:xfrm>
            <a:off x="7132320" y="5202936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PGA normal: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8174736" y="5202936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40–60 MB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7132320" y="534009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staging light SELECT/INSERT operations</a:t>
            </a:r>
            <a:endParaRPr lang="en-US" sz="680" dirty="0"/>
          </a:p>
        </p:txBody>
      </p:sp>
      <p:sp>
        <p:nvSpPr>
          <p:cNvPr id="149" name="Text 147"/>
          <p:cNvSpPr/>
          <p:nvPr/>
        </p:nvSpPr>
        <p:spPr>
          <a:xfrm>
            <a:off x="7132320" y="5541264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CPU: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8174736" y="554126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 cores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7132320" y="5678424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coordination + Oracle result processing</a:t>
            </a:r>
            <a:endParaRPr lang="en-US" sz="680" dirty="0"/>
          </a:p>
        </p:txBody>
      </p:sp>
      <p:sp>
        <p:nvSpPr>
          <p:cNvPr id="152" name="Text 150"/>
          <p:cNvSpPr/>
          <p:nvPr/>
        </p:nvSpPr>
        <p:spPr>
          <a:xfrm>
            <a:off x="7132320" y="5879592"/>
            <a:ext cx="1024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CPU:</a:t>
            </a:r>
            <a:endParaRPr lang="en-US" sz="700" dirty="0"/>
          </a:p>
        </p:txBody>
      </p:sp>
      <p:sp>
        <p:nvSpPr>
          <p:cNvPr id="153" name="Text 151"/>
          <p:cNvSpPr/>
          <p:nvPr/>
        </p:nvSpPr>
        <p:spPr>
          <a:xfrm>
            <a:off x="8174736" y="5879592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of 3 tools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7132320" y="6016752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SQL execution happens inside Oracle — monitor AWR</a:t>
            </a:r>
            <a:endParaRPr lang="en-US" sz="680" dirty="0"/>
          </a:p>
        </p:txBody>
      </p:sp>
      <p:sp>
        <p:nvSpPr>
          <p:cNvPr id="155" name="Shape 153"/>
          <p:cNvSpPr/>
          <p:nvPr/>
        </p:nvSpPr>
        <p:spPr>
          <a:xfrm>
            <a:off x="7095744" y="5349240"/>
            <a:ext cx="3081528" cy="621792"/>
          </a:xfrm>
          <a:prstGeom prst="rect">
            <a:avLst/>
          </a:prstGeom>
          <a:solidFill>
            <a:srgbClr val="FEF0E8"/>
          </a:solidFill>
          <a:ln w="12700">
            <a:solidFill>
              <a:srgbClr val="8B3A1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7132320" y="5385816"/>
            <a:ext cx="3026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Design Principle</a:t>
            </a:r>
            <a:endParaRPr lang="en-US" sz="800" dirty="0"/>
          </a:p>
        </p:txBody>
      </p:sp>
      <p:sp>
        <p:nvSpPr>
          <p:cNvPr id="157" name="Text 155"/>
          <p:cNvSpPr/>
          <p:nvPr/>
        </p:nvSpPr>
        <p:spPr>
          <a:xfrm>
            <a:off x="7132320" y="5550408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1A2E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is the only tool that opens Oracle sessions, so all resource governance focuses here. DRCP + Airflow pool slots + v$session pre-flight sensor = a triple-layered guard that prevents dbt from ever exhausting Oracle's process ceiling, regardless of how many DAGs run concurrently.</a:t>
            </a:r>
            <a:endParaRPr lang="en-US" sz="720" dirty="0"/>
          </a:p>
        </p:txBody>
      </p:sp>
      <p:sp>
        <p:nvSpPr>
          <p:cNvPr id="158" name="Shape 156"/>
          <p:cNvSpPr/>
          <p:nvPr/>
        </p:nvSpPr>
        <p:spPr>
          <a:xfrm>
            <a:off x="10332720" y="868680"/>
            <a:ext cx="1572768" cy="5138928"/>
          </a:xfrm>
          <a:prstGeom prst="rect">
            <a:avLst/>
          </a:prstGeom>
          <a:solidFill>
            <a:srgbClr val="D6E8ED"/>
          </a:solidFill>
          <a:ln w="19050">
            <a:solidFill>
              <a:srgbClr val="1F5C6B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0332720" y="868680"/>
            <a:ext cx="1572768" cy="310896"/>
          </a:xfrm>
          <a:prstGeom prst="rect">
            <a:avLst/>
          </a:prstGeom>
          <a:solidFill>
            <a:srgbClr val="1F5C6B"/>
          </a:solidFill>
          <a:ln w="12700">
            <a:solidFill>
              <a:srgbClr val="1F5C6B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0405872" y="8961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Budget</a:t>
            </a:r>
            <a:endParaRPr lang="en-US" sz="800" dirty="0"/>
          </a:p>
        </p:txBody>
      </p:sp>
      <p:sp>
        <p:nvSpPr>
          <p:cNvPr id="161" name="Text 159"/>
          <p:cNvSpPr/>
          <p:nvPr/>
        </p:nvSpPr>
        <p:spPr>
          <a:xfrm>
            <a:off x="10424160" y="123444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max_processes</a:t>
            </a:r>
            <a:endParaRPr lang="en-US" sz="700" dirty="0"/>
          </a:p>
        </p:txBody>
      </p:sp>
      <p:sp>
        <p:nvSpPr>
          <p:cNvPr id="162" name="Text 160"/>
          <p:cNvSpPr/>
          <p:nvPr/>
        </p:nvSpPr>
        <p:spPr>
          <a:xfrm>
            <a:off x="11356848" y="123444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10424160" y="1517904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BG procs</a:t>
            </a:r>
            <a:endParaRPr lang="en-US" sz="700" dirty="0"/>
          </a:p>
        </p:txBody>
      </p:sp>
      <p:sp>
        <p:nvSpPr>
          <p:cNvPr id="164" name="Text 162"/>
          <p:cNvSpPr/>
          <p:nvPr/>
        </p:nvSpPr>
        <p:spPr>
          <a:xfrm>
            <a:off x="11356848" y="151790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−80</a:t>
            </a:r>
            <a:endParaRPr lang="en-US" sz="750" dirty="0"/>
          </a:p>
        </p:txBody>
      </p:sp>
      <p:sp>
        <p:nvSpPr>
          <p:cNvPr id="165" name="Text 163"/>
          <p:cNvSpPr/>
          <p:nvPr/>
        </p:nvSpPr>
        <p:spPr>
          <a:xfrm>
            <a:off x="10424160" y="1801368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traffic</a:t>
            </a:r>
            <a:endParaRPr lang="en-US" sz="700" dirty="0"/>
          </a:p>
        </p:txBody>
      </p:sp>
      <p:sp>
        <p:nvSpPr>
          <p:cNvPr id="166" name="Text 164"/>
          <p:cNvSpPr/>
          <p:nvPr/>
        </p:nvSpPr>
        <p:spPr>
          <a:xfrm>
            <a:off x="11356848" y="18013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−60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10424160" y="208483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 headroom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1356848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4A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−60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10424160" y="236829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for dbt</a:t>
            </a:r>
            <a:endParaRPr lang="en-US" sz="700" dirty="0"/>
          </a:p>
        </p:txBody>
      </p:sp>
      <p:sp>
        <p:nvSpPr>
          <p:cNvPr id="170" name="Text 168"/>
          <p:cNvSpPr/>
          <p:nvPr/>
        </p:nvSpPr>
        <p:spPr>
          <a:xfrm>
            <a:off x="11356848" y="23682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100</a:t>
            </a:r>
            <a:endParaRPr lang="en-US" sz="750" dirty="0"/>
          </a:p>
        </p:txBody>
      </p:sp>
      <p:sp>
        <p:nvSpPr>
          <p:cNvPr id="171" name="Text 169"/>
          <p:cNvSpPr/>
          <p:nvPr/>
        </p:nvSpPr>
        <p:spPr>
          <a:xfrm>
            <a:off x="10424160" y="265176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0424160" y="2935224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staging (4T)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1356848" y="293522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</a:t>
            </a:r>
            <a:endParaRPr lang="en-US" sz="750" dirty="0"/>
          </a:p>
        </p:txBody>
      </p:sp>
      <p:sp>
        <p:nvSpPr>
          <p:cNvPr id="174" name="Text 172"/>
          <p:cNvSpPr/>
          <p:nvPr/>
        </p:nvSpPr>
        <p:spPr>
          <a:xfrm>
            <a:off x="10424160" y="3218688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marts (2T)</a:t>
            </a:r>
            <a:endParaRPr lang="en-US" sz="700" dirty="0"/>
          </a:p>
        </p:txBody>
      </p:sp>
      <p:sp>
        <p:nvSpPr>
          <p:cNvPr id="175" name="Text 173"/>
          <p:cNvSpPr/>
          <p:nvPr/>
        </p:nvSpPr>
        <p:spPr>
          <a:xfrm>
            <a:off x="11356848" y="32186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</a:t>
            </a:r>
            <a:endParaRPr lang="en-US" sz="750" dirty="0"/>
          </a:p>
        </p:txBody>
      </p:sp>
      <p:sp>
        <p:nvSpPr>
          <p:cNvPr id="176" name="Text 174"/>
          <p:cNvSpPr/>
          <p:nvPr/>
        </p:nvSpPr>
        <p:spPr>
          <a:xfrm>
            <a:off x="10424160" y="350215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concurrent pods</a:t>
            </a:r>
            <a:endParaRPr lang="en-US" sz="700" dirty="0"/>
          </a:p>
        </p:txBody>
      </p:sp>
      <p:sp>
        <p:nvSpPr>
          <p:cNvPr id="177" name="Text 175"/>
          <p:cNvSpPr/>
          <p:nvPr/>
        </p:nvSpPr>
        <p:spPr>
          <a:xfrm>
            <a:off x="11356848" y="35021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×8 pods</a:t>
            </a:r>
            <a:endParaRPr lang="en-US" sz="750" dirty="0"/>
          </a:p>
        </p:txBody>
      </p:sp>
      <p:sp>
        <p:nvSpPr>
          <p:cNvPr id="178" name="Text 176"/>
          <p:cNvSpPr/>
          <p:nvPr/>
        </p:nvSpPr>
        <p:spPr>
          <a:xfrm>
            <a:off x="10424160" y="3785616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48 sessions max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1356848" y="378561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safe</a:t>
            </a:r>
            <a:endParaRPr lang="en-US" sz="750" dirty="0"/>
          </a:p>
        </p:txBody>
      </p:sp>
      <p:sp>
        <p:nvSpPr>
          <p:cNvPr id="180" name="Text 178"/>
          <p:cNvSpPr/>
          <p:nvPr/>
        </p:nvSpPr>
        <p:spPr>
          <a:xfrm>
            <a:off x="10424160" y="4069080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B0D4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</a:t>
            </a:r>
            <a:endParaRPr lang="en-US" sz="700" dirty="0"/>
          </a:p>
        </p:txBody>
      </p:sp>
      <p:sp>
        <p:nvSpPr>
          <p:cNvPr id="181" name="Text 179"/>
          <p:cNvSpPr/>
          <p:nvPr/>
        </p:nvSpPr>
        <p:spPr>
          <a:xfrm>
            <a:off x="10424160" y="4352544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Oracle</a:t>
            </a:r>
            <a:endParaRPr lang="en-US" sz="700" dirty="0"/>
          </a:p>
        </p:txBody>
      </p:sp>
      <p:sp>
        <p:nvSpPr>
          <p:cNvPr id="182" name="Text 180"/>
          <p:cNvSpPr/>
          <p:nvPr/>
        </p:nvSpPr>
        <p:spPr>
          <a:xfrm>
            <a:off x="11356848" y="43525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50" dirty="0"/>
          </a:p>
        </p:txBody>
      </p:sp>
      <p:sp>
        <p:nvSpPr>
          <p:cNvPr id="183" name="Text 181"/>
          <p:cNvSpPr/>
          <p:nvPr/>
        </p:nvSpPr>
        <p:spPr>
          <a:xfrm>
            <a:off x="10424160" y="4636008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Apigee Oracle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1356848" y="463600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A7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50" dirty="0"/>
          </a:p>
        </p:txBody>
      </p:sp>
      <p:sp>
        <p:nvSpPr>
          <p:cNvPr id="185" name="Text 183"/>
          <p:cNvSpPr/>
          <p:nvPr/>
        </p:nvSpPr>
        <p:spPr>
          <a:xfrm>
            <a:off x="10424160" y="4919472"/>
            <a:ext cx="1024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DRCP pool size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11356848" y="491947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D7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4–40</a:t>
            </a:r>
            <a:endParaRPr lang="en-US" sz="750" dirty="0"/>
          </a:p>
        </p:txBody>
      </p:sp>
      <p:sp>
        <p:nvSpPr>
          <p:cNvPr id="187" name="Text 185"/>
          <p:cNvSpPr/>
          <p:nvPr/>
        </p:nvSpPr>
        <p:spPr>
          <a:xfrm>
            <a:off x="365760" y="6675120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9E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Partners Technology  |  SWP Migration Platform  |  Airflow + Apigee + dbt Resource Architecture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2026-04-16T20:22:22Z</dcterms:created>
  <dcterms:modified xsi:type="dcterms:W3CDTF">2026-04-16T20:22:22Z</dcterms:modified>
</cp:coreProperties>
</file>