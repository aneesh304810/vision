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SFTP → Airflow → dbt → Warehouse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flow: files land at 2 AM, insights ready by 3:35 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A3A5C"/>
          </a:solidFill>
          <a:ln w="25400">
            <a:solidFill>
              <a:srgbClr val="4A9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1828800" cy="411480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9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sales_transactions.csv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customer_data.json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product_inventory.parquet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arrive nightly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arrival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803904"/>
            <a:ext cx="1371600" cy="292608"/>
          </a:xfrm>
          <a:prstGeom prst="rect">
            <a:avLst/>
          </a:prstGeom>
          <a:solidFill>
            <a:srgbClr val="4A9EE0">
              <a:alpha val="30000"/>
            </a:srgbClr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31720" y="2615184"/>
            <a:ext cx="384048" cy="0"/>
          </a:xfrm>
          <a:prstGeom prst="line">
            <a:avLst/>
          </a:prstGeom>
          <a:noFill/>
          <a:ln w="31750">
            <a:solidFill>
              <a:srgbClr val="4A7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B5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61488" y="1078992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A3A2A"/>
          </a:solidFill>
          <a:ln w="25400">
            <a:solidFill>
              <a:srgbClr val="34C6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1078992"/>
            <a:ext cx="1828800" cy="411480"/>
          </a:xfrm>
          <a:prstGeom prst="rect">
            <a:avLst/>
          </a:prstGeom>
          <a:solidFill>
            <a:srgbClr val="34C67A"/>
          </a:solidFill>
          <a:ln w="12700">
            <a:solidFill>
              <a:srgbClr val="34C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4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61488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52928" y="2267712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validate_sftp_files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load_raw_data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dbt_transform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dbt_test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alerting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90088" y="3803904"/>
            <a:ext cx="1371600" cy="292608"/>
          </a:xfrm>
          <a:prstGeom prst="rect">
            <a:avLst/>
          </a:prstGeom>
          <a:solidFill>
            <a:srgbClr val="34C67A">
              <a:alpha val="30000"/>
            </a:srgbClr>
          </a:solidFill>
          <a:ln w="12700">
            <a:solidFill>
              <a:srgbClr val="34C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6008" y="2615184"/>
            <a:ext cx="384048" cy="0"/>
          </a:xfrm>
          <a:prstGeom prst="line">
            <a:avLst/>
          </a:prstGeom>
          <a:noFill/>
          <a:ln w="31750">
            <a:solidFill>
              <a:srgbClr val="4A7A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B5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65776" y="1078992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2A1A3A"/>
          </a:solidFill>
          <a:ln w="25400">
            <a:solidFill>
              <a:srgbClr val="9B6E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1078992"/>
            <a:ext cx="1828800" cy="411480"/>
          </a:xfrm>
          <a:prstGeom prst="rect">
            <a:avLst/>
          </a:prstGeom>
          <a:solidFill>
            <a:srgbClr val="9B6EE0"/>
          </a:solidFill>
          <a:ln w="12700">
            <a:solidFill>
              <a:srgbClr val="9B6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6577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6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65776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57216" y="2267712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 (views)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models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fct_daily_sales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DQ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94376" y="3803904"/>
            <a:ext cx="1371600" cy="292608"/>
          </a:xfrm>
          <a:prstGeom prst="rect">
            <a:avLst/>
          </a:prstGeom>
          <a:solidFill>
            <a:srgbClr val="9B6EE0">
              <a:alpha val="30000"/>
            </a:srgbClr>
          </a:solidFill>
          <a:ln w="12700">
            <a:solidFill>
              <a:srgbClr val="9B6E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0296" y="2615184"/>
            <a:ext cx="384048" cy="0"/>
          </a:xfrm>
          <a:prstGeom prst="line">
            <a:avLst/>
          </a:prstGeom>
          <a:noFill/>
          <a:ln w="31750">
            <a:solidFill>
              <a:srgbClr val="4A7A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B5"/>
                </a:solidFill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70064" y="1078992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2A1A1A"/>
          </a:solidFill>
          <a:ln w="25400">
            <a:solidFill>
              <a:srgbClr val="E07A3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70064" y="1078992"/>
            <a:ext cx="1828800" cy="411480"/>
          </a:xfrm>
          <a:prstGeom prst="rect">
            <a:avLst/>
          </a:prstGeom>
          <a:solidFill>
            <a:srgbClr val="E07A34"/>
          </a:solidFill>
          <a:ln w="12700">
            <a:solidFill>
              <a:srgbClr val="E07A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70064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70064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0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70064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61504" y="2267712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versioned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tables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BI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98664" y="3803904"/>
            <a:ext cx="1371600" cy="292608"/>
          </a:xfrm>
          <a:prstGeom prst="rect">
            <a:avLst/>
          </a:prstGeom>
          <a:solidFill>
            <a:srgbClr val="E07A34">
              <a:alpha val="30000"/>
            </a:srgbClr>
          </a:solidFill>
          <a:ln w="12700">
            <a:solidFill>
              <a:srgbClr val="E07A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AM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244584" y="2615184"/>
            <a:ext cx="384048" cy="0"/>
          </a:xfrm>
          <a:prstGeom prst="line">
            <a:avLst/>
          </a:prstGeom>
          <a:noFill/>
          <a:ln w="31750">
            <a:solidFill>
              <a:srgbClr val="4A7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6404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B5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74352" y="1078992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A2A1A"/>
          </a:solidFill>
          <a:ln w="25400">
            <a:solidFill>
              <a:srgbClr val="E0C23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74352" y="1078992"/>
            <a:ext cx="1828800" cy="411480"/>
          </a:xfrm>
          <a:prstGeom prst="rect">
            <a:avLst/>
          </a:prstGeom>
          <a:solidFill>
            <a:srgbClr val="E0C234"/>
          </a:solidFill>
          <a:ln w="12700">
            <a:solidFill>
              <a:srgbClr val="E0C23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74352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Dashboard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74352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0C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74352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765792" y="2267712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channel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trends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status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902952" y="3803904"/>
            <a:ext cx="1371600" cy="292608"/>
          </a:xfrm>
          <a:prstGeom prst="rect">
            <a:avLst/>
          </a:prstGeom>
          <a:solidFill>
            <a:srgbClr val="E0C234">
              <a:alpha val="30000"/>
            </a:srgbClr>
          </a:solidFill>
          <a:ln w="12700">
            <a:solidFill>
              <a:srgbClr val="E0C2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02952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3:35 AM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4370832"/>
            <a:ext cx="11430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480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Airflow Retries &amp; Alerting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79192" y="4480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dbt Built-in Data Quality Tests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46904" y="4480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Full Git Version Control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14616" y="4480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Auto Data Lineage Docs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482328" y="4480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Scalable Across Any Source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" y="491947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|  SWP Migration Platform  |  Airflow + dbt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 — Three-Layer Transformation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6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files become trusted, analytics-ready data: Staging → Intermediate → Marts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877824"/>
            <a:ext cx="3547872" cy="4919472"/>
          </a:xfrm>
          <a:prstGeom prst="rect">
            <a:avLst/>
          </a:prstGeom>
          <a:solidFill>
            <a:srgbClr val="0F2035"/>
          </a:solidFill>
          <a:ln w="19050">
            <a:solidFill>
              <a:srgbClr val="4A9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77824"/>
            <a:ext cx="64008" cy="4919472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77824"/>
            <a:ext cx="3547872" cy="457200"/>
          </a:xfrm>
          <a:prstGeom prst="rect">
            <a:avLst/>
          </a:prstGeom>
          <a:solidFill>
            <a:srgbClr val="15305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235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Staging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5214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MATERIALIZED AS: 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380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source mapping. Clean &amp; rename only. No business logic.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" y="1764792"/>
            <a:ext cx="3364992" cy="2359152"/>
          </a:xfrm>
          <a:prstGeom prst="rect">
            <a:avLst/>
          </a:prstGeom>
          <a:solidFill>
            <a:srgbClr val="08111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105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9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MODEL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84632" y="1984248"/>
            <a:ext cx="3273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stg_sales_transactions.sql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config(materialized='view') }}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transaction_id,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unit_price,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total_amount,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CAST(transaction_ts AS TIMESTAMP)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txn_ts,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{{ source('raw',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'sales_transactions') }}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transaction_ts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&gt;= CURRENT_DATE - 7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48056" y="4187952"/>
            <a:ext cx="334670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to canonical names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bad rows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cross-source joins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lightweight VIEW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source table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5449824"/>
            <a:ext cx="3429000" cy="310896"/>
          </a:xfrm>
          <a:prstGeom prst="rect">
            <a:avLst/>
          </a:prstGeom>
          <a:solidFill>
            <a:srgbClr val="153050"/>
          </a:solidFill>
          <a:ln w="12700">
            <a:solidFill>
              <a:srgbClr val="4A9E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550468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stg_sales_transactions  ·  stg_customers  ·  stg_products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06240" y="877824"/>
            <a:ext cx="3547872" cy="4919472"/>
          </a:xfrm>
          <a:prstGeom prst="rect">
            <a:avLst/>
          </a:prstGeom>
          <a:solidFill>
            <a:srgbClr val="150F2E"/>
          </a:solidFill>
          <a:ln w="19050">
            <a:solidFill>
              <a:srgbClr val="9B6E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877824"/>
            <a:ext cx="64008" cy="4919472"/>
          </a:xfrm>
          <a:prstGeom prst="rect">
            <a:avLst/>
          </a:prstGeom>
          <a:solidFill>
            <a:srgbClr val="9B6EE0"/>
          </a:solidFill>
          <a:ln w="12700">
            <a:solidFill>
              <a:srgbClr val="9B6E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877824"/>
            <a:ext cx="3547872" cy="457200"/>
          </a:xfrm>
          <a:prstGeom prst="rect">
            <a:avLst/>
          </a:prstGeom>
          <a:solidFill>
            <a:srgbClr val="251540"/>
          </a:solidFill>
          <a:ln w="12700">
            <a:solidFill>
              <a:srgbClr val="9B6E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9235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Intermediate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25112" y="115214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MATERIALIZED AS: TABLE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5112" y="1380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joins &amp; business logic. Reusable building blocks.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15968" y="1764792"/>
            <a:ext cx="3364992" cy="2359152"/>
          </a:xfrm>
          <a:prstGeom prst="rect">
            <a:avLst/>
          </a:prstGeom>
          <a:solidFill>
            <a:srgbClr val="08111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18105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B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MODEL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370832" y="1984248"/>
            <a:ext cx="3273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int_sales_enriched.sql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config(materialized='table') }}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t.transaction_id,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t.txn_ts,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c.customer_segment,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c.region,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p.product_category,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p.brand,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t.quantity,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t.total_amount,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t.channel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{{ ref('stg_sales_transactions') }} 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{{ ref('stg_customers') }} c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t.customer_id = c.id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{{ ref('stg_products') }} 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t.product_id = p.id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334256" y="4187952"/>
            <a:ext cx="334670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staging models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business rules &amp; segments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derived fields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TABLE for speed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by multiple marts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int_ by convention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79392" y="5449824"/>
            <a:ext cx="3429000" cy="310896"/>
          </a:xfrm>
          <a:prstGeom prst="rect">
            <a:avLst/>
          </a:prstGeom>
          <a:solidFill>
            <a:srgbClr val="251540"/>
          </a:solidFill>
          <a:ln w="12700">
            <a:solidFill>
              <a:srgbClr val="9B6E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550468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int_sales_enriched  ·  int_customer_lifetime  ·  int_inventory_status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092440" y="877824"/>
            <a:ext cx="3547872" cy="4919472"/>
          </a:xfrm>
          <a:prstGeom prst="rect">
            <a:avLst/>
          </a:prstGeom>
          <a:solidFill>
            <a:srgbClr val="0F2018"/>
          </a:solidFill>
          <a:ln w="19050">
            <a:solidFill>
              <a:srgbClr val="34C6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877824"/>
            <a:ext cx="64008" cy="4919472"/>
          </a:xfrm>
          <a:prstGeom prst="rect">
            <a:avLst/>
          </a:prstGeom>
          <a:solidFill>
            <a:srgbClr val="34C67A"/>
          </a:solidFill>
          <a:ln w="12700">
            <a:solidFill>
              <a:srgbClr val="34C6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877824"/>
            <a:ext cx="3547872" cy="457200"/>
          </a:xfrm>
          <a:prstGeom prst="rect">
            <a:avLst/>
          </a:prstGeom>
          <a:solidFill>
            <a:srgbClr val="153025"/>
          </a:solidFill>
          <a:ln w="12700">
            <a:solidFill>
              <a:srgbClr val="34C6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9235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Marts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11312" y="115214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MATERIALIZED AS: TABLE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11312" y="1380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facts &amp; dims. BI-ready, tested, documented.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02168" y="1764792"/>
            <a:ext cx="3364992" cy="2359152"/>
          </a:xfrm>
          <a:prstGeom prst="rect">
            <a:avLst/>
          </a:prstGeom>
          <a:solidFill>
            <a:srgbClr val="08111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18105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MODEL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57032" y="1984248"/>
            <a:ext cx="3273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fct_daily_sales.sql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config(materialized='table') }}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DATE(txn_ts)        AS sales_date,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product_category,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           AS txn_count,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SUM(total_amount)   AS revenue,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AVG(total_amount)   AS avg_order,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customer_id)      AS unique_cust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{{ ref('int_sales_enriched') }}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1,2,3,4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220456" y="4187952"/>
            <a:ext cx="334670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business grain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 prefix for fact tables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 prefix for dimensions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tests: not_null, unique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data docs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0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BI tools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65592" y="5449824"/>
            <a:ext cx="3429000" cy="310896"/>
          </a:xfrm>
          <a:prstGeom prst="rect">
            <a:avLst/>
          </a:prstGeom>
          <a:solidFill>
            <a:srgbClr val="153025"/>
          </a:solidFill>
          <a:ln w="12700">
            <a:solidFill>
              <a:srgbClr val="34C6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02168" y="550468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fct_daily_sales  ·  dim_customers  ·  dim_products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945636" y="3337560"/>
            <a:ext cx="301752" cy="0"/>
          </a:xfrm>
          <a:prstGeom prst="line">
            <a:avLst/>
          </a:prstGeom>
          <a:noFill/>
          <a:ln w="31750">
            <a:solidFill>
              <a:srgbClr val="7050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37076" y="3182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6EE0"/>
                </a:solidFill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31836" y="3337560"/>
            <a:ext cx="301752" cy="0"/>
          </a:xfrm>
          <a:prstGeom prst="line">
            <a:avLst/>
          </a:prstGeom>
          <a:noFill/>
          <a:ln w="31750">
            <a:solidFill>
              <a:srgbClr val="7050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23276" y="3182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6EE0"/>
                </a:solidFill>
              </a:rPr>
              <a:t>▶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" y="5888736"/>
            <a:ext cx="11521440" cy="338328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952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C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344168" y="5952744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9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raw.sales_transactions</a:t>
            </a:r>
            <a:pPr algn="l" indent="0" marL="0">
              <a:buNone/>
            </a:pPr>
            <a:r>
              <a:rPr lang="en-US" sz="850" dirty="0">
                <a:solidFill>
                  <a:srgbClr val="2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l" indent="0" marL="0">
              <a:buNone/>
            </a:pPr>
            <a:r>
              <a:rPr lang="en-US" sz="850" dirty="0">
                <a:solidFill>
                  <a:srgbClr val="7C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stg_sales_transactions</a:t>
            </a:r>
            <a:pPr algn="l" indent="0" marL="0">
              <a:buNone/>
            </a:pPr>
            <a:r>
              <a:rPr lang="en-US" sz="850" dirty="0">
                <a:solidFill>
                  <a:srgbClr val="2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l" indent="0" marL="0">
              <a:buNone/>
            </a:pPr>
            <a:r>
              <a:rPr lang="en-US" sz="850" dirty="0">
                <a:solidFill>
                  <a:srgbClr val="9B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int_sales_enriched</a:t>
            </a:r>
            <a:pPr algn="l" indent="0" marL="0">
              <a:buNone/>
            </a:pPr>
            <a:r>
              <a:rPr lang="en-US" sz="850" dirty="0">
                <a:solidFill>
                  <a:srgbClr val="5A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(joins: stg_customers + stg_products)  </a:t>
            </a:r>
            <a:pPr algn="l" indent="0" marL="0">
              <a:buNone/>
            </a:pPr>
            <a:r>
              <a:rPr lang="en-US" sz="850" dirty="0">
                <a:solidFill>
                  <a:srgbClr val="2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algn="l" indent="0" marL="0">
              <a:buNone/>
            </a:pPr>
            <a:r>
              <a:rPr lang="en-US" sz="85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fct_daily_sales</a:t>
            </a:r>
            <a:pPr algn="l" indent="0" marL="0">
              <a:buNone/>
            </a:pPr>
            <a:r>
              <a:rPr lang="en-US" sz="850" dirty="0">
                <a:solidFill>
                  <a:srgbClr val="2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pPr algn="l" indent="0" marL="0">
              <a:buNone/>
            </a:pPr>
            <a:r>
              <a:rPr lang="en-US" sz="85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dim_customers</a:t>
            </a:r>
            <a:pPr algn="l" indent="0" marL="0">
              <a:buNone/>
            </a:pPr>
            <a:r>
              <a:rPr lang="en-US" sz="850" dirty="0">
                <a:solidFill>
                  <a:srgbClr val="2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pPr algn="l" indent="0" marL="0">
              <a:buNone/>
            </a:pPr>
            <a:r>
              <a:rPr lang="en-US" sz="85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6263640"/>
            <a:ext cx="11521440" cy="292608"/>
          </a:xfrm>
          <a:prstGeom prst="rect">
            <a:avLst/>
          </a:prstGeom>
          <a:solidFill>
            <a:srgbClr val="0A1A0F"/>
          </a:solidFill>
          <a:ln w="12700">
            <a:solidFill>
              <a:srgbClr val="1E4A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31850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dbt Tests (schema.yml):  </a:t>
            </a:r>
            <a:pPr algn="l" indent="0" marL="0">
              <a:buNone/>
            </a:pPr>
            <a:r>
              <a:rPr lang="en-US" sz="800" dirty="0">
                <a:solidFill>
                  <a:srgbClr val="7EC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not_null(transaction_id)   unique(transaction_id)   accepted_values(channel)   relationships(customer_id)   positive_total_amount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661111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|  SWP Migration Platform  |  dbt-oracle Layer Architecture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2026-04-15T19:34:37Z</dcterms:created>
  <dcterms:modified xsi:type="dcterms:W3CDTF">2026-04-15T19:34:37Z</dcterms:modified>
</cp:coreProperties>
</file>