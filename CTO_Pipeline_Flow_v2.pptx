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Data Pipeline: SFTP → Airflow → dbt → Warehouse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365760" y="62179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batch flow: files land at 2 AM, insights ready by 3:35 AM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365760" y="896112"/>
            <a:ext cx="11430000" cy="0"/>
          </a:xfrm>
          <a:prstGeom prst="line">
            <a:avLst/>
          </a:prstGeom>
          <a:noFill/>
          <a:ln w="19050">
            <a:solidFill>
              <a:srgbClr val="D6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24128"/>
            <a:ext cx="1828800" cy="321868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24128"/>
            <a:ext cx="1828800" cy="43891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607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 Zone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Landing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48640" y="1536192"/>
            <a:ext cx="1664208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sales_transactions.csv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customer_data.json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product_inventory.parquet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arrive nightly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on arrival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3877056"/>
            <a:ext cx="146304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877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 AM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31720" y="2633472"/>
            <a:ext cx="384048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51176" y="2496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7D8E"/>
                </a:solidFill>
              </a:rPr>
              <a:t>▶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61488" y="1024128"/>
            <a:ext cx="1828800" cy="321868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61488" y="1024128"/>
            <a:ext cx="1828800" cy="43891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61488" y="10607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DAG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61488" y="1298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852928" y="1536192"/>
            <a:ext cx="1664208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validate_sftp_files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load_raw_data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dbt_transform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dbt_test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+ alerting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944368" y="3877056"/>
            <a:ext cx="146304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44368" y="3877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 AM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36008" y="2633472"/>
            <a:ext cx="384048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55464" y="2496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7D8E"/>
                </a:solidFill>
              </a:rPr>
              <a:t>▶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65776" y="1024128"/>
            <a:ext cx="1828800" cy="321868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65776" y="1024128"/>
            <a:ext cx="1828800" cy="43891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65776" y="10607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Core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65776" y="1298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157216" y="1536192"/>
            <a:ext cx="1664208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layer (views)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models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fct_daily_sales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DQ tests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248656" y="3877056"/>
            <a:ext cx="146304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48656" y="3877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3:15 AM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940296" y="2633472"/>
            <a:ext cx="384048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59752" y="2496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7D8E"/>
                </a:solidFill>
              </a:rPr>
              <a:t>▶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370064" y="1024128"/>
            <a:ext cx="1828800" cy="321868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70064" y="1024128"/>
            <a:ext cx="1828800" cy="43891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70064" y="10607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70064" y="1298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Data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461504" y="1536192"/>
            <a:ext cx="1664208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versioned data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layer tables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Partitioned by date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BI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tracked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552944" y="3877056"/>
            <a:ext cx="146304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552944" y="3877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3:30 AM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244584" y="2633472"/>
            <a:ext cx="384048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464040" y="2496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7D8E"/>
                </a:solidFill>
              </a:rPr>
              <a:t>▶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9674352" y="1024128"/>
            <a:ext cx="1828800" cy="321868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674352" y="1024128"/>
            <a:ext cx="1828800" cy="43891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74352" y="10607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/ Dashboard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674352" y="1298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Insights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9765792" y="1536192"/>
            <a:ext cx="1664208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channel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 trends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analytics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status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Auto-refreshed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9857232" y="3877056"/>
            <a:ext cx="146304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857232" y="3877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3:35 AM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65760" y="4352544"/>
            <a:ext cx="11430000" cy="0"/>
          </a:xfrm>
          <a:prstGeom prst="line">
            <a:avLst/>
          </a:prstGeom>
          <a:noFill/>
          <a:ln w="19050">
            <a:solidFill>
              <a:srgbClr val="D6E8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44622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Airflow Retries &amp; Alerting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2679192" y="44622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dbt Built-in Data Quality Tests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946904" y="44622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 Full Git Version Control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214616" y="44622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Auto Data Lineage Docs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9482328" y="44622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Scalable Across Any Source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365760" y="4892040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Airflow + dbt Architecture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11430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Core — Three-Layer Transformation Architecture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raw files become trusted, analytics-ready data: Staging → Intermediate → Marts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11430000" cy="0"/>
          </a:xfrm>
          <a:prstGeom prst="line">
            <a:avLst/>
          </a:prstGeom>
          <a:noFill/>
          <a:ln w="19050">
            <a:solidFill>
              <a:srgbClr val="D6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877824"/>
            <a:ext cx="3547872" cy="534924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877824"/>
            <a:ext cx="64008" cy="534924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77824"/>
            <a:ext cx="3547872" cy="475488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9235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Staging Layer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8912" y="116128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MATERIALIZED AS: VIEW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38912" y="13990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1-to-1 source mapping. Clean &amp; rename only. No business logic.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29768" y="1764792"/>
            <a:ext cx="3364992" cy="2359152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81051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MODEL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84632" y="1984248"/>
            <a:ext cx="3273552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2A7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stg_sales_transactions.sql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config(materialized='view') }}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transaction_id,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customer_id,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product_id,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quantity,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unit_price,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total_amount,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CAST(transaction_ts AS TIMESTAMP)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 txn_ts,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channel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{{ source('raw',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'sales_transactions') }}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transaction_ts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&gt;= CURRENT_DATE - 7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448056" y="4187952"/>
            <a:ext cx="334670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to canonical names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data types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bad rows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cross-source joins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as lightweight VIEW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per source table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93192" y="5879592"/>
            <a:ext cx="3429000" cy="31089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" y="5934456"/>
            <a:ext cx="3364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stg_sales_transactions  ·  stg_customers  ·  stg_products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206240" y="877824"/>
            <a:ext cx="3547872" cy="534924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06240" y="877824"/>
            <a:ext cx="64008" cy="534924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06240" y="877824"/>
            <a:ext cx="3547872" cy="475488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25112" y="9235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Intermediate Layer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25112" y="116128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MATERIALIZED AS: TABLE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325112" y="13990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Cross-source joins &amp; business logic. Reusable building blocks.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315968" y="1764792"/>
            <a:ext cx="3364992" cy="2359152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70832" y="181051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MODEL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370832" y="1984248"/>
            <a:ext cx="3273552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2A7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int_sales_enriched.sql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config(materialized='table') }}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t.transaction_id,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t.txn_ts,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c.customer_segment,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c.region,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p.product_category,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p.brand,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t.quantity,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t.total_amount,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t.channel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{{ ref('stg_sales_transactions') }} 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{{ ref('stg_customers') }} c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t.customer_id = c.id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{{ ref('stg_products') }} p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t.product_id = p.id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4334256" y="4187952"/>
            <a:ext cx="334670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staging models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business rules &amp; segments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derived fields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as TABLE for speed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 by multiple marts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int_ by convention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279392" y="5879592"/>
            <a:ext cx="3429000" cy="31089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15968" y="5934456"/>
            <a:ext cx="3364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int_sales_enriched  ·  int_customer_lifetime  ·  int_inventory_status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8092440" y="877824"/>
            <a:ext cx="3547872" cy="534924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877824"/>
            <a:ext cx="64008" cy="534924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877824"/>
            <a:ext cx="3547872" cy="475488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11312" y="9235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Marts Layer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11312" y="116128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MATERIALIZED AS: TABLE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11312" y="13990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Business-facing facts &amp; dims. BI-ready, tested, documented.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8202168" y="1764792"/>
            <a:ext cx="3364992" cy="2359152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57032" y="181051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MODEL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57032" y="1984248"/>
            <a:ext cx="3273552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2A7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fct_daily_sales.sql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config(materialized='table') }}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DATE(txn_ts)        AS sales_date,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channel,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product_category,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region,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COUNT(*)            AS txn_count,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SUM(total_amount)   AS revenue,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AVG(total_amount)   AS avg_order,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COUNT(DISTINCT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customer_id)      AS unique_cust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{{ ref('int_sales_enriched') }}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1,2,3,4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8220456" y="4187952"/>
            <a:ext cx="334670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to business grain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 prefix for fact tables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 prefix for dimensions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tests: not_null, unique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data docs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directly into BI tools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65592" y="5879592"/>
            <a:ext cx="3429000" cy="31089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02168" y="5934456"/>
            <a:ext cx="3364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fct_daily_sales  ·  dim_customers  ·  dim_products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3945636" y="3552444"/>
            <a:ext cx="301752" cy="0"/>
          </a:xfrm>
          <a:prstGeom prst="line">
            <a:avLst/>
          </a:prstGeom>
          <a:noFill/>
          <a:ln w="31750">
            <a:solidFill>
              <a:srgbClr val="2D7D8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037076" y="339699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7D8E"/>
                </a:solidFill>
              </a:rPr>
              <a:t>▶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7831836" y="3552444"/>
            <a:ext cx="301752" cy="0"/>
          </a:xfrm>
          <a:prstGeom prst="line">
            <a:avLst/>
          </a:prstGeom>
          <a:noFill/>
          <a:ln w="31750">
            <a:solidFill>
              <a:srgbClr val="2D7D8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23276" y="339699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7D8E"/>
                </a:solidFill>
              </a:rPr>
              <a:t>▶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0040" y="6318504"/>
            <a:ext cx="11521440" cy="338328"/>
          </a:xfrm>
          <a:prstGeom prst="rect">
            <a:avLst/>
          </a:prstGeom>
          <a:solidFill>
            <a:srgbClr val="D6E8ED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638251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LINEAGE: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344168" y="6382512"/>
            <a:ext cx="10149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raw.sales_transactions</a:t>
            </a:r>
            <a:pPr algn="l" indent="0" marL="0">
              <a:buNone/>
            </a:pPr>
            <a:r>
              <a:rPr lang="en-US" sz="850" dirty="0">
                <a:solidFill>
                  <a:srgbClr val="B0D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l" indent="0" marL="0">
              <a:buNone/>
            </a:pPr>
            <a:r>
              <a:rPr lang="en-US" sz="85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stg_sales_transactions</a:t>
            </a:r>
            <a:pPr algn="l" indent="0" marL="0">
              <a:buNone/>
            </a:pPr>
            <a:r>
              <a:rPr lang="en-US" sz="850" dirty="0">
                <a:solidFill>
                  <a:srgbClr val="B0D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l" indent="0" marL="0">
              <a:buNone/>
            </a:pPr>
            <a:r>
              <a:rPr lang="en-US" sz="8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int_sales_enriched</a:t>
            </a:r>
            <a:pPr algn="l" indent="0" marL="0">
              <a:buNone/>
            </a:pPr>
            <a:r>
              <a:rPr lang="en-US" sz="850" dirty="0">
                <a:solidFill>
                  <a:srgbClr val="8AA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(joins: stg_customers + stg_products)  </a:t>
            </a:r>
            <a:pPr algn="l" indent="0" marL="0">
              <a:buNone/>
            </a:pPr>
            <a:r>
              <a:rPr lang="en-US" sz="850" dirty="0">
                <a:solidFill>
                  <a:srgbClr val="B0D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</a:t>
            </a:r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fct_daily_sales</a:t>
            </a:r>
            <a:pPr algn="l" indent="0" marL="0">
              <a:buNone/>
            </a:pPr>
            <a:r>
              <a:rPr lang="en-US" sz="850" dirty="0">
                <a:solidFill>
                  <a:srgbClr val="B0D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  </a:t>
            </a:r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dim_customers</a:t>
            </a:r>
            <a:pPr algn="l" indent="0" marL="0">
              <a:buNone/>
            </a:pPr>
            <a:r>
              <a:rPr lang="en-US" sz="850" dirty="0">
                <a:solidFill>
                  <a:srgbClr val="B0D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  </a:t>
            </a:r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dim_products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20040" y="6693408"/>
            <a:ext cx="11521440" cy="292608"/>
          </a:xfrm>
          <a:prstGeom prst="rect">
            <a:avLst/>
          </a:prstGeom>
          <a:solidFill>
            <a:srgbClr val="EAF6EE"/>
          </a:solidFill>
          <a:ln w="12700">
            <a:solidFill>
              <a:srgbClr val="A0D0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6748272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dbt Tests (schema.yml):  </a:t>
            </a:r>
            <a:pPr algn="l" indent="0" marL="0">
              <a:buNone/>
            </a:pPr>
            <a:r>
              <a:rPr lang="en-US" sz="80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not_null(transaction_id)   unique(transaction_id)   accepted_values(channel)   relationships(customer_id)   positive_total_amount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65760" y="6611112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dbt-oracle Layer Architecture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11430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Layers — What Actually Happens to Your Data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plain-English walkthrough of how raw CSV rows become the revenue numbers on your dashboard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11430000" cy="0"/>
          </a:xfrm>
          <a:prstGeom prst="line">
            <a:avLst/>
          </a:prstGeom>
          <a:noFill/>
          <a:ln w="19050">
            <a:solidFill>
              <a:srgbClr val="D6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886968"/>
            <a:ext cx="3547872" cy="5650992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886968"/>
            <a:ext cx="64008" cy="56509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86968"/>
            <a:ext cx="3547872" cy="49377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93268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Staging Layer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8912" y="1179576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"The Translator"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38912" y="1453896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a spreadsheet arrives from three different teams — sales used 'txn_date', the app team called it 'created_at', the store used 'sale_timestamp'.</a:t>
            </a:r>
            <a:endParaRPr lang="en-US" sz="780" dirty="0"/>
          </a:p>
        </p:txBody>
      </p:sp>
      <p:sp>
        <p:nvSpPr>
          <p:cNvPr id="11" name="Text 9"/>
          <p:cNvSpPr/>
          <p:nvPr/>
        </p:nvSpPr>
        <p:spPr>
          <a:xfrm>
            <a:off x="438912" y="1975104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Staging layer is your Rosetta Stone. It reads every raw file exactly as it arrives and renames, recasts, and lightly filters — nothing more.</a:t>
            </a:r>
            <a:endParaRPr lang="en-US" sz="780" dirty="0"/>
          </a:p>
        </p:txBody>
      </p:sp>
      <p:sp>
        <p:nvSpPr>
          <p:cNvPr id="12" name="Text 10"/>
          <p:cNvSpPr/>
          <p:nvPr/>
        </p:nvSpPr>
        <p:spPr>
          <a:xfrm>
            <a:off x="438912" y="2496312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calculations. No joins. Just clean, predictable columns with consistent names that the rest of the pipeline can trust.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11480" y="3081528"/>
            <a:ext cx="3392424" cy="164592"/>
          </a:xfrm>
          <a:prstGeom prst="rect">
            <a:avLst/>
          </a:prstGeom>
          <a:solidFill>
            <a:srgbClr val="FFF8E6"/>
          </a:solidFill>
          <a:ln w="12700">
            <a:solidFill>
              <a:srgbClr val="D4C0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090672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FILE (as it lands in SFTP)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11480" y="3255264"/>
            <a:ext cx="3392424" cy="566928"/>
          </a:xfrm>
          <a:prstGeom prst="rect">
            <a:avLst/>
          </a:prstGeom>
          <a:solidFill>
            <a:srgbClr val="FFFDF0"/>
          </a:solidFill>
          <a:ln w="12700">
            <a:solidFill>
              <a:srgbClr val="D4D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txn_id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9910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cust_id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759306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241950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sale_timestamp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307969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43891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T-00142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9910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88291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759306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149.99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241950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 02:14:33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07969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438912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T-00143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99109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759306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89.00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419502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a date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3079699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411480" y="3858768"/>
            <a:ext cx="3392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transformed into  ↓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11480" y="4050792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4059936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STAGING (stg_sales_transactions)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411480" y="4224528"/>
            <a:ext cx="3392424" cy="384048"/>
          </a:xfrm>
          <a:prstGeom prst="rect">
            <a:avLst/>
          </a:prstGeom>
          <a:solidFill>
            <a:srgbClr val="EAF6F8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transaction_id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1099109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customer_id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1759306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unit_price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419502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txn_ts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3079699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438912" y="442569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T-00142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1099109" y="442569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88291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1759306" y="442569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149.99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2419502" y="442569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 02:14:33 UTC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3079699" y="442569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411480" y="4636008"/>
            <a:ext cx="3392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Renamed  ✓ Typed  ✓ Null row filtered  ✓ Bad date removed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11480" y="4837176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8056" y="4846320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RULES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38912" y="5020056"/>
            <a:ext cx="3364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per source table — no mixing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everything to a canonical standard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strings to proper types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only obviously invalid rows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as a VIEW — no storage cost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referenced directly by BI tools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206240" y="886968"/>
            <a:ext cx="3547872" cy="5650992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06240" y="886968"/>
            <a:ext cx="64008" cy="56509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206240" y="886968"/>
            <a:ext cx="3547872" cy="49377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5112" y="93268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Intermediate Layer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4325112" y="1179576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"The Enricher"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325112" y="1453896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we know what every column means. But a sales row alone doesn't tell you whether that customer is a Premier member in the Northeast, or what category the product belongs to.</a:t>
            </a:r>
            <a:endParaRPr lang="en-US" sz="780" dirty="0"/>
          </a:p>
        </p:txBody>
      </p:sp>
      <p:sp>
        <p:nvSpPr>
          <p:cNvPr id="55" name="Text 53"/>
          <p:cNvSpPr/>
          <p:nvPr/>
        </p:nvSpPr>
        <p:spPr>
          <a:xfrm>
            <a:off x="4325112" y="1975104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Intermediate layer joins the cleaned staging models together and applies business rules — customer segmentation, product categorisation, margin calculations.</a:t>
            </a:r>
            <a:endParaRPr lang="en-US" sz="780" dirty="0"/>
          </a:p>
        </p:txBody>
      </p:sp>
      <p:sp>
        <p:nvSpPr>
          <p:cNvPr id="56" name="Text 54"/>
          <p:cNvSpPr/>
          <p:nvPr/>
        </p:nvSpPr>
        <p:spPr>
          <a:xfrm>
            <a:off x="4325112" y="2496312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enriched rows become the single source of truth that multiple downstream reports all pull from, so business logic is never duplicated.</a:t>
            </a:r>
            <a:endParaRPr lang="en-US" sz="780" dirty="0"/>
          </a:p>
        </p:txBody>
      </p:sp>
      <p:sp>
        <p:nvSpPr>
          <p:cNvPr id="57" name="Shape 55"/>
          <p:cNvSpPr/>
          <p:nvPr/>
        </p:nvSpPr>
        <p:spPr>
          <a:xfrm>
            <a:off x="4297680" y="3081528"/>
            <a:ext cx="3392424" cy="164592"/>
          </a:xfrm>
          <a:prstGeom prst="rect">
            <a:avLst/>
          </a:prstGeom>
          <a:solidFill>
            <a:srgbClr val="FFF8E6"/>
          </a:solidFill>
          <a:ln w="12700">
            <a:solidFill>
              <a:srgbClr val="D4C06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25112" y="3090672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Three staging models joined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297680" y="3255264"/>
            <a:ext cx="3392424" cy="384048"/>
          </a:xfrm>
          <a:prstGeom prst="rect">
            <a:avLst/>
          </a:prstGeom>
          <a:solidFill>
            <a:srgbClr val="FFFDF0"/>
          </a:solidFill>
          <a:ln w="12700">
            <a:solidFill>
              <a:srgbClr val="D4D09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2511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transaction_id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498530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customer_id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5645506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product_id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630570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total_amount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696589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432511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T-00142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498530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88291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5645506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P-09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630570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299.98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696589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4297680" y="3675888"/>
            <a:ext cx="3392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transformed into  ↓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297680" y="3867912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325112" y="3877056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INTERMEDIATE (int_sales_enriched)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4297680" y="4041648"/>
            <a:ext cx="3392424" cy="384048"/>
          </a:xfrm>
          <a:prstGeom prst="rect">
            <a:avLst/>
          </a:prstGeom>
          <a:solidFill>
            <a:srgbClr val="EAF6F8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25112" y="405993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transaction_id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4985309" y="405993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customer_segment</a:t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5645506" y="405993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</a:t>
            </a:r>
            <a:endParaRPr lang="en-US" sz="650" dirty="0"/>
          </a:p>
        </p:txBody>
      </p:sp>
      <p:sp>
        <p:nvSpPr>
          <p:cNvPr id="77" name="Text 75"/>
          <p:cNvSpPr/>
          <p:nvPr/>
        </p:nvSpPr>
        <p:spPr>
          <a:xfrm>
            <a:off x="6305702" y="405993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product_category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6965899" y="405993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total_amount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4325112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T-00142</a:t>
            </a:r>
            <a:endParaRPr lang="en-US" sz="650" dirty="0"/>
          </a:p>
        </p:txBody>
      </p:sp>
      <p:sp>
        <p:nvSpPr>
          <p:cNvPr id="80" name="Text 78"/>
          <p:cNvSpPr/>
          <p:nvPr/>
        </p:nvSpPr>
        <p:spPr>
          <a:xfrm>
            <a:off x="4985309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Premier</a:t>
            </a:r>
            <a:endParaRPr lang="en-US" sz="650" dirty="0"/>
          </a:p>
        </p:txBody>
      </p:sp>
      <p:sp>
        <p:nvSpPr>
          <p:cNvPr id="81" name="Text 79"/>
          <p:cNvSpPr/>
          <p:nvPr/>
        </p:nvSpPr>
        <p:spPr>
          <a:xfrm>
            <a:off x="5645506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Northeast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6305702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Electronics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6965899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299.98</a:t>
            </a:r>
            <a:endParaRPr lang="en-US" sz="650" dirty="0"/>
          </a:p>
        </p:txBody>
      </p:sp>
      <p:sp>
        <p:nvSpPr>
          <p:cNvPr id="84" name="Text 82"/>
          <p:cNvSpPr/>
          <p:nvPr/>
        </p:nvSpPr>
        <p:spPr>
          <a:xfrm>
            <a:off x="4297680" y="4453128"/>
            <a:ext cx="3392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Joined 3 tables  ✓ Segment applied  ✓ Category resolved  ✓ Stored as TABLE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297680" y="4654296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34256" y="4663440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RULES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325112" y="4837176"/>
            <a:ext cx="3364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across multiple staging models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segmentation and classification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derived fields (e.g. margin %)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as TABLE — faster for marts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with int_ prefix by convention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 by fct_, dim_, and report models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8092440" y="886968"/>
            <a:ext cx="3547872" cy="5650992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092440" y="886968"/>
            <a:ext cx="64008" cy="56509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092440" y="886968"/>
            <a:ext cx="3547872" cy="49377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211312" y="93268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Marts Layer</a:t>
            </a:r>
            <a:endParaRPr lang="en-US" sz="1300" dirty="0"/>
          </a:p>
        </p:txBody>
      </p:sp>
      <p:sp>
        <p:nvSpPr>
          <p:cNvPr id="92" name="Text 90"/>
          <p:cNvSpPr/>
          <p:nvPr/>
        </p:nvSpPr>
        <p:spPr>
          <a:xfrm>
            <a:off x="8211312" y="1179576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"The Aggregator"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8211312" y="1453896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enriched rows are still one-row-per-transaction — millions of them. A CTO dashboard doesn't show individual sales; it shows 'total revenue by channel, today vs yesterday'.</a:t>
            </a:r>
            <a:endParaRPr lang="en-US" sz="780" dirty="0"/>
          </a:p>
        </p:txBody>
      </p:sp>
      <p:sp>
        <p:nvSpPr>
          <p:cNvPr id="94" name="Text 92"/>
          <p:cNvSpPr/>
          <p:nvPr/>
        </p:nvSpPr>
        <p:spPr>
          <a:xfrm>
            <a:off x="8211312" y="1975104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Marts layer aggregates the intermediate data to the exact business grain your BI tool needs — daily, by channel, by region, by product category.</a:t>
            </a:r>
            <a:endParaRPr lang="en-US" sz="780" dirty="0"/>
          </a:p>
        </p:txBody>
      </p:sp>
      <p:sp>
        <p:nvSpPr>
          <p:cNvPr id="95" name="Text 93"/>
          <p:cNvSpPr/>
          <p:nvPr/>
        </p:nvSpPr>
        <p:spPr>
          <a:xfrm>
            <a:off x="8211312" y="2496312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mart model has dbt tests attached: if revenue ever goes negative, or a customer ID doesn't exist in the customer table, the pipeline fails before bad data reaches any dashboard.</a:t>
            </a:r>
            <a:endParaRPr lang="en-US" sz="780" dirty="0"/>
          </a:p>
        </p:txBody>
      </p:sp>
      <p:sp>
        <p:nvSpPr>
          <p:cNvPr id="96" name="Shape 94"/>
          <p:cNvSpPr/>
          <p:nvPr/>
        </p:nvSpPr>
        <p:spPr>
          <a:xfrm>
            <a:off x="8183880" y="3081528"/>
            <a:ext cx="3392424" cy="164592"/>
          </a:xfrm>
          <a:prstGeom prst="rect">
            <a:avLst/>
          </a:prstGeom>
          <a:solidFill>
            <a:srgbClr val="FFF8E6"/>
          </a:solidFill>
          <a:ln w="12700">
            <a:solidFill>
              <a:srgbClr val="D4C06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211312" y="3090672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int_sales_enriched (row per transaction)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8183880" y="3255264"/>
            <a:ext cx="3392424" cy="749808"/>
          </a:xfrm>
          <a:prstGeom prst="rect">
            <a:avLst/>
          </a:prstGeom>
          <a:solidFill>
            <a:srgbClr val="FFFDF0"/>
          </a:solidFill>
          <a:ln w="12700">
            <a:solidFill>
              <a:srgbClr val="D4D09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821131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txn_ts</a:t>
            </a:r>
            <a:endParaRPr lang="en-US" sz="650" dirty="0"/>
          </a:p>
        </p:txBody>
      </p:sp>
      <p:sp>
        <p:nvSpPr>
          <p:cNvPr id="100" name="Text 98"/>
          <p:cNvSpPr/>
          <p:nvPr/>
        </p:nvSpPr>
        <p:spPr>
          <a:xfrm>
            <a:off x="887150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endParaRPr lang="en-US" sz="650" dirty="0"/>
          </a:p>
        </p:txBody>
      </p:sp>
      <p:sp>
        <p:nvSpPr>
          <p:cNvPr id="101" name="Text 99"/>
          <p:cNvSpPr/>
          <p:nvPr/>
        </p:nvSpPr>
        <p:spPr>
          <a:xfrm>
            <a:off x="9531706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</a:t>
            </a:r>
            <a:endParaRPr lang="en-US" sz="650" dirty="0"/>
          </a:p>
        </p:txBody>
      </p:sp>
      <p:sp>
        <p:nvSpPr>
          <p:cNvPr id="102" name="Text 100"/>
          <p:cNvSpPr/>
          <p:nvPr/>
        </p:nvSpPr>
        <p:spPr>
          <a:xfrm>
            <a:off x="1019190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</a:t>
            </a:r>
            <a:endParaRPr lang="en-US" sz="650" dirty="0"/>
          </a:p>
        </p:txBody>
      </p:sp>
      <p:sp>
        <p:nvSpPr>
          <p:cNvPr id="103" name="Text 101"/>
          <p:cNvSpPr/>
          <p:nvPr/>
        </p:nvSpPr>
        <p:spPr>
          <a:xfrm>
            <a:off x="1085209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total_amount</a:t>
            </a:r>
            <a:endParaRPr lang="en-US" sz="650" dirty="0"/>
          </a:p>
        </p:txBody>
      </p:sp>
      <p:sp>
        <p:nvSpPr>
          <p:cNvPr id="104" name="Text 102"/>
          <p:cNvSpPr/>
          <p:nvPr/>
        </p:nvSpPr>
        <p:spPr>
          <a:xfrm>
            <a:off x="821131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</a:t>
            </a:r>
            <a:endParaRPr lang="en-US" sz="650" dirty="0"/>
          </a:p>
        </p:txBody>
      </p:sp>
      <p:sp>
        <p:nvSpPr>
          <p:cNvPr id="105" name="Text 103"/>
          <p:cNvSpPr/>
          <p:nvPr/>
        </p:nvSpPr>
        <p:spPr>
          <a:xfrm>
            <a:off x="887150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9531706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Electronics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1019190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Northeast</a:t>
            </a:r>
            <a:endParaRPr lang="en-US" sz="650" dirty="0"/>
          </a:p>
        </p:txBody>
      </p:sp>
      <p:sp>
        <p:nvSpPr>
          <p:cNvPr id="108" name="Text 106"/>
          <p:cNvSpPr/>
          <p:nvPr/>
        </p:nvSpPr>
        <p:spPr>
          <a:xfrm>
            <a:off x="1085209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299.98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8211312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8871509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9531706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Electronics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10191902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Northeast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10852099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149.99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8211312" y="382219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</a:t>
            </a:r>
            <a:endParaRPr lang="en-US" sz="650" dirty="0"/>
          </a:p>
        </p:txBody>
      </p:sp>
      <p:sp>
        <p:nvSpPr>
          <p:cNvPr id="115" name="Text 113"/>
          <p:cNvSpPr/>
          <p:nvPr/>
        </p:nvSpPr>
        <p:spPr>
          <a:xfrm>
            <a:off x="8871509" y="382219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mobile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9531706" y="382219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Apparel</a:t>
            </a:r>
            <a:endParaRPr lang="en-US" sz="650" dirty="0"/>
          </a:p>
        </p:txBody>
      </p:sp>
      <p:sp>
        <p:nvSpPr>
          <p:cNvPr id="117" name="Text 115"/>
          <p:cNvSpPr/>
          <p:nvPr/>
        </p:nvSpPr>
        <p:spPr>
          <a:xfrm>
            <a:off x="10191902" y="382219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Southeast</a:t>
            </a:r>
            <a:endParaRPr lang="en-US" sz="650" dirty="0"/>
          </a:p>
        </p:txBody>
      </p:sp>
      <p:sp>
        <p:nvSpPr>
          <p:cNvPr id="118" name="Text 116"/>
          <p:cNvSpPr/>
          <p:nvPr/>
        </p:nvSpPr>
        <p:spPr>
          <a:xfrm>
            <a:off x="10852099" y="382219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59.99</a:t>
            </a:r>
            <a:endParaRPr lang="en-US" sz="650" dirty="0"/>
          </a:p>
        </p:txBody>
      </p:sp>
      <p:sp>
        <p:nvSpPr>
          <p:cNvPr id="119" name="Text 117"/>
          <p:cNvSpPr/>
          <p:nvPr/>
        </p:nvSpPr>
        <p:spPr>
          <a:xfrm>
            <a:off x="8183880" y="4041648"/>
            <a:ext cx="3392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transformed into  ↓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8183880" y="4233672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8211312" y="4242816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MARTS (fct_daily_sales — aggregated)</a:t>
            </a:r>
            <a:endParaRPr lang="en-US" sz="700" dirty="0"/>
          </a:p>
        </p:txBody>
      </p:sp>
      <p:sp>
        <p:nvSpPr>
          <p:cNvPr id="122" name="Shape 120"/>
          <p:cNvSpPr/>
          <p:nvPr/>
        </p:nvSpPr>
        <p:spPr>
          <a:xfrm>
            <a:off x="8183880" y="4407408"/>
            <a:ext cx="3392424" cy="566928"/>
          </a:xfrm>
          <a:prstGeom prst="rect">
            <a:avLst/>
          </a:prstGeom>
          <a:solidFill>
            <a:srgbClr val="EAF6F8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211312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sales_date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761476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9311640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</a:t>
            </a:r>
            <a:endParaRPr lang="en-US" sz="650" dirty="0"/>
          </a:p>
        </p:txBody>
      </p:sp>
      <p:sp>
        <p:nvSpPr>
          <p:cNvPr id="126" name="Text 124"/>
          <p:cNvSpPr/>
          <p:nvPr/>
        </p:nvSpPr>
        <p:spPr>
          <a:xfrm>
            <a:off x="9861804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11968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txn_count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962132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revenue</a:t>
            </a:r>
            <a:endParaRPr lang="en-US" sz="650" dirty="0"/>
          </a:p>
        </p:txBody>
      </p:sp>
      <p:sp>
        <p:nvSpPr>
          <p:cNvPr id="129" name="Text 127"/>
          <p:cNvSpPr/>
          <p:nvPr/>
        </p:nvSpPr>
        <p:spPr>
          <a:xfrm>
            <a:off x="8211312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</a:t>
            </a:r>
            <a:endParaRPr lang="en-US" sz="650" dirty="0"/>
          </a:p>
        </p:txBody>
      </p:sp>
      <p:sp>
        <p:nvSpPr>
          <p:cNvPr id="130" name="Text 128"/>
          <p:cNvSpPr/>
          <p:nvPr/>
        </p:nvSpPr>
        <p:spPr>
          <a:xfrm>
            <a:off x="8761476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9311640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Electronics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9861804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Northeast</a:t>
            </a:r>
            <a:endParaRPr lang="en-US" sz="650" dirty="0"/>
          </a:p>
        </p:txBody>
      </p:sp>
      <p:sp>
        <p:nvSpPr>
          <p:cNvPr id="133" name="Text 131"/>
          <p:cNvSpPr/>
          <p:nvPr/>
        </p:nvSpPr>
        <p:spPr>
          <a:xfrm>
            <a:off x="10411968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650" dirty="0"/>
          </a:p>
        </p:txBody>
      </p:sp>
      <p:sp>
        <p:nvSpPr>
          <p:cNvPr id="134" name="Text 132"/>
          <p:cNvSpPr/>
          <p:nvPr/>
        </p:nvSpPr>
        <p:spPr>
          <a:xfrm>
            <a:off x="10962132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449.97</a:t>
            </a:r>
            <a:endParaRPr lang="en-US" sz="650" dirty="0"/>
          </a:p>
        </p:txBody>
      </p:sp>
      <p:sp>
        <p:nvSpPr>
          <p:cNvPr id="135" name="Text 133"/>
          <p:cNvSpPr/>
          <p:nvPr/>
        </p:nvSpPr>
        <p:spPr>
          <a:xfrm>
            <a:off x="8211312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</a:t>
            </a:r>
            <a:endParaRPr lang="en-US" sz="650" dirty="0"/>
          </a:p>
        </p:txBody>
      </p:sp>
      <p:sp>
        <p:nvSpPr>
          <p:cNvPr id="136" name="Text 134"/>
          <p:cNvSpPr/>
          <p:nvPr/>
        </p:nvSpPr>
        <p:spPr>
          <a:xfrm>
            <a:off x="8761476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mobile</a:t>
            </a:r>
            <a:endParaRPr lang="en-US" sz="650" dirty="0"/>
          </a:p>
        </p:txBody>
      </p:sp>
      <p:sp>
        <p:nvSpPr>
          <p:cNvPr id="137" name="Text 135"/>
          <p:cNvSpPr/>
          <p:nvPr/>
        </p:nvSpPr>
        <p:spPr>
          <a:xfrm>
            <a:off x="9311640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Apparel</a:t>
            </a:r>
            <a:endParaRPr lang="en-US" sz="650" dirty="0"/>
          </a:p>
        </p:txBody>
      </p:sp>
      <p:sp>
        <p:nvSpPr>
          <p:cNvPr id="138" name="Text 136"/>
          <p:cNvSpPr/>
          <p:nvPr/>
        </p:nvSpPr>
        <p:spPr>
          <a:xfrm>
            <a:off x="9861804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Southeast</a:t>
            </a:r>
            <a:endParaRPr lang="en-US" sz="650" dirty="0"/>
          </a:p>
        </p:txBody>
      </p:sp>
      <p:sp>
        <p:nvSpPr>
          <p:cNvPr id="139" name="Text 137"/>
          <p:cNvSpPr/>
          <p:nvPr/>
        </p:nvSpPr>
        <p:spPr>
          <a:xfrm>
            <a:off x="10411968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650" dirty="0"/>
          </a:p>
        </p:txBody>
      </p:sp>
      <p:sp>
        <p:nvSpPr>
          <p:cNvPr id="140" name="Text 138"/>
          <p:cNvSpPr/>
          <p:nvPr/>
        </p:nvSpPr>
        <p:spPr>
          <a:xfrm>
            <a:off x="10962132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59.99</a:t>
            </a:r>
            <a:endParaRPr lang="en-US" sz="650" dirty="0"/>
          </a:p>
        </p:txBody>
      </p:sp>
      <p:sp>
        <p:nvSpPr>
          <p:cNvPr id="141" name="Text 139"/>
          <p:cNvSpPr/>
          <p:nvPr/>
        </p:nvSpPr>
        <p:spPr>
          <a:xfrm>
            <a:off x="8183880" y="5001768"/>
            <a:ext cx="3392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Aggregated  ✓ Business grain  ✓ dbt-tested  ✓ BI-ready</a:t>
            </a:r>
            <a:endParaRPr lang="en-US" sz="700" dirty="0"/>
          </a:p>
        </p:txBody>
      </p:sp>
      <p:sp>
        <p:nvSpPr>
          <p:cNvPr id="142" name="Shape 140"/>
          <p:cNvSpPr/>
          <p:nvPr/>
        </p:nvSpPr>
        <p:spPr>
          <a:xfrm>
            <a:off x="8183880" y="5202936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220456" y="5212080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RULES</a:t>
            </a:r>
            <a:endParaRPr lang="en-US" sz="700" dirty="0"/>
          </a:p>
        </p:txBody>
      </p:sp>
      <p:sp>
        <p:nvSpPr>
          <p:cNvPr id="144" name="Text 142"/>
          <p:cNvSpPr/>
          <p:nvPr/>
        </p:nvSpPr>
        <p:spPr>
          <a:xfrm>
            <a:off x="8211312" y="5385816"/>
            <a:ext cx="3364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to the grain BI tools need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 tables: measurable events over time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 tables: descriptive attributes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tests run before data is visible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Auto-documented with dbt docs generate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Tableau / Power BI queries</a:t>
            </a:r>
            <a:endParaRPr lang="en-US" sz="800" dirty="0"/>
          </a:p>
        </p:txBody>
      </p:sp>
      <p:sp>
        <p:nvSpPr>
          <p:cNvPr id="145" name="Shape 143"/>
          <p:cNvSpPr/>
          <p:nvPr/>
        </p:nvSpPr>
        <p:spPr>
          <a:xfrm>
            <a:off x="3945636" y="3712464"/>
            <a:ext cx="301752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037076" y="355701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7D8E"/>
                </a:solidFill>
              </a:rPr>
              <a:t>▶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7831836" y="3712464"/>
            <a:ext cx="301752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7923276" y="355701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7D8E"/>
                </a:solidFill>
              </a:rPr>
              <a:t>▶</a:t>
            </a:r>
            <a:endParaRPr lang="en-US" sz="1300" dirty="0"/>
          </a:p>
        </p:txBody>
      </p:sp>
      <p:sp>
        <p:nvSpPr>
          <p:cNvPr id="149" name="Text 147"/>
          <p:cNvSpPr/>
          <p:nvPr/>
        </p:nvSpPr>
        <p:spPr>
          <a:xfrm>
            <a:off x="365760" y="6638544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dbt-oracle Layer Architecture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789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 Tower for Your Entire Data Operation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921240" y="182880"/>
            <a:ext cx="1874520" cy="694944"/>
          </a:xfrm>
          <a:prstGeom prst="rect">
            <a:avLst/>
          </a:prstGeom>
          <a:solidFill>
            <a:srgbClr val="FFFFFF">
              <a:alpha val="20000"/>
            </a:srgbClr>
          </a:solidFill>
          <a:ln w="19050">
            <a:solidFill>
              <a:srgbClr val="D6E8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939528" y="210312"/>
            <a:ext cx="1837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Standard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Engine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11521440" cy="512064"/>
          </a:xfrm>
          <a:prstGeom prst="rect">
            <a:avLst/>
          </a:prstGeom>
          <a:solidFill>
            <a:srgbClr val="FEF4F4"/>
          </a:solidFill>
          <a:ln w="19050">
            <a:solidFill>
              <a:srgbClr val="C030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216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The Problem Without Apache Airflow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5488" y="139903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cron jobs firing blindly, no dependency management, no retry logic, no visibility. One failure cascades silently — your CTO sees stale numbers on Monday morning with no idea why.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" y="1828800"/>
            <a:ext cx="3566160" cy="425196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828800"/>
            <a:ext cx="64008" cy="425196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1828800"/>
            <a:ext cx="3566160" cy="457200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   What It 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8056" y="2377440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056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0664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Workflow Orchestrator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defines, schedules, and monitors data pipelines as code — not as brittle cron scripts or drag-and-drop GUIs that no one can version-control.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48056" y="3675888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0664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DAGs: Directed Acyclic Graphs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pipeline is a DAG — a visual graph of tasks with explicit dependencies. Task B only runs after Task A succeeds. No guesswork, no race conditions.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48056" y="4974336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0664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Code-First, Git-Native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are Python files committed to Git. Every change is reviewed, versioned, and auditable — the same engineering discipline applied to your application code.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224528" y="1828800"/>
            <a:ext cx="3566160" cy="4251960"/>
          </a:xfrm>
          <a:prstGeom prst="rect">
            <a:avLst/>
          </a:prstGeom>
          <a:solidFill>
            <a:srgbClr val="FAF5FF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24528" y="1828800"/>
            <a:ext cx="64008" cy="4251960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24528" y="1828800"/>
            <a:ext cx="3566160" cy="457200"/>
          </a:xfrm>
          <a:prstGeom prst="rect">
            <a:avLst/>
          </a:prstGeom>
          <a:solidFill>
            <a:srgbClr val="E8D8F8"/>
          </a:solidFill>
          <a:ln w="12700">
            <a:solidFill>
              <a:srgbClr val="E8D8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43400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 Why We Need It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52544" y="2377440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52544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645152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Enforcement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61688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SFTP file hasn't landed, dbt never runs. If dbt tests fail, the warehouse never gets updated. The pipeline is self-protecting by design.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352544" y="3675888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52544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45152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Retry &amp; Alerting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361688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blip at 3 AM? Airflow retries with exponential backoff and pages the on-call engineer — not the CTO. Failures are caught before business hours.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352544" y="4974336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52544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45152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Observability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61688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task execution is logged with duration, status, and lineage. Audit trails are built-in. When a regulator asks 'when did this data arrive?' — you have the answer in two clicks.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8129016" y="1828800"/>
            <a:ext cx="3566160" cy="4251960"/>
          </a:xfrm>
          <a:prstGeom prst="rect">
            <a:avLst/>
          </a:prstGeom>
          <a:solidFill>
            <a:srgbClr val="F0FAF5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29016" y="1828800"/>
            <a:ext cx="64008" cy="4251960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9016" y="1828800"/>
            <a:ext cx="3566160" cy="457200"/>
          </a:xfrm>
          <a:prstGeom prst="rect">
            <a:avLst/>
          </a:prstGeom>
          <a:solidFill>
            <a:srgbClr val="C8EDD8"/>
          </a:solidFill>
          <a:ln w="12700">
            <a:solidFill>
              <a:srgbClr val="C8EDD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47888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  In Our Architecture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257032" y="2377440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57032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549640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OpenShift / Kubernetes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66176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task runs in an isolated container via KubernetesPodOperator — no shared state, no resource contention. The platform scales horizontally with zero manual intervention.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257032" y="3675888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57032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549640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the Full SWP Pipeline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66176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is the single entry point: SFTP file detection → raw load → dbt transformations → data quality gates → warehouse publish. One DAG, full control.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257032" y="4974336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57032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549640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~1,000 Point-to-Point Jobs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66176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estate has ~1,000 RMJ jobs with no central oversight. Airflow collapses these into fewer than 100 orchestrated pipelines — reducing operational risk by 90%.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320040" y="6190488"/>
            <a:ext cx="11521440" cy="420624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5488" y="62362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Executive Takeaway: 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2670048" y="6236208"/>
            <a:ext cx="900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is not a tool — it is the operating system of your data platform. Without it, every pipeline is a liability. With it, every pipeline is an auditable, self-healing, observable asset.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365760" y="6675120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Apache Airflow on OpenShift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789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Core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 Discipline Your SQL Has Always Deserved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921240" y="182880"/>
            <a:ext cx="1874520" cy="694944"/>
          </a:xfrm>
          <a:prstGeom prst="rect">
            <a:avLst/>
          </a:prstGeom>
          <a:solidFill>
            <a:srgbClr val="FFFFFF">
              <a:alpha val="20000"/>
            </a:srgbClr>
          </a:solidFill>
          <a:ln w="19050">
            <a:solidFill>
              <a:srgbClr val="D6E8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939528" y="210312"/>
            <a:ext cx="1837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50,000+ Companies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dbt in Prod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11521440" cy="512064"/>
          </a:xfrm>
          <a:prstGeom prst="rect">
            <a:avLst/>
          </a:prstGeom>
          <a:solidFill>
            <a:srgbClr val="FEF4F4"/>
          </a:solidFill>
          <a:ln w="19050">
            <a:solidFill>
              <a:srgbClr val="C030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216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The Problem Without dbt Core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5488" y="139903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buried in stored procedures no one owns, transformations copy-pasted across 50 reports, zero test coverage, zero documentation. A single field rename breaks three dashboards and no one knows until the CFO calls.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" y="1828800"/>
            <a:ext cx="3566160" cy="425196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828800"/>
            <a:ext cx="64008" cy="425196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1828800"/>
            <a:ext cx="3566160" cy="457200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 What It 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8056" y="2377440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056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0664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Transformation Framework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turns raw SQL SELECT statements into a fully managed, tested, and documented data transformation pipeline. Engineers write SQL; dbt handles everything else.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48056" y="3675888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0664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Three-Layer Architecture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(clean raw data) → Intermediate (join + enrich) → Marts (business-grain aggregates). Every layer has a defined purpose — no spaghetti SQL, no mystery models.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48056" y="4974336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0664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ref() and source() — Built-In Lineage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hardcoding table names, models reference each other with {{ ref('model') }}. dbt builds a full dependency graph automatically — and so does your documentation.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224528" y="1828800"/>
            <a:ext cx="3566160" cy="4251960"/>
          </a:xfrm>
          <a:prstGeom prst="rect">
            <a:avLst/>
          </a:prstGeom>
          <a:solidFill>
            <a:srgbClr val="FAF5FF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24528" y="1828800"/>
            <a:ext cx="64008" cy="4251960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24528" y="1828800"/>
            <a:ext cx="3566160" cy="457200"/>
          </a:xfrm>
          <a:prstGeom prst="rect">
            <a:avLst/>
          </a:prstGeom>
          <a:solidFill>
            <a:srgbClr val="E8D8F8"/>
          </a:solidFill>
          <a:ln w="12700">
            <a:solidFill>
              <a:srgbClr val="E8D8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43400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 Why We Need It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52544" y="2377440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52544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645152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Version-Controlled Business Logic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61688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transformation lives in Git. Every change goes through code review. Business logic is no longer tribal knowledge sitting in someone's head or a stored procedure from 2014.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352544" y="3675888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52544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45152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Data Quality Tests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361688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tests run on every pipeline execution: not_null, unique, referential integrity, accepted values. Bad data is caught before it reaches a dashboard — not after an executive flags it.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352544" y="4974336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52544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45152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Documentation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61688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docs generate produces a full data catalogue — every model, every column, every dependency, every owner — with lineage graphs a CTO can actually read. No Confluence page required.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8129016" y="1828800"/>
            <a:ext cx="3566160" cy="4251960"/>
          </a:xfrm>
          <a:prstGeom prst="rect">
            <a:avLst/>
          </a:prstGeom>
          <a:solidFill>
            <a:srgbClr val="F0FAF5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29016" y="1828800"/>
            <a:ext cx="64008" cy="4251960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9016" y="1828800"/>
            <a:ext cx="3566160" cy="457200"/>
          </a:xfrm>
          <a:prstGeom prst="rect">
            <a:avLst/>
          </a:prstGeom>
          <a:solidFill>
            <a:srgbClr val="C8EDD8"/>
          </a:solidFill>
          <a:ln w="12700">
            <a:solidFill>
              <a:srgbClr val="C8EDD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47888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  In Our Architecture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257032" y="2377440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57032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549640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dbt-oracle on OpenShift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66176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run dbt-oracle 1.8.x targeting the SEI SWP Oracle schema directly — no intermediate data lake required for Day 1. Transformations execute inside the database, maximising performance.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257032" y="3675888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57032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549640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Triggered by Airflow, Not Humans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66176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analyst manually runs dbt. Airflow's KubernetesPodOperator spins up a dbt container, executes models, runs tests, and reports pass/fail — fully automated, fully auditable.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257032" y="4974336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57032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549640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~1,000 RMJ Point-to-Point Jobs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66176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Advent Advantage estate has hundreds of bespoke scripts. dbt collapses these into fewer than 100 models with shared logic, shared tests, and a single source of truth for every downstream consumer.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320040" y="6190488"/>
            <a:ext cx="11521440" cy="420624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5488" y="62362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Executive Takeaway: 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2670048" y="6236208"/>
            <a:ext cx="900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is not a reporting tool — it is the engineering layer that makes your data trustworthy at scale. It is the difference between a data team that ships and one that firefights.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365760" y="6675120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dbt-oracle on OpenShift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2026-04-15T20:20:17Z</dcterms:created>
  <dcterms:modified xsi:type="dcterms:W3CDTF">2026-04-15T20:20:17Z</dcterms:modified>
</cp:coreProperties>
</file>