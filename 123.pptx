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CE6F462-5866-5E43-B2DA-02E9250F09F5}" type="datetimeFigureOut">
              <a:rPr lang="en-US" smtClean="0"/>
              <a:t>3/12/2026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763112E-019D-7C42-A6B7-BBEEFCB0EED5}" type="slidenum">
              <a:rPr lang="en-US" smtClean="0"/>
              <a:t>‹#›</a:t>
            </a:fld>
            <a:endParaRPr lang="en-US"/>
          </a:p>
        </p:txBody>
      </p:sp>
    </p:spTree>
    <p:extLst>
      <p:ext uri="{BB962C8B-B14F-4D97-AF65-F5344CB8AC3E}">
        <p14:creationId xmlns:p14="http://schemas.microsoft.com/office/powerpoint/2010/main" val="907791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182880" y="0"/>
            <a:ext cx="8961120" cy="6400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6217920" y="274320"/>
            <a:ext cx="4114800" cy="4114800"/>
          </a:xfrm>
          <a:prstGeom prst="ellipse">
            <a:avLst/>
          </a:prstGeom>
          <a:solidFill>
            <a:srgbClr val="028090">
              <a:alpha val="9000"/>
            </a:srgbClr>
          </a:solidFill>
          <a:ln w="12700">
            <a:solidFill>
              <a:srgbClr val="028090">
                <a:alpha val="22000"/>
              </a:srgbClr>
            </a:solidFill>
            <a:prstDash val="solid"/>
          </a:ln>
        </p:spPr>
        <p:txBody>
          <a:bodyPr/>
          <a:lstStyle/>
          <a:p>
            <a:endParaRPr lang="en-US"/>
          </a:p>
        </p:txBody>
      </p:sp>
      <p:sp>
        <p:nvSpPr>
          <p:cNvPr id="5" name="Shape 3"/>
          <p:cNvSpPr/>
          <p:nvPr/>
        </p:nvSpPr>
        <p:spPr>
          <a:xfrm>
            <a:off x="7132320" y="1097280"/>
            <a:ext cx="2560320" cy="2560320"/>
          </a:xfrm>
          <a:prstGeom prst="ellipse">
            <a:avLst/>
          </a:prstGeom>
          <a:solidFill>
            <a:srgbClr val="00A896">
              <a:alpha val="14000"/>
            </a:srgbClr>
          </a:solidFill>
          <a:ln w="12700">
            <a:solidFill>
              <a:srgbClr val="00A896">
                <a:alpha val="28000"/>
              </a:srgbClr>
            </a:solidFill>
            <a:prstDash val="solid"/>
          </a:ln>
        </p:spPr>
        <p:txBody>
          <a:bodyPr/>
          <a:lstStyle/>
          <a:p>
            <a:endParaRPr lang="en-US"/>
          </a:p>
        </p:txBody>
      </p:sp>
      <p:sp>
        <p:nvSpPr>
          <p:cNvPr id="6" name="Shape 4"/>
          <p:cNvSpPr/>
          <p:nvPr/>
        </p:nvSpPr>
        <p:spPr>
          <a:xfrm>
            <a:off x="384048" y="384048"/>
            <a:ext cx="2377440" cy="420624"/>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384048" y="384048"/>
            <a:ext cx="2377440" cy="420624"/>
          </a:xfrm>
          <a:prstGeom prst="rect">
            <a:avLst/>
          </a:prstGeom>
          <a:noFill/>
          <a:ln/>
        </p:spPr>
        <p:txBody>
          <a:bodyPr wrap="square" lIns="0" tIns="0" rIns="0" bIns="0" rtlCol="0" anchor="ctr"/>
          <a:lstStyle/>
          <a:p>
            <a:pPr marL="0" indent="0" algn="ctr">
              <a:buNone/>
            </a:pPr>
            <a:r>
              <a:rPr lang="en-US" sz="800" b="1" kern="0" spc="60" dirty="0">
                <a:solidFill>
                  <a:srgbClr val="FFFFFF"/>
                </a:solidFill>
              </a:rPr>
              <a:t>BBH ENTERPRISE ARCHITECTURE</a:t>
            </a:r>
            <a:endParaRPr lang="en-US" sz="800" dirty="0"/>
          </a:p>
        </p:txBody>
      </p:sp>
      <p:sp>
        <p:nvSpPr>
          <p:cNvPr id="8" name="Text 6"/>
          <p:cNvSpPr/>
          <p:nvPr/>
        </p:nvSpPr>
        <p:spPr>
          <a:xfrm>
            <a:off x="384048" y="987552"/>
            <a:ext cx="7315200" cy="146304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Open Banking</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Data Exchange Architecture</a:t>
            </a:r>
            <a:endParaRPr lang="en-US" sz="4000" dirty="0"/>
          </a:p>
        </p:txBody>
      </p:sp>
      <p:sp>
        <p:nvSpPr>
          <p:cNvPr id="9" name="Text 7"/>
          <p:cNvSpPr/>
          <p:nvPr/>
        </p:nvSpPr>
        <p:spPr>
          <a:xfrm>
            <a:off x="384048" y="2542032"/>
            <a:ext cx="7132320" cy="402336"/>
          </a:xfrm>
          <a:prstGeom prst="rect">
            <a:avLst/>
          </a:prstGeom>
          <a:noFill/>
          <a:ln/>
        </p:spPr>
        <p:txBody>
          <a:bodyPr wrap="square" rtlCol="0" anchor="ctr"/>
          <a:lstStyle/>
          <a:p>
            <a:pPr marL="0" indent="0">
              <a:buNone/>
            </a:pPr>
            <a:r>
              <a:rPr lang="en-US" sz="1500" dirty="0">
                <a:solidFill>
                  <a:srgbClr val="02C39A"/>
                </a:solidFill>
                <a:latin typeface="Calibri" pitchFamily="34" charset="0"/>
                <a:ea typeface="Calibri" pitchFamily="34" charset="-122"/>
                <a:cs typeface="Calibri" pitchFamily="34" charset="-120"/>
              </a:rPr>
              <a:t>BBH × Plaid Integration | Architecture Review Board Presentation</a:t>
            </a:r>
            <a:endParaRPr lang="en-US" sz="1500" dirty="0"/>
          </a:p>
        </p:txBody>
      </p:sp>
      <p:sp>
        <p:nvSpPr>
          <p:cNvPr id="10" name="Shape 8"/>
          <p:cNvSpPr/>
          <p:nvPr/>
        </p:nvSpPr>
        <p:spPr>
          <a:xfrm>
            <a:off x="384048" y="3035808"/>
            <a:ext cx="5029200" cy="36576"/>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384048" y="3145536"/>
            <a:ext cx="8229600" cy="292608"/>
          </a:xfrm>
          <a:prstGeom prst="rect">
            <a:avLst/>
          </a:prstGeom>
          <a:noFill/>
          <a:ln/>
        </p:spPr>
        <p:txBody>
          <a:bodyPr wrap="square" rtlCol="0" anchor="ctr"/>
          <a:lstStyle/>
          <a:p>
            <a:pPr marL="0" indent="0">
              <a:buNone/>
            </a:pPr>
            <a:r>
              <a:rPr lang="en-US" sz="1050" b="1" dirty="0">
                <a:solidFill>
                  <a:srgbClr val="8FA3A8"/>
                </a:solidFill>
                <a:latin typeface="Calibri" pitchFamily="34" charset="0"/>
                <a:ea typeface="Calibri" pitchFamily="34" charset="-122"/>
                <a:cs typeface="Calibri" pitchFamily="34" charset="-120"/>
              </a:rPr>
              <a:t>Presented by:  </a:t>
            </a:r>
            <a:r>
              <a:rPr lang="en-US" sz="1050" dirty="0">
                <a:solidFill>
                  <a:srgbClr val="8FA3A8"/>
                </a:solidFill>
                <a:latin typeface="Calibri" pitchFamily="34" charset="0"/>
                <a:ea typeface="Calibri" pitchFamily="34" charset="-122"/>
                <a:cs typeface="Calibri" pitchFamily="34" charset="-120"/>
              </a:rPr>
              <a:t>BBH Solution Architecture &amp; Enterprise Architecture  </a:t>
            </a:r>
            <a:r>
              <a:rPr lang="en-US" sz="1050" dirty="0">
                <a:solidFill>
                  <a:srgbClr val="028090"/>
                </a:solidFill>
                <a:latin typeface="Calibri" pitchFamily="34" charset="0"/>
                <a:ea typeface="Calibri" pitchFamily="34" charset="-122"/>
                <a:cs typeface="Calibri" pitchFamily="34" charset="-120"/>
              </a:rPr>
              <a:t> |  </a:t>
            </a:r>
            <a:r>
              <a:rPr lang="en-US" sz="1050" dirty="0">
                <a:solidFill>
                  <a:srgbClr val="8FA3A8"/>
                </a:solidFill>
                <a:latin typeface="Calibri" pitchFamily="34" charset="0"/>
                <a:ea typeface="Calibri" pitchFamily="34" charset="-122"/>
                <a:cs typeface="Calibri" pitchFamily="34" charset="-120"/>
              </a:rPr>
              <a:t>March 2026</a:t>
            </a:r>
            <a:endParaRPr lang="en-US" sz="1050" dirty="0"/>
          </a:p>
        </p:txBody>
      </p:sp>
      <p:sp>
        <p:nvSpPr>
          <p:cNvPr id="12" name="Text 10"/>
          <p:cNvSpPr/>
          <p:nvPr/>
        </p:nvSpPr>
        <p:spPr>
          <a:xfrm>
            <a:off x="384048" y="3493008"/>
            <a:ext cx="8229600" cy="292608"/>
          </a:xfrm>
          <a:prstGeom prst="rect">
            <a:avLst/>
          </a:prstGeom>
          <a:noFill/>
          <a:ln/>
        </p:spPr>
        <p:txBody>
          <a:bodyPr wrap="square" rtlCol="0" anchor="ctr"/>
          <a:lstStyle/>
          <a:p>
            <a:pPr marL="0" indent="0">
              <a:buNone/>
            </a:pPr>
            <a:r>
              <a:rPr lang="en-US" sz="1050" b="1" dirty="0">
                <a:solidFill>
                  <a:srgbClr val="8FA3A8"/>
                </a:solidFill>
                <a:latin typeface="Calibri" pitchFamily="34" charset="0"/>
                <a:ea typeface="Calibri" pitchFamily="34" charset="-122"/>
                <a:cs typeface="Calibri" pitchFamily="34" charset="-120"/>
              </a:rPr>
              <a:t>Classification:  </a:t>
            </a:r>
            <a:r>
              <a:rPr lang="en-US" sz="1050" dirty="0">
                <a:solidFill>
                  <a:srgbClr val="8FA3A8"/>
                </a:solidFill>
                <a:latin typeface="Calibri" pitchFamily="34" charset="0"/>
                <a:ea typeface="Calibri" pitchFamily="34" charset="-122"/>
                <a:cs typeface="Calibri" pitchFamily="34" charset="-120"/>
              </a:rPr>
              <a:t>Confidential &amp; Proprietary  </a:t>
            </a:r>
            <a:r>
              <a:rPr lang="en-US" sz="1050" dirty="0">
                <a:solidFill>
                  <a:srgbClr val="028090"/>
                </a:solidFill>
                <a:latin typeface="Calibri" pitchFamily="34" charset="0"/>
                <a:ea typeface="Calibri" pitchFamily="34" charset="-122"/>
                <a:cs typeface="Calibri" pitchFamily="34" charset="-120"/>
              </a:rPr>
              <a:t> |  </a:t>
            </a:r>
            <a:r>
              <a:rPr lang="en-US" sz="1050" b="1" dirty="0">
                <a:solidFill>
                  <a:srgbClr val="8FA3A8"/>
                </a:solidFill>
                <a:latin typeface="Calibri" pitchFamily="34" charset="0"/>
                <a:ea typeface="Calibri" pitchFamily="34" charset="-122"/>
                <a:cs typeface="Calibri" pitchFamily="34" charset="-120"/>
              </a:rPr>
              <a:t>Audience:  </a:t>
            </a:r>
            <a:r>
              <a:rPr lang="en-US" sz="1050" dirty="0">
                <a:solidFill>
                  <a:srgbClr val="8FA3A8"/>
                </a:solidFill>
                <a:latin typeface="Calibri" pitchFamily="34" charset="0"/>
                <a:ea typeface="Calibri" pitchFamily="34" charset="-122"/>
                <a:cs typeface="Calibri" pitchFamily="34" charset="-120"/>
              </a:rPr>
              <a:t>Architecture Review Board · CISO · Risk</a:t>
            </a:r>
            <a:endParaRPr lang="en-US" sz="1050" dirty="0"/>
          </a:p>
        </p:txBody>
      </p:sp>
      <p:sp>
        <p:nvSpPr>
          <p:cNvPr id="13" name="Shape 11"/>
          <p:cNvSpPr/>
          <p:nvPr/>
        </p:nvSpPr>
        <p:spPr>
          <a:xfrm>
            <a:off x="0" y="4773168"/>
            <a:ext cx="9144000" cy="370332"/>
          </a:xfrm>
          <a:prstGeom prst="rect">
            <a:avLst/>
          </a:prstGeom>
          <a:solidFill>
            <a:srgbClr val="1A2F4E"/>
          </a:solidFill>
          <a:ln w="12700">
            <a:solidFill>
              <a:srgbClr val="1A2F4E"/>
            </a:solidFill>
            <a:prstDash val="solid"/>
          </a:ln>
        </p:spPr>
        <p:txBody>
          <a:bodyPr/>
          <a:lstStyle/>
          <a:p>
            <a:endParaRPr lang="en-US"/>
          </a:p>
        </p:txBody>
      </p:sp>
      <p:sp>
        <p:nvSpPr>
          <p:cNvPr id="14" name="Text 12"/>
          <p:cNvSpPr/>
          <p:nvPr/>
        </p:nvSpPr>
        <p:spPr>
          <a:xfrm>
            <a:off x="320040" y="4786884"/>
            <a:ext cx="8503920" cy="310896"/>
          </a:xfrm>
          <a:prstGeom prst="rect">
            <a:avLst/>
          </a:prstGeom>
          <a:noFill/>
          <a:ln/>
        </p:spPr>
        <p:txBody>
          <a:bodyPr wrap="square" rtlCol="0" anchor="ctr"/>
          <a:lstStyle/>
          <a:p>
            <a:pPr marL="0" indent="0">
              <a:buNone/>
            </a:pPr>
            <a:r>
              <a:rPr lang="en-US" sz="850" dirty="0">
                <a:solidFill>
                  <a:srgbClr val="8FA3A8"/>
                </a:solidFill>
              </a:rPr>
              <a:t>© 2026 Brown Brothers Harriman &amp; Co. | Confidential &amp; Proprietary | Not to be reproduced without the explicit consent of BBH &amp; Co.</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0"/>
            <a:ext cx="8229600" cy="749808"/>
          </a:xfrm>
          <a:prstGeom prst="rect">
            <a:avLst/>
          </a:prstGeom>
          <a:noFill/>
          <a:ln/>
        </p:spPr>
        <p:txBody>
          <a:bodyPr wrap="square" rtlCol="0" anchor="ctr"/>
          <a:lstStyle/>
          <a:p>
            <a:pPr marL="0" indent="0">
              <a:buNone/>
            </a:pPr>
            <a:r>
              <a:rPr lang="en-US" sz="2400" b="1" kern="0" spc="100" dirty="0">
                <a:solidFill>
                  <a:srgbClr val="FFFFFF"/>
                </a:solidFill>
                <a:latin typeface="Calibri" pitchFamily="34" charset="0"/>
                <a:ea typeface="Calibri" pitchFamily="34" charset="-122"/>
                <a:cs typeface="Calibri" pitchFamily="34" charset="-120"/>
              </a:rPr>
              <a:t>TABLE OF CONTENTS</a:t>
            </a:r>
            <a:endParaRPr lang="en-US" sz="2400" dirty="0"/>
          </a:p>
        </p:txBody>
      </p:sp>
      <p:sp>
        <p:nvSpPr>
          <p:cNvPr id="5" name="Shape 3"/>
          <p:cNvSpPr/>
          <p:nvPr/>
        </p:nvSpPr>
        <p:spPr>
          <a:xfrm>
            <a:off x="320040" y="969264"/>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320040" y="969264"/>
            <a:ext cx="530352" cy="512064"/>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320040" y="969264"/>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01</a:t>
            </a:r>
            <a:endParaRPr lang="en-US" sz="1500" dirty="0"/>
          </a:p>
        </p:txBody>
      </p:sp>
      <p:sp>
        <p:nvSpPr>
          <p:cNvPr id="8" name="Text 6"/>
          <p:cNvSpPr/>
          <p:nvPr/>
        </p:nvSpPr>
        <p:spPr>
          <a:xfrm>
            <a:off x="969264" y="1005840"/>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Executive Summary — What is Plaid &amp; Why BBH</a:t>
            </a:r>
            <a:endParaRPr lang="en-US" sz="1150" dirty="0"/>
          </a:p>
        </p:txBody>
      </p:sp>
      <p:sp>
        <p:nvSpPr>
          <p:cNvPr id="9" name="Text 7"/>
          <p:cNvSpPr/>
          <p:nvPr/>
        </p:nvSpPr>
        <p:spPr>
          <a:xfrm>
            <a:off x="969264" y="1252728"/>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Platform overview · 12,000+ institution network · Open banking strategic value</a:t>
            </a:r>
            <a:endParaRPr lang="en-US" sz="900" dirty="0"/>
          </a:p>
        </p:txBody>
      </p:sp>
      <p:sp>
        <p:nvSpPr>
          <p:cNvPr id="10" name="Shape 8"/>
          <p:cNvSpPr/>
          <p:nvPr/>
        </p:nvSpPr>
        <p:spPr>
          <a:xfrm>
            <a:off x="320040" y="1531620"/>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9"/>
          <p:cNvSpPr/>
          <p:nvPr/>
        </p:nvSpPr>
        <p:spPr>
          <a:xfrm>
            <a:off x="320040" y="1531620"/>
            <a:ext cx="530352" cy="512064"/>
          </a:xfrm>
          <a:prstGeom prst="rect">
            <a:avLst/>
          </a:prstGeom>
          <a:solidFill>
            <a:srgbClr val="1A2F4E"/>
          </a:solidFill>
          <a:ln w="12700">
            <a:solidFill>
              <a:srgbClr val="1A2F4E"/>
            </a:solidFill>
            <a:prstDash val="solid"/>
          </a:ln>
        </p:spPr>
        <p:txBody>
          <a:bodyPr/>
          <a:lstStyle/>
          <a:p>
            <a:endParaRPr lang="en-US"/>
          </a:p>
        </p:txBody>
      </p:sp>
      <p:sp>
        <p:nvSpPr>
          <p:cNvPr id="12" name="Text 10"/>
          <p:cNvSpPr/>
          <p:nvPr/>
        </p:nvSpPr>
        <p:spPr>
          <a:xfrm>
            <a:off x="320040" y="1531620"/>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02</a:t>
            </a:r>
            <a:endParaRPr lang="en-US" sz="1500" dirty="0"/>
          </a:p>
        </p:txBody>
      </p:sp>
      <p:sp>
        <p:nvSpPr>
          <p:cNvPr id="13" name="Text 11"/>
          <p:cNvSpPr/>
          <p:nvPr/>
        </p:nvSpPr>
        <p:spPr>
          <a:xfrm>
            <a:off x="969264" y="1568196"/>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BBH Data Exchange — Outbound Architecture</a:t>
            </a:r>
            <a:endParaRPr lang="en-US" sz="1150" dirty="0"/>
          </a:p>
        </p:txBody>
      </p:sp>
      <p:sp>
        <p:nvSpPr>
          <p:cNvPr id="14" name="Text 12"/>
          <p:cNvSpPr/>
          <p:nvPr/>
        </p:nvSpPr>
        <p:spPr>
          <a:xfrm>
            <a:off x="969264" y="1815084"/>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Plaid as data exchange hub · Standardized schema · Security &amp; consent model</a:t>
            </a:r>
            <a:endParaRPr lang="en-US" sz="900" dirty="0"/>
          </a:p>
        </p:txBody>
      </p:sp>
      <p:sp>
        <p:nvSpPr>
          <p:cNvPr id="15" name="Shape 13"/>
          <p:cNvSpPr/>
          <p:nvPr/>
        </p:nvSpPr>
        <p:spPr>
          <a:xfrm>
            <a:off x="320040" y="2093976"/>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6" name="Shape 14"/>
          <p:cNvSpPr/>
          <p:nvPr/>
        </p:nvSpPr>
        <p:spPr>
          <a:xfrm>
            <a:off x="320040" y="2093976"/>
            <a:ext cx="530352" cy="512064"/>
          </a:xfrm>
          <a:prstGeom prst="rect">
            <a:avLst/>
          </a:prstGeom>
          <a:solidFill>
            <a:srgbClr val="028090"/>
          </a:solidFill>
          <a:ln w="12700">
            <a:solidFill>
              <a:srgbClr val="028090"/>
            </a:solidFill>
            <a:prstDash val="solid"/>
          </a:ln>
        </p:spPr>
        <p:txBody>
          <a:bodyPr/>
          <a:lstStyle/>
          <a:p>
            <a:endParaRPr lang="en-US"/>
          </a:p>
        </p:txBody>
      </p:sp>
      <p:sp>
        <p:nvSpPr>
          <p:cNvPr id="17" name="Text 15"/>
          <p:cNvSpPr/>
          <p:nvPr/>
        </p:nvSpPr>
        <p:spPr>
          <a:xfrm>
            <a:off x="320040" y="2093976"/>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03</a:t>
            </a:r>
            <a:endParaRPr lang="en-US" sz="1500" dirty="0"/>
          </a:p>
        </p:txBody>
      </p:sp>
      <p:sp>
        <p:nvSpPr>
          <p:cNvPr id="18" name="Text 16"/>
          <p:cNvSpPr/>
          <p:nvPr/>
        </p:nvSpPr>
        <p:spPr>
          <a:xfrm>
            <a:off x="969264" y="2130552"/>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BBH Data Exchange — Inbound Architecture</a:t>
            </a:r>
            <a:endParaRPr lang="en-US" sz="1150" dirty="0"/>
          </a:p>
        </p:txBody>
      </p:sp>
      <p:sp>
        <p:nvSpPr>
          <p:cNvPr id="19" name="Text 17"/>
          <p:cNvSpPr/>
          <p:nvPr/>
        </p:nvSpPr>
        <p:spPr>
          <a:xfrm>
            <a:off x="969264" y="2377440"/>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FDX/OFX ingestion · DMZ perimeter · CP Services · Internal data stores</a:t>
            </a:r>
            <a:endParaRPr lang="en-US" sz="900" dirty="0"/>
          </a:p>
        </p:txBody>
      </p:sp>
      <p:sp>
        <p:nvSpPr>
          <p:cNvPr id="20" name="Shape 18"/>
          <p:cNvSpPr/>
          <p:nvPr/>
        </p:nvSpPr>
        <p:spPr>
          <a:xfrm>
            <a:off x="320040" y="2656332"/>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9"/>
          <p:cNvSpPr/>
          <p:nvPr/>
        </p:nvSpPr>
        <p:spPr>
          <a:xfrm>
            <a:off x="320040" y="2656332"/>
            <a:ext cx="530352" cy="512064"/>
          </a:xfrm>
          <a:prstGeom prst="rect">
            <a:avLst/>
          </a:prstGeom>
          <a:solidFill>
            <a:srgbClr val="1A2F4E"/>
          </a:solidFill>
          <a:ln w="12700">
            <a:solidFill>
              <a:srgbClr val="1A2F4E"/>
            </a:solidFill>
            <a:prstDash val="solid"/>
          </a:ln>
        </p:spPr>
        <p:txBody>
          <a:bodyPr/>
          <a:lstStyle/>
          <a:p>
            <a:endParaRPr lang="en-US"/>
          </a:p>
        </p:txBody>
      </p:sp>
      <p:sp>
        <p:nvSpPr>
          <p:cNvPr id="22" name="Text 20"/>
          <p:cNvSpPr/>
          <p:nvPr/>
        </p:nvSpPr>
        <p:spPr>
          <a:xfrm>
            <a:off x="320040" y="2656332"/>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04</a:t>
            </a:r>
            <a:endParaRPr lang="en-US" sz="1500" dirty="0"/>
          </a:p>
        </p:txBody>
      </p:sp>
      <p:sp>
        <p:nvSpPr>
          <p:cNvPr id="23" name="Text 21"/>
          <p:cNvSpPr/>
          <p:nvPr/>
        </p:nvSpPr>
        <p:spPr>
          <a:xfrm>
            <a:off x="969264" y="2692908"/>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Integration Flow — OAuth 2.0 &amp; Token Exchange</a:t>
            </a:r>
            <a:endParaRPr lang="en-US" sz="1150" dirty="0"/>
          </a:p>
        </p:txBody>
      </p:sp>
      <p:sp>
        <p:nvSpPr>
          <p:cNvPr id="24" name="Text 22"/>
          <p:cNvSpPr/>
          <p:nvPr/>
        </p:nvSpPr>
        <p:spPr>
          <a:xfrm>
            <a:off x="969264" y="2939796"/>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Authentication workflow · Public-to-access token exchange · Data access patterns</a:t>
            </a:r>
            <a:endParaRPr lang="en-US" sz="900" dirty="0"/>
          </a:p>
        </p:txBody>
      </p:sp>
      <p:sp>
        <p:nvSpPr>
          <p:cNvPr id="25" name="Shape 23"/>
          <p:cNvSpPr/>
          <p:nvPr/>
        </p:nvSpPr>
        <p:spPr>
          <a:xfrm>
            <a:off x="320040" y="3218688"/>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320040" y="3218688"/>
            <a:ext cx="530352" cy="512064"/>
          </a:xfrm>
          <a:prstGeom prst="rect">
            <a:avLst/>
          </a:prstGeom>
          <a:solidFill>
            <a:srgbClr val="028090"/>
          </a:solidFill>
          <a:ln w="12700">
            <a:solidFill>
              <a:srgbClr val="028090"/>
            </a:solidFill>
            <a:prstDash val="solid"/>
          </a:ln>
        </p:spPr>
        <p:txBody>
          <a:bodyPr/>
          <a:lstStyle/>
          <a:p>
            <a:endParaRPr lang="en-US"/>
          </a:p>
        </p:txBody>
      </p:sp>
      <p:sp>
        <p:nvSpPr>
          <p:cNvPr id="27" name="Text 25"/>
          <p:cNvSpPr/>
          <p:nvPr/>
        </p:nvSpPr>
        <p:spPr>
          <a:xfrm>
            <a:off x="320040" y="3218688"/>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05</a:t>
            </a:r>
            <a:endParaRPr lang="en-US" sz="1500" dirty="0"/>
          </a:p>
        </p:txBody>
      </p:sp>
      <p:sp>
        <p:nvSpPr>
          <p:cNvPr id="28" name="Text 26"/>
          <p:cNvSpPr/>
          <p:nvPr/>
        </p:nvSpPr>
        <p:spPr>
          <a:xfrm>
            <a:off x="969264" y="3255264"/>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Security Architecture — Key Controls</a:t>
            </a:r>
            <a:endParaRPr lang="en-US" sz="1150" dirty="0"/>
          </a:p>
        </p:txBody>
      </p:sp>
      <p:sp>
        <p:nvSpPr>
          <p:cNvPr id="29" name="Text 27"/>
          <p:cNvSpPr/>
          <p:nvPr/>
        </p:nvSpPr>
        <p:spPr>
          <a:xfrm>
            <a:off x="969264" y="3502152"/>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No credential storage · Token scoping · MFA · Centralized revocation</a:t>
            </a:r>
            <a:endParaRPr lang="en-US" sz="900" dirty="0"/>
          </a:p>
        </p:txBody>
      </p:sp>
      <p:sp>
        <p:nvSpPr>
          <p:cNvPr id="30" name="Shape 28"/>
          <p:cNvSpPr/>
          <p:nvPr/>
        </p:nvSpPr>
        <p:spPr>
          <a:xfrm>
            <a:off x="320040" y="3781044"/>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1" name="Shape 29"/>
          <p:cNvSpPr/>
          <p:nvPr/>
        </p:nvSpPr>
        <p:spPr>
          <a:xfrm>
            <a:off x="320040" y="3781044"/>
            <a:ext cx="530352" cy="512064"/>
          </a:xfrm>
          <a:prstGeom prst="rect">
            <a:avLst/>
          </a:prstGeom>
          <a:solidFill>
            <a:srgbClr val="1A2F4E"/>
          </a:solidFill>
          <a:ln w="12700">
            <a:solidFill>
              <a:srgbClr val="1A2F4E"/>
            </a:solidFill>
            <a:prstDash val="solid"/>
          </a:ln>
        </p:spPr>
        <p:txBody>
          <a:bodyPr/>
          <a:lstStyle/>
          <a:p>
            <a:endParaRPr lang="en-US"/>
          </a:p>
        </p:txBody>
      </p:sp>
      <p:sp>
        <p:nvSpPr>
          <p:cNvPr id="32" name="Text 30"/>
          <p:cNvSpPr/>
          <p:nvPr/>
        </p:nvSpPr>
        <p:spPr>
          <a:xfrm>
            <a:off x="320040" y="3781044"/>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06</a:t>
            </a:r>
            <a:endParaRPr lang="en-US" sz="1500" dirty="0"/>
          </a:p>
        </p:txBody>
      </p:sp>
      <p:sp>
        <p:nvSpPr>
          <p:cNvPr id="33" name="Text 31"/>
          <p:cNvSpPr/>
          <p:nvPr/>
        </p:nvSpPr>
        <p:spPr>
          <a:xfrm>
            <a:off x="969264" y="3817620"/>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STRIDE Threat Model — Cyber Risk Assessment</a:t>
            </a:r>
            <a:endParaRPr lang="en-US" sz="1150" dirty="0"/>
          </a:p>
        </p:txBody>
      </p:sp>
      <p:sp>
        <p:nvSpPr>
          <p:cNvPr id="34" name="Text 32"/>
          <p:cNvSpPr/>
          <p:nvPr/>
        </p:nvSpPr>
        <p:spPr>
          <a:xfrm>
            <a:off x="969264" y="4064508"/>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Spoofing · Tampering · Repudiation · Info Disclosure · DoS · Elevation</a:t>
            </a:r>
            <a:endParaRPr lang="en-US" sz="900" dirty="0"/>
          </a:p>
        </p:txBody>
      </p:sp>
      <p:sp>
        <p:nvSpPr>
          <p:cNvPr id="35" name="Shape 33"/>
          <p:cNvSpPr/>
          <p:nvPr/>
        </p:nvSpPr>
        <p:spPr>
          <a:xfrm>
            <a:off x="320040" y="4343400"/>
            <a:ext cx="8503920" cy="5120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6" name="Shape 34"/>
          <p:cNvSpPr/>
          <p:nvPr/>
        </p:nvSpPr>
        <p:spPr>
          <a:xfrm>
            <a:off x="320040" y="4343400"/>
            <a:ext cx="530352" cy="512064"/>
          </a:xfrm>
          <a:prstGeom prst="rect">
            <a:avLst/>
          </a:prstGeom>
          <a:solidFill>
            <a:srgbClr val="028090"/>
          </a:solidFill>
          <a:ln w="12700">
            <a:solidFill>
              <a:srgbClr val="028090"/>
            </a:solidFill>
            <a:prstDash val="solid"/>
          </a:ln>
        </p:spPr>
        <p:txBody>
          <a:bodyPr/>
          <a:lstStyle/>
          <a:p>
            <a:endParaRPr lang="en-US"/>
          </a:p>
        </p:txBody>
      </p:sp>
      <p:sp>
        <p:nvSpPr>
          <p:cNvPr id="37" name="Text 35"/>
          <p:cNvSpPr/>
          <p:nvPr/>
        </p:nvSpPr>
        <p:spPr>
          <a:xfrm>
            <a:off x="320040" y="4343400"/>
            <a:ext cx="530352" cy="512064"/>
          </a:xfrm>
          <a:prstGeom prst="rect">
            <a:avLst/>
          </a:prstGeom>
          <a:noFill/>
          <a:ln/>
        </p:spPr>
        <p:txBody>
          <a:bodyPr wrap="square" lIns="0" tIns="0" rIns="0" bIns="0" rtlCol="0" anchor="ctr"/>
          <a:lstStyle/>
          <a:p>
            <a:pPr marL="0" indent="0" algn="ctr">
              <a:buNone/>
            </a:pPr>
            <a:r>
              <a:rPr lang="en-US" sz="1500" b="1" dirty="0">
                <a:solidFill>
                  <a:srgbClr val="FFFFFF"/>
                </a:solidFill>
              </a:rPr>
              <a:t>07</a:t>
            </a:r>
            <a:endParaRPr lang="en-US" sz="1500" dirty="0"/>
          </a:p>
        </p:txBody>
      </p:sp>
      <p:sp>
        <p:nvSpPr>
          <p:cNvPr id="38" name="Text 36"/>
          <p:cNvSpPr/>
          <p:nvPr/>
        </p:nvSpPr>
        <p:spPr>
          <a:xfrm>
            <a:off x="969264" y="4379976"/>
            <a:ext cx="7726680" cy="219456"/>
          </a:xfrm>
          <a:prstGeom prst="rect">
            <a:avLst/>
          </a:prstGeom>
          <a:noFill/>
          <a:ln/>
        </p:spPr>
        <p:txBody>
          <a:bodyPr wrap="square" rtlCol="0" anchor="ctr"/>
          <a:lstStyle/>
          <a:p>
            <a:pPr marL="0" indent="0">
              <a:buNone/>
            </a:pPr>
            <a:r>
              <a:rPr lang="en-US" sz="1150" b="1" dirty="0">
                <a:solidFill>
                  <a:srgbClr val="0A1628"/>
                </a:solidFill>
                <a:latin typeface="Calibri" pitchFamily="34" charset="0"/>
                <a:ea typeface="Calibri" pitchFamily="34" charset="-122"/>
                <a:cs typeface="Calibri" pitchFamily="34" charset="-120"/>
              </a:rPr>
              <a:t>Infrastructure Security — Questions &amp; Responses</a:t>
            </a:r>
            <a:endParaRPr lang="en-US" sz="1150" dirty="0"/>
          </a:p>
        </p:txBody>
      </p:sp>
      <p:sp>
        <p:nvSpPr>
          <p:cNvPr id="39" name="Text 37"/>
          <p:cNvSpPr/>
          <p:nvPr/>
        </p:nvSpPr>
        <p:spPr>
          <a:xfrm>
            <a:off x="969264" y="4626864"/>
            <a:ext cx="7726680" cy="182880"/>
          </a:xfrm>
          <a:prstGeom prst="rect">
            <a:avLst/>
          </a:prstGeom>
          <a:noFill/>
          <a:ln/>
        </p:spPr>
        <p:txBody>
          <a:bodyPr wrap="square" rtlCol="0" anchor="ctr"/>
          <a:lstStyle/>
          <a:p>
            <a:pPr marL="0" indent="0">
              <a:buNone/>
            </a:pPr>
            <a:r>
              <a:rPr lang="en-US" sz="900" dirty="0">
                <a:solidFill>
                  <a:srgbClr val="8FA3A8"/>
                </a:solidFill>
                <a:latin typeface="Calibri" pitchFamily="34" charset="0"/>
                <a:ea typeface="Calibri" pitchFamily="34" charset="-122"/>
                <a:cs typeface="Calibri" pitchFamily="34" charset="-120"/>
              </a:rPr>
              <a:t>Phishing · NYDFS 500.12 MFA · Geo-blocking · IP headers · SIEM log ingestion</a:t>
            </a:r>
            <a:endParaRPr lang="en-US" sz="900" dirty="0"/>
          </a:p>
        </p:txBody>
      </p:sp>
      <p:sp>
        <p:nvSpPr>
          <p:cNvPr id="40" name="Shape 38"/>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41" name="Text 39"/>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42" name="Text 40"/>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182880" y="0"/>
            <a:ext cx="8961120" cy="54864"/>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6400800" y="-731520"/>
            <a:ext cx="3840480" cy="3840480"/>
          </a:xfrm>
          <a:prstGeom prst="ellipse">
            <a:avLst/>
          </a:prstGeom>
          <a:solidFill>
            <a:srgbClr val="028090">
              <a:alpha val="9000"/>
            </a:srgbClr>
          </a:solidFill>
          <a:ln w="12700">
            <a:solidFill>
              <a:srgbClr val="028090">
                <a:alpha val="20000"/>
              </a:srgbClr>
            </a:solidFill>
            <a:prstDash val="solid"/>
          </a:ln>
        </p:spPr>
        <p:txBody>
          <a:bodyPr/>
          <a:lstStyle/>
          <a:p>
            <a:endParaRPr lang="en-US"/>
          </a:p>
        </p:txBody>
      </p:sp>
      <p:sp>
        <p:nvSpPr>
          <p:cNvPr id="5" name="Shape 3"/>
          <p:cNvSpPr/>
          <p:nvPr/>
        </p:nvSpPr>
        <p:spPr>
          <a:xfrm>
            <a:off x="7223760" y="91440"/>
            <a:ext cx="2377440" cy="2377440"/>
          </a:xfrm>
          <a:prstGeom prst="ellipse">
            <a:avLst/>
          </a:prstGeom>
          <a:solidFill>
            <a:srgbClr val="00A896">
              <a:alpha val="14000"/>
            </a:srgbClr>
          </a:solidFill>
          <a:ln w="12700">
            <a:solidFill>
              <a:srgbClr val="00A896">
                <a:alpha val="25000"/>
              </a:srgbClr>
            </a:solidFill>
            <a:prstDash val="solid"/>
          </a:ln>
        </p:spPr>
        <p:txBody>
          <a:bodyPr/>
          <a:lstStyle/>
          <a:p>
            <a:endParaRPr lang="en-US"/>
          </a:p>
        </p:txBody>
      </p:sp>
      <p:sp>
        <p:nvSpPr>
          <p:cNvPr id="6" name="Shape 4"/>
          <p:cNvSpPr/>
          <p:nvPr/>
        </p:nvSpPr>
        <p:spPr>
          <a:xfrm>
            <a:off x="365760" y="182880"/>
            <a:ext cx="2011680" cy="329184"/>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365760" y="182880"/>
            <a:ext cx="2011680" cy="329184"/>
          </a:xfrm>
          <a:prstGeom prst="rect">
            <a:avLst/>
          </a:prstGeom>
          <a:noFill/>
          <a:ln/>
        </p:spPr>
        <p:txBody>
          <a:bodyPr wrap="square" lIns="0" tIns="0" rIns="0" bIns="0" rtlCol="0" anchor="ctr"/>
          <a:lstStyle/>
          <a:p>
            <a:pPr marL="0" indent="0" algn="ctr">
              <a:buNone/>
            </a:pPr>
            <a:r>
              <a:rPr lang="en-US" sz="800" b="1" kern="0" spc="60" dirty="0">
                <a:solidFill>
                  <a:srgbClr val="FFFFFF"/>
                </a:solidFill>
              </a:rPr>
              <a:t>EXECUTIVE SUMMARY</a:t>
            </a:r>
            <a:endParaRPr lang="en-US" sz="800" dirty="0"/>
          </a:p>
        </p:txBody>
      </p:sp>
      <p:sp>
        <p:nvSpPr>
          <p:cNvPr id="8" name="Text 6"/>
          <p:cNvSpPr/>
          <p:nvPr/>
        </p:nvSpPr>
        <p:spPr>
          <a:xfrm>
            <a:off x="365760" y="603504"/>
            <a:ext cx="8229600" cy="621792"/>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What is Plaid?</a:t>
            </a:r>
            <a:endParaRPr lang="en-US" sz="3800" dirty="0"/>
          </a:p>
        </p:txBody>
      </p:sp>
      <p:sp>
        <p:nvSpPr>
          <p:cNvPr id="9" name="Text 7"/>
          <p:cNvSpPr/>
          <p:nvPr/>
        </p:nvSpPr>
        <p:spPr>
          <a:xfrm>
            <a:off x="365760" y="1261872"/>
            <a:ext cx="6858000" cy="347472"/>
          </a:xfrm>
          <a:prstGeom prst="rect">
            <a:avLst/>
          </a:prstGeom>
          <a:noFill/>
          <a:ln/>
        </p:spPr>
        <p:txBody>
          <a:bodyPr wrap="square" rtlCol="0" anchor="ctr"/>
          <a:lstStyle/>
          <a:p>
            <a:pPr marL="0" indent="0">
              <a:buNone/>
            </a:pPr>
            <a:r>
              <a:rPr lang="en-US" sz="1350" dirty="0">
                <a:solidFill>
                  <a:srgbClr val="02C39A"/>
                </a:solidFill>
                <a:latin typeface="Calibri" pitchFamily="34" charset="0"/>
                <a:ea typeface="Calibri" pitchFamily="34" charset="-122"/>
                <a:cs typeface="Calibri" pitchFamily="34" charset="-120"/>
              </a:rPr>
              <a:t>Why BBH is onboarding Plaid as our Open Banking data exchange layer</a:t>
            </a:r>
            <a:endParaRPr lang="en-US" sz="1350" dirty="0"/>
          </a:p>
        </p:txBody>
      </p:sp>
      <p:sp>
        <p:nvSpPr>
          <p:cNvPr id="10" name="Shape 8"/>
          <p:cNvSpPr/>
          <p:nvPr/>
        </p:nvSpPr>
        <p:spPr>
          <a:xfrm>
            <a:off x="365760" y="1691640"/>
            <a:ext cx="8412480" cy="36576"/>
          </a:xfrm>
          <a:prstGeom prst="rect">
            <a:avLst/>
          </a:prstGeom>
          <a:solidFill>
            <a:srgbClr val="028090"/>
          </a:solidFill>
          <a:ln w="12700">
            <a:solidFill>
              <a:srgbClr val="028090"/>
            </a:solidFill>
            <a:prstDash val="solid"/>
          </a:ln>
        </p:spPr>
        <p:txBody>
          <a:bodyPr/>
          <a:lstStyle/>
          <a:p>
            <a:endParaRPr lang="en-US"/>
          </a:p>
        </p:txBody>
      </p:sp>
      <p:sp>
        <p:nvSpPr>
          <p:cNvPr id="11" name="Shape 9"/>
          <p:cNvSpPr/>
          <p:nvPr/>
        </p:nvSpPr>
        <p:spPr>
          <a:xfrm>
            <a:off x="365760" y="1792224"/>
            <a:ext cx="8412480" cy="713232"/>
          </a:xfrm>
          <a:prstGeom prst="rect">
            <a:avLst/>
          </a:prstGeom>
          <a:solidFill>
            <a:srgbClr val="0D2035"/>
          </a:solidFill>
          <a:ln w="10160">
            <a:solidFill>
              <a:srgbClr val="028090"/>
            </a:solidFill>
            <a:prstDash val="solid"/>
          </a:ln>
        </p:spPr>
        <p:txBody>
          <a:bodyPr/>
          <a:lstStyle/>
          <a:p>
            <a:endParaRPr lang="en-US"/>
          </a:p>
        </p:txBody>
      </p:sp>
      <p:sp>
        <p:nvSpPr>
          <p:cNvPr id="12" name="Text 10"/>
          <p:cNvSpPr/>
          <p:nvPr/>
        </p:nvSpPr>
        <p:spPr>
          <a:xfrm>
            <a:off x="502920" y="1847088"/>
            <a:ext cx="1920240" cy="329184"/>
          </a:xfrm>
          <a:prstGeom prst="rect">
            <a:avLst/>
          </a:prstGeom>
          <a:noFill/>
          <a:ln/>
        </p:spPr>
        <p:txBody>
          <a:bodyPr wrap="square" rtlCol="0" anchor="ctr"/>
          <a:lstStyle/>
          <a:p>
            <a:pPr marL="0" indent="0" algn="ctr">
              <a:buNone/>
            </a:pPr>
            <a:r>
              <a:rPr lang="en-US" sz="2000" b="1" dirty="0">
                <a:solidFill>
                  <a:srgbClr val="02C39A"/>
                </a:solidFill>
                <a:latin typeface="Calibri" pitchFamily="34" charset="0"/>
                <a:ea typeface="Calibri" pitchFamily="34" charset="-122"/>
                <a:cs typeface="Calibri" pitchFamily="34" charset="-120"/>
              </a:rPr>
              <a:t>12,000+</a:t>
            </a:r>
            <a:endParaRPr lang="en-US" sz="2000" dirty="0"/>
          </a:p>
        </p:txBody>
      </p:sp>
      <p:sp>
        <p:nvSpPr>
          <p:cNvPr id="13" name="Text 11"/>
          <p:cNvSpPr/>
          <p:nvPr/>
        </p:nvSpPr>
        <p:spPr>
          <a:xfrm>
            <a:off x="502920" y="2194560"/>
            <a:ext cx="1920240" cy="201168"/>
          </a:xfrm>
          <a:prstGeom prst="rect">
            <a:avLst/>
          </a:prstGeom>
          <a:noFill/>
          <a:ln/>
        </p:spPr>
        <p:txBody>
          <a:bodyPr wrap="square" rtlCol="0" anchor="ctr"/>
          <a:lstStyle/>
          <a:p>
            <a:pPr marL="0" indent="0" algn="ctr">
              <a:buNone/>
            </a:pPr>
            <a:r>
              <a:rPr lang="en-US" sz="800" dirty="0">
                <a:solidFill>
                  <a:srgbClr val="8FA3A8"/>
                </a:solidFill>
                <a:latin typeface="Calibri" pitchFamily="34" charset="0"/>
                <a:ea typeface="Calibri" pitchFamily="34" charset="-122"/>
                <a:cs typeface="Calibri" pitchFamily="34" charset="-120"/>
              </a:rPr>
              <a:t>Financial Institutions</a:t>
            </a:r>
            <a:endParaRPr lang="en-US" sz="800" dirty="0"/>
          </a:p>
        </p:txBody>
      </p:sp>
      <p:sp>
        <p:nvSpPr>
          <p:cNvPr id="14" name="Shape 12"/>
          <p:cNvSpPr/>
          <p:nvPr/>
        </p:nvSpPr>
        <p:spPr>
          <a:xfrm>
            <a:off x="2459736" y="1901952"/>
            <a:ext cx="18288" cy="457200"/>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2606040" y="1847088"/>
            <a:ext cx="1920240" cy="329184"/>
          </a:xfrm>
          <a:prstGeom prst="rect">
            <a:avLst/>
          </a:prstGeom>
          <a:noFill/>
          <a:ln/>
        </p:spPr>
        <p:txBody>
          <a:bodyPr wrap="square" rtlCol="0" anchor="ctr"/>
          <a:lstStyle/>
          <a:p>
            <a:pPr marL="0" indent="0" algn="ctr">
              <a:buNone/>
            </a:pPr>
            <a:r>
              <a:rPr lang="en-US" sz="2000" b="1" dirty="0">
                <a:solidFill>
                  <a:srgbClr val="02C39A"/>
                </a:solidFill>
                <a:latin typeface="Calibri" pitchFamily="34" charset="0"/>
                <a:ea typeface="Calibri" pitchFamily="34" charset="-122"/>
                <a:cs typeface="Calibri" pitchFamily="34" charset="-120"/>
              </a:rPr>
              <a:t>8,000+</a:t>
            </a:r>
            <a:endParaRPr lang="en-US" sz="2000" dirty="0"/>
          </a:p>
        </p:txBody>
      </p:sp>
      <p:sp>
        <p:nvSpPr>
          <p:cNvPr id="16" name="Text 14"/>
          <p:cNvSpPr/>
          <p:nvPr/>
        </p:nvSpPr>
        <p:spPr>
          <a:xfrm>
            <a:off x="2606040" y="2194560"/>
            <a:ext cx="1920240" cy="201168"/>
          </a:xfrm>
          <a:prstGeom prst="rect">
            <a:avLst/>
          </a:prstGeom>
          <a:noFill/>
          <a:ln/>
        </p:spPr>
        <p:txBody>
          <a:bodyPr wrap="square" rtlCol="0" anchor="ctr"/>
          <a:lstStyle/>
          <a:p>
            <a:pPr marL="0" indent="0" algn="ctr">
              <a:buNone/>
            </a:pPr>
            <a:r>
              <a:rPr lang="en-US" sz="800" dirty="0">
                <a:solidFill>
                  <a:srgbClr val="8FA3A8"/>
                </a:solidFill>
                <a:latin typeface="Calibri" pitchFamily="34" charset="0"/>
                <a:ea typeface="Calibri" pitchFamily="34" charset="-122"/>
                <a:cs typeface="Calibri" pitchFamily="34" charset="-120"/>
              </a:rPr>
              <a:t>Fintech Apps Connected</a:t>
            </a:r>
            <a:endParaRPr lang="en-US" sz="800" dirty="0"/>
          </a:p>
        </p:txBody>
      </p:sp>
      <p:sp>
        <p:nvSpPr>
          <p:cNvPr id="17" name="Shape 15"/>
          <p:cNvSpPr/>
          <p:nvPr/>
        </p:nvSpPr>
        <p:spPr>
          <a:xfrm>
            <a:off x="4562856" y="1901952"/>
            <a:ext cx="18288" cy="457200"/>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4709160" y="1847088"/>
            <a:ext cx="1920240" cy="329184"/>
          </a:xfrm>
          <a:prstGeom prst="rect">
            <a:avLst/>
          </a:prstGeom>
          <a:noFill/>
          <a:ln/>
        </p:spPr>
        <p:txBody>
          <a:bodyPr wrap="square" rtlCol="0" anchor="ctr"/>
          <a:lstStyle/>
          <a:p>
            <a:pPr marL="0" indent="0" algn="ctr">
              <a:buNone/>
            </a:pPr>
            <a:r>
              <a:rPr lang="en-US" sz="2000" b="1" dirty="0">
                <a:solidFill>
                  <a:srgbClr val="02C39A"/>
                </a:solidFill>
                <a:latin typeface="Calibri" pitchFamily="34" charset="0"/>
                <a:ea typeface="Calibri" pitchFamily="34" charset="-122"/>
                <a:cs typeface="Calibri" pitchFamily="34" charset="-120"/>
              </a:rPr>
              <a:t>200M+</a:t>
            </a:r>
            <a:endParaRPr lang="en-US" sz="2000" dirty="0"/>
          </a:p>
        </p:txBody>
      </p:sp>
      <p:sp>
        <p:nvSpPr>
          <p:cNvPr id="19" name="Text 17"/>
          <p:cNvSpPr/>
          <p:nvPr/>
        </p:nvSpPr>
        <p:spPr>
          <a:xfrm>
            <a:off x="4709160" y="2194560"/>
            <a:ext cx="1920240" cy="201168"/>
          </a:xfrm>
          <a:prstGeom prst="rect">
            <a:avLst/>
          </a:prstGeom>
          <a:noFill/>
          <a:ln/>
        </p:spPr>
        <p:txBody>
          <a:bodyPr wrap="square" rtlCol="0" anchor="ctr"/>
          <a:lstStyle/>
          <a:p>
            <a:pPr marL="0" indent="0" algn="ctr">
              <a:buNone/>
            </a:pPr>
            <a:r>
              <a:rPr lang="en-US" sz="800" dirty="0">
                <a:solidFill>
                  <a:srgbClr val="8FA3A8"/>
                </a:solidFill>
                <a:latin typeface="Calibri" pitchFamily="34" charset="0"/>
                <a:ea typeface="Calibri" pitchFamily="34" charset="-122"/>
                <a:cs typeface="Calibri" pitchFamily="34" charset="-120"/>
              </a:rPr>
              <a:t>Consumer Accounts Linked</a:t>
            </a:r>
            <a:endParaRPr lang="en-US" sz="800" dirty="0"/>
          </a:p>
        </p:txBody>
      </p:sp>
      <p:sp>
        <p:nvSpPr>
          <p:cNvPr id="20" name="Shape 18"/>
          <p:cNvSpPr/>
          <p:nvPr/>
        </p:nvSpPr>
        <p:spPr>
          <a:xfrm>
            <a:off x="6665976" y="1901952"/>
            <a:ext cx="18288" cy="457200"/>
          </a:xfrm>
          <a:prstGeom prst="rect">
            <a:avLst/>
          </a:prstGeom>
          <a:solidFill>
            <a:srgbClr val="028090"/>
          </a:solidFill>
          <a:ln w="12700">
            <a:solidFill>
              <a:srgbClr val="028090"/>
            </a:solidFill>
            <a:prstDash val="solid"/>
          </a:ln>
        </p:spPr>
        <p:txBody>
          <a:bodyPr/>
          <a:lstStyle/>
          <a:p>
            <a:endParaRPr lang="en-US"/>
          </a:p>
        </p:txBody>
      </p:sp>
      <p:sp>
        <p:nvSpPr>
          <p:cNvPr id="21" name="Text 19"/>
          <p:cNvSpPr/>
          <p:nvPr/>
        </p:nvSpPr>
        <p:spPr>
          <a:xfrm>
            <a:off x="6812280" y="1847088"/>
            <a:ext cx="1920240" cy="329184"/>
          </a:xfrm>
          <a:prstGeom prst="rect">
            <a:avLst/>
          </a:prstGeom>
          <a:noFill/>
          <a:ln/>
        </p:spPr>
        <p:txBody>
          <a:bodyPr wrap="square" rtlCol="0" anchor="ctr"/>
          <a:lstStyle/>
          <a:p>
            <a:pPr marL="0" indent="0" algn="ctr">
              <a:buNone/>
            </a:pPr>
            <a:r>
              <a:rPr lang="en-US" sz="2000" b="1" dirty="0">
                <a:solidFill>
                  <a:srgbClr val="02C39A"/>
                </a:solidFill>
                <a:latin typeface="Calibri" pitchFamily="34" charset="0"/>
                <a:ea typeface="Calibri" pitchFamily="34" charset="-122"/>
                <a:cs typeface="Calibri" pitchFamily="34" charset="-120"/>
              </a:rPr>
              <a:t>99.9%</a:t>
            </a:r>
            <a:endParaRPr lang="en-US" sz="2000" dirty="0"/>
          </a:p>
        </p:txBody>
      </p:sp>
      <p:sp>
        <p:nvSpPr>
          <p:cNvPr id="22" name="Text 20"/>
          <p:cNvSpPr/>
          <p:nvPr/>
        </p:nvSpPr>
        <p:spPr>
          <a:xfrm>
            <a:off x="6812280" y="2194560"/>
            <a:ext cx="1920240" cy="201168"/>
          </a:xfrm>
          <a:prstGeom prst="rect">
            <a:avLst/>
          </a:prstGeom>
          <a:noFill/>
          <a:ln/>
        </p:spPr>
        <p:txBody>
          <a:bodyPr wrap="square" rtlCol="0" anchor="ctr"/>
          <a:lstStyle/>
          <a:p>
            <a:pPr marL="0" indent="0" algn="ctr">
              <a:buNone/>
            </a:pPr>
            <a:r>
              <a:rPr lang="en-US" sz="800" dirty="0">
                <a:solidFill>
                  <a:srgbClr val="8FA3A8"/>
                </a:solidFill>
                <a:latin typeface="Calibri" pitchFamily="34" charset="0"/>
                <a:ea typeface="Calibri" pitchFamily="34" charset="-122"/>
                <a:cs typeface="Calibri" pitchFamily="34" charset="-120"/>
              </a:rPr>
              <a:t>Platform Uptime SLA</a:t>
            </a:r>
            <a:endParaRPr lang="en-US" sz="800" dirty="0"/>
          </a:p>
        </p:txBody>
      </p:sp>
      <p:sp>
        <p:nvSpPr>
          <p:cNvPr id="23" name="Shape 21"/>
          <p:cNvSpPr/>
          <p:nvPr/>
        </p:nvSpPr>
        <p:spPr>
          <a:xfrm>
            <a:off x="274320" y="2633472"/>
            <a:ext cx="2761488" cy="2084832"/>
          </a:xfrm>
          <a:prstGeom prst="rect">
            <a:avLst/>
          </a:prstGeom>
          <a:solidFill>
            <a:srgbClr val="0D2035"/>
          </a:solidFill>
          <a:ln w="10160">
            <a:solidFill>
              <a:srgbClr val="028090"/>
            </a:solidFill>
            <a:prstDash val="solid"/>
          </a:ln>
        </p:spPr>
        <p:txBody>
          <a:bodyPr/>
          <a:lstStyle/>
          <a:p>
            <a:endParaRPr lang="en-US"/>
          </a:p>
        </p:txBody>
      </p:sp>
      <p:sp>
        <p:nvSpPr>
          <p:cNvPr id="24" name="Shape 22"/>
          <p:cNvSpPr/>
          <p:nvPr/>
        </p:nvSpPr>
        <p:spPr>
          <a:xfrm>
            <a:off x="274320" y="2633472"/>
            <a:ext cx="2761488" cy="301752"/>
          </a:xfrm>
          <a:prstGeom prst="rect">
            <a:avLst/>
          </a:prstGeom>
          <a:solidFill>
            <a:srgbClr val="028090"/>
          </a:solidFill>
          <a:ln w="12700">
            <a:solidFill>
              <a:srgbClr val="028090"/>
            </a:solidFill>
            <a:prstDash val="solid"/>
          </a:ln>
        </p:spPr>
        <p:txBody>
          <a:bodyPr/>
          <a:lstStyle/>
          <a:p>
            <a:endParaRPr lang="en-US"/>
          </a:p>
        </p:txBody>
      </p:sp>
      <p:sp>
        <p:nvSpPr>
          <p:cNvPr id="25" name="Text 23"/>
          <p:cNvSpPr/>
          <p:nvPr/>
        </p:nvSpPr>
        <p:spPr>
          <a:xfrm>
            <a:off x="274320" y="2633472"/>
            <a:ext cx="2761488" cy="301752"/>
          </a:xfrm>
          <a:prstGeom prst="rect">
            <a:avLst/>
          </a:prstGeom>
          <a:noFill/>
          <a:ln/>
        </p:spPr>
        <p:txBody>
          <a:bodyPr wrap="square" lIns="0" tIns="0" rIns="0" bIns="0" rtlCol="0" anchor="ctr"/>
          <a:lstStyle/>
          <a:p>
            <a:pPr marL="0" indent="0" algn="ctr">
              <a:buNone/>
            </a:pPr>
            <a:r>
              <a:rPr lang="en-US" sz="900" b="1" kern="0" spc="80" dirty="0">
                <a:solidFill>
                  <a:srgbClr val="FFFFFF"/>
                </a:solidFill>
                <a:latin typeface="Calibri" pitchFamily="34" charset="0"/>
                <a:ea typeface="Calibri" pitchFamily="34" charset="-122"/>
                <a:cs typeface="Calibri" pitchFamily="34" charset="-120"/>
              </a:rPr>
              <a:t>WHAT PLAID PROVIDES</a:t>
            </a:r>
            <a:endParaRPr lang="en-US" sz="900" dirty="0"/>
          </a:p>
        </p:txBody>
      </p:sp>
      <p:sp>
        <p:nvSpPr>
          <p:cNvPr id="26" name="Shape 24"/>
          <p:cNvSpPr/>
          <p:nvPr/>
        </p:nvSpPr>
        <p:spPr>
          <a:xfrm>
            <a:off x="365760" y="3044952"/>
            <a:ext cx="118872" cy="118872"/>
          </a:xfrm>
          <a:prstGeom prst="ellipse">
            <a:avLst/>
          </a:prstGeom>
          <a:solidFill>
            <a:srgbClr val="028090"/>
          </a:solidFill>
          <a:ln w="12700">
            <a:solidFill>
              <a:srgbClr val="028090"/>
            </a:solidFill>
            <a:prstDash val="solid"/>
          </a:ln>
        </p:spPr>
        <p:txBody>
          <a:bodyPr/>
          <a:lstStyle/>
          <a:p>
            <a:endParaRPr lang="en-US"/>
          </a:p>
        </p:txBody>
      </p:sp>
      <p:sp>
        <p:nvSpPr>
          <p:cNvPr id="27" name="Text 25"/>
          <p:cNvSpPr/>
          <p:nvPr/>
        </p:nvSpPr>
        <p:spPr>
          <a:xfrm>
            <a:off x="548640" y="2999232"/>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Universal Bank Connectivity</a:t>
            </a:r>
            <a:endParaRPr lang="en-US" sz="850" dirty="0"/>
          </a:p>
        </p:txBody>
      </p:sp>
      <p:sp>
        <p:nvSpPr>
          <p:cNvPr id="28" name="Text 26"/>
          <p:cNvSpPr/>
          <p:nvPr/>
        </p:nvSpPr>
        <p:spPr>
          <a:xfrm>
            <a:off x="548640" y="3172968"/>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Single API connecting to 12,000+ US &amp; global institutions. No per-bank integrations required.</a:t>
            </a:r>
            <a:endParaRPr lang="en-US" sz="750" dirty="0"/>
          </a:p>
        </p:txBody>
      </p:sp>
      <p:sp>
        <p:nvSpPr>
          <p:cNvPr id="29" name="Shape 27"/>
          <p:cNvSpPr/>
          <p:nvPr/>
        </p:nvSpPr>
        <p:spPr>
          <a:xfrm>
            <a:off x="365760" y="3401568"/>
            <a:ext cx="118872" cy="118872"/>
          </a:xfrm>
          <a:prstGeom prst="ellipse">
            <a:avLst/>
          </a:prstGeom>
          <a:solidFill>
            <a:srgbClr val="028090"/>
          </a:solidFill>
          <a:ln w="12700">
            <a:solidFill>
              <a:srgbClr val="028090"/>
            </a:solidFill>
            <a:prstDash val="solid"/>
          </a:ln>
        </p:spPr>
        <p:txBody>
          <a:bodyPr/>
          <a:lstStyle/>
          <a:p>
            <a:endParaRPr lang="en-US"/>
          </a:p>
        </p:txBody>
      </p:sp>
      <p:sp>
        <p:nvSpPr>
          <p:cNvPr id="30" name="Text 28"/>
          <p:cNvSpPr/>
          <p:nvPr/>
        </p:nvSpPr>
        <p:spPr>
          <a:xfrm>
            <a:off x="548640" y="3355848"/>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OFX/FDX-Aligned Data Schema</a:t>
            </a:r>
            <a:endParaRPr lang="en-US" sz="850" dirty="0"/>
          </a:p>
        </p:txBody>
      </p:sp>
      <p:sp>
        <p:nvSpPr>
          <p:cNvPr id="31" name="Text 29"/>
          <p:cNvSpPr/>
          <p:nvPr/>
        </p:nvSpPr>
        <p:spPr>
          <a:xfrm>
            <a:off x="548640" y="3529584"/>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Normalized JSON for accounts, balances &amp; transactions. Industry-standard format, ready for downstream.</a:t>
            </a:r>
            <a:endParaRPr lang="en-US" sz="750" dirty="0"/>
          </a:p>
        </p:txBody>
      </p:sp>
      <p:sp>
        <p:nvSpPr>
          <p:cNvPr id="32" name="Shape 30"/>
          <p:cNvSpPr/>
          <p:nvPr/>
        </p:nvSpPr>
        <p:spPr>
          <a:xfrm>
            <a:off x="365760" y="3758184"/>
            <a:ext cx="118872" cy="118872"/>
          </a:xfrm>
          <a:prstGeom prst="ellipse">
            <a:avLst/>
          </a:prstGeom>
          <a:solidFill>
            <a:srgbClr val="028090"/>
          </a:solidFill>
          <a:ln w="12700">
            <a:solidFill>
              <a:srgbClr val="028090"/>
            </a:solidFill>
            <a:prstDash val="solid"/>
          </a:ln>
        </p:spPr>
        <p:txBody>
          <a:bodyPr/>
          <a:lstStyle/>
          <a:p>
            <a:endParaRPr lang="en-US"/>
          </a:p>
        </p:txBody>
      </p:sp>
      <p:sp>
        <p:nvSpPr>
          <p:cNvPr id="33" name="Text 31"/>
          <p:cNvSpPr/>
          <p:nvPr/>
        </p:nvSpPr>
        <p:spPr>
          <a:xfrm>
            <a:off x="548640" y="3712464"/>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OAuth 2.0 Tokenized Access</a:t>
            </a:r>
            <a:endParaRPr lang="en-US" sz="850" dirty="0"/>
          </a:p>
        </p:txBody>
      </p:sp>
      <p:sp>
        <p:nvSpPr>
          <p:cNvPr id="34" name="Text 32"/>
          <p:cNvSpPr/>
          <p:nvPr/>
        </p:nvSpPr>
        <p:spPr>
          <a:xfrm>
            <a:off x="548640" y="3886200"/>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Zero credential storage. Scoped, revocable tokens. No BBH credentials ever leave the institution.</a:t>
            </a:r>
            <a:endParaRPr lang="en-US" sz="750" dirty="0"/>
          </a:p>
        </p:txBody>
      </p:sp>
      <p:sp>
        <p:nvSpPr>
          <p:cNvPr id="35" name="Shape 33"/>
          <p:cNvSpPr/>
          <p:nvPr/>
        </p:nvSpPr>
        <p:spPr>
          <a:xfrm>
            <a:off x="365760" y="4114800"/>
            <a:ext cx="118872" cy="118872"/>
          </a:xfrm>
          <a:prstGeom prst="ellipse">
            <a:avLst/>
          </a:prstGeom>
          <a:solidFill>
            <a:srgbClr val="028090"/>
          </a:solidFill>
          <a:ln w="12700">
            <a:solidFill>
              <a:srgbClr val="028090"/>
            </a:solidFill>
            <a:prstDash val="solid"/>
          </a:ln>
        </p:spPr>
        <p:txBody>
          <a:bodyPr/>
          <a:lstStyle/>
          <a:p>
            <a:endParaRPr lang="en-US"/>
          </a:p>
        </p:txBody>
      </p:sp>
      <p:sp>
        <p:nvSpPr>
          <p:cNvPr id="36" name="Text 34"/>
          <p:cNvSpPr/>
          <p:nvPr/>
        </p:nvSpPr>
        <p:spPr>
          <a:xfrm>
            <a:off x="548640" y="4069080"/>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Real-Time Event Webhooks</a:t>
            </a:r>
            <a:endParaRPr lang="en-US" sz="850" dirty="0"/>
          </a:p>
        </p:txBody>
      </p:sp>
      <p:sp>
        <p:nvSpPr>
          <p:cNvPr id="37" name="Text 35"/>
          <p:cNvSpPr/>
          <p:nvPr/>
        </p:nvSpPr>
        <p:spPr>
          <a:xfrm>
            <a:off x="548640" y="4242816"/>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Push delivery of auth events, balance changes, MFA completions and token lifecycle changes.</a:t>
            </a:r>
            <a:endParaRPr lang="en-US" sz="750" dirty="0"/>
          </a:p>
        </p:txBody>
      </p:sp>
      <p:sp>
        <p:nvSpPr>
          <p:cNvPr id="38" name="Shape 36"/>
          <p:cNvSpPr/>
          <p:nvPr/>
        </p:nvSpPr>
        <p:spPr>
          <a:xfrm>
            <a:off x="365760" y="4471416"/>
            <a:ext cx="118872" cy="118872"/>
          </a:xfrm>
          <a:prstGeom prst="ellipse">
            <a:avLst/>
          </a:prstGeom>
          <a:solidFill>
            <a:srgbClr val="028090"/>
          </a:solidFill>
          <a:ln w="12700">
            <a:solidFill>
              <a:srgbClr val="028090"/>
            </a:solidFill>
            <a:prstDash val="solid"/>
          </a:ln>
        </p:spPr>
        <p:txBody>
          <a:bodyPr/>
          <a:lstStyle/>
          <a:p>
            <a:endParaRPr lang="en-US"/>
          </a:p>
        </p:txBody>
      </p:sp>
      <p:sp>
        <p:nvSpPr>
          <p:cNvPr id="39" name="Text 37"/>
          <p:cNvSpPr/>
          <p:nvPr/>
        </p:nvSpPr>
        <p:spPr>
          <a:xfrm>
            <a:off x="548640" y="4425696"/>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SIEM-Ready Audit Trail</a:t>
            </a:r>
            <a:endParaRPr lang="en-US" sz="850" dirty="0"/>
          </a:p>
        </p:txBody>
      </p:sp>
      <p:sp>
        <p:nvSpPr>
          <p:cNvPr id="40" name="Text 38"/>
          <p:cNvSpPr/>
          <p:nvPr/>
        </p:nvSpPr>
        <p:spPr>
          <a:xfrm>
            <a:off x="548640" y="4599432"/>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Full token creation, MFA, and revocation event log — ingestible into Splunk or equivalent SIEM.</a:t>
            </a:r>
            <a:endParaRPr lang="en-US" sz="750" dirty="0"/>
          </a:p>
        </p:txBody>
      </p:sp>
      <p:sp>
        <p:nvSpPr>
          <p:cNvPr id="41" name="Shape 39"/>
          <p:cNvSpPr/>
          <p:nvPr/>
        </p:nvSpPr>
        <p:spPr>
          <a:xfrm>
            <a:off x="3172968" y="2633472"/>
            <a:ext cx="2761488" cy="2084832"/>
          </a:xfrm>
          <a:prstGeom prst="rect">
            <a:avLst/>
          </a:prstGeom>
          <a:solidFill>
            <a:srgbClr val="0D2035"/>
          </a:solidFill>
          <a:ln w="10160">
            <a:solidFill>
              <a:srgbClr val="00A896"/>
            </a:solidFill>
            <a:prstDash val="solid"/>
          </a:ln>
        </p:spPr>
        <p:txBody>
          <a:bodyPr/>
          <a:lstStyle/>
          <a:p>
            <a:endParaRPr lang="en-US"/>
          </a:p>
        </p:txBody>
      </p:sp>
      <p:sp>
        <p:nvSpPr>
          <p:cNvPr id="42" name="Shape 40"/>
          <p:cNvSpPr/>
          <p:nvPr/>
        </p:nvSpPr>
        <p:spPr>
          <a:xfrm>
            <a:off x="3172968" y="2633472"/>
            <a:ext cx="2761488" cy="301752"/>
          </a:xfrm>
          <a:prstGeom prst="rect">
            <a:avLst/>
          </a:prstGeom>
          <a:solidFill>
            <a:srgbClr val="00A896"/>
          </a:solidFill>
          <a:ln w="12700">
            <a:solidFill>
              <a:srgbClr val="00A896"/>
            </a:solidFill>
            <a:prstDash val="solid"/>
          </a:ln>
        </p:spPr>
        <p:txBody>
          <a:bodyPr/>
          <a:lstStyle/>
          <a:p>
            <a:endParaRPr lang="en-US"/>
          </a:p>
        </p:txBody>
      </p:sp>
      <p:sp>
        <p:nvSpPr>
          <p:cNvPr id="43" name="Text 41"/>
          <p:cNvSpPr/>
          <p:nvPr/>
        </p:nvSpPr>
        <p:spPr>
          <a:xfrm>
            <a:off x="3172968" y="2633472"/>
            <a:ext cx="2761488" cy="301752"/>
          </a:xfrm>
          <a:prstGeom prst="rect">
            <a:avLst/>
          </a:prstGeom>
          <a:noFill/>
          <a:ln/>
        </p:spPr>
        <p:txBody>
          <a:bodyPr wrap="square" lIns="0" tIns="0" rIns="0" bIns="0" rtlCol="0" anchor="ctr"/>
          <a:lstStyle/>
          <a:p>
            <a:pPr marL="0" indent="0" algn="ctr">
              <a:buNone/>
            </a:pPr>
            <a:r>
              <a:rPr lang="en-US" sz="900" b="1" kern="0" spc="80" dirty="0">
                <a:solidFill>
                  <a:srgbClr val="FFFFFF"/>
                </a:solidFill>
                <a:latin typeface="Calibri" pitchFamily="34" charset="0"/>
                <a:ea typeface="Calibri" pitchFamily="34" charset="-122"/>
                <a:cs typeface="Calibri" pitchFamily="34" charset="-120"/>
              </a:rPr>
              <a:t>WHY BBH IS ONBOARDING</a:t>
            </a:r>
            <a:endParaRPr lang="en-US" sz="900" dirty="0"/>
          </a:p>
        </p:txBody>
      </p:sp>
      <p:sp>
        <p:nvSpPr>
          <p:cNvPr id="44" name="Shape 42"/>
          <p:cNvSpPr/>
          <p:nvPr/>
        </p:nvSpPr>
        <p:spPr>
          <a:xfrm>
            <a:off x="3264408" y="3044952"/>
            <a:ext cx="118872" cy="118872"/>
          </a:xfrm>
          <a:prstGeom prst="ellipse">
            <a:avLst/>
          </a:prstGeom>
          <a:solidFill>
            <a:srgbClr val="00A896"/>
          </a:solidFill>
          <a:ln w="12700">
            <a:solidFill>
              <a:srgbClr val="00A896"/>
            </a:solidFill>
            <a:prstDash val="solid"/>
          </a:ln>
        </p:spPr>
        <p:txBody>
          <a:bodyPr/>
          <a:lstStyle/>
          <a:p>
            <a:endParaRPr lang="en-US"/>
          </a:p>
        </p:txBody>
      </p:sp>
      <p:sp>
        <p:nvSpPr>
          <p:cNvPr id="45" name="Text 43"/>
          <p:cNvSpPr/>
          <p:nvPr/>
        </p:nvSpPr>
        <p:spPr>
          <a:xfrm>
            <a:off x="3447288" y="2999232"/>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Client-Driven Demand</a:t>
            </a:r>
            <a:endParaRPr lang="en-US" sz="850" dirty="0"/>
          </a:p>
        </p:txBody>
      </p:sp>
      <p:sp>
        <p:nvSpPr>
          <p:cNvPr id="46" name="Text 44"/>
          <p:cNvSpPr/>
          <p:nvPr/>
        </p:nvSpPr>
        <p:spPr>
          <a:xfrm>
            <a:off x="3447288" y="3172968"/>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BBH clients require seamless data sharing with wealth apps (Addepar, Orion, Chime, BofA portals).</a:t>
            </a:r>
            <a:endParaRPr lang="en-US" sz="750" dirty="0"/>
          </a:p>
        </p:txBody>
      </p:sp>
      <p:sp>
        <p:nvSpPr>
          <p:cNvPr id="47" name="Shape 45"/>
          <p:cNvSpPr/>
          <p:nvPr/>
        </p:nvSpPr>
        <p:spPr>
          <a:xfrm>
            <a:off x="3264408" y="3401568"/>
            <a:ext cx="118872" cy="118872"/>
          </a:xfrm>
          <a:prstGeom prst="ellipse">
            <a:avLst/>
          </a:prstGeom>
          <a:solidFill>
            <a:srgbClr val="00A896"/>
          </a:solidFill>
          <a:ln w="12700">
            <a:solidFill>
              <a:srgbClr val="00A896"/>
            </a:solidFill>
            <a:prstDash val="solid"/>
          </a:ln>
        </p:spPr>
        <p:txBody>
          <a:bodyPr/>
          <a:lstStyle/>
          <a:p>
            <a:endParaRPr lang="en-US"/>
          </a:p>
        </p:txBody>
      </p:sp>
      <p:sp>
        <p:nvSpPr>
          <p:cNvPr id="48" name="Text 46"/>
          <p:cNvSpPr/>
          <p:nvPr/>
        </p:nvSpPr>
        <p:spPr>
          <a:xfrm>
            <a:off x="3447288" y="3355848"/>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Eliminate N×M Complexity</a:t>
            </a:r>
            <a:endParaRPr lang="en-US" sz="850" dirty="0"/>
          </a:p>
        </p:txBody>
      </p:sp>
      <p:sp>
        <p:nvSpPr>
          <p:cNvPr id="49" name="Text 47"/>
          <p:cNvSpPr/>
          <p:nvPr/>
        </p:nvSpPr>
        <p:spPr>
          <a:xfrm>
            <a:off x="3447288" y="3529584"/>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Replace hundreds of point-to-point connections with one governed, monitored integration layer.</a:t>
            </a:r>
            <a:endParaRPr lang="en-US" sz="750" dirty="0"/>
          </a:p>
        </p:txBody>
      </p:sp>
      <p:sp>
        <p:nvSpPr>
          <p:cNvPr id="50" name="Shape 48"/>
          <p:cNvSpPr/>
          <p:nvPr/>
        </p:nvSpPr>
        <p:spPr>
          <a:xfrm>
            <a:off x="3264408" y="3758184"/>
            <a:ext cx="118872" cy="118872"/>
          </a:xfrm>
          <a:prstGeom prst="ellipse">
            <a:avLst/>
          </a:prstGeom>
          <a:solidFill>
            <a:srgbClr val="00A896"/>
          </a:solidFill>
          <a:ln w="12700">
            <a:solidFill>
              <a:srgbClr val="00A896"/>
            </a:solidFill>
            <a:prstDash val="solid"/>
          </a:ln>
        </p:spPr>
        <p:txBody>
          <a:bodyPr/>
          <a:lstStyle/>
          <a:p>
            <a:endParaRPr lang="en-US"/>
          </a:p>
        </p:txBody>
      </p:sp>
      <p:sp>
        <p:nvSpPr>
          <p:cNvPr id="51" name="Text 49"/>
          <p:cNvSpPr/>
          <p:nvPr/>
        </p:nvSpPr>
        <p:spPr>
          <a:xfrm>
            <a:off x="3447288" y="3712464"/>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Regulatory Compliance</a:t>
            </a:r>
            <a:endParaRPr lang="en-US" sz="850" dirty="0"/>
          </a:p>
        </p:txBody>
      </p:sp>
      <p:sp>
        <p:nvSpPr>
          <p:cNvPr id="52" name="Text 50"/>
          <p:cNvSpPr/>
          <p:nvPr/>
        </p:nvSpPr>
        <p:spPr>
          <a:xfrm>
            <a:off x="3447288" y="3886200"/>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NYDFS 500.12, FDX open banking mandates, and SEC data-sharing rules require a compliant API layer.</a:t>
            </a:r>
            <a:endParaRPr lang="en-US" sz="750" dirty="0"/>
          </a:p>
        </p:txBody>
      </p:sp>
      <p:sp>
        <p:nvSpPr>
          <p:cNvPr id="53" name="Shape 51"/>
          <p:cNvSpPr/>
          <p:nvPr/>
        </p:nvSpPr>
        <p:spPr>
          <a:xfrm>
            <a:off x="3264408" y="4114800"/>
            <a:ext cx="118872" cy="118872"/>
          </a:xfrm>
          <a:prstGeom prst="ellipse">
            <a:avLst/>
          </a:prstGeom>
          <a:solidFill>
            <a:srgbClr val="00A896"/>
          </a:solidFill>
          <a:ln w="12700">
            <a:solidFill>
              <a:srgbClr val="00A896"/>
            </a:solidFill>
            <a:prstDash val="solid"/>
          </a:ln>
        </p:spPr>
        <p:txBody>
          <a:bodyPr/>
          <a:lstStyle/>
          <a:p>
            <a:endParaRPr lang="en-US"/>
          </a:p>
        </p:txBody>
      </p:sp>
      <p:sp>
        <p:nvSpPr>
          <p:cNvPr id="54" name="Text 52"/>
          <p:cNvSpPr/>
          <p:nvPr/>
        </p:nvSpPr>
        <p:spPr>
          <a:xfrm>
            <a:off x="3447288" y="4069080"/>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Accelerate Product Delivery</a:t>
            </a:r>
            <a:endParaRPr lang="en-US" sz="850" dirty="0"/>
          </a:p>
        </p:txBody>
      </p:sp>
      <p:sp>
        <p:nvSpPr>
          <p:cNvPr id="55" name="Text 53"/>
          <p:cNvSpPr/>
          <p:nvPr/>
        </p:nvSpPr>
        <p:spPr>
          <a:xfrm>
            <a:off x="3447288" y="4242816"/>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Launch open banking capabilities without per-institution build cycles. Weeks, not months.</a:t>
            </a:r>
            <a:endParaRPr lang="en-US" sz="750" dirty="0"/>
          </a:p>
        </p:txBody>
      </p:sp>
      <p:sp>
        <p:nvSpPr>
          <p:cNvPr id="56" name="Shape 54"/>
          <p:cNvSpPr/>
          <p:nvPr/>
        </p:nvSpPr>
        <p:spPr>
          <a:xfrm>
            <a:off x="3264408" y="4471416"/>
            <a:ext cx="118872" cy="118872"/>
          </a:xfrm>
          <a:prstGeom prst="ellipse">
            <a:avLst/>
          </a:prstGeom>
          <a:solidFill>
            <a:srgbClr val="00A896"/>
          </a:solidFill>
          <a:ln w="12700">
            <a:solidFill>
              <a:srgbClr val="00A896"/>
            </a:solidFill>
            <a:prstDash val="solid"/>
          </a:ln>
        </p:spPr>
        <p:txBody>
          <a:bodyPr/>
          <a:lstStyle/>
          <a:p>
            <a:endParaRPr lang="en-US"/>
          </a:p>
        </p:txBody>
      </p:sp>
      <p:sp>
        <p:nvSpPr>
          <p:cNvPr id="57" name="Text 55"/>
          <p:cNvSpPr/>
          <p:nvPr/>
        </p:nvSpPr>
        <p:spPr>
          <a:xfrm>
            <a:off x="3447288" y="4425696"/>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Governed Data Exchange</a:t>
            </a:r>
            <a:endParaRPr lang="en-US" sz="850" dirty="0"/>
          </a:p>
        </p:txBody>
      </p:sp>
      <p:sp>
        <p:nvSpPr>
          <p:cNvPr id="58" name="Text 56"/>
          <p:cNvSpPr/>
          <p:nvPr/>
        </p:nvSpPr>
        <p:spPr>
          <a:xfrm>
            <a:off x="3447288" y="4599432"/>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Centralized control point for all external data sharing — monitored, auditable, and revocable.</a:t>
            </a:r>
            <a:endParaRPr lang="en-US" sz="750" dirty="0"/>
          </a:p>
        </p:txBody>
      </p:sp>
      <p:sp>
        <p:nvSpPr>
          <p:cNvPr id="59" name="Shape 57"/>
          <p:cNvSpPr/>
          <p:nvPr/>
        </p:nvSpPr>
        <p:spPr>
          <a:xfrm>
            <a:off x="6071616" y="2633472"/>
            <a:ext cx="2761488" cy="2084832"/>
          </a:xfrm>
          <a:prstGeom prst="rect">
            <a:avLst/>
          </a:prstGeom>
          <a:solidFill>
            <a:srgbClr val="0D2035"/>
          </a:solidFill>
          <a:ln w="10160">
            <a:solidFill>
              <a:srgbClr val="F0A500"/>
            </a:solidFill>
            <a:prstDash val="solid"/>
          </a:ln>
        </p:spPr>
        <p:txBody>
          <a:bodyPr/>
          <a:lstStyle/>
          <a:p>
            <a:endParaRPr lang="en-US"/>
          </a:p>
        </p:txBody>
      </p:sp>
      <p:sp>
        <p:nvSpPr>
          <p:cNvPr id="60" name="Shape 58"/>
          <p:cNvSpPr/>
          <p:nvPr/>
        </p:nvSpPr>
        <p:spPr>
          <a:xfrm>
            <a:off x="6071616" y="2633472"/>
            <a:ext cx="2761488" cy="301752"/>
          </a:xfrm>
          <a:prstGeom prst="rect">
            <a:avLst/>
          </a:prstGeom>
          <a:solidFill>
            <a:srgbClr val="F0A500"/>
          </a:solidFill>
          <a:ln w="12700">
            <a:solidFill>
              <a:srgbClr val="F0A500"/>
            </a:solidFill>
            <a:prstDash val="solid"/>
          </a:ln>
        </p:spPr>
        <p:txBody>
          <a:bodyPr/>
          <a:lstStyle/>
          <a:p>
            <a:endParaRPr lang="en-US"/>
          </a:p>
        </p:txBody>
      </p:sp>
      <p:sp>
        <p:nvSpPr>
          <p:cNvPr id="61" name="Text 59"/>
          <p:cNvSpPr/>
          <p:nvPr/>
        </p:nvSpPr>
        <p:spPr>
          <a:xfrm>
            <a:off x="6071616" y="2633472"/>
            <a:ext cx="2761488" cy="301752"/>
          </a:xfrm>
          <a:prstGeom prst="rect">
            <a:avLst/>
          </a:prstGeom>
          <a:noFill/>
          <a:ln/>
        </p:spPr>
        <p:txBody>
          <a:bodyPr wrap="square" lIns="0" tIns="0" rIns="0" bIns="0" rtlCol="0" anchor="ctr"/>
          <a:lstStyle/>
          <a:p>
            <a:pPr marL="0" indent="0" algn="ctr">
              <a:buNone/>
            </a:pPr>
            <a:r>
              <a:rPr lang="en-US" sz="900" b="1" kern="0" spc="80" dirty="0">
                <a:solidFill>
                  <a:srgbClr val="FFFFFF"/>
                </a:solidFill>
                <a:latin typeface="Calibri" pitchFamily="34" charset="0"/>
                <a:ea typeface="Calibri" pitchFamily="34" charset="-122"/>
                <a:cs typeface="Calibri" pitchFamily="34" charset="-120"/>
              </a:rPr>
              <a:t>STRATEGIC VALUE TO BBH</a:t>
            </a:r>
            <a:endParaRPr lang="en-US" sz="900" dirty="0"/>
          </a:p>
        </p:txBody>
      </p:sp>
      <p:sp>
        <p:nvSpPr>
          <p:cNvPr id="62" name="Shape 60"/>
          <p:cNvSpPr/>
          <p:nvPr/>
        </p:nvSpPr>
        <p:spPr>
          <a:xfrm>
            <a:off x="6163056" y="3044952"/>
            <a:ext cx="118872" cy="118872"/>
          </a:xfrm>
          <a:prstGeom prst="ellipse">
            <a:avLst/>
          </a:prstGeom>
          <a:solidFill>
            <a:srgbClr val="F0A500"/>
          </a:solidFill>
          <a:ln w="12700">
            <a:solidFill>
              <a:srgbClr val="F0A500"/>
            </a:solidFill>
            <a:prstDash val="solid"/>
          </a:ln>
        </p:spPr>
        <p:txBody>
          <a:bodyPr/>
          <a:lstStyle/>
          <a:p>
            <a:endParaRPr lang="en-US"/>
          </a:p>
        </p:txBody>
      </p:sp>
      <p:sp>
        <p:nvSpPr>
          <p:cNvPr id="63" name="Text 61"/>
          <p:cNvSpPr/>
          <p:nvPr/>
        </p:nvSpPr>
        <p:spPr>
          <a:xfrm>
            <a:off x="6345936" y="2999232"/>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Competitive Necessity</a:t>
            </a:r>
            <a:endParaRPr lang="en-US" sz="850" dirty="0"/>
          </a:p>
        </p:txBody>
      </p:sp>
      <p:sp>
        <p:nvSpPr>
          <p:cNvPr id="64" name="Text 62"/>
          <p:cNvSpPr/>
          <p:nvPr/>
        </p:nvSpPr>
        <p:spPr>
          <a:xfrm>
            <a:off x="6345936" y="3172968"/>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JPMorgan, BofA, and Citi already offer open banking APIs. BBH must provide equivalent access.</a:t>
            </a:r>
            <a:endParaRPr lang="en-US" sz="750" dirty="0"/>
          </a:p>
        </p:txBody>
      </p:sp>
      <p:sp>
        <p:nvSpPr>
          <p:cNvPr id="65" name="Shape 63"/>
          <p:cNvSpPr/>
          <p:nvPr/>
        </p:nvSpPr>
        <p:spPr>
          <a:xfrm>
            <a:off x="6163056" y="3401568"/>
            <a:ext cx="118872" cy="118872"/>
          </a:xfrm>
          <a:prstGeom prst="ellipse">
            <a:avLst/>
          </a:prstGeom>
          <a:solidFill>
            <a:srgbClr val="F0A500"/>
          </a:solidFill>
          <a:ln w="12700">
            <a:solidFill>
              <a:srgbClr val="F0A500"/>
            </a:solidFill>
            <a:prstDash val="solid"/>
          </a:ln>
        </p:spPr>
        <p:txBody>
          <a:bodyPr/>
          <a:lstStyle/>
          <a:p>
            <a:endParaRPr lang="en-US"/>
          </a:p>
        </p:txBody>
      </p:sp>
      <p:sp>
        <p:nvSpPr>
          <p:cNvPr id="66" name="Text 64"/>
          <p:cNvSpPr/>
          <p:nvPr/>
        </p:nvSpPr>
        <p:spPr>
          <a:xfrm>
            <a:off x="6345936" y="3355848"/>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Operational Efficiency</a:t>
            </a:r>
            <a:endParaRPr lang="en-US" sz="850" dirty="0"/>
          </a:p>
        </p:txBody>
      </p:sp>
      <p:sp>
        <p:nvSpPr>
          <p:cNvPr id="67" name="Text 65"/>
          <p:cNvSpPr/>
          <p:nvPr/>
        </p:nvSpPr>
        <p:spPr>
          <a:xfrm>
            <a:off x="6345936" y="3529584"/>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Consolidate integration maintenance for 1,000+ downstream consumers into a single managed layer.</a:t>
            </a:r>
            <a:endParaRPr lang="en-US" sz="750" dirty="0"/>
          </a:p>
        </p:txBody>
      </p:sp>
      <p:sp>
        <p:nvSpPr>
          <p:cNvPr id="68" name="Shape 66"/>
          <p:cNvSpPr/>
          <p:nvPr/>
        </p:nvSpPr>
        <p:spPr>
          <a:xfrm>
            <a:off x="6163056" y="3758184"/>
            <a:ext cx="118872" cy="118872"/>
          </a:xfrm>
          <a:prstGeom prst="ellipse">
            <a:avLst/>
          </a:prstGeom>
          <a:solidFill>
            <a:srgbClr val="F0A500"/>
          </a:solidFill>
          <a:ln w="12700">
            <a:solidFill>
              <a:srgbClr val="F0A500"/>
            </a:solidFill>
            <a:prstDash val="solid"/>
          </a:ln>
        </p:spPr>
        <p:txBody>
          <a:bodyPr/>
          <a:lstStyle/>
          <a:p>
            <a:endParaRPr lang="en-US"/>
          </a:p>
        </p:txBody>
      </p:sp>
      <p:sp>
        <p:nvSpPr>
          <p:cNvPr id="69" name="Text 67"/>
          <p:cNvSpPr/>
          <p:nvPr/>
        </p:nvSpPr>
        <p:spPr>
          <a:xfrm>
            <a:off x="6345936" y="3712464"/>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Risk Reduction</a:t>
            </a:r>
            <a:endParaRPr lang="en-US" sz="850" dirty="0"/>
          </a:p>
        </p:txBody>
      </p:sp>
      <p:sp>
        <p:nvSpPr>
          <p:cNvPr id="70" name="Text 68"/>
          <p:cNvSpPr/>
          <p:nvPr/>
        </p:nvSpPr>
        <p:spPr>
          <a:xfrm>
            <a:off x="6345936" y="3886200"/>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Centralized revocation and token scoping eliminates credential-sharing risk across all channels.</a:t>
            </a:r>
            <a:endParaRPr lang="en-US" sz="750" dirty="0"/>
          </a:p>
        </p:txBody>
      </p:sp>
      <p:sp>
        <p:nvSpPr>
          <p:cNvPr id="71" name="Shape 69"/>
          <p:cNvSpPr/>
          <p:nvPr/>
        </p:nvSpPr>
        <p:spPr>
          <a:xfrm>
            <a:off x="6163056" y="4114800"/>
            <a:ext cx="118872" cy="118872"/>
          </a:xfrm>
          <a:prstGeom prst="ellipse">
            <a:avLst/>
          </a:prstGeom>
          <a:solidFill>
            <a:srgbClr val="F0A500"/>
          </a:solidFill>
          <a:ln w="12700">
            <a:solidFill>
              <a:srgbClr val="F0A500"/>
            </a:solidFill>
            <a:prstDash val="solid"/>
          </a:ln>
        </p:spPr>
        <p:txBody>
          <a:bodyPr/>
          <a:lstStyle/>
          <a:p>
            <a:endParaRPr lang="en-US"/>
          </a:p>
        </p:txBody>
      </p:sp>
      <p:sp>
        <p:nvSpPr>
          <p:cNvPr id="72" name="Text 70"/>
          <p:cNvSpPr/>
          <p:nvPr/>
        </p:nvSpPr>
        <p:spPr>
          <a:xfrm>
            <a:off x="6345936" y="4069080"/>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Audit &amp; Governance Uplift</a:t>
            </a:r>
            <a:endParaRPr lang="en-US" sz="850" dirty="0"/>
          </a:p>
        </p:txBody>
      </p:sp>
      <p:sp>
        <p:nvSpPr>
          <p:cNvPr id="73" name="Text 71"/>
          <p:cNvSpPr/>
          <p:nvPr/>
        </p:nvSpPr>
        <p:spPr>
          <a:xfrm>
            <a:off x="6345936" y="4242816"/>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Full lifecycle event logging closes audit gaps and strengthens BBH's regulatory posture.</a:t>
            </a:r>
            <a:endParaRPr lang="en-US" sz="750" dirty="0"/>
          </a:p>
        </p:txBody>
      </p:sp>
      <p:sp>
        <p:nvSpPr>
          <p:cNvPr id="74" name="Shape 72"/>
          <p:cNvSpPr/>
          <p:nvPr/>
        </p:nvSpPr>
        <p:spPr>
          <a:xfrm>
            <a:off x="6163056" y="4471416"/>
            <a:ext cx="118872" cy="118872"/>
          </a:xfrm>
          <a:prstGeom prst="ellipse">
            <a:avLst/>
          </a:prstGeom>
          <a:solidFill>
            <a:srgbClr val="F0A500"/>
          </a:solidFill>
          <a:ln w="12700">
            <a:solidFill>
              <a:srgbClr val="F0A500"/>
            </a:solidFill>
            <a:prstDash val="solid"/>
          </a:ln>
        </p:spPr>
        <p:txBody>
          <a:bodyPr/>
          <a:lstStyle/>
          <a:p>
            <a:endParaRPr lang="en-US"/>
          </a:p>
        </p:txBody>
      </p:sp>
      <p:sp>
        <p:nvSpPr>
          <p:cNvPr id="75" name="Text 73"/>
          <p:cNvSpPr/>
          <p:nvPr/>
        </p:nvSpPr>
        <p:spPr>
          <a:xfrm>
            <a:off x="6345936" y="4425696"/>
            <a:ext cx="2423160" cy="173736"/>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Future-Proof Architecture</a:t>
            </a:r>
            <a:endParaRPr lang="en-US" sz="850" dirty="0"/>
          </a:p>
        </p:txBody>
      </p:sp>
      <p:sp>
        <p:nvSpPr>
          <p:cNvPr id="76" name="Text 74"/>
          <p:cNvSpPr/>
          <p:nvPr/>
        </p:nvSpPr>
        <p:spPr>
          <a:xfrm>
            <a:off x="6345936" y="4599432"/>
            <a:ext cx="2423160" cy="164592"/>
          </a:xfrm>
          <a:prstGeom prst="rect">
            <a:avLst/>
          </a:prstGeom>
          <a:noFill/>
          <a:ln/>
        </p:spPr>
        <p:txBody>
          <a:bodyPr wrap="square" rtlCol="0" anchor="ctr"/>
          <a:lstStyle/>
          <a:p>
            <a:pPr marL="0" indent="0">
              <a:buNone/>
            </a:pPr>
            <a:r>
              <a:rPr lang="en-US" sz="750" dirty="0">
                <a:solidFill>
                  <a:srgbClr val="9DB8BF"/>
                </a:solidFill>
                <a:latin typeface="Calibri" pitchFamily="34" charset="0"/>
                <a:ea typeface="Calibri" pitchFamily="34" charset="-122"/>
                <a:cs typeface="Calibri" pitchFamily="34" charset="-120"/>
              </a:rPr>
              <a:t>FDX/open banking standards ensure the platform remains interoperable as mandates evolve.</a:t>
            </a:r>
            <a:endParaRPr lang="en-US" sz="750" dirty="0"/>
          </a:p>
        </p:txBody>
      </p:sp>
      <p:sp>
        <p:nvSpPr>
          <p:cNvPr id="77" name="Shape 75"/>
          <p:cNvSpPr/>
          <p:nvPr/>
        </p:nvSpPr>
        <p:spPr>
          <a:xfrm>
            <a:off x="0" y="4864608"/>
            <a:ext cx="9144000" cy="278892"/>
          </a:xfrm>
          <a:prstGeom prst="rect">
            <a:avLst/>
          </a:prstGeom>
          <a:solidFill>
            <a:srgbClr val="1A2F4E"/>
          </a:solidFill>
          <a:ln w="12700">
            <a:solidFill>
              <a:srgbClr val="1A2F4E"/>
            </a:solidFill>
            <a:prstDash val="solid"/>
          </a:ln>
        </p:spPr>
        <p:txBody>
          <a:bodyPr/>
          <a:lstStyle/>
          <a:p>
            <a:endParaRPr lang="en-US"/>
          </a:p>
        </p:txBody>
      </p:sp>
      <p:sp>
        <p:nvSpPr>
          <p:cNvPr id="78" name="Text 76"/>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79" name="Text 77"/>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0"/>
            <a:ext cx="7315200" cy="74980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BBH Data Exchange — Outbound Architecture</a:t>
            </a:r>
            <a:endParaRPr lang="en-US" sz="2200" dirty="0"/>
          </a:p>
        </p:txBody>
      </p:sp>
      <p:sp>
        <p:nvSpPr>
          <p:cNvPr id="5" name="Shape 3"/>
          <p:cNvSpPr/>
          <p:nvPr/>
        </p:nvSpPr>
        <p:spPr>
          <a:xfrm>
            <a:off x="7516368" y="146304"/>
            <a:ext cx="1389888" cy="45720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7516368" y="146304"/>
            <a:ext cx="1389888" cy="457200"/>
          </a:xfrm>
          <a:prstGeom prst="rect">
            <a:avLst/>
          </a:prstGeom>
          <a:noFill/>
          <a:ln/>
        </p:spPr>
        <p:txBody>
          <a:bodyPr wrap="square" lIns="0" tIns="0" rIns="0" bIns="0" rtlCol="0" anchor="ctr"/>
          <a:lstStyle/>
          <a:p>
            <a:pPr marL="0" indent="0" algn="ctr">
              <a:buNone/>
            </a:pPr>
            <a:r>
              <a:rPr lang="en-US" sz="850" b="1" kern="0" spc="50" dirty="0">
                <a:solidFill>
                  <a:srgbClr val="FFFFFF"/>
                </a:solidFill>
              </a:rPr>
              <a:t>OUTBOUND</a:t>
            </a:r>
            <a:endParaRPr lang="en-US" sz="850" dirty="0"/>
          </a:p>
        </p:txBody>
      </p:sp>
      <p:sp>
        <p:nvSpPr>
          <p:cNvPr id="7" name="Shape 5"/>
          <p:cNvSpPr/>
          <p:nvPr/>
        </p:nvSpPr>
        <p:spPr>
          <a:xfrm>
            <a:off x="274320" y="896112"/>
            <a:ext cx="3017520" cy="38587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274320" y="896112"/>
            <a:ext cx="3017520" cy="329184"/>
          </a:xfrm>
          <a:prstGeom prst="rect">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274320" y="896112"/>
            <a:ext cx="3017520" cy="329184"/>
          </a:xfrm>
          <a:prstGeom prst="rect">
            <a:avLst/>
          </a:prstGeom>
          <a:noFill/>
          <a:ln/>
        </p:spPr>
        <p:txBody>
          <a:bodyPr wrap="square" lIns="0" tIns="0" rIns="0" bIns="0" rtlCol="0" anchor="ctr"/>
          <a:lstStyle/>
          <a:p>
            <a:pPr marL="0" indent="0" algn="ctr">
              <a:buNone/>
            </a:pPr>
            <a:r>
              <a:rPr lang="en-US" sz="900" b="1" kern="0" spc="80" dirty="0">
                <a:solidFill>
                  <a:srgbClr val="FFFFFF"/>
                </a:solidFill>
              </a:rPr>
              <a:t>ARCHITECTURAL DESIGN RATIONALE</a:t>
            </a:r>
            <a:endParaRPr lang="en-US" sz="900" dirty="0"/>
          </a:p>
        </p:txBody>
      </p:sp>
      <p:sp>
        <p:nvSpPr>
          <p:cNvPr id="10" name="Shape 8"/>
          <p:cNvSpPr/>
          <p:nvPr/>
        </p:nvSpPr>
        <p:spPr>
          <a:xfrm>
            <a:off x="347472" y="1371600"/>
            <a:ext cx="54864" cy="457200"/>
          </a:xfrm>
          <a:prstGeom prst="rect">
            <a:avLst/>
          </a:prstGeom>
          <a:solidFill>
            <a:srgbClr val="02C39A"/>
          </a:solidFill>
          <a:ln w="12700">
            <a:solidFill>
              <a:srgbClr val="02C39A"/>
            </a:solidFill>
            <a:prstDash val="solid"/>
          </a:ln>
        </p:spPr>
        <p:txBody>
          <a:bodyPr/>
          <a:lstStyle/>
          <a:p>
            <a:endParaRPr lang="en-US"/>
          </a:p>
        </p:txBody>
      </p:sp>
      <p:sp>
        <p:nvSpPr>
          <p:cNvPr id="11" name="Text 9"/>
          <p:cNvSpPr/>
          <p:nvPr/>
        </p:nvSpPr>
        <p:spPr>
          <a:xfrm>
            <a:off x="493776" y="1353312"/>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Single Integration Hub</a:t>
            </a:r>
            <a:endParaRPr lang="en-US" sz="950" dirty="0"/>
          </a:p>
        </p:txBody>
      </p:sp>
      <p:sp>
        <p:nvSpPr>
          <p:cNvPr id="12" name="Text 10"/>
          <p:cNvSpPr/>
          <p:nvPr/>
        </p:nvSpPr>
        <p:spPr>
          <a:xfrm>
            <a:off x="493776" y="1572768"/>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One governed Plaid channel replaces hundreds of direct bank connections. Dramatically reduces operational attack surface.</a:t>
            </a:r>
            <a:endParaRPr lang="en-US" sz="850" dirty="0"/>
          </a:p>
        </p:txBody>
      </p:sp>
      <p:sp>
        <p:nvSpPr>
          <p:cNvPr id="13" name="Shape 11"/>
          <p:cNvSpPr/>
          <p:nvPr/>
        </p:nvSpPr>
        <p:spPr>
          <a:xfrm>
            <a:off x="347472" y="2029968"/>
            <a:ext cx="54864" cy="457200"/>
          </a:xfrm>
          <a:prstGeom prst="rect">
            <a:avLst/>
          </a:prstGeom>
          <a:solidFill>
            <a:srgbClr val="02C39A"/>
          </a:solidFill>
          <a:ln w="12700">
            <a:solidFill>
              <a:srgbClr val="02C39A"/>
            </a:solidFill>
            <a:prstDash val="solid"/>
          </a:ln>
        </p:spPr>
        <p:txBody>
          <a:bodyPr/>
          <a:lstStyle/>
          <a:p>
            <a:endParaRPr lang="en-US"/>
          </a:p>
        </p:txBody>
      </p:sp>
      <p:sp>
        <p:nvSpPr>
          <p:cNvPr id="14" name="Text 12"/>
          <p:cNvSpPr/>
          <p:nvPr/>
        </p:nvSpPr>
        <p:spPr>
          <a:xfrm>
            <a:off x="493776" y="2011680"/>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OFX/FDX Standardized Schema</a:t>
            </a:r>
            <a:endParaRPr lang="en-US" sz="950" dirty="0"/>
          </a:p>
        </p:txBody>
      </p:sp>
      <p:sp>
        <p:nvSpPr>
          <p:cNvPr id="15" name="Text 13"/>
          <p:cNvSpPr/>
          <p:nvPr/>
        </p:nvSpPr>
        <p:spPr>
          <a:xfrm>
            <a:off x="493776" y="2231136"/>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Normalized JSON payloads for accounts, transactions, and balances. Eliminates per-institution data transformation logic.</a:t>
            </a:r>
            <a:endParaRPr lang="en-US" sz="850" dirty="0"/>
          </a:p>
        </p:txBody>
      </p:sp>
      <p:sp>
        <p:nvSpPr>
          <p:cNvPr id="16" name="Shape 14"/>
          <p:cNvSpPr/>
          <p:nvPr/>
        </p:nvSpPr>
        <p:spPr>
          <a:xfrm>
            <a:off x="347472" y="2688336"/>
            <a:ext cx="54864" cy="457200"/>
          </a:xfrm>
          <a:prstGeom prst="rect">
            <a:avLst/>
          </a:prstGeom>
          <a:solidFill>
            <a:srgbClr val="02C39A"/>
          </a:solidFill>
          <a:ln w="12700">
            <a:solidFill>
              <a:srgbClr val="02C39A"/>
            </a:solidFill>
            <a:prstDash val="solid"/>
          </a:ln>
        </p:spPr>
        <p:txBody>
          <a:bodyPr/>
          <a:lstStyle/>
          <a:p>
            <a:endParaRPr lang="en-US"/>
          </a:p>
        </p:txBody>
      </p:sp>
      <p:sp>
        <p:nvSpPr>
          <p:cNvPr id="17" name="Text 15"/>
          <p:cNvSpPr/>
          <p:nvPr/>
        </p:nvSpPr>
        <p:spPr>
          <a:xfrm>
            <a:off x="493776" y="2670048"/>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OAuth 2.0 + Token Isolation</a:t>
            </a:r>
            <a:endParaRPr lang="en-US" sz="950" dirty="0"/>
          </a:p>
        </p:txBody>
      </p:sp>
      <p:sp>
        <p:nvSpPr>
          <p:cNvPr id="18" name="Text 16"/>
          <p:cNvSpPr/>
          <p:nvPr/>
        </p:nvSpPr>
        <p:spPr>
          <a:xfrm>
            <a:off x="493776" y="2889504"/>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No BBH credentials transit the Plaid layer. Scoped, short-lived tokens are revocable at any time by BBH.</a:t>
            </a:r>
            <a:endParaRPr lang="en-US" sz="850" dirty="0"/>
          </a:p>
        </p:txBody>
      </p:sp>
      <p:sp>
        <p:nvSpPr>
          <p:cNvPr id="19" name="Shape 17"/>
          <p:cNvSpPr/>
          <p:nvPr/>
        </p:nvSpPr>
        <p:spPr>
          <a:xfrm>
            <a:off x="347472" y="3346704"/>
            <a:ext cx="54864" cy="457200"/>
          </a:xfrm>
          <a:prstGeom prst="rect">
            <a:avLst/>
          </a:prstGeom>
          <a:solidFill>
            <a:srgbClr val="02C39A"/>
          </a:solidFill>
          <a:ln w="12700">
            <a:solidFill>
              <a:srgbClr val="02C39A"/>
            </a:solidFill>
            <a:prstDash val="solid"/>
          </a:ln>
        </p:spPr>
        <p:txBody>
          <a:bodyPr/>
          <a:lstStyle/>
          <a:p>
            <a:endParaRPr lang="en-US"/>
          </a:p>
        </p:txBody>
      </p:sp>
      <p:sp>
        <p:nvSpPr>
          <p:cNvPr id="20" name="Text 18"/>
          <p:cNvSpPr/>
          <p:nvPr/>
        </p:nvSpPr>
        <p:spPr>
          <a:xfrm>
            <a:off x="493776" y="3328416"/>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Zero Credential Exposure</a:t>
            </a:r>
            <a:endParaRPr lang="en-US" sz="950" dirty="0"/>
          </a:p>
        </p:txBody>
      </p:sp>
      <p:sp>
        <p:nvSpPr>
          <p:cNvPr id="21" name="Text 19"/>
          <p:cNvSpPr/>
          <p:nvPr/>
        </p:nvSpPr>
        <p:spPr>
          <a:xfrm>
            <a:off x="493776" y="3547872"/>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Plaid Link encrypts all user inputs. Raw credentials are never stored, forwarded, or accessible to any third party.</a:t>
            </a:r>
            <a:endParaRPr lang="en-US" sz="850" dirty="0"/>
          </a:p>
        </p:txBody>
      </p:sp>
      <p:sp>
        <p:nvSpPr>
          <p:cNvPr id="22" name="Shape 20"/>
          <p:cNvSpPr/>
          <p:nvPr/>
        </p:nvSpPr>
        <p:spPr>
          <a:xfrm>
            <a:off x="347472" y="4005072"/>
            <a:ext cx="54864" cy="457200"/>
          </a:xfrm>
          <a:prstGeom prst="rect">
            <a:avLst/>
          </a:prstGeom>
          <a:solidFill>
            <a:srgbClr val="02C39A"/>
          </a:solidFill>
          <a:ln w="12700">
            <a:solidFill>
              <a:srgbClr val="02C39A"/>
            </a:solidFill>
            <a:prstDash val="solid"/>
          </a:ln>
        </p:spPr>
        <p:txBody>
          <a:bodyPr/>
          <a:lstStyle/>
          <a:p>
            <a:endParaRPr lang="en-US"/>
          </a:p>
        </p:txBody>
      </p:sp>
      <p:sp>
        <p:nvSpPr>
          <p:cNvPr id="23" name="Text 21"/>
          <p:cNvSpPr/>
          <p:nvPr/>
        </p:nvSpPr>
        <p:spPr>
          <a:xfrm>
            <a:off x="493776" y="3986784"/>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Handles Scale &amp; Reliability</a:t>
            </a:r>
            <a:endParaRPr lang="en-US" sz="950" dirty="0"/>
          </a:p>
        </p:txBody>
      </p:sp>
      <p:sp>
        <p:nvSpPr>
          <p:cNvPr id="24" name="Text 22"/>
          <p:cNvSpPr/>
          <p:nvPr/>
        </p:nvSpPr>
        <p:spPr>
          <a:xfrm>
            <a:off x="493776" y="4206240"/>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Plaid manages rate limiting, retries, and institution-level failover. BBH inherits enterprise-grade reliability.</a:t>
            </a:r>
            <a:endParaRPr lang="en-US" sz="850" dirty="0"/>
          </a:p>
        </p:txBody>
      </p:sp>
      <p:sp>
        <p:nvSpPr>
          <p:cNvPr id="25" name="Shape 23"/>
          <p:cNvSpPr/>
          <p:nvPr/>
        </p:nvSpPr>
        <p:spPr>
          <a:xfrm>
            <a:off x="3493008" y="896112"/>
            <a:ext cx="1389888" cy="3858768"/>
          </a:xfrm>
          <a:prstGeom prst="rect">
            <a:avLst/>
          </a:prstGeom>
          <a:solidFill>
            <a:srgbClr val="FFFFFF"/>
          </a:solidFill>
          <a:ln w="9525">
            <a:solidFill>
              <a:srgbClr val="E8EEF0"/>
            </a:solidFill>
            <a:prstDash val="solid"/>
          </a:ln>
        </p:spPr>
        <p:txBody>
          <a:bodyPr/>
          <a:lstStyle/>
          <a:p>
            <a:endParaRPr lang="en-US"/>
          </a:p>
        </p:txBody>
      </p:sp>
      <p:sp>
        <p:nvSpPr>
          <p:cNvPr id="26" name="Shape 24"/>
          <p:cNvSpPr/>
          <p:nvPr/>
        </p:nvSpPr>
        <p:spPr>
          <a:xfrm>
            <a:off x="3493008" y="896112"/>
            <a:ext cx="1389888" cy="274320"/>
          </a:xfrm>
          <a:prstGeom prst="rect">
            <a:avLst/>
          </a:prstGeom>
          <a:solidFill>
            <a:srgbClr val="C8EAE8"/>
          </a:solidFill>
          <a:ln w="12700">
            <a:solidFill>
              <a:srgbClr val="C8EAE8"/>
            </a:solidFill>
            <a:prstDash val="solid"/>
          </a:ln>
        </p:spPr>
        <p:txBody>
          <a:bodyPr/>
          <a:lstStyle/>
          <a:p>
            <a:endParaRPr lang="en-US"/>
          </a:p>
        </p:txBody>
      </p:sp>
      <p:sp>
        <p:nvSpPr>
          <p:cNvPr id="27" name="Text 25"/>
          <p:cNvSpPr/>
          <p:nvPr/>
        </p:nvSpPr>
        <p:spPr>
          <a:xfrm>
            <a:off x="3493008" y="896112"/>
            <a:ext cx="1389888" cy="274320"/>
          </a:xfrm>
          <a:prstGeom prst="rect">
            <a:avLst/>
          </a:prstGeom>
          <a:noFill/>
          <a:ln/>
        </p:spPr>
        <p:txBody>
          <a:bodyPr wrap="square" lIns="0" tIns="0" rIns="0" bIns="0" rtlCol="0" anchor="ctr"/>
          <a:lstStyle/>
          <a:p>
            <a:pPr marL="0" indent="0" algn="ctr">
              <a:buNone/>
            </a:pPr>
            <a:r>
              <a:rPr lang="en-US" sz="850" b="1" dirty="0">
                <a:solidFill>
                  <a:srgbClr val="028090"/>
                </a:solidFill>
              </a:rPr>
              <a:t>Fintech Apps</a:t>
            </a:r>
            <a:endParaRPr lang="en-US" sz="850" dirty="0"/>
          </a:p>
        </p:txBody>
      </p:sp>
      <p:sp>
        <p:nvSpPr>
          <p:cNvPr id="28" name="Shape 26"/>
          <p:cNvSpPr/>
          <p:nvPr/>
        </p:nvSpPr>
        <p:spPr>
          <a:xfrm>
            <a:off x="3566160" y="1261872"/>
            <a:ext cx="1243584" cy="384048"/>
          </a:xfrm>
          <a:prstGeom prst="rect">
            <a:avLst/>
          </a:prstGeom>
          <a:solidFill>
            <a:srgbClr val="F4F8F9"/>
          </a:solidFill>
          <a:ln w="9525">
            <a:solidFill>
              <a:srgbClr val="C8EAE8"/>
            </a:solidFill>
            <a:prstDash val="solid"/>
          </a:ln>
        </p:spPr>
        <p:txBody>
          <a:bodyPr/>
          <a:lstStyle/>
          <a:p>
            <a:endParaRPr lang="en-US"/>
          </a:p>
        </p:txBody>
      </p:sp>
      <p:sp>
        <p:nvSpPr>
          <p:cNvPr id="29" name="Text 27"/>
          <p:cNvSpPr/>
          <p:nvPr/>
        </p:nvSpPr>
        <p:spPr>
          <a:xfrm>
            <a:off x="3566160" y="1261872"/>
            <a:ext cx="1243584" cy="384048"/>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Addepar</a:t>
            </a:r>
            <a:endParaRPr lang="en-US" sz="850" dirty="0"/>
          </a:p>
        </p:txBody>
      </p:sp>
      <p:sp>
        <p:nvSpPr>
          <p:cNvPr id="30" name="Shape 28"/>
          <p:cNvSpPr/>
          <p:nvPr/>
        </p:nvSpPr>
        <p:spPr>
          <a:xfrm>
            <a:off x="3566160" y="1792224"/>
            <a:ext cx="1243584" cy="384048"/>
          </a:xfrm>
          <a:prstGeom prst="rect">
            <a:avLst/>
          </a:prstGeom>
          <a:solidFill>
            <a:srgbClr val="F4F8F9"/>
          </a:solidFill>
          <a:ln w="9525">
            <a:solidFill>
              <a:srgbClr val="C8EAE8"/>
            </a:solidFill>
            <a:prstDash val="solid"/>
          </a:ln>
        </p:spPr>
        <p:txBody>
          <a:bodyPr/>
          <a:lstStyle/>
          <a:p>
            <a:endParaRPr lang="en-US"/>
          </a:p>
        </p:txBody>
      </p:sp>
      <p:sp>
        <p:nvSpPr>
          <p:cNvPr id="31" name="Text 29"/>
          <p:cNvSpPr/>
          <p:nvPr/>
        </p:nvSpPr>
        <p:spPr>
          <a:xfrm>
            <a:off x="3566160" y="1792224"/>
            <a:ext cx="1243584" cy="384048"/>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Chime</a:t>
            </a:r>
            <a:endParaRPr lang="en-US" sz="850" dirty="0"/>
          </a:p>
        </p:txBody>
      </p:sp>
      <p:sp>
        <p:nvSpPr>
          <p:cNvPr id="32" name="Shape 30"/>
          <p:cNvSpPr/>
          <p:nvPr/>
        </p:nvSpPr>
        <p:spPr>
          <a:xfrm>
            <a:off x="3566160" y="2322576"/>
            <a:ext cx="1243584" cy="384048"/>
          </a:xfrm>
          <a:prstGeom prst="rect">
            <a:avLst/>
          </a:prstGeom>
          <a:solidFill>
            <a:srgbClr val="F4F8F9"/>
          </a:solidFill>
          <a:ln w="9525">
            <a:solidFill>
              <a:srgbClr val="C8EAE8"/>
            </a:solidFill>
            <a:prstDash val="solid"/>
          </a:ln>
        </p:spPr>
        <p:txBody>
          <a:bodyPr/>
          <a:lstStyle/>
          <a:p>
            <a:endParaRPr lang="en-US"/>
          </a:p>
        </p:txBody>
      </p:sp>
      <p:sp>
        <p:nvSpPr>
          <p:cNvPr id="33" name="Text 31"/>
          <p:cNvSpPr/>
          <p:nvPr/>
        </p:nvSpPr>
        <p:spPr>
          <a:xfrm>
            <a:off x="3566160" y="2322576"/>
            <a:ext cx="1243584" cy="384048"/>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Venmo</a:t>
            </a:r>
            <a:endParaRPr lang="en-US" sz="850" dirty="0"/>
          </a:p>
        </p:txBody>
      </p:sp>
      <p:sp>
        <p:nvSpPr>
          <p:cNvPr id="34" name="Shape 32"/>
          <p:cNvSpPr/>
          <p:nvPr/>
        </p:nvSpPr>
        <p:spPr>
          <a:xfrm>
            <a:off x="3566160" y="2852928"/>
            <a:ext cx="1243584" cy="384048"/>
          </a:xfrm>
          <a:prstGeom prst="rect">
            <a:avLst/>
          </a:prstGeom>
          <a:solidFill>
            <a:srgbClr val="F4F8F9"/>
          </a:solidFill>
          <a:ln w="9525">
            <a:solidFill>
              <a:srgbClr val="C8EAE8"/>
            </a:solidFill>
            <a:prstDash val="solid"/>
          </a:ln>
        </p:spPr>
        <p:txBody>
          <a:bodyPr/>
          <a:lstStyle/>
          <a:p>
            <a:endParaRPr lang="en-US"/>
          </a:p>
        </p:txBody>
      </p:sp>
      <p:sp>
        <p:nvSpPr>
          <p:cNvPr id="35" name="Text 33"/>
          <p:cNvSpPr/>
          <p:nvPr/>
        </p:nvSpPr>
        <p:spPr>
          <a:xfrm>
            <a:off x="3566160" y="2852928"/>
            <a:ext cx="1243584" cy="384048"/>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QuickBooks</a:t>
            </a:r>
            <a:endParaRPr lang="en-US" sz="850" dirty="0"/>
          </a:p>
        </p:txBody>
      </p:sp>
      <p:sp>
        <p:nvSpPr>
          <p:cNvPr id="36" name="Shape 34"/>
          <p:cNvSpPr/>
          <p:nvPr/>
        </p:nvSpPr>
        <p:spPr>
          <a:xfrm>
            <a:off x="3566160" y="3383280"/>
            <a:ext cx="1243584" cy="384048"/>
          </a:xfrm>
          <a:prstGeom prst="rect">
            <a:avLst/>
          </a:prstGeom>
          <a:solidFill>
            <a:srgbClr val="E8EEF0"/>
          </a:solidFill>
          <a:ln w="9525">
            <a:solidFill>
              <a:srgbClr val="8FA3A8"/>
            </a:solidFill>
            <a:prstDash val="solid"/>
          </a:ln>
        </p:spPr>
        <p:txBody>
          <a:bodyPr/>
          <a:lstStyle/>
          <a:p>
            <a:endParaRPr lang="en-US"/>
          </a:p>
        </p:txBody>
      </p:sp>
      <p:sp>
        <p:nvSpPr>
          <p:cNvPr id="37" name="Text 35"/>
          <p:cNvSpPr/>
          <p:nvPr/>
        </p:nvSpPr>
        <p:spPr>
          <a:xfrm>
            <a:off x="3566160" y="3383280"/>
            <a:ext cx="1243584" cy="219456"/>
          </a:xfrm>
          <a:prstGeom prst="rect">
            <a:avLst/>
          </a:prstGeom>
          <a:noFill/>
          <a:ln/>
        </p:spPr>
        <p:txBody>
          <a:bodyPr wrap="square" lIns="0" tIns="0" rIns="0" bIns="0" rtlCol="0" anchor="ctr"/>
          <a:lstStyle/>
          <a:p>
            <a:pPr marL="0" indent="0" algn="ctr">
              <a:buNone/>
            </a:pPr>
            <a:r>
              <a:rPr lang="en-US" sz="850" dirty="0">
                <a:solidFill>
                  <a:srgbClr val="8FA3A8"/>
                </a:solidFill>
                <a:latin typeface="Calibri" pitchFamily="34" charset="0"/>
                <a:ea typeface="Calibri" pitchFamily="34" charset="-122"/>
                <a:cs typeface="Calibri" pitchFamily="34" charset="-120"/>
              </a:rPr>
              <a:t>Non-Plaid App</a:t>
            </a:r>
            <a:endParaRPr lang="en-US" sz="850" dirty="0"/>
          </a:p>
        </p:txBody>
      </p:sp>
      <p:sp>
        <p:nvSpPr>
          <p:cNvPr id="38" name="Shape 36"/>
          <p:cNvSpPr/>
          <p:nvPr/>
        </p:nvSpPr>
        <p:spPr>
          <a:xfrm>
            <a:off x="3621024" y="3602736"/>
            <a:ext cx="1133856" cy="155448"/>
          </a:xfrm>
          <a:prstGeom prst="rect">
            <a:avLst/>
          </a:prstGeom>
          <a:solidFill>
            <a:srgbClr val="FEF3CD"/>
          </a:solidFill>
          <a:ln w="6350">
            <a:solidFill>
              <a:srgbClr val="F0A500"/>
            </a:solidFill>
            <a:prstDash val="solid"/>
          </a:ln>
        </p:spPr>
        <p:txBody>
          <a:bodyPr/>
          <a:lstStyle/>
          <a:p>
            <a:endParaRPr lang="en-US"/>
          </a:p>
        </p:txBody>
      </p:sp>
      <p:sp>
        <p:nvSpPr>
          <p:cNvPr id="39" name="Text 37"/>
          <p:cNvSpPr/>
          <p:nvPr/>
        </p:nvSpPr>
        <p:spPr>
          <a:xfrm>
            <a:off x="3621024" y="3602736"/>
            <a:ext cx="1133856" cy="155448"/>
          </a:xfrm>
          <a:prstGeom prst="rect">
            <a:avLst/>
          </a:prstGeom>
          <a:noFill/>
          <a:ln/>
        </p:spPr>
        <p:txBody>
          <a:bodyPr wrap="square" lIns="0" tIns="0" rIns="0" bIns="0" rtlCol="0" anchor="ctr"/>
          <a:lstStyle/>
          <a:p>
            <a:pPr marL="0" indent="0" algn="ctr">
              <a:buNone/>
            </a:pPr>
            <a:r>
              <a:rPr lang="en-US" sz="700" dirty="0">
                <a:solidFill>
                  <a:srgbClr val="7A4F00"/>
                </a:solidFill>
              </a:rPr>
              <a:t>Not via Plaid</a:t>
            </a:r>
            <a:endParaRPr lang="en-US" sz="700" dirty="0"/>
          </a:p>
        </p:txBody>
      </p:sp>
      <p:sp>
        <p:nvSpPr>
          <p:cNvPr id="40" name="Shape 38"/>
          <p:cNvSpPr/>
          <p:nvPr/>
        </p:nvSpPr>
        <p:spPr>
          <a:xfrm>
            <a:off x="3566160" y="3913632"/>
            <a:ext cx="1243584" cy="384048"/>
          </a:xfrm>
          <a:prstGeom prst="rect">
            <a:avLst/>
          </a:prstGeom>
          <a:solidFill>
            <a:srgbClr val="F4F8F9"/>
          </a:solidFill>
          <a:ln w="9525">
            <a:solidFill>
              <a:srgbClr val="C8EAE8"/>
            </a:solidFill>
            <a:prstDash val="solid"/>
          </a:ln>
        </p:spPr>
        <p:txBody>
          <a:bodyPr/>
          <a:lstStyle/>
          <a:p>
            <a:endParaRPr lang="en-US"/>
          </a:p>
        </p:txBody>
      </p:sp>
      <p:sp>
        <p:nvSpPr>
          <p:cNvPr id="41" name="Text 39"/>
          <p:cNvSpPr/>
          <p:nvPr/>
        </p:nvSpPr>
        <p:spPr>
          <a:xfrm>
            <a:off x="3566160" y="3913632"/>
            <a:ext cx="1243584" cy="384048"/>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Bank of America</a:t>
            </a:r>
            <a:endParaRPr lang="en-US" sz="850" dirty="0"/>
          </a:p>
        </p:txBody>
      </p:sp>
      <p:sp>
        <p:nvSpPr>
          <p:cNvPr id="42" name="Text 40"/>
          <p:cNvSpPr/>
          <p:nvPr/>
        </p:nvSpPr>
        <p:spPr>
          <a:xfrm>
            <a:off x="4901184" y="2514600"/>
            <a:ext cx="347472" cy="274320"/>
          </a:xfrm>
          <a:prstGeom prst="rect">
            <a:avLst/>
          </a:prstGeom>
          <a:noFill/>
          <a:ln/>
        </p:spPr>
        <p:txBody>
          <a:bodyPr wrap="square" rtlCol="0" anchor="ctr"/>
          <a:lstStyle/>
          <a:p>
            <a:pPr marL="0" indent="0" algn="ctr">
              <a:buNone/>
            </a:pPr>
            <a:r>
              <a:rPr lang="en-US" sz="1600" dirty="0">
                <a:solidFill>
                  <a:srgbClr val="028090"/>
                </a:solidFill>
              </a:rPr>
              <a:t>→</a:t>
            </a:r>
            <a:endParaRPr lang="en-US" sz="1600" dirty="0"/>
          </a:p>
        </p:txBody>
      </p:sp>
      <p:sp>
        <p:nvSpPr>
          <p:cNvPr id="43" name="Shape 41"/>
          <p:cNvSpPr/>
          <p:nvPr/>
        </p:nvSpPr>
        <p:spPr>
          <a:xfrm>
            <a:off x="5266944" y="2340864"/>
            <a:ext cx="694944" cy="694944"/>
          </a:xfrm>
          <a:prstGeom prst="ellipse">
            <a:avLst/>
          </a:prstGeom>
          <a:solidFill>
            <a:srgbClr val="0A1628"/>
          </a:solidFill>
          <a:ln w="19050">
            <a:solidFill>
              <a:srgbClr val="028090"/>
            </a:solidFill>
            <a:prstDash val="solid"/>
          </a:ln>
        </p:spPr>
        <p:txBody>
          <a:bodyPr/>
          <a:lstStyle/>
          <a:p>
            <a:endParaRPr lang="en-US"/>
          </a:p>
        </p:txBody>
      </p:sp>
      <p:sp>
        <p:nvSpPr>
          <p:cNvPr id="44" name="Text 42"/>
          <p:cNvSpPr/>
          <p:nvPr/>
        </p:nvSpPr>
        <p:spPr>
          <a:xfrm>
            <a:off x="5266944" y="2340864"/>
            <a:ext cx="694944" cy="694944"/>
          </a:xfrm>
          <a:prstGeom prst="rect">
            <a:avLst/>
          </a:prstGeom>
          <a:noFill/>
          <a:ln/>
        </p:spPr>
        <p:txBody>
          <a:bodyPr wrap="square" lIns="0" tIns="0" rIns="0" bIns="0" rtlCol="0" anchor="ctr"/>
          <a:lstStyle/>
          <a:p>
            <a:pPr marL="0" indent="0" algn="ctr">
              <a:buNone/>
            </a:pPr>
            <a:r>
              <a:rPr lang="en-US" sz="750" b="1" dirty="0">
                <a:solidFill>
                  <a:srgbClr val="FFFFFF"/>
                </a:solidFill>
              </a:rPr>
              <a:t>PLAID</a:t>
            </a:r>
            <a:endParaRPr lang="en-US" sz="750" dirty="0"/>
          </a:p>
        </p:txBody>
      </p:sp>
      <p:sp>
        <p:nvSpPr>
          <p:cNvPr id="45" name="Text 43"/>
          <p:cNvSpPr/>
          <p:nvPr/>
        </p:nvSpPr>
        <p:spPr>
          <a:xfrm>
            <a:off x="5943600" y="2468880"/>
            <a:ext cx="347472" cy="347472"/>
          </a:xfrm>
          <a:prstGeom prst="rect">
            <a:avLst/>
          </a:prstGeom>
          <a:noFill/>
          <a:ln/>
        </p:spPr>
        <p:txBody>
          <a:bodyPr wrap="square" rtlCol="0" anchor="ctr"/>
          <a:lstStyle/>
          <a:p>
            <a:pPr marL="0" indent="0" algn="ctr">
              <a:buNone/>
            </a:pPr>
            <a:r>
              <a:rPr lang="en-US" sz="1400" dirty="0">
                <a:solidFill>
                  <a:srgbClr val="0A1628"/>
                </a:solidFill>
              </a:rPr>
              <a:t>⟺</a:t>
            </a:r>
            <a:endParaRPr lang="en-US" sz="1400" dirty="0"/>
          </a:p>
        </p:txBody>
      </p:sp>
      <p:sp>
        <p:nvSpPr>
          <p:cNvPr id="46" name="Shape 44"/>
          <p:cNvSpPr/>
          <p:nvPr/>
        </p:nvSpPr>
        <p:spPr>
          <a:xfrm>
            <a:off x="6309360" y="896112"/>
            <a:ext cx="530352" cy="3858768"/>
          </a:xfrm>
          <a:prstGeom prst="rect">
            <a:avLst/>
          </a:prstGeom>
          <a:solidFill>
            <a:srgbClr val="028090"/>
          </a:solidFill>
          <a:ln w="12700">
            <a:solidFill>
              <a:srgbClr val="028090"/>
            </a:solidFill>
            <a:prstDash val="solid"/>
          </a:ln>
        </p:spPr>
        <p:txBody>
          <a:bodyPr/>
          <a:lstStyle/>
          <a:p>
            <a:endParaRPr lang="en-US"/>
          </a:p>
        </p:txBody>
      </p:sp>
      <p:sp>
        <p:nvSpPr>
          <p:cNvPr id="47" name="Text 45"/>
          <p:cNvSpPr/>
          <p:nvPr/>
        </p:nvSpPr>
        <p:spPr>
          <a:xfrm>
            <a:off x="6309360" y="89611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B</a:t>
            </a:r>
            <a:endParaRPr lang="en-US" sz="1100" dirty="0"/>
          </a:p>
        </p:txBody>
      </p:sp>
      <p:sp>
        <p:nvSpPr>
          <p:cNvPr id="48" name="Text 46"/>
          <p:cNvSpPr/>
          <p:nvPr/>
        </p:nvSpPr>
        <p:spPr>
          <a:xfrm>
            <a:off x="6309360" y="139903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B</a:t>
            </a:r>
            <a:endParaRPr lang="en-US" sz="1100" dirty="0"/>
          </a:p>
        </p:txBody>
      </p:sp>
      <p:sp>
        <p:nvSpPr>
          <p:cNvPr id="49" name="Text 47"/>
          <p:cNvSpPr/>
          <p:nvPr/>
        </p:nvSpPr>
        <p:spPr>
          <a:xfrm>
            <a:off x="6309360" y="190195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H</a:t>
            </a:r>
            <a:endParaRPr lang="en-US" sz="1100" dirty="0"/>
          </a:p>
        </p:txBody>
      </p:sp>
      <p:sp>
        <p:nvSpPr>
          <p:cNvPr id="50" name="Text 48"/>
          <p:cNvSpPr/>
          <p:nvPr/>
        </p:nvSpPr>
        <p:spPr>
          <a:xfrm>
            <a:off x="6309360" y="240487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 </a:t>
            </a:r>
            <a:endParaRPr lang="en-US" sz="1100" dirty="0"/>
          </a:p>
        </p:txBody>
      </p:sp>
      <p:sp>
        <p:nvSpPr>
          <p:cNvPr id="51" name="Text 49"/>
          <p:cNvSpPr/>
          <p:nvPr/>
        </p:nvSpPr>
        <p:spPr>
          <a:xfrm>
            <a:off x="6309360" y="290779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D</a:t>
            </a:r>
            <a:endParaRPr lang="en-US" sz="1100" dirty="0"/>
          </a:p>
        </p:txBody>
      </p:sp>
      <p:sp>
        <p:nvSpPr>
          <p:cNvPr id="52" name="Text 50"/>
          <p:cNvSpPr/>
          <p:nvPr/>
        </p:nvSpPr>
        <p:spPr>
          <a:xfrm>
            <a:off x="6309360" y="341071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M</a:t>
            </a:r>
            <a:endParaRPr lang="en-US" sz="1100" dirty="0"/>
          </a:p>
        </p:txBody>
      </p:sp>
      <p:sp>
        <p:nvSpPr>
          <p:cNvPr id="53" name="Text 51"/>
          <p:cNvSpPr/>
          <p:nvPr/>
        </p:nvSpPr>
        <p:spPr>
          <a:xfrm>
            <a:off x="6309360" y="391363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Z</a:t>
            </a:r>
            <a:endParaRPr lang="en-US" sz="1100" dirty="0"/>
          </a:p>
        </p:txBody>
      </p:sp>
      <p:sp>
        <p:nvSpPr>
          <p:cNvPr id="54" name="Shape 52"/>
          <p:cNvSpPr/>
          <p:nvPr/>
        </p:nvSpPr>
        <p:spPr>
          <a:xfrm>
            <a:off x="6858000" y="896112"/>
            <a:ext cx="502920" cy="3858768"/>
          </a:xfrm>
          <a:prstGeom prst="rect">
            <a:avLst/>
          </a:prstGeom>
          <a:solidFill>
            <a:srgbClr val="00A896"/>
          </a:solidFill>
          <a:ln w="12700">
            <a:solidFill>
              <a:srgbClr val="00A896"/>
            </a:solidFill>
            <a:prstDash val="solid"/>
          </a:ln>
        </p:spPr>
        <p:txBody>
          <a:bodyPr/>
          <a:lstStyle/>
          <a:p>
            <a:endParaRPr lang="en-US"/>
          </a:p>
        </p:txBody>
      </p:sp>
      <p:sp>
        <p:nvSpPr>
          <p:cNvPr id="55" name="Text 53"/>
          <p:cNvSpPr/>
          <p:nvPr/>
        </p:nvSpPr>
        <p:spPr>
          <a:xfrm>
            <a:off x="6858000" y="896112"/>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56" name="Text 54"/>
          <p:cNvSpPr/>
          <p:nvPr/>
        </p:nvSpPr>
        <p:spPr>
          <a:xfrm>
            <a:off x="6858000" y="1335024"/>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57" name="Text 55"/>
          <p:cNvSpPr/>
          <p:nvPr/>
        </p:nvSpPr>
        <p:spPr>
          <a:xfrm>
            <a:off x="6858000" y="1773936"/>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58" name="Text 56"/>
          <p:cNvSpPr/>
          <p:nvPr/>
        </p:nvSpPr>
        <p:spPr>
          <a:xfrm>
            <a:off x="6858000" y="2212848"/>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 </a:t>
            </a:r>
            <a:endParaRPr lang="en-US" sz="1000" dirty="0"/>
          </a:p>
        </p:txBody>
      </p:sp>
      <p:sp>
        <p:nvSpPr>
          <p:cNvPr id="59" name="Text 57"/>
          <p:cNvSpPr/>
          <p:nvPr/>
        </p:nvSpPr>
        <p:spPr>
          <a:xfrm>
            <a:off x="6858000" y="2651760"/>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60" name="Text 58"/>
          <p:cNvSpPr/>
          <p:nvPr/>
        </p:nvSpPr>
        <p:spPr>
          <a:xfrm>
            <a:off x="6858000" y="3090672"/>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u</a:t>
            </a:r>
            <a:endParaRPr lang="en-US" sz="1000" dirty="0"/>
          </a:p>
        </p:txBody>
      </p:sp>
      <p:sp>
        <p:nvSpPr>
          <p:cNvPr id="61" name="Text 59"/>
          <p:cNvSpPr/>
          <p:nvPr/>
        </p:nvSpPr>
        <p:spPr>
          <a:xfrm>
            <a:off x="6858000" y="3529584"/>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T</a:t>
            </a:r>
            <a:endParaRPr lang="en-US" sz="1000" dirty="0"/>
          </a:p>
        </p:txBody>
      </p:sp>
      <p:sp>
        <p:nvSpPr>
          <p:cNvPr id="62" name="Text 60"/>
          <p:cNvSpPr/>
          <p:nvPr/>
        </p:nvSpPr>
        <p:spPr>
          <a:xfrm>
            <a:off x="6858000" y="3968496"/>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63" name="Shape 61"/>
          <p:cNvSpPr/>
          <p:nvPr/>
        </p:nvSpPr>
        <p:spPr>
          <a:xfrm>
            <a:off x="7379208" y="896112"/>
            <a:ext cx="502920" cy="3858768"/>
          </a:xfrm>
          <a:prstGeom prst="rect">
            <a:avLst/>
          </a:prstGeom>
          <a:solidFill>
            <a:srgbClr val="02C39A"/>
          </a:solidFill>
          <a:ln w="12700">
            <a:solidFill>
              <a:srgbClr val="02C39A"/>
            </a:solidFill>
            <a:prstDash val="solid"/>
          </a:ln>
        </p:spPr>
        <p:txBody>
          <a:bodyPr/>
          <a:lstStyle/>
          <a:p>
            <a:endParaRPr lang="en-US"/>
          </a:p>
        </p:txBody>
      </p:sp>
      <p:sp>
        <p:nvSpPr>
          <p:cNvPr id="64" name="Text 62"/>
          <p:cNvSpPr/>
          <p:nvPr/>
        </p:nvSpPr>
        <p:spPr>
          <a:xfrm>
            <a:off x="7379208" y="896112"/>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G</a:t>
            </a:r>
            <a:endParaRPr lang="en-US" sz="1100" dirty="0"/>
          </a:p>
        </p:txBody>
      </p:sp>
      <p:sp>
        <p:nvSpPr>
          <p:cNvPr id="65" name="Text 63"/>
          <p:cNvSpPr/>
          <p:nvPr/>
        </p:nvSpPr>
        <p:spPr>
          <a:xfrm>
            <a:off x="7379208" y="1426464"/>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A</a:t>
            </a:r>
            <a:endParaRPr lang="en-US" sz="1100" dirty="0"/>
          </a:p>
        </p:txBody>
      </p:sp>
      <p:sp>
        <p:nvSpPr>
          <p:cNvPr id="66" name="Text 64"/>
          <p:cNvSpPr/>
          <p:nvPr/>
        </p:nvSpPr>
        <p:spPr>
          <a:xfrm>
            <a:off x="7379208" y="1956816"/>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T</a:t>
            </a:r>
            <a:endParaRPr lang="en-US" sz="1100" dirty="0"/>
          </a:p>
        </p:txBody>
      </p:sp>
      <p:sp>
        <p:nvSpPr>
          <p:cNvPr id="67" name="Text 65"/>
          <p:cNvSpPr/>
          <p:nvPr/>
        </p:nvSpPr>
        <p:spPr>
          <a:xfrm>
            <a:off x="7379208" y="2487168"/>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E</a:t>
            </a:r>
            <a:endParaRPr lang="en-US" sz="1100" dirty="0"/>
          </a:p>
        </p:txBody>
      </p:sp>
      <p:sp>
        <p:nvSpPr>
          <p:cNvPr id="68" name="Text 66"/>
          <p:cNvSpPr/>
          <p:nvPr/>
        </p:nvSpPr>
        <p:spPr>
          <a:xfrm>
            <a:off x="7379208" y="3017520"/>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W</a:t>
            </a:r>
            <a:endParaRPr lang="en-US" sz="1100" dirty="0"/>
          </a:p>
        </p:txBody>
      </p:sp>
      <p:sp>
        <p:nvSpPr>
          <p:cNvPr id="69" name="Text 67"/>
          <p:cNvSpPr/>
          <p:nvPr/>
        </p:nvSpPr>
        <p:spPr>
          <a:xfrm>
            <a:off x="7379208" y="3547872"/>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A</a:t>
            </a:r>
            <a:endParaRPr lang="en-US" sz="1100" dirty="0"/>
          </a:p>
        </p:txBody>
      </p:sp>
      <p:sp>
        <p:nvSpPr>
          <p:cNvPr id="70" name="Text 68"/>
          <p:cNvSpPr/>
          <p:nvPr/>
        </p:nvSpPr>
        <p:spPr>
          <a:xfrm>
            <a:off x="7379208" y="4078224"/>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Y</a:t>
            </a:r>
            <a:endParaRPr lang="en-US" sz="1100" dirty="0"/>
          </a:p>
        </p:txBody>
      </p:sp>
      <p:sp>
        <p:nvSpPr>
          <p:cNvPr id="71" name="Shape 69"/>
          <p:cNvSpPr/>
          <p:nvPr/>
        </p:nvSpPr>
        <p:spPr>
          <a:xfrm>
            <a:off x="7900416" y="896112"/>
            <a:ext cx="969264" cy="3858768"/>
          </a:xfrm>
          <a:prstGeom prst="rect">
            <a:avLst/>
          </a:prstGeom>
          <a:solidFill>
            <a:srgbClr val="FFFFFF"/>
          </a:solidFill>
          <a:ln w="9525">
            <a:solidFill>
              <a:srgbClr val="E8EEF0"/>
            </a:solidFill>
            <a:prstDash val="solid"/>
          </a:ln>
        </p:spPr>
        <p:txBody>
          <a:bodyPr/>
          <a:lstStyle/>
          <a:p>
            <a:endParaRPr lang="en-US"/>
          </a:p>
        </p:txBody>
      </p:sp>
      <p:sp>
        <p:nvSpPr>
          <p:cNvPr id="72" name="Shape 70"/>
          <p:cNvSpPr/>
          <p:nvPr/>
        </p:nvSpPr>
        <p:spPr>
          <a:xfrm>
            <a:off x="7900416" y="896112"/>
            <a:ext cx="969264" cy="256032"/>
          </a:xfrm>
          <a:prstGeom prst="rect">
            <a:avLst/>
          </a:prstGeom>
          <a:solidFill>
            <a:srgbClr val="0A1628"/>
          </a:solidFill>
          <a:ln w="12700">
            <a:solidFill>
              <a:srgbClr val="0A1628"/>
            </a:solidFill>
            <a:prstDash val="solid"/>
          </a:ln>
        </p:spPr>
        <p:txBody>
          <a:bodyPr/>
          <a:lstStyle/>
          <a:p>
            <a:endParaRPr lang="en-US"/>
          </a:p>
        </p:txBody>
      </p:sp>
      <p:sp>
        <p:nvSpPr>
          <p:cNvPr id="73" name="Text 71"/>
          <p:cNvSpPr/>
          <p:nvPr/>
        </p:nvSpPr>
        <p:spPr>
          <a:xfrm>
            <a:off x="7900416" y="896112"/>
            <a:ext cx="969264" cy="256032"/>
          </a:xfrm>
          <a:prstGeom prst="rect">
            <a:avLst/>
          </a:prstGeom>
          <a:noFill/>
          <a:ln/>
        </p:spPr>
        <p:txBody>
          <a:bodyPr wrap="square" lIns="0" tIns="0" rIns="0" bIns="0" rtlCol="0" anchor="ctr"/>
          <a:lstStyle/>
          <a:p>
            <a:pPr marL="0" indent="0" algn="ctr">
              <a:buNone/>
            </a:pPr>
            <a:r>
              <a:rPr lang="en-US" sz="850" b="1" dirty="0">
                <a:solidFill>
                  <a:srgbClr val="FFFFFF"/>
                </a:solidFill>
              </a:rPr>
              <a:t>BBH</a:t>
            </a:r>
            <a:endParaRPr lang="en-US" sz="850" dirty="0"/>
          </a:p>
        </p:txBody>
      </p:sp>
      <p:sp>
        <p:nvSpPr>
          <p:cNvPr id="74" name="Shape 72"/>
          <p:cNvSpPr/>
          <p:nvPr/>
        </p:nvSpPr>
        <p:spPr>
          <a:xfrm>
            <a:off x="7955280" y="1234440"/>
            <a:ext cx="859536" cy="274320"/>
          </a:xfrm>
          <a:prstGeom prst="rect">
            <a:avLst/>
          </a:prstGeom>
          <a:solidFill>
            <a:srgbClr val="C8EAE8"/>
          </a:solidFill>
          <a:ln w="12700">
            <a:solidFill>
              <a:srgbClr val="C8EAE8"/>
            </a:solidFill>
            <a:prstDash val="solid"/>
          </a:ln>
        </p:spPr>
        <p:txBody>
          <a:bodyPr/>
          <a:lstStyle/>
          <a:p>
            <a:endParaRPr lang="en-US"/>
          </a:p>
        </p:txBody>
      </p:sp>
      <p:sp>
        <p:nvSpPr>
          <p:cNvPr id="75" name="Text 73"/>
          <p:cNvSpPr/>
          <p:nvPr/>
        </p:nvSpPr>
        <p:spPr>
          <a:xfrm>
            <a:off x="7955280" y="1234440"/>
            <a:ext cx="859536" cy="274320"/>
          </a:xfrm>
          <a:prstGeom prst="rect">
            <a:avLst/>
          </a:prstGeom>
          <a:noFill/>
          <a:ln/>
        </p:spPr>
        <p:txBody>
          <a:bodyPr wrap="square" lIns="0" tIns="0" rIns="0" bIns="0" rtlCol="0" anchor="ctr"/>
          <a:lstStyle/>
          <a:p>
            <a:pPr marL="0" indent="0" algn="ctr">
              <a:buNone/>
            </a:pPr>
            <a:r>
              <a:rPr lang="en-US" sz="750" b="1" dirty="0">
                <a:solidFill>
                  <a:srgbClr val="028090"/>
                </a:solidFill>
              </a:rPr>
              <a:t>OFX/FDX Format</a:t>
            </a:r>
            <a:endParaRPr lang="en-US" sz="750" dirty="0"/>
          </a:p>
        </p:txBody>
      </p:sp>
      <p:sp>
        <p:nvSpPr>
          <p:cNvPr id="76" name="Shape 74"/>
          <p:cNvSpPr/>
          <p:nvPr/>
        </p:nvSpPr>
        <p:spPr>
          <a:xfrm>
            <a:off x="7955280" y="1591056"/>
            <a:ext cx="859536" cy="274320"/>
          </a:xfrm>
          <a:prstGeom prst="rect">
            <a:avLst/>
          </a:prstGeom>
          <a:solidFill>
            <a:srgbClr val="E8EEF0"/>
          </a:solidFill>
          <a:ln w="12700">
            <a:solidFill>
              <a:srgbClr val="E8EEF0"/>
            </a:solidFill>
            <a:prstDash val="solid"/>
          </a:ln>
        </p:spPr>
        <p:txBody>
          <a:bodyPr/>
          <a:lstStyle/>
          <a:p>
            <a:endParaRPr lang="en-US"/>
          </a:p>
        </p:txBody>
      </p:sp>
      <p:sp>
        <p:nvSpPr>
          <p:cNvPr id="77" name="Text 75"/>
          <p:cNvSpPr/>
          <p:nvPr/>
        </p:nvSpPr>
        <p:spPr>
          <a:xfrm>
            <a:off x="7955280" y="1591056"/>
            <a:ext cx="859536" cy="274320"/>
          </a:xfrm>
          <a:prstGeom prst="rect">
            <a:avLst/>
          </a:prstGeom>
          <a:noFill/>
          <a:ln/>
        </p:spPr>
        <p:txBody>
          <a:bodyPr wrap="square" lIns="0" tIns="0" rIns="0" bIns="0" rtlCol="0" anchor="ctr"/>
          <a:lstStyle/>
          <a:p>
            <a:pPr marL="0" indent="0" algn="ctr">
              <a:buNone/>
            </a:pPr>
            <a:r>
              <a:rPr lang="en-US" sz="750" b="1" dirty="0">
                <a:solidFill>
                  <a:srgbClr val="0A1628"/>
                </a:solidFill>
              </a:rPr>
              <a:t>CP Services</a:t>
            </a:r>
            <a:endParaRPr lang="en-US" sz="750" dirty="0"/>
          </a:p>
        </p:txBody>
      </p:sp>
      <p:sp>
        <p:nvSpPr>
          <p:cNvPr id="78" name="Shape 76"/>
          <p:cNvSpPr/>
          <p:nvPr/>
        </p:nvSpPr>
        <p:spPr>
          <a:xfrm>
            <a:off x="7955280" y="1947672"/>
            <a:ext cx="859536" cy="274320"/>
          </a:xfrm>
          <a:prstGeom prst="rect">
            <a:avLst/>
          </a:prstGeom>
          <a:solidFill>
            <a:srgbClr val="E8EEF0"/>
          </a:solidFill>
          <a:ln w="12700">
            <a:solidFill>
              <a:srgbClr val="E8EEF0"/>
            </a:solidFill>
            <a:prstDash val="solid"/>
          </a:ln>
        </p:spPr>
        <p:txBody>
          <a:bodyPr/>
          <a:lstStyle/>
          <a:p>
            <a:endParaRPr lang="en-US"/>
          </a:p>
        </p:txBody>
      </p:sp>
      <p:sp>
        <p:nvSpPr>
          <p:cNvPr id="79" name="Text 77"/>
          <p:cNvSpPr/>
          <p:nvPr/>
        </p:nvSpPr>
        <p:spPr>
          <a:xfrm>
            <a:off x="7955280" y="1947672"/>
            <a:ext cx="859536" cy="274320"/>
          </a:xfrm>
          <a:prstGeom prst="rect">
            <a:avLst/>
          </a:prstGeom>
          <a:noFill/>
          <a:ln/>
        </p:spPr>
        <p:txBody>
          <a:bodyPr wrap="square" lIns="0" tIns="0" rIns="0" bIns="0" rtlCol="0" anchor="ctr"/>
          <a:lstStyle/>
          <a:p>
            <a:pPr marL="0" indent="0" algn="ctr">
              <a:buNone/>
            </a:pPr>
            <a:r>
              <a:rPr lang="en-US" sz="750" b="1" dirty="0">
                <a:solidFill>
                  <a:srgbClr val="0A1628"/>
                </a:solidFill>
              </a:rPr>
              <a:t>Services</a:t>
            </a:r>
            <a:endParaRPr lang="en-US" sz="750" dirty="0"/>
          </a:p>
        </p:txBody>
      </p:sp>
      <p:sp>
        <p:nvSpPr>
          <p:cNvPr id="80" name="Shape 78"/>
          <p:cNvSpPr/>
          <p:nvPr/>
        </p:nvSpPr>
        <p:spPr>
          <a:xfrm>
            <a:off x="7955280" y="2359152"/>
            <a:ext cx="859536" cy="274320"/>
          </a:xfrm>
          <a:prstGeom prst="ellipse">
            <a:avLst/>
          </a:prstGeom>
          <a:solidFill>
            <a:srgbClr val="028090"/>
          </a:solidFill>
          <a:ln w="12700">
            <a:solidFill>
              <a:srgbClr val="028090"/>
            </a:solidFill>
            <a:prstDash val="solid"/>
          </a:ln>
        </p:spPr>
        <p:txBody>
          <a:bodyPr/>
          <a:lstStyle/>
          <a:p>
            <a:endParaRPr lang="en-US"/>
          </a:p>
        </p:txBody>
      </p:sp>
      <p:sp>
        <p:nvSpPr>
          <p:cNvPr id="81" name="Text 79"/>
          <p:cNvSpPr/>
          <p:nvPr/>
        </p:nvSpPr>
        <p:spPr>
          <a:xfrm>
            <a:off x="7955280" y="2359152"/>
            <a:ext cx="859536" cy="274320"/>
          </a:xfrm>
          <a:prstGeom prst="rect">
            <a:avLst/>
          </a:prstGeom>
          <a:noFill/>
          <a:ln/>
        </p:spPr>
        <p:txBody>
          <a:bodyPr wrap="square" lIns="0" tIns="0" rIns="0" bIns="0" rtlCol="0" anchor="ctr"/>
          <a:lstStyle/>
          <a:p>
            <a:pPr marL="0" indent="0" algn="ctr">
              <a:buNone/>
            </a:pPr>
            <a:r>
              <a:rPr lang="en-US" sz="700" dirty="0">
                <a:solidFill>
                  <a:srgbClr val="FFFFFF"/>
                </a:solidFill>
              </a:rPr>
              <a:t>PB DataWarehouse</a:t>
            </a:r>
            <a:endParaRPr lang="en-US" sz="700" dirty="0"/>
          </a:p>
        </p:txBody>
      </p:sp>
      <p:sp>
        <p:nvSpPr>
          <p:cNvPr id="82" name="Shape 80"/>
          <p:cNvSpPr/>
          <p:nvPr/>
        </p:nvSpPr>
        <p:spPr>
          <a:xfrm>
            <a:off x="7955280" y="2743200"/>
            <a:ext cx="859536" cy="274320"/>
          </a:xfrm>
          <a:prstGeom prst="ellipse">
            <a:avLst/>
          </a:prstGeom>
          <a:solidFill>
            <a:srgbClr val="028090"/>
          </a:solidFill>
          <a:ln w="12700">
            <a:solidFill>
              <a:srgbClr val="028090"/>
            </a:solidFill>
            <a:prstDash val="solid"/>
          </a:ln>
        </p:spPr>
        <p:txBody>
          <a:bodyPr/>
          <a:lstStyle/>
          <a:p>
            <a:endParaRPr lang="en-US"/>
          </a:p>
        </p:txBody>
      </p:sp>
      <p:sp>
        <p:nvSpPr>
          <p:cNvPr id="83" name="Text 81"/>
          <p:cNvSpPr/>
          <p:nvPr/>
        </p:nvSpPr>
        <p:spPr>
          <a:xfrm>
            <a:off x="7955280" y="2743200"/>
            <a:ext cx="859536" cy="274320"/>
          </a:xfrm>
          <a:prstGeom prst="rect">
            <a:avLst/>
          </a:prstGeom>
          <a:noFill/>
          <a:ln/>
        </p:spPr>
        <p:txBody>
          <a:bodyPr wrap="square" lIns="0" tIns="0" rIns="0" bIns="0" rtlCol="0" anchor="ctr"/>
          <a:lstStyle/>
          <a:p>
            <a:pPr marL="0" indent="0" algn="ctr">
              <a:buNone/>
            </a:pPr>
            <a:r>
              <a:rPr lang="en-US" sz="700" dirty="0">
                <a:solidFill>
                  <a:srgbClr val="FFFFFF"/>
                </a:solidFill>
              </a:rPr>
              <a:t>IM Datastore</a:t>
            </a:r>
            <a:endParaRPr lang="en-US" sz="700" dirty="0"/>
          </a:p>
        </p:txBody>
      </p:sp>
      <p:sp>
        <p:nvSpPr>
          <p:cNvPr id="84" name="Shape 82"/>
          <p:cNvSpPr/>
          <p:nvPr/>
        </p:nvSpPr>
        <p:spPr>
          <a:xfrm>
            <a:off x="7955280" y="3127248"/>
            <a:ext cx="859536" cy="274320"/>
          </a:xfrm>
          <a:prstGeom prst="ellipse">
            <a:avLst/>
          </a:prstGeom>
          <a:solidFill>
            <a:srgbClr val="028090"/>
          </a:solidFill>
          <a:ln w="12700">
            <a:solidFill>
              <a:srgbClr val="028090"/>
            </a:solidFill>
            <a:prstDash val="solid"/>
          </a:ln>
        </p:spPr>
        <p:txBody>
          <a:bodyPr/>
          <a:lstStyle/>
          <a:p>
            <a:endParaRPr lang="en-US"/>
          </a:p>
        </p:txBody>
      </p:sp>
      <p:sp>
        <p:nvSpPr>
          <p:cNvPr id="85" name="Text 83"/>
          <p:cNvSpPr/>
          <p:nvPr/>
        </p:nvSpPr>
        <p:spPr>
          <a:xfrm>
            <a:off x="7955280" y="3127248"/>
            <a:ext cx="859536" cy="274320"/>
          </a:xfrm>
          <a:prstGeom prst="rect">
            <a:avLst/>
          </a:prstGeom>
          <a:noFill/>
          <a:ln/>
        </p:spPr>
        <p:txBody>
          <a:bodyPr wrap="square" lIns="0" tIns="0" rIns="0" bIns="0" rtlCol="0" anchor="ctr"/>
          <a:lstStyle/>
          <a:p>
            <a:pPr marL="0" indent="0" algn="ctr">
              <a:buNone/>
            </a:pPr>
            <a:r>
              <a:rPr lang="en-US" sz="700" dirty="0">
                <a:solidFill>
                  <a:srgbClr val="FFFFFF"/>
                </a:solidFill>
              </a:rPr>
              <a:t>BBH DataStore</a:t>
            </a:r>
            <a:endParaRPr lang="en-US" sz="700" dirty="0"/>
          </a:p>
        </p:txBody>
      </p:sp>
      <p:sp>
        <p:nvSpPr>
          <p:cNvPr id="86" name="Shape 84"/>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87" name="Text 85"/>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88" name="Text 86"/>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0"/>
            <a:ext cx="7315200" cy="74980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BBH Data Exchange — Inbound Architecture</a:t>
            </a:r>
            <a:endParaRPr lang="en-US" sz="2200" dirty="0"/>
          </a:p>
        </p:txBody>
      </p:sp>
      <p:sp>
        <p:nvSpPr>
          <p:cNvPr id="5" name="Shape 3"/>
          <p:cNvSpPr/>
          <p:nvPr/>
        </p:nvSpPr>
        <p:spPr>
          <a:xfrm>
            <a:off x="7516368" y="146304"/>
            <a:ext cx="1389888" cy="457200"/>
          </a:xfrm>
          <a:prstGeom prst="rect">
            <a:avLst/>
          </a:prstGeom>
          <a:solidFill>
            <a:srgbClr val="00A896"/>
          </a:solidFill>
          <a:ln w="12700">
            <a:solidFill>
              <a:srgbClr val="00A896"/>
            </a:solidFill>
            <a:prstDash val="solid"/>
          </a:ln>
        </p:spPr>
        <p:txBody>
          <a:bodyPr/>
          <a:lstStyle/>
          <a:p>
            <a:endParaRPr lang="en-US"/>
          </a:p>
        </p:txBody>
      </p:sp>
      <p:sp>
        <p:nvSpPr>
          <p:cNvPr id="6" name="Text 4"/>
          <p:cNvSpPr/>
          <p:nvPr/>
        </p:nvSpPr>
        <p:spPr>
          <a:xfrm>
            <a:off x="7516368" y="146304"/>
            <a:ext cx="1389888" cy="457200"/>
          </a:xfrm>
          <a:prstGeom prst="rect">
            <a:avLst/>
          </a:prstGeom>
          <a:noFill/>
          <a:ln/>
        </p:spPr>
        <p:txBody>
          <a:bodyPr wrap="square" lIns="0" tIns="0" rIns="0" bIns="0" rtlCol="0" anchor="ctr"/>
          <a:lstStyle/>
          <a:p>
            <a:pPr marL="0" indent="0" algn="ctr">
              <a:buNone/>
            </a:pPr>
            <a:r>
              <a:rPr lang="en-US" sz="850" b="1" kern="0" spc="50" dirty="0">
                <a:solidFill>
                  <a:srgbClr val="FFFFFF"/>
                </a:solidFill>
              </a:rPr>
              <a:t>INBOUND</a:t>
            </a:r>
            <a:endParaRPr lang="en-US" sz="850" dirty="0"/>
          </a:p>
        </p:txBody>
      </p:sp>
      <p:sp>
        <p:nvSpPr>
          <p:cNvPr id="7" name="Shape 5"/>
          <p:cNvSpPr/>
          <p:nvPr/>
        </p:nvSpPr>
        <p:spPr>
          <a:xfrm>
            <a:off x="274320" y="896112"/>
            <a:ext cx="3017520" cy="38587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274320" y="896112"/>
            <a:ext cx="3017520" cy="329184"/>
          </a:xfrm>
          <a:prstGeom prst="rect">
            <a:avLst/>
          </a:prstGeom>
          <a:solidFill>
            <a:srgbClr val="00A896"/>
          </a:solidFill>
          <a:ln w="12700">
            <a:solidFill>
              <a:srgbClr val="00A896"/>
            </a:solidFill>
            <a:prstDash val="solid"/>
          </a:ln>
        </p:spPr>
        <p:txBody>
          <a:bodyPr/>
          <a:lstStyle/>
          <a:p>
            <a:endParaRPr lang="en-US"/>
          </a:p>
        </p:txBody>
      </p:sp>
      <p:sp>
        <p:nvSpPr>
          <p:cNvPr id="9" name="Text 7"/>
          <p:cNvSpPr/>
          <p:nvPr/>
        </p:nvSpPr>
        <p:spPr>
          <a:xfrm>
            <a:off x="274320" y="896112"/>
            <a:ext cx="3017520" cy="329184"/>
          </a:xfrm>
          <a:prstGeom prst="rect">
            <a:avLst/>
          </a:prstGeom>
          <a:noFill/>
          <a:ln/>
        </p:spPr>
        <p:txBody>
          <a:bodyPr wrap="square" lIns="0" tIns="0" rIns="0" bIns="0" rtlCol="0" anchor="ctr"/>
          <a:lstStyle/>
          <a:p>
            <a:pPr marL="0" indent="0" algn="ctr">
              <a:buNone/>
            </a:pPr>
            <a:r>
              <a:rPr lang="en-US" sz="900" b="1" kern="0" spc="80" dirty="0">
                <a:solidFill>
                  <a:srgbClr val="FFFFFF"/>
                </a:solidFill>
              </a:rPr>
              <a:t>INBOUND DESIGN PRINCIPLES</a:t>
            </a:r>
            <a:endParaRPr lang="en-US" sz="900" dirty="0"/>
          </a:p>
        </p:txBody>
      </p:sp>
      <p:sp>
        <p:nvSpPr>
          <p:cNvPr id="10" name="Shape 8"/>
          <p:cNvSpPr/>
          <p:nvPr/>
        </p:nvSpPr>
        <p:spPr>
          <a:xfrm>
            <a:off x="347472" y="1371600"/>
            <a:ext cx="54864" cy="457200"/>
          </a:xfrm>
          <a:prstGeom prst="rect">
            <a:avLst/>
          </a:prstGeom>
          <a:solidFill>
            <a:srgbClr val="00A896"/>
          </a:solidFill>
          <a:ln w="12700">
            <a:solidFill>
              <a:srgbClr val="00A896"/>
            </a:solidFill>
            <a:prstDash val="solid"/>
          </a:ln>
        </p:spPr>
        <p:txBody>
          <a:bodyPr/>
          <a:lstStyle/>
          <a:p>
            <a:endParaRPr lang="en-US"/>
          </a:p>
        </p:txBody>
      </p:sp>
      <p:sp>
        <p:nvSpPr>
          <p:cNvPr id="11" name="Text 9"/>
          <p:cNvSpPr/>
          <p:nvPr/>
        </p:nvSpPr>
        <p:spPr>
          <a:xfrm>
            <a:off x="493776" y="1353312"/>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OFX/FDX Enforcement at Edge</a:t>
            </a:r>
            <a:endParaRPr lang="en-US" sz="950" dirty="0"/>
          </a:p>
        </p:txBody>
      </p:sp>
      <p:sp>
        <p:nvSpPr>
          <p:cNvPr id="12" name="Text 10"/>
          <p:cNvSpPr/>
          <p:nvPr/>
        </p:nvSpPr>
        <p:spPr>
          <a:xfrm>
            <a:off x="493776" y="1572768"/>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All inbound payloads from Plaid are validated against OFX/FDX schema at the API Gateway before any internal routing.</a:t>
            </a:r>
            <a:endParaRPr lang="en-US" sz="850" dirty="0"/>
          </a:p>
        </p:txBody>
      </p:sp>
      <p:sp>
        <p:nvSpPr>
          <p:cNvPr id="13" name="Shape 11"/>
          <p:cNvSpPr/>
          <p:nvPr/>
        </p:nvSpPr>
        <p:spPr>
          <a:xfrm>
            <a:off x="347472" y="2029968"/>
            <a:ext cx="54864" cy="457200"/>
          </a:xfrm>
          <a:prstGeom prst="rect">
            <a:avLst/>
          </a:prstGeom>
          <a:solidFill>
            <a:srgbClr val="00A896"/>
          </a:solidFill>
          <a:ln w="12700">
            <a:solidFill>
              <a:srgbClr val="00A896"/>
            </a:solidFill>
            <a:prstDash val="solid"/>
          </a:ln>
        </p:spPr>
        <p:txBody>
          <a:bodyPr/>
          <a:lstStyle/>
          <a:p>
            <a:endParaRPr lang="en-US"/>
          </a:p>
        </p:txBody>
      </p:sp>
      <p:sp>
        <p:nvSpPr>
          <p:cNvPr id="14" name="Text 12"/>
          <p:cNvSpPr/>
          <p:nvPr/>
        </p:nvSpPr>
        <p:spPr>
          <a:xfrm>
            <a:off x="493776" y="2011680"/>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DMZ Security Perimeter</a:t>
            </a:r>
            <a:endParaRPr lang="en-US" sz="950" dirty="0"/>
          </a:p>
        </p:txBody>
      </p:sp>
      <p:sp>
        <p:nvSpPr>
          <p:cNvPr id="15" name="Text 13"/>
          <p:cNvSpPr/>
          <p:nvPr/>
        </p:nvSpPr>
        <p:spPr>
          <a:xfrm>
            <a:off x="493776" y="2231136"/>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BBH DMZ enforces hard isolation. No inbound Plaid data reaches internal services without explicit policy clearance.</a:t>
            </a:r>
            <a:endParaRPr lang="en-US" sz="850" dirty="0"/>
          </a:p>
        </p:txBody>
      </p:sp>
      <p:sp>
        <p:nvSpPr>
          <p:cNvPr id="16" name="Shape 14"/>
          <p:cNvSpPr/>
          <p:nvPr/>
        </p:nvSpPr>
        <p:spPr>
          <a:xfrm>
            <a:off x="347472" y="2688336"/>
            <a:ext cx="54864" cy="457200"/>
          </a:xfrm>
          <a:prstGeom prst="rect">
            <a:avLst/>
          </a:prstGeom>
          <a:solidFill>
            <a:srgbClr val="00A896"/>
          </a:solidFill>
          <a:ln w="12700">
            <a:solidFill>
              <a:srgbClr val="00A896"/>
            </a:solidFill>
            <a:prstDash val="solid"/>
          </a:ln>
        </p:spPr>
        <p:txBody>
          <a:bodyPr/>
          <a:lstStyle/>
          <a:p>
            <a:endParaRPr lang="en-US"/>
          </a:p>
        </p:txBody>
      </p:sp>
      <p:sp>
        <p:nvSpPr>
          <p:cNvPr id="17" name="Text 15"/>
          <p:cNvSpPr/>
          <p:nvPr/>
        </p:nvSpPr>
        <p:spPr>
          <a:xfrm>
            <a:off x="493776" y="2670048"/>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PingFederate Auth Validation</a:t>
            </a:r>
            <a:endParaRPr lang="en-US" sz="950" dirty="0"/>
          </a:p>
        </p:txBody>
      </p:sp>
      <p:sp>
        <p:nvSpPr>
          <p:cNvPr id="18" name="Text 16"/>
          <p:cNvSpPr/>
          <p:nvPr/>
        </p:nvSpPr>
        <p:spPr>
          <a:xfrm>
            <a:off x="493776" y="2889504"/>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Every inbound token is validated by BBH PingFederate. Expired or revoked tokens are rejected at the auth boundary.</a:t>
            </a:r>
            <a:endParaRPr lang="en-US" sz="850" dirty="0"/>
          </a:p>
        </p:txBody>
      </p:sp>
      <p:sp>
        <p:nvSpPr>
          <p:cNvPr id="19" name="Shape 17"/>
          <p:cNvSpPr/>
          <p:nvPr/>
        </p:nvSpPr>
        <p:spPr>
          <a:xfrm>
            <a:off x="347472" y="3346704"/>
            <a:ext cx="54864" cy="457200"/>
          </a:xfrm>
          <a:prstGeom prst="rect">
            <a:avLst/>
          </a:prstGeom>
          <a:solidFill>
            <a:srgbClr val="00A896"/>
          </a:solidFill>
          <a:ln w="12700">
            <a:solidFill>
              <a:srgbClr val="00A896"/>
            </a:solidFill>
            <a:prstDash val="solid"/>
          </a:ln>
        </p:spPr>
        <p:txBody>
          <a:bodyPr/>
          <a:lstStyle/>
          <a:p>
            <a:endParaRPr lang="en-US"/>
          </a:p>
        </p:txBody>
      </p:sp>
      <p:sp>
        <p:nvSpPr>
          <p:cNvPr id="20" name="Text 18"/>
          <p:cNvSpPr/>
          <p:nvPr/>
        </p:nvSpPr>
        <p:spPr>
          <a:xfrm>
            <a:off x="493776" y="3328416"/>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Multi-Store Routing Logic</a:t>
            </a:r>
            <a:endParaRPr lang="en-US" sz="950" dirty="0"/>
          </a:p>
        </p:txBody>
      </p:sp>
      <p:sp>
        <p:nvSpPr>
          <p:cNvPr id="21" name="Text 19"/>
          <p:cNvSpPr/>
          <p:nvPr/>
        </p:nvSpPr>
        <p:spPr>
          <a:xfrm>
            <a:off x="493776" y="3547872"/>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Inbound data is routed to PB DataWarehouse, IM Datastore, or BBH DataStore based on asset class and consumer rules.</a:t>
            </a:r>
            <a:endParaRPr lang="en-US" sz="850" dirty="0"/>
          </a:p>
        </p:txBody>
      </p:sp>
      <p:sp>
        <p:nvSpPr>
          <p:cNvPr id="22" name="Shape 20"/>
          <p:cNvSpPr/>
          <p:nvPr/>
        </p:nvSpPr>
        <p:spPr>
          <a:xfrm>
            <a:off x="347472" y="4005072"/>
            <a:ext cx="54864" cy="457200"/>
          </a:xfrm>
          <a:prstGeom prst="rect">
            <a:avLst/>
          </a:prstGeom>
          <a:solidFill>
            <a:srgbClr val="00A896"/>
          </a:solidFill>
          <a:ln w="12700">
            <a:solidFill>
              <a:srgbClr val="00A896"/>
            </a:solidFill>
            <a:prstDash val="solid"/>
          </a:ln>
        </p:spPr>
        <p:txBody>
          <a:bodyPr/>
          <a:lstStyle/>
          <a:p>
            <a:endParaRPr lang="en-US"/>
          </a:p>
        </p:txBody>
      </p:sp>
      <p:sp>
        <p:nvSpPr>
          <p:cNvPr id="23" name="Text 21"/>
          <p:cNvSpPr/>
          <p:nvPr/>
        </p:nvSpPr>
        <p:spPr>
          <a:xfrm>
            <a:off x="493776" y="3986784"/>
            <a:ext cx="2706624" cy="219456"/>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CP Services Fan-Out</a:t>
            </a:r>
            <a:endParaRPr lang="en-US" sz="950" dirty="0"/>
          </a:p>
        </p:txBody>
      </p:sp>
      <p:sp>
        <p:nvSpPr>
          <p:cNvPr id="24" name="Text 22"/>
          <p:cNvSpPr/>
          <p:nvPr/>
        </p:nvSpPr>
        <p:spPr>
          <a:xfrm>
            <a:off x="493776" y="4206240"/>
            <a:ext cx="2706624" cy="329184"/>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CP Services acts as the internal fan-out bus — distributing normalized data to all downstream BBH consumers.</a:t>
            </a:r>
            <a:endParaRPr lang="en-US" sz="850" dirty="0"/>
          </a:p>
        </p:txBody>
      </p:sp>
      <p:sp>
        <p:nvSpPr>
          <p:cNvPr id="25" name="Shape 23"/>
          <p:cNvSpPr/>
          <p:nvPr/>
        </p:nvSpPr>
        <p:spPr>
          <a:xfrm>
            <a:off x="3493008" y="896112"/>
            <a:ext cx="1389888" cy="3858768"/>
          </a:xfrm>
          <a:prstGeom prst="rect">
            <a:avLst/>
          </a:prstGeom>
          <a:solidFill>
            <a:srgbClr val="FFFFFF"/>
          </a:solidFill>
          <a:ln w="9525">
            <a:solidFill>
              <a:srgbClr val="E8EEF0"/>
            </a:solidFill>
            <a:prstDash val="solid"/>
          </a:ln>
        </p:spPr>
        <p:txBody>
          <a:bodyPr/>
          <a:lstStyle/>
          <a:p>
            <a:endParaRPr lang="en-US"/>
          </a:p>
        </p:txBody>
      </p:sp>
      <p:sp>
        <p:nvSpPr>
          <p:cNvPr id="26" name="Shape 24"/>
          <p:cNvSpPr/>
          <p:nvPr/>
        </p:nvSpPr>
        <p:spPr>
          <a:xfrm>
            <a:off x="3493008" y="896112"/>
            <a:ext cx="1389888" cy="274320"/>
          </a:xfrm>
          <a:prstGeom prst="rect">
            <a:avLst/>
          </a:prstGeom>
          <a:solidFill>
            <a:srgbClr val="C8EAE8"/>
          </a:solidFill>
          <a:ln w="12700">
            <a:solidFill>
              <a:srgbClr val="C8EAE8"/>
            </a:solidFill>
            <a:prstDash val="solid"/>
          </a:ln>
        </p:spPr>
        <p:txBody>
          <a:bodyPr/>
          <a:lstStyle/>
          <a:p>
            <a:endParaRPr lang="en-US"/>
          </a:p>
        </p:txBody>
      </p:sp>
      <p:sp>
        <p:nvSpPr>
          <p:cNvPr id="27" name="Text 25"/>
          <p:cNvSpPr/>
          <p:nvPr/>
        </p:nvSpPr>
        <p:spPr>
          <a:xfrm>
            <a:off x="3493008" y="896112"/>
            <a:ext cx="1389888" cy="274320"/>
          </a:xfrm>
          <a:prstGeom prst="rect">
            <a:avLst/>
          </a:prstGeom>
          <a:noFill/>
          <a:ln/>
        </p:spPr>
        <p:txBody>
          <a:bodyPr wrap="square" lIns="0" tIns="0" rIns="0" bIns="0" rtlCol="0" anchor="ctr"/>
          <a:lstStyle/>
          <a:p>
            <a:pPr marL="0" indent="0" algn="ctr">
              <a:buNone/>
            </a:pPr>
            <a:r>
              <a:rPr lang="en-US" sz="850" b="1" dirty="0">
                <a:solidFill>
                  <a:srgbClr val="028090"/>
                </a:solidFill>
              </a:rPr>
              <a:t>External Sources</a:t>
            </a:r>
            <a:endParaRPr lang="en-US" sz="850" dirty="0"/>
          </a:p>
        </p:txBody>
      </p:sp>
      <p:sp>
        <p:nvSpPr>
          <p:cNvPr id="28" name="Shape 26"/>
          <p:cNvSpPr/>
          <p:nvPr/>
        </p:nvSpPr>
        <p:spPr>
          <a:xfrm>
            <a:off x="3566160" y="1261872"/>
            <a:ext cx="1243584" cy="402336"/>
          </a:xfrm>
          <a:prstGeom prst="rect">
            <a:avLst/>
          </a:prstGeom>
          <a:solidFill>
            <a:srgbClr val="F4F8F9"/>
          </a:solidFill>
          <a:ln w="9525">
            <a:solidFill>
              <a:srgbClr val="C8EAE8"/>
            </a:solidFill>
            <a:prstDash val="solid"/>
          </a:ln>
        </p:spPr>
        <p:txBody>
          <a:bodyPr/>
          <a:lstStyle/>
          <a:p>
            <a:endParaRPr lang="en-US"/>
          </a:p>
        </p:txBody>
      </p:sp>
      <p:sp>
        <p:nvSpPr>
          <p:cNvPr id="29" name="Text 27"/>
          <p:cNvSpPr/>
          <p:nvPr/>
        </p:nvSpPr>
        <p:spPr>
          <a:xfrm>
            <a:off x="3566160" y="1261872"/>
            <a:ext cx="1243584" cy="402336"/>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Financial Institutions</a:t>
            </a:r>
            <a:endParaRPr lang="en-US" sz="850" dirty="0"/>
          </a:p>
        </p:txBody>
      </p:sp>
      <p:sp>
        <p:nvSpPr>
          <p:cNvPr id="30" name="Shape 28"/>
          <p:cNvSpPr/>
          <p:nvPr/>
        </p:nvSpPr>
        <p:spPr>
          <a:xfrm>
            <a:off x="3566160" y="1792224"/>
            <a:ext cx="1243584" cy="402336"/>
          </a:xfrm>
          <a:prstGeom prst="rect">
            <a:avLst/>
          </a:prstGeom>
          <a:solidFill>
            <a:srgbClr val="F4F8F9"/>
          </a:solidFill>
          <a:ln w="9525">
            <a:solidFill>
              <a:srgbClr val="C8EAE8"/>
            </a:solidFill>
            <a:prstDash val="solid"/>
          </a:ln>
        </p:spPr>
        <p:txBody>
          <a:bodyPr/>
          <a:lstStyle/>
          <a:p>
            <a:endParaRPr lang="en-US"/>
          </a:p>
        </p:txBody>
      </p:sp>
      <p:sp>
        <p:nvSpPr>
          <p:cNvPr id="31" name="Text 29"/>
          <p:cNvSpPr/>
          <p:nvPr/>
        </p:nvSpPr>
        <p:spPr>
          <a:xfrm>
            <a:off x="3566160" y="1792224"/>
            <a:ext cx="1243584" cy="402336"/>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Brokerage Accounts</a:t>
            </a:r>
            <a:endParaRPr lang="en-US" sz="850" dirty="0"/>
          </a:p>
        </p:txBody>
      </p:sp>
      <p:sp>
        <p:nvSpPr>
          <p:cNvPr id="32" name="Shape 30"/>
          <p:cNvSpPr/>
          <p:nvPr/>
        </p:nvSpPr>
        <p:spPr>
          <a:xfrm>
            <a:off x="3566160" y="2322576"/>
            <a:ext cx="1243584" cy="402336"/>
          </a:xfrm>
          <a:prstGeom prst="rect">
            <a:avLst/>
          </a:prstGeom>
          <a:solidFill>
            <a:srgbClr val="F4F8F9"/>
          </a:solidFill>
          <a:ln w="9525">
            <a:solidFill>
              <a:srgbClr val="C8EAE8"/>
            </a:solidFill>
            <a:prstDash val="solid"/>
          </a:ln>
        </p:spPr>
        <p:txBody>
          <a:bodyPr/>
          <a:lstStyle/>
          <a:p>
            <a:endParaRPr lang="en-US"/>
          </a:p>
        </p:txBody>
      </p:sp>
      <p:sp>
        <p:nvSpPr>
          <p:cNvPr id="33" name="Text 31"/>
          <p:cNvSpPr/>
          <p:nvPr/>
        </p:nvSpPr>
        <p:spPr>
          <a:xfrm>
            <a:off x="3566160" y="2322576"/>
            <a:ext cx="1243584" cy="402336"/>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401(k) / Retirement</a:t>
            </a:r>
            <a:endParaRPr lang="en-US" sz="850" dirty="0"/>
          </a:p>
        </p:txBody>
      </p:sp>
      <p:sp>
        <p:nvSpPr>
          <p:cNvPr id="34" name="Shape 32"/>
          <p:cNvSpPr/>
          <p:nvPr/>
        </p:nvSpPr>
        <p:spPr>
          <a:xfrm>
            <a:off x="3566160" y="2852928"/>
            <a:ext cx="1243584" cy="402336"/>
          </a:xfrm>
          <a:prstGeom prst="rect">
            <a:avLst/>
          </a:prstGeom>
          <a:solidFill>
            <a:srgbClr val="F4F8F9"/>
          </a:solidFill>
          <a:ln w="9525">
            <a:solidFill>
              <a:srgbClr val="C8EAE8"/>
            </a:solidFill>
            <a:prstDash val="solid"/>
          </a:ln>
        </p:spPr>
        <p:txBody>
          <a:bodyPr/>
          <a:lstStyle/>
          <a:p>
            <a:endParaRPr lang="en-US"/>
          </a:p>
        </p:txBody>
      </p:sp>
      <p:sp>
        <p:nvSpPr>
          <p:cNvPr id="35" name="Text 33"/>
          <p:cNvSpPr/>
          <p:nvPr/>
        </p:nvSpPr>
        <p:spPr>
          <a:xfrm>
            <a:off x="3566160" y="2852928"/>
            <a:ext cx="1243584" cy="402336"/>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Real Estate</a:t>
            </a:r>
            <a:endParaRPr lang="en-US" sz="850" dirty="0"/>
          </a:p>
        </p:txBody>
      </p:sp>
      <p:sp>
        <p:nvSpPr>
          <p:cNvPr id="36" name="Shape 34"/>
          <p:cNvSpPr/>
          <p:nvPr/>
        </p:nvSpPr>
        <p:spPr>
          <a:xfrm>
            <a:off x="3566160" y="3383280"/>
            <a:ext cx="1243584" cy="402336"/>
          </a:xfrm>
          <a:prstGeom prst="rect">
            <a:avLst/>
          </a:prstGeom>
          <a:solidFill>
            <a:srgbClr val="F4F8F9"/>
          </a:solidFill>
          <a:ln w="9525">
            <a:solidFill>
              <a:srgbClr val="C8EAE8"/>
            </a:solidFill>
            <a:prstDash val="solid"/>
          </a:ln>
        </p:spPr>
        <p:txBody>
          <a:bodyPr/>
          <a:lstStyle/>
          <a:p>
            <a:endParaRPr lang="en-US"/>
          </a:p>
        </p:txBody>
      </p:sp>
      <p:sp>
        <p:nvSpPr>
          <p:cNvPr id="37" name="Text 35"/>
          <p:cNvSpPr/>
          <p:nvPr/>
        </p:nvSpPr>
        <p:spPr>
          <a:xfrm>
            <a:off x="3566160" y="3383280"/>
            <a:ext cx="1243584" cy="402336"/>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Crypto Assets</a:t>
            </a:r>
            <a:endParaRPr lang="en-US" sz="850" dirty="0"/>
          </a:p>
        </p:txBody>
      </p:sp>
      <p:sp>
        <p:nvSpPr>
          <p:cNvPr id="38" name="Shape 36"/>
          <p:cNvSpPr/>
          <p:nvPr/>
        </p:nvSpPr>
        <p:spPr>
          <a:xfrm>
            <a:off x="3566160" y="3913632"/>
            <a:ext cx="1243584" cy="402336"/>
          </a:xfrm>
          <a:prstGeom prst="rect">
            <a:avLst/>
          </a:prstGeom>
          <a:solidFill>
            <a:srgbClr val="F4F8F9"/>
          </a:solidFill>
          <a:ln w="9525">
            <a:solidFill>
              <a:srgbClr val="C8EAE8"/>
            </a:solidFill>
            <a:prstDash val="solid"/>
          </a:ln>
        </p:spPr>
        <p:txBody>
          <a:bodyPr/>
          <a:lstStyle/>
          <a:p>
            <a:endParaRPr lang="en-US"/>
          </a:p>
        </p:txBody>
      </p:sp>
      <p:sp>
        <p:nvSpPr>
          <p:cNvPr id="39" name="Text 37"/>
          <p:cNvSpPr/>
          <p:nvPr/>
        </p:nvSpPr>
        <p:spPr>
          <a:xfrm>
            <a:off x="3566160" y="3913632"/>
            <a:ext cx="1243584" cy="402336"/>
          </a:xfrm>
          <a:prstGeom prst="rect">
            <a:avLst/>
          </a:prstGeom>
          <a:noFill/>
          <a:ln/>
        </p:spPr>
        <p:txBody>
          <a:bodyPr wrap="square" lIns="0" tIns="0" rIns="0" bIns="0"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Alternative Inv.</a:t>
            </a:r>
            <a:endParaRPr lang="en-US" sz="850" dirty="0"/>
          </a:p>
        </p:txBody>
      </p:sp>
      <p:sp>
        <p:nvSpPr>
          <p:cNvPr id="40" name="Text 38"/>
          <p:cNvSpPr/>
          <p:nvPr/>
        </p:nvSpPr>
        <p:spPr>
          <a:xfrm>
            <a:off x="4901184" y="2514600"/>
            <a:ext cx="347472" cy="274320"/>
          </a:xfrm>
          <a:prstGeom prst="rect">
            <a:avLst/>
          </a:prstGeom>
          <a:noFill/>
          <a:ln/>
        </p:spPr>
        <p:txBody>
          <a:bodyPr wrap="square" rtlCol="0" anchor="ctr"/>
          <a:lstStyle/>
          <a:p>
            <a:pPr marL="0" indent="0" algn="ctr">
              <a:buNone/>
            </a:pPr>
            <a:r>
              <a:rPr lang="en-US" sz="1600" dirty="0">
                <a:solidFill>
                  <a:srgbClr val="00A896"/>
                </a:solidFill>
              </a:rPr>
              <a:t>→</a:t>
            </a:r>
            <a:endParaRPr lang="en-US" sz="1600" dirty="0"/>
          </a:p>
        </p:txBody>
      </p:sp>
      <p:sp>
        <p:nvSpPr>
          <p:cNvPr id="41" name="Shape 39"/>
          <p:cNvSpPr/>
          <p:nvPr/>
        </p:nvSpPr>
        <p:spPr>
          <a:xfrm>
            <a:off x="5266944" y="2340864"/>
            <a:ext cx="694944" cy="694944"/>
          </a:xfrm>
          <a:prstGeom prst="ellipse">
            <a:avLst/>
          </a:prstGeom>
          <a:solidFill>
            <a:srgbClr val="0A1628"/>
          </a:solidFill>
          <a:ln w="19050">
            <a:solidFill>
              <a:srgbClr val="00A896"/>
            </a:solidFill>
            <a:prstDash val="solid"/>
          </a:ln>
        </p:spPr>
        <p:txBody>
          <a:bodyPr/>
          <a:lstStyle/>
          <a:p>
            <a:endParaRPr lang="en-US"/>
          </a:p>
        </p:txBody>
      </p:sp>
      <p:sp>
        <p:nvSpPr>
          <p:cNvPr id="42" name="Text 40"/>
          <p:cNvSpPr/>
          <p:nvPr/>
        </p:nvSpPr>
        <p:spPr>
          <a:xfrm>
            <a:off x="5266944" y="2340864"/>
            <a:ext cx="694944" cy="694944"/>
          </a:xfrm>
          <a:prstGeom prst="rect">
            <a:avLst/>
          </a:prstGeom>
          <a:noFill/>
          <a:ln/>
        </p:spPr>
        <p:txBody>
          <a:bodyPr wrap="square" lIns="0" tIns="0" rIns="0" bIns="0" rtlCol="0" anchor="ctr"/>
          <a:lstStyle/>
          <a:p>
            <a:pPr marL="0" indent="0" algn="ctr">
              <a:buNone/>
            </a:pPr>
            <a:r>
              <a:rPr lang="en-US" sz="750" b="1" dirty="0">
                <a:solidFill>
                  <a:srgbClr val="FFFFFF"/>
                </a:solidFill>
              </a:rPr>
              <a:t>PLAID</a:t>
            </a:r>
            <a:endParaRPr lang="en-US" sz="750" dirty="0"/>
          </a:p>
        </p:txBody>
      </p:sp>
      <p:sp>
        <p:nvSpPr>
          <p:cNvPr id="43" name="Text 41"/>
          <p:cNvSpPr/>
          <p:nvPr/>
        </p:nvSpPr>
        <p:spPr>
          <a:xfrm>
            <a:off x="5980176" y="2514600"/>
            <a:ext cx="310896" cy="274320"/>
          </a:xfrm>
          <a:prstGeom prst="rect">
            <a:avLst/>
          </a:prstGeom>
          <a:noFill/>
          <a:ln/>
        </p:spPr>
        <p:txBody>
          <a:bodyPr wrap="square" rtlCol="0" anchor="ctr"/>
          <a:lstStyle/>
          <a:p>
            <a:pPr marL="0" indent="0" algn="ctr">
              <a:buNone/>
            </a:pPr>
            <a:r>
              <a:rPr lang="en-US" sz="1600" dirty="0">
                <a:solidFill>
                  <a:srgbClr val="00A896"/>
                </a:solidFill>
              </a:rPr>
              <a:t>→</a:t>
            </a:r>
            <a:endParaRPr lang="en-US" sz="1600" dirty="0"/>
          </a:p>
        </p:txBody>
      </p:sp>
      <p:sp>
        <p:nvSpPr>
          <p:cNvPr id="44" name="Shape 42"/>
          <p:cNvSpPr/>
          <p:nvPr/>
        </p:nvSpPr>
        <p:spPr>
          <a:xfrm>
            <a:off x="6309360" y="896112"/>
            <a:ext cx="502920" cy="3858768"/>
          </a:xfrm>
          <a:prstGeom prst="rect">
            <a:avLst/>
          </a:prstGeom>
          <a:solidFill>
            <a:srgbClr val="02C39A"/>
          </a:solidFill>
          <a:ln w="12700">
            <a:solidFill>
              <a:srgbClr val="02C39A"/>
            </a:solidFill>
            <a:prstDash val="solid"/>
          </a:ln>
        </p:spPr>
        <p:txBody>
          <a:bodyPr/>
          <a:lstStyle/>
          <a:p>
            <a:endParaRPr lang="en-US"/>
          </a:p>
        </p:txBody>
      </p:sp>
      <p:sp>
        <p:nvSpPr>
          <p:cNvPr id="45" name="Text 43"/>
          <p:cNvSpPr/>
          <p:nvPr/>
        </p:nvSpPr>
        <p:spPr>
          <a:xfrm>
            <a:off x="6309360" y="896112"/>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G</a:t>
            </a:r>
            <a:endParaRPr lang="en-US" sz="1100" dirty="0"/>
          </a:p>
        </p:txBody>
      </p:sp>
      <p:sp>
        <p:nvSpPr>
          <p:cNvPr id="46" name="Text 44"/>
          <p:cNvSpPr/>
          <p:nvPr/>
        </p:nvSpPr>
        <p:spPr>
          <a:xfrm>
            <a:off x="6309360" y="1426464"/>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A</a:t>
            </a:r>
            <a:endParaRPr lang="en-US" sz="1100" dirty="0"/>
          </a:p>
        </p:txBody>
      </p:sp>
      <p:sp>
        <p:nvSpPr>
          <p:cNvPr id="47" name="Text 45"/>
          <p:cNvSpPr/>
          <p:nvPr/>
        </p:nvSpPr>
        <p:spPr>
          <a:xfrm>
            <a:off x="6309360" y="1956816"/>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T</a:t>
            </a:r>
            <a:endParaRPr lang="en-US" sz="1100" dirty="0"/>
          </a:p>
        </p:txBody>
      </p:sp>
      <p:sp>
        <p:nvSpPr>
          <p:cNvPr id="48" name="Text 46"/>
          <p:cNvSpPr/>
          <p:nvPr/>
        </p:nvSpPr>
        <p:spPr>
          <a:xfrm>
            <a:off x="6309360" y="2487168"/>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E</a:t>
            </a:r>
            <a:endParaRPr lang="en-US" sz="1100" dirty="0"/>
          </a:p>
        </p:txBody>
      </p:sp>
      <p:sp>
        <p:nvSpPr>
          <p:cNvPr id="49" name="Text 47"/>
          <p:cNvSpPr/>
          <p:nvPr/>
        </p:nvSpPr>
        <p:spPr>
          <a:xfrm>
            <a:off x="6309360" y="3017520"/>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W</a:t>
            </a:r>
            <a:endParaRPr lang="en-US" sz="1100" dirty="0"/>
          </a:p>
        </p:txBody>
      </p:sp>
      <p:sp>
        <p:nvSpPr>
          <p:cNvPr id="50" name="Text 48"/>
          <p:cNvSpPr/>
          <p:nvPr/>
        </p:nvSpPr>
        <p:spPr>
          <a:xfrm>
            <a:off x="6309360" y="3547872"/>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A</a:t>
            </a:r>
            <a:endParaRPr lang="en-US" sz="1100" dirty="0"/>
          </a:p>
        </p:txBody>
      </p:sp>
      <p:sp>
        <p:nvSpPr>
          <p:cNvPr id="51" name="Text 49"/>
          <p:cNvSpPr/>
          <p:nvPr/>
        </p:nvSpPr>
        <p:spPr>
          <a:xfrm>
            <a:off x="6309360" y="4078224"/>
            <a:ext cx="502920" cy="530352"/>
          </a:xfrm>
          <a:prstGeom prst="rect">
            <a:avLst/>
          </a:prstGeom>
          <a:noFill/>
          <a:ln/>
        </p:spPr>
        <p:txBody>
          <a:bodyPr wrap="square" lIns="0" tIns="0" rIns="0" bIns="0" rtlCol="0" anchor="ctr"/>
          <a:lstStyle/>
          <a:p>
            <a:pPr marL="0" indent="0" algn="ctr">
              <a:buNone/>
            </a:pPr>
            <a:r>
              <a:rPr lang="en-US" sz="1100" b="1" dirty="0">
                <a:solidFill>
                  <a:srgbClr val="0A1628"/>
                </a:solidFill>
              </a:rPr>
              <a:t>Y</a:t>
            </a:r>
            <a:endParaRPr lang="en-US" sz="1100" dirty="0"/>
          </a:p>
        </p:txBody>
      </p:sp>
      <p:sp>
        <p:nvSpPr>
          <p:cNvPr id="52" name="Shape 50"/>
          <p:cNvSpPr/>
          <p:nvPr/>
        </p:nvSpPr>
        <p:spPr>
          <a:xfrm>
            <a:off x="6830568" y="896112"/>
            <a:ext cx="502920" cy="3858768"/>
          </a:xfrm>
          <a:prstGeom prst="rect">
            <a:avLst/>
          </a:prstGeom>
          <a:solidFill>
            <a:srgbClr val="00A896"/>
          </a:solidFill>
          <a:ln w="12700">
            <a:solidFill>
              <a:srgbClr val="00A896"/>
            </a:solidFill>
            <a:prstDash val="solid"/>
          </a:ln>
        </p:spPr>
        <p:txBody>
          <a:bodyPr/>
          <a:lstStyle/>
          <a:p>
            <a:endParaRPr lang="en-US"/>
          </a:p>
        </p:txBody>
      </p:sp>
      <p:sp>
        <p:nvSpPr>
          <p:cNvPr id="53" name="Text 51"/>
          <p:cNvSpPr/>
          <p:nvPr/>
        </p:nvSpPr>
        <p:spPr>
          <a:xfrm>
            <a:off x="6830568" y="896112"/>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54" name="Text 52"/>
          <p:cNvSpPr/>
          <p:nvPr/>
        </p:nvSpPr>
        <p:spPr>
          <a:xfrm>
            <a:off x="6830568" y="1335024"/>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55" name="Text 53"/>
          <p:cNvSpPr/>
          <p:nvPr/>
        </p:nvSpPr>
        <p:spPr>
          <a:xfrm>
            <a:off x="6830568" y="1773936"/>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56" name="Text 54"/>
          <p:cNvSpPr/>
          <p:nvPr/>
        </p:nvSpPr>
        <p:spPr>
          <a:xfrm>
            <a:off x="6830568" y="2212848"/>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 </a:t>
            </a:r>
            <a:endParaRPr lang="en-US" sz="1000" dirty="0"/>
          </a:p>
        </p:txBody>
      </p:sp>
      <p:sp>
        <p:nvSpPr>
          <p:cNvPr id="57" name="Text 55"/>
          <p:cNvSpPr/>
          <p:nvPr/>
        </p:nvSpPr>
        <p:spPr>
          <a:xfrm>
            <a:off x="6830568" y="2651760"/>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58" name="Text 56"/>
          <p:cNvSpPr/>
          <p:nvPr/>
        </p:nvSpPr>
        <p:spPr>
          <a:xfrm>
            <a:off x="6830568" y="3090672"/>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u</a:t>
            </a:r>
            <a:endParaRPr lang="en-US" sz="1000" dirty="0"/>
          </a:p>
        </p:txBody>
      </p:sp>
      <p:sp>
        <p:nvSpPr>
          <p:cNvPr id="59" name="Text 57"/>
          <p:cNvSpPr/>
          <p:nvPr/>
        </p:nvSpPr>
        <p:spPr>
          <a:xfrm>
            <a:off x="6830568" y="3529584"/>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T</a:t>
            </a:r>
            <a:endParaRPr lang="en-US" sz="1000" dirty="0"/>
          </a:p>
        </p:txBody>
      </p:sp>
      <p:sp>
        <p:nvSpPr>
          <p:cNvPr id="60" name="Text 58"/>
          <p:cNvSpPr/>
          <p:nvPr/>
        </p:nvSpPr>
        <p:spPr>
          <a:xfrm>
            <a:off x="6830568" y="3968496"/>
            <a:ext cx="502920" cy="438912"/>
          </a:xfrm>
          <a:prstGeom prst="rect">
            <a:avLst/>
          </a:prstGeom>
          <a:no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61" name="Shape 59"/>
          <p:cNvSpPr/>
          <p:nvPr/>
        </p:nvSpPr>
        <p:spPr>
          <a:xfrm>
            <a:off x="7351776" y="896112"/>
            <a:ext cx="530352" cy="3858768"/>
          </a:xfrm>
          <a:prstGeom prst="rect">
            <a:avLst/>
          </a:prstGeom>
          <a:solidFill>
            <a:srgbClr val="028090"/>
          </a:solidFill>
          <a:ln w="12700">
            <a:solidFill>
              <a:srgbClr val="028090"/>
            </a:solidFill>
            <a:prstDash val="solid"/>
          </a:ln>
        </p:spPr>
        <p:txBody>
          <a:bodyPr/>
          <a:lstStyle/>
          <a:p>
            <a:endParaRPr lang="en-US"/>
          </a:p>
        </p:txBody>
      </p:sp>
      <p:sp>
        <p:nvSpPr>
          <p:cNvPr id="62" name="Text 60"/>
          <p:cNvSpPr/>
          <p:nvPr/>
        </p:nvSpPr>
        <p:spPr>
          <a:xfrm>
            <a:off x="7351776" y="89611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B</a:t>
            </a:r>
            <a:endParaRPr lang="en-US" sz="1100" dirty="0"/>
          </a:p>
        </p:txBody>
      </p:sp>
      <p:sp>
        <p:nvSpPr>
          <p:cNvPr id="63" name="Text 61"/>
          <p:cNvSpPr/>
          <p:nvPr/>
        </p:nvSpPr>
        <p:spPr>
          <a:xfrm>
            <a:off x="7351776" y="139903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B</a:t>
            </a:r>
            <a:endParaRPr lang="en-US" sz="1100" dirty="0"/>
          </a:p>
        </p:txBody>
      </p:sp>
      <p:sp>
        <p:nvSpPr>
          <p:cNvPr id="64" name="Text 62"/>
          <p:cNvSpPr/>
          <p:nvPr/>
        </p:nvSpPr>
        <p:spPr>
          <a:xfrm>
            <a:off x="7351776" y="190195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H</a:t>
            </a:r>
            <a:endParaRPr lang="en-US" sz="1100" dirty="0"/>
          </a:p>
        </p:txBody>
      </p:sp>
      <p:sp>
        <p:nvSpPr>
          <p:cNvPr id="65" name="Text 63"/>
          <p:cNvSpPr/>
          <p:nvPr/>
        </p:nvSpPr>
        <p:spPr>
          <a:xfrm>
            <a:off x="7351776" y="240487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 </a:t>
            </a:r>
            <a:endParaRPr lang="en-US" sz="1100" dirty="0"/>
          </a:p>
        </p:txBody>
      </p:sp>
      <p:sp>
        <p:nvSpPr>
          <p:cNvPr id="66" name="Text 64"/>
          <p:cNvSpPr/>
          <p:nvPr/>
        </p:nvSpPr>
        <p:spPr>
          <a:xfrm>
            <a:off x="7351776" y="290779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D</a:t>
            </a:r>
            <a:endParaRPr lang="en-US" sz="1100" dirty="0"/>
          </a:p>
        </p:txBody>
      </p:sp>
      <p:sp>
        <p:nvSpPr>
          <p:cNvPr id="67" name="Text 65"/>
          <p:cNvSpPr/>
          <p:nvPr/>
        </p:nvSpPr>
        <p:spPr>
          <a:xfrm>
            <a:off x="7351776" y="341071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M</a:t>
            </a:r>
            <a:endParaRPr lang="en-US" sz="1100" dirty="0"/>
          </a:p>
        </p:txBody>
      </p:sp>
      <p:sp>
        <p:nvSpPr>
          <p:cNvPr id="68" name="Text 66"/>
          <p:cNvSpPr/>
          <p:nvPr/>
        </p:nvSpPr>
        <p:spPr>
          <a:xfrm>
            <a:off x="7351776" y="3913632"/>
            <a:ext cx="530352" cy="502920"/>
          </a:xfrm>
          <a:prstGeom prst="rect">
            <a:avLst/>
          </a:prstGeom>
          <a:noFill/>
          <a:ln/>
        </p:spPr>
        <p:txBody>
          <a:bodyPr wrap="square" lIns="0" tIns="0" rIns="0" bIns="0" rtlCol="0" anchor="ctr"/>
          <a:lstStyle/>
          <a:p>
            <a:pPr marL="0" indent="0" algn="ctr">
              <a:buNone/>
            </a:pPr>
            <a:r>
              <a:rPr lang="en-US" sz="1100" b="1" dirty="0">
                <a:solidFill>
                  <a:srgbClr val="FFFFFF"/>
                </a:solidFill>
              </a:rPr>
              <a:t>Z</a:t>
            </a:r>
            <a:endParaRPr lang="en-US" sz="1100" dirty="0"/>
          </a:p>
        </p:txBody>
      </p:sp>
      <p:sp>
        <p:nvSpPr>
          <p:cNvPr id="69" name="Shape 67"/>
          <p:cNvSpPr/>
          <p:nvPr/>
        </p:nvSpPr>
        <p:spPr>
          <a:xfrm>
            <a:off x="7900416" y="896112"/>
            <a:ext cx="969264" cy="3858768"/>
          </a:xfrm>
          <a:prstGeom prst="rect">
            <a:avLst/>
          </a:prstGeom>
          <a:solidFill>
            <a:srgbClr val="FFFFFF"/>
          </a:solidFill>
          <a:ln w="9525">
            <a:solidFill>
              <a:srgbClr val="E8EEF0"/>
            </a:solidFill>
            <a:prstDash val="solid"/>
          </a:ln>
        </p:spPr>
        <p:txBody>
          <a:bodyPr/>
          <a:lstStyle/>
          <a:p>
            <a:endParaRPr lang="en-US"/>
          </a:p>
        </p:txBody>
      </p:sp>
      <p:sp>
        <p:nvSpPr>
          <p:cNvPr id="70" name="Shape 68"/>
          <p:cNvSpPr/>
          <p:nvPr/>
        </p:nvSpPr>
        <p:spPr>
          <a:xfrm>
            <a:off x="7900416" y="896112"/>
            <a:ext cx="969264" cy="256032"/>
          </a:xfrm>
          <a:prstGeom prst="rect">
            <a:avLst/>
          </a:prstGeom>
          <a:solidFill>
            <a:srgbClr val="0A1628"/>
          </a:solidFill>
          <a:ln w="12700">
            <a:solidFill>
              <a:srgbClr val="0A1628"/>
            </a:solidFill>
            <a:prstDash val="solid"/>
          </a:ln>
        </p:spPr>
        <p:txBody>
          <a:bodyPr/>
          <a:lstStyle/>
          <a:p>
            <a:endParaRPr lang="en-US"/>
          </a:p>
        </p:txBody>
      </p:sp>
      <p:sp>
        <p:nvSpPr>
          <p:cNvPr id="71" name="Text 69"/>
          <p:cNvSpPr/>
          <p:nvPr/>
        </p:nvSpPr>
        <p:spPr>
          <a:xfrm>
            <a:off x="7900416" y="896112"/>
            <a:ext cx="969264" cy="256032"/>
          </a:xfrm>
          <a:prstGeom prst="rect">
            <a:avLst/>
          </a:prstGeom>
          <a:noFill/>
          <a:ln/>
        </p:spPr>
        <p:txBody>
          <a:bodyPr wrap="square" lIns="0" tIns="0" rIns="0" bIns="0" rtlCol="0" anchor="ctr"/>
          <a:lstStyle/>
          <a:p>
            <a:pPr marL="0" indent="0" algn="ctr">
              <a:buNone/>
            </a:pPr>
            <a:r>
              <a:rPr lang="en-US" sz="850" b="1" dirty="0">
                <a:solidFill>
                  <a:srgbClr val="FFFFFF"/>
                </a:solidFill>
              </a:rPr>
              <a:t>BBH</a:t>
            </a:r>
            <a:endParaRPr lang="en-US" sz="850" dirty="0"/>
          </a:p>
        </p:txBody>
      </p:sp>
      <p:sp>
        <p:nvSpPr>
          <p:cNvPr id="72" name="Shape 70"/>
          <p:cNvSpPr/>
          <p:nvPr/>
        </p:nvSpPr>
        <p:spPr>
          <a:xfrm>
            <a:off x="7955280" y="1234440"/>
            <a:ext cx="859536" cy="274320"/>
          </a:xfrm>
          <a:prstGeom prst="rect">
            <a:avLst/>
          </a:prstGeom>
          <a:solidFill>
            <a:srgbClr val="C8EAE8"/>
          </a:solidFill>
          <a:ln w="12700">
            <a:solidFill>
              <a:srgbClr val="C8EAE8"/>
            </a:solidFill>
            <a:prstDash val="solid"/>
          </a:ln>
        </p:spPr>
        <p:txBody>
          <a:bodyPr/>
          <a:lstStyle/>
          <a:p>
            <a:endParaRPr lang="en-US"/>
          </a:p>
        </p:txBody>
      </p:sp>
      <p:sp>
        <p:nvSpPr>
          <p:cNvPr id="73" name="Text 71"/>
          <p:cNvSpPr/>
          <p:nvPr/>
        </p:nvSpPr>
        <p:spPr>
          <a:xfrm>
            <a:off x="7955280" y="1234440"/>
            <a:ext cx="859536" cy="274320"/>
          </a:xfrm>
          <a:prstGeom prst="rect">
            <a:avLst/>
          </a:prstGeom>
          <a:noFill/>
          <a:ln/>
        </p:spPr>
        <p:txBody>
          <a:bodyPr wrap="square" lIns="0" tIns="0" rIns="0" bIns="0" rtlCol="0" anchor="ctr"/>
          <a:lstStyle/>
          <a:p>
            <a:pPr marL="0" indent="0" algn="ctr">
              <a:buNone/>
            </a:pPr>
            <a:r>
              <a:rPr lang="en-US" sz="750" b="1" dirty="0">
                <a:solidFill>
                  <a:srgbClr val="028090"/>
                </a:solidFill>
              </a:rPr>
              <a:t>OFX/FDX</a:t>
            </a:r>
            <a:endParaRPr lang="en-US" sz="750" dirty="0"/>
          </a:p>
        </p:txBody>
      </p:sp>
      <p:sp>
        <p:nvSpPr>
          <p:cNvPr id="74" name="Shape 72"/>
          <p:cNvSpPr/>
          <p:nvPr/>
        </p:nvSpPr>
        <p:spPr>
          <a:xfrm>
            <a:off x="7955280" y="1591056"/>
            <a:ext cx="859536" cy="274320"/>
          </a:xfrm>
          <a:prstGeom prst="rect">
            <a:avLst/>
          </a:prstGeom>
          <a:solidFill>
            <a:srgbClr val="E8EEF0"/>
          </a:solidFill>
          <a:ln w="12700">
            <a:solidFill>
              <a:srgbClr val="E8EEF0"/>
            </a:solidFill>
            <a:prstDash val="solid"/>
          </a:ln>
        </p:spPr>
        <p:txBody>
          <a:bodyPr/>
          <a:lstStyle/>
          <a:p>
            <a:endParaRPr lang="en-US"/>
          </a:p>
        </p:txBody>
      </p:sp>
      <p:sp>
        <p:nvSpPr>
          <p:cNvPr id="75" name="Text 73"/>
          <p:cNvSpPr/>
          <p:nvPr/>
        </p:nvSpPr>
        <p:spPr>
          <a:xfrm>
            <a:off x="7955280" y="1591056"/>
            <a:ext cx="859536" cy="274320"/>
          </a:xfrm>
          <a:prstGeom prst="rect">
            <a:avLst/>
          </a:prstGeom>
          <a:noFill/>
          <a:ln/>
        </p:spPr>
        <p:txBody>
          <a:bodyPr wrap="square" lIns="0" tIns="0" rIns="0" bIns="0" rtlCol="0" anchor="ctr"/>
          <a:lstStyle/>
          <a:p>
            <a:pPr marL="0" indent="0" algn="ctr">
              <a:buNone/>
            </a:pPr>
            <a:r>
              <a:rPr lang="en-US" sz="750" b="1" dirty="0">
                <a:solidFill>
                  <a:srgbClr val="0A1628"/>
                </a:solidFill>
              </a:rPr>
              <a:t>CP Services</a:t>
            </a:r>
            <a:endParaRPr lang="en-US" sz="750" dirty="0"/>
          </a:p>
        </p:txBody>
      </p:sp>
      <p:sp>
        <p:nvSpPr>
          <p:cNvPr id="76" name="Shape 74"/>
          <p:cNvSpPr/>
          <p:nvPr/>
        </p:nvSpPr>
        <p:spPr>
          <a:xfrm>
            <a:off x="7955280" y="1947672"/>
            <a:ext cx="859536" cy="274320"/>
          </a:xfrm>
          <a:prstGeom prst="rect">
            <a:avLst/>
          </a:prstGeom>
          <a:solidFill>
            <a:srgbClr val="E8EEF0"/>
          </a:solidFill>
          <a:ln w="12700">
            <a:solidFill>
              <a:srgbClr val="E8EEF0"/>
            </a:solidFill>
            <a:prstDash val="solid"/>
          </a:ln>
        </p:spPr>
        <p:txBody>
          <a:bodyPr/>
          <a:lstStyle/>
          <a:p>
            <a:endParaRPr lang="en-US"/>
          </a:p>
        </p:txBody>
      </p:sp>
      <p:sp>
        <p:nvSpPr>
          <p:cNvPr id="77" name="Text 75"/>
          <p:cNvSpPr/>
          <p:nvPr/>
        </p:nvSpPr>
        <p:spPr>
          <a:xfrm>
            <a:off x="7955280" y="1947672"/>
            <a:ext cx="859536" cy="274320"/>
          </a:xfrm>
          <a:prstGeom prst="rect">
            <a:avLst/>
          </a:prstGeom>
          <a:noFill/>
          <a:ln/>
        </p:spPr>
        <p:txBody>
          <a:bodyPr wrap="square" lIns="0" tIns="0" rIns="0" bIns="0" rtlCol="0" anchor="ctr"/>
          <a:lstStyle/>
          <a:p>
            <a:pPr marL="0" indent="0" algn="ctr">
              <a:buNone/>
            </a:pPr>
            <a:r>
              <a:rPr lang="en-US" sz="750" b="1" dirty="0">
                <a:solidFill>
                  <a:srgbClr val="0A1628"/>
                </a:solidFill>
              </a:rPr>
              <a:t>Services</a:t>
            </a:r>
            <a:endParaRPr lang="en-US" sz="750" dirty="0"/>
          </a:p>
        </p:txBody>
      </p:sp>
      <p:sp>
        <p:nvSpPr>
          <p:cNvPr id="78" name="Shape 76"/>
          <p:cNvSpPr/>
          <p:nvPr/>
        </p:nvSpPr>
        <p:spPr>
          <a:xfrm>
            <a:off x="7955280" y="2359152"/>
            <a:ext cx="859536" cy="274320"/>
          </a:xfrm>
          <a:prstGeom prst="ellipse">
            <a:avLst/>
          </a:prstGeom>
          <a:solidFill>
            <a:srgbClr val="00A896"/>
          </a:solidFill>
          <a:ln w="12700">
            <a:solidFill>
              <a:srgbClr val="00A896"/>
            </a:solidFill>
            <a:prstDash val="solid"/>
          </a:ln>
        </p:spPr>
        <p:txBody>
          <a:bodyPr/>
          <a:lstStyle/>
          <a:p>
            <a:endParaRPr lang="en-US"/>
          </a:p>
        </p:txBody>
      </p:sp>
      <p:sp>
        <p:nvSpPr>
          <p:cNvPr id="79" name="Text 77"/>
          <p:cNvSpPr/>
          <p:nvPr/>
        </p:nvSpPr>
        <p:spPr>
          <a:xfrm>
            <a:off x="7955280" y="2359152"/>
            <a:ext cx="859536" cy="274320"/>
          </a:xfrm>
          <a:prstGeom prst="rect">
            <a:avLst/>
          </a:prstGeom>
          <a:noFill/>
          <a:ln/>
        </p:spPr>
        <p:txBody>
          <a:bodyPr wrap="square" lIns="0" tIns="0" rIns="0" bIns="0" rtlCol="0" anchor="ctr"/>
          <a:lstStyle/>
          <a:p>
            <a:pPr marL="0" indent="0" algn="ctr">
              <a:buNone/>
            </a:pPr>
            <a:r>
              <a:rPr lang="en-US" sz="700" dirty="0">
                <a:solidFill>
                  <a:srgbClr val="FFFFFF"/>
                </a:solidFill>
              </a:rPr>
              <a:t>PB DataWarehouse</a:t>
            </a:r>
            <a:endParaRPr lang="en-US" sz="700" dirty="0"/>
          </a:p>
        </p:txBody>
      </p:sp>
      <p:sp>
        <p:nvSpPr>
          <p:cNvPr id="80" name="Shape 78"/>
          <p:cNvSpPr/>
          <p:nvPr/>
        </p:nvSpPr>
        <p:spPr>
          <a:xfrm>
            <a:off x="7955280" y="2743200"/>
            <a:ext cx="859536" cy="274320"/>
          </a:xfrm>
          <a:prstGeom prst="ellipse">
            <a:avLst/>
          </a:prstGeom>
          <a:solidFill>
            <a:srgbClr val="00A896"/>
          </a:solidFill>
          <a:ln w="12700">
            <a:solidFill>
              <a:srgbClr val="00A896"/>
            </a:solidFill>
            <a:prstDash val="solid"/>
          </a:ln>
        </p:spPr>
        <p:txBody>
          <a:bodyPr/>
          <a:lstStyle/>
          <a:p>
            <a:endParaRPr lang="en-US"/>
          </a:p>
        </p:txBody>
      </p:sp>
      <p:sp>
        <p:nvSpPr>
          <p:cNvPr id="81" name="Text 79"/>
          <p:cNvSpPr/>
          <p:nvPr/>
        </p:nvSpPr>
        <p:spPr>
          <a:xfrm>
            <a:off x="7955280" y="2743200"/>
            <a:ext cx="859536" cy="274320"/>
          </a:xfrm>
          <a:prstGeom prst="rect">
            <a:avLst/>
          </a:prstGeom>
          <a:noFill/>
          <a:ln/>
        </p:spPr>
        <p:txBody>
          <a:bodyPr wrap="square" lIns="0" tIns="0" rIns="0" bIns="0" rtlCol="0" anchor="ctr"/>
          <a:lstStyle/>
          <a:p>
            <a:pPr marL="0" indent="0" algn="ctr">
              <a:buNone/>
            </a:pPr>
            <a:r>
              <a:rPr lang="en-US" sz="700" dirty="0">
                <a:solidFill>
                  <a:srgbClr val="FFFFFF"/>
                </a:solidFill>
              </a:rPr>
              <a:t>IM Datastore</a:t>
            </a:r>
            <a:endParaRPr lang="en-US" sz="700" dirty="0"/>
          </a:p>
        </p:txBody>
      </p:sp>
      <p:sp>
        <p:nvSpPr>
          <p:cNvPr id="82" name="Shape 80"/>
          <p:cNvSpPr/>
          <p:nvPr/>
        </p:nvSpPr>
        <p:spPr>
          <a:xfrm>
            <a:off x="7955280" y="3127248"/>
            <a:ext cx="859536" cy="274320"/>
          </a:xfrm>
          <a:prstGeom prst="ellipse">
            <a:avLst/>
          </a:prstGeom>
          <a:solidFill>
            <a:srgbClr val="00A896"/>
          </a:solidFill>
          <a:ln w="12700">
            <a:solidFill>
              <a:srgbClr val="00A896"/>
            </a:solidFill>
            <a:prstDash val="solid"/>
          </a:ln>
        </p:spPr>
        <p:txBody>
          <a:bodyPr/>
          <a:lstStyle/>
          <a:p>
            <a:endParaRPr lang="en-US"/>
          </a:p>
        </p:txBody>
      </p:sp>
      <p:sp>
        <p:nvSpPr>
          <p:cNvPr id="83" name="Text 81"/>
          <p:cNvSpPr/>
          <p:nvPr/>
        </p:nvSpPr>
        <p:spPr>
          <a:xfrm>
            <a:off x="7955280" y="3127248"/>
            <a:ext cx="859536" cy="274320"/>
          </a:xfrm>
          <a:prstGeom prst="rect">
            <a:avLst/>
          </a:prstGeom>
          <a:noFill/>
          <a:ln/>
        </p:spPr>
        <p:txBody>
          <a:bodyPr wrap="square" lIns="0" tIns="0" rIns="0" bIns="0" rtlCol="0" anchor="ctr"/>
          <a:lstStyle/>
          <a:p>
            <a:pPr marL="0" indent="0" algn="ctr">
              <a:buNone/>
            </a:pPr>
            <a:r>
              <a:rPr lang="en-US" sz="700" dirty="0">
                <a:solidFill>
                  <a:srgbClr val="FFFFFF"/>
                </a:solidFill>
              </a:rPr>
              <a:t>BBH DataStore</a:t>
            </a:r>
            <a:endParaRPr lang="en-US" sz="700" dirty="0"/>
          </a:p>
        </p:txBody>
      </p:sp>
      <p:sp>
        <p:nvSpPr>
          <p:cNvPr id="84" name="Shape 82"/>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85" name="Text 83"/>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86" name="Text 84"/>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0"/>
            <a:ext cx="8595360" cy="74980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Integration Flow — OAuth 2.0 &amp; Token Exchange</a:t>
            </a:r>
            <a:endParaRPr lang="en-US" sz="2200" dirty="0"/>
          </a:p>
        </p:txBody>
      </p:sp>
      <p:sp>
        <p:nvSpPr>
          <p:cNvPr id="5" name="Shape 3"/>
          <p:cNvSpPr/>
          <p:nvPr/>
        </p:nvSpPr>
        <p:spPr>
          <a:xfrm>
            <a:off x="274320" y="896112"/>
            <a:ext cx="8595360"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274320" y="896112"/>
            <a:ext cx="8595360" cy="25603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274320" y="896112"/>
            <a:ext cx="8595360" cy="256032"/>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PHASE 1 — AUTHENTICATION FLOW</a:t>
            </a:r>
            <a:endParaRPr lang="en-US" sz="950" dirty="0"/>
          </a:p>
        </p:txBody>
      </p:sp>
      <p:sp>
        <p:nvSpPr>
          <p:cNvPr id="8" name="Shape 6"/>
          <p:cNvSpPr/>
          <p:nvPr/>
        </p:nvSpPr>
        <p:spPr>
          <a:xfrm>
            <a:off x="438912" y="1225296"/>
            <a:ext cx="292608" cy="292608"/>
          </a:xfrm>
          <a:prstGeom prst="ellipse">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438912" y="12252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10" name="Text 8"/>
          <p:cNvSpPr/>
          <p:nvPr/>
        </p:nvSpPr>
        <p:spPr>
          <a:xfrm>
            <a:off x="786384" y="1225296"/>
            <a:ext cx="2377440" cy="201168"/>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User Initiates</a:t>
            </a:r>
            <a:endParaRPr lang="en-US" sz="950" dirty="0"/>
          </a:p>
        </p:txBody>
      </p:sp>
      <p:sp>
        <p:nvSpPr>
          <p:cNvPr id="11" name="Text 9"/>
          <p:cNvSpPr/>
          <p:nvPr/>
        </p:nvSpPr>
        <p:spPr>
          <a:xfrm>
            <a:off x="786384" y="1435608"/>
            <a:ext cx="2377440" cy="27432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Client selects a financial institution via fintech app (Addepar, Chime, etc.)</a:t>
            </a:r>
            <a:endParaRPr lang="en-US" sz="850" dirty="0"/>
          </a:p>
        </p:txBody>
      </p:sp>
      <p:sp>
        <p:nvSpPr>
          <p:cNvPr id="12" name="Text 10"/>
          <p:cNvSpPr/>
          <p:nvPr/>
        </p:nvSpPr>
        <p:spPr>
          <a:xfrm>
            <a:off x="3035808" y="1280160"/>
            <a:ext cx="310896" cy="237744"/>
          </a:xfrm>
          <a:prstGeom prst="rect">
            <a:avLst/>
          </a:prstGeom>
          <a:noFill/>
          <a:ln/>
        </p:spPr>
        <p:txBody>
          <a:bodyPr wrap="square" rtlCol="0" anchor="ctr"/>
          <a:lstStyle/>
          <a:p>
            <a:pPr marL="0" indent="0" algn="ctr">
              <a:buNone/>
            </a:pPr>
            <a:r>
              <a:rPr lang="en-US" sz="1400" dirty="0">
                <a:solidFill>
                  <a:srgbClr val="028090"/>
                </a:solidFill>
              </a:rPr>
              <a:t>→</a:t>
            </a:r>
            <a:endParaRPr lang="en-US" sz="1400" dirty="0"/>
          </a:p>
        </p:txBody>
      </p:sp>
      <p:sp>
        <p:nvSpPr>
          <p:cNvPr id="13" name="Shape 11"/>
          <p:cNvSpPr/>
          <p:nvPr/>
        </p:nvSpPr>
        <p:spPr>
          <a:xfrm>
            <a:off x="3310128" y="1225296"/>
            <a:ext cx="292608" cy="292608"/>
          </a:xfrm>
          <a:prstGeom prst="ellipse">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3310128" y="12252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15" name="Text 13"/>
          <p:cNvSpPr/>
          <p:nvPr/>
        </p:nvSpPr>
        <p:spPr>
          <a:xfrm>
            <a:off x="3657600" y="1225296"/>
            <a:ext cx="2377440" cy="201168"/>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OAuth Redirect (Preferred)</a:t>
            </a:r>
            <a:endParaRPr lang="en-US" sz="950" dirty="0"/>
          </a:p>
        </p:txBody>
      </p:sp>
      <p:sp>
        <p:nvSpPr>
          <p:cNvPr id="16" name="Text 14"/>
          <p:cNvSpPr/>
          <p:nvPr/>
        </p:nvSpPr>
        <p:spPr>
          <a:xfrm>
            <a:off x="3657600" y="1435608"/>
            <a:ext cx="2377440" cy="27432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User redirected to their bank's own login page. No credentials enter the fintech app.</a:t>
            </a:r>
            <a:endParaRPr lang="en-US" sz="850" dirty="0"/>
          </a:p>
        </p:txBody>
      </p:sp>
      <p:sp>
        <p:nvSpPr>
          <p:cNvPr id="17" name="Text 15"/>
          <p:cNvSpPr/>
          <p:nvPr/>
        </p:nvSpPr>
        <p:spPr>
          <a:xfrm>
            <a:off x="5907024" y="1280160"/>
            <a:ext cx="310896" cy="237744"/>
          </a:xfrm>
          <a:prstGeom prst="rect">
            <a:avLst/>
          </a:prstGeom>
          <a:noFill/>
          <a:ln/>
        </p:spPr>
        <p:txBody>
          <a:bodyPr wrap="square" rtlCol="0" anchor="ctr"/>
          <a:lstStyle/>
          <a:p>
            <a:pPr marL="0" indent="0" algn="ctr">
              <a:buNone/>
            </a:pPr>
            <a:r>
              <a:rPr lang="en-US" sz="1400" dirty="0">
                <a:solidFill>
                  <a:srgbClr val="028090"/>
                </a:solidFill>
              </a:rPr>
              <a:t>→</a:t>
            </a:r>
            <a:endParaRPr lang="en-US" sz="1400" dirty="0"/>
          </a:p>
        </p:txBody>
      </p:sp>
      <p:sp>
        <p:nvSpPr>
          <p:cNvPr id="18" name="Shape 16"/>
          <p:cNvSpPr/>
          <p:nvPr/>
        </p:nvSpPr>
        <p:spPr>
          <a:xfrm>
            <a:off x="6181344" y="1225296"/>
            <a:ext cx="292608" cy="292608"/>
          </a:xfrm>
          <a:prstGeom prst="ellipse">
            <a:avLst/>
          </a:prstGeom>
          <a:solidFill>
            <a:srgbClr val="028090"/>
          </a:solidFill>
          <a:ln w="12700">
            <a:solidFill>
              <a:srgbClr val="028090"/>
            </a:solidFill>
            <a:prstDash val="solid"/>
          </a:ln>
        </p:spPr>
        <p:txBody>
          <a:bodyPr/>
          <a:lstStyle/>
          <a:p>
            <a:endParaRPr lang="en-US"/>
          </a:p>
        </p:txBody>
      </p:sp>
      <p:sp>
        <p:nvSpPr>
          <p:cNvPr id="19" name="Text 17"/>
          <p:cNvSpPr/>
          <p:nvPr/>
        </p:nvSpPr>
        <p:spPr>
          <a:xfrm>
            <a:off x="6181344" y="12252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20" name="Text 18"/>
          <p:cNvSpPr/>
          <p:nvPr/>
        </p:nvSpPr>
        <p:spPr>
          <a:xfrm>
            <a:off x="6528816" y="1225296"/>
            <a:ext cx="2377440" cy="201168"/>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Instant Auth (Fallback)</a:t>
            </a:r>
            <a:endParaRPr lang="en-US" sz="950" dirty="0"/>
          </a:p>
        </p:txBody>
      </p:sp>
      <p:sp>
        <p:nvSpPr>
          <p:cNvPr id="21" name="Text 19"/>
          <p:cNvSpPr/>
          <p:nvPr/>
        </p:nvSpPr>
        <p:spPr>
          <a:xfrm>
            <a:off x="6528816" y="1435608"/>
            <a:ext cx="2377440" cy="27432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If OAuth unavailable, encrypted Plaid Link captures credentials — never stored.</a:t>
            </a:r>
            <a:endParaRPr lang="en-US" sz="850" dirty="0"/>
          </a:p>
        </p:txBody>
      </p:sp>
      <p:sp>
        <p:nvSpPr>
          <p:cNvPr id="22" name="Shape 20"/>
          <p:cNvSpPr/>
          <p:nvPr/>
        </p:nvSpPr>
        <p:spPr>
          <a:xfrm>
            <a:off x="274320" y="2103120"/>
            <a:ext cx="8595360"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21"/>
          <p:cNvSpPr/>
          <p:nvPr/>
        </p:nvSpPr>
        <p:spPr>
          <a:xfrm>
            <a:off x="274320" y="2103120"/>
            <a:ext cx="8595360" cy="256032"/>
          </a:xfrm>
          <a:prstGeom prst="rect">
            <a:avLst/>
          </a:prstGeom>
          <a:solidFill>
            <a:srgbClr val="00A896"/>
          </a:solidFill>
          <a:ln w="12700">
            <a:solidFill>
              <a:srgbClr val="00A896"/>
            </a:solidFill>
            <a:prstDash val="solid"/>
          </a:ln>
        </p:spPr>
        <p:txBody>
          <a:bodyPr/>
          <a:lstStyle/>
          <a:p>
            <a:endParaRPr lang="en-US"/>
          </a:p>
        </p:txBody>
      </p:sp>
      <p:sp>
        <p:nvSpPr>
          <p:cNvPr id="24" name="Text 22"/>
          <p:cNvSpPr/>
          <p:nvPr/>
        </p:nvSpPr>
        <p:spPr>
          <a:xfrm>
            <a:off x="274320" y="2103120"/>
            <a:ext cx="8595360" cy="256032"/>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PHASE 2 — TOKEN EXCHANGE PROCESS</a:t>
            </a:r>
            <a:endParaRPr lang="en-US" sz="950" dirty="0"/>
          </a:p>
        </p:txBody>
      </p:sp>
      <p:sp>
        <p:nvSpPr>
          <p:cNvPr id="25" name="Shape 23"/>
          <p:cNvSpPr/>
          <p:nvPr/>
        </p:nvSpPr>
        <p:spPr>
          <a:xfrm>
            <a:off x="438912" y="2432304"/>
            <a:ext cx="292608" cy="292608"/>
          </a:xfrm>
          <a:prstGeom prst="ellipse">
            <a:avLst/>
          </a:prstGeom>
          <a:solidFill>
            <a:srgbClr val="00A896"/>
          </a:solidFill>
          <a:ln w="12700">
            <a:solidFill>
              <a:srgbClr val="00A896"/>
            </a:solidFill>
            <a:prstDash val="solid"/>
          </a:ln>
        </p:spPr>
        <p:txBody>
          <a:bodyPr/>
          <a:lstStyle/>
          <a:p>
            <a:endParaRPr lang="en-US"/>
          </a:p>
        </p:txBody>
      </p:sp>
      <p:sp>
        <p:nvSpPr>
          <p:cNvPr id="26" name="Text 24"/>
          <p:cNvSpPr/>
          <p:nvPr/>
        </p:nvSpPr>
        <p:spPr>
          <a:xfrm>
            <a:off x="438912" y="243230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7" name="Text 25"/>
          <p:cNvSpPr/>
          <p:nvPr/>
        </p:nvSpPr>
        <p:spPr>
          <a:xfrm>
            <a:off x="786384" y="2432304"/>
            <a:ext cx="2377440" cy="201168"/>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Public Token Issued</a:t>
            </a:r>
            <a:endParaRPr lang="en-US" sz="950" dirty="0"/>
          </a:p>
        </p:txBody>
      </p:sp>
      <p:sp>
        <p:nvSpPr>
          <p:cNvPr id="28" name="Text 26"/>
          <p:cNvSpPr/>
          <p:nvPr/>
        </p:nvSpPr>
        <p:spPr>
          <a:xfrm>
            <a:off x="786384" y="2642616"/>
            <a:ext cx="2377440" cy="27432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Plaid Link returns a temporary public_token after successful authentication.</a:t>
            </a:r>
            <a:endParaRPr lang="en-US" sz="850" dirty="0"/>
          </a:p>
        </p:txBody>
      </p:sp>
      <p:sp>
        <p:nvSpPr>
          <p:cNvPr id="29" name="Text 27"/>
          <p:cNvSpPr/>
          <p:nvPr/>
        </p:nvSpPr>
        <p:spPr>
          <a:xfrm>
            <a:off x="3035808" y="2487168"/>
            <a:ext cx="310896" cy="237744"/>
          </a:xfrm>
          <a:prstGeom prst="rect">
            <a:avLst/>
          </a:prstGeom>
          <a:noFill/>
          <a:ln/>
        </p:spPr>
        <p:txBody>
          <a:bodyPr wrap="square" rtlCol="0" anchor="ctr"/>
          <a:lstStyle/>
          <a:p>
            <a:pPr marL="0" indent="0" algn="ctr">
              <a:buNone/>
            </a:pPr>
            <a:r>
              <a:rPr lang="en-US" sz="1400" dirty="0">
                <a:solidFill>
                  <a:srgbClr val="00A896"/>
                </a:solidFill>
              </a:rPr>
              <a:t>→</a:t>
            </a:r>
            <a:endParaRPr lang="en-US" sz="1400" dirty="0"/>
          </a:p>
        </p:txBody>
      </p:sp>
      <p:sp>
        <p:nvSpPr>
          <p:cNvPr id="30" name="Shape 28"/>
          <p:cNvSpPr/>
          <p:nvPr/>
        </p:nvSpPr>
        <p:spPr>
          <a:xfrm>
            <a:off x="3310128" y="2432304"/>
            <a:ext cx="292608" cy="292608"/>
          </a:xfrm>
          <a:prstGeom prst="ellipse">
            <a:avLst/>
          </a:prstGeom>
          <a:solidFill>
            <a:srgbClr val="00A896"/>
          </a:solidFill>
          <a:ln w="12700">
            <a:solidFill>
              <a:srgbClr val="00A896"/>
            </a:solidFill>
            <a:prstDash val="solid"/>
          </a:ln>
        </p:spPr>
        <p:txBody>
          <a:bodyPr/>
          <a:lstStyle/>
          <a:p>
            <a:endParaRPr lang="en-US"/>
          </a:p>
        </p:txBody>
      </p:sp>
      <p:sp>
        <p:nvSpPr>
          <p:cNvPr id="31" name="Text 29"/>
          <p:cNvSpPr/>
          <p:nvPr/>
        </p:nvSpPr>
        <p:spPr>
          <a:xfrm>
            <a:off x="3310128" y="243230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32" name="Text 30"/>
          <p:cNvSpPr/>
          <p:nvPr/>
        </p:nvSpPr>
        <p:spPr>
          <a:xfrm>
            <a:off x="3657600" y="2432304"/>
            <a:ext cx="2377440" cy="201168"/>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Backend Exchange</a:t>
            </a:r>
            <a:endParaRPr lang="en-US" sz="950" dirty="0"/>
          </a:p>
        </p:txBody>
      </p:sp>
      <p:sp>
        <p:nvSpPr>
          <p:cNvPr id="33" name="Text 31"/>
          <p:cNvSpPr/>
          <p:nvPr/>
        </p:nvSpPr>
        <p:spPr>
          <a:xfrm>
            <a:off x="3657600" y="2642616"/>
            <a:ext cx="2377440" cy="27432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BBH backend calls Plaid /item/public_token/exchange to receive a scoped access_token.</a:t>
            </a:r>
            <a:endParaRPr lang="en-US" sz="850" dirty="0"/>
          </a:p>
        </p:txBody>
      </p:sp>
      <p:sp>
        <p:nvSpPr>
          <p:cNvPr id="34" name="Text 32"/>
          <p:cNvSpPr/>
          <p:nvPr/>
        </p:nvSpPr>
        <p:spPr>
          <a:xfrm>
            <a:off x="5907024" y="2487168"/>
            <a:ext cx="310896" cy="237744"/>
          </a:xfrm>
          <a:prstGeom prst="rect">
            <a:avLst/>
          </a:prstGeom>
          <a:noFill/>
          <a:ln/>
        </p:spPr>
        <p:txBody>
          <a:bodyPr wrap="square" rtlCol="0" anchor="ctr"/>
          <a:lstStyle/>
          <a:p>
            <a:pPr marL="0" indent="0" algn="ctr">
              <a:buNone/>
            </a:pPr>
            <a:r>
              <a:rPr lang="en-US" sz="1400" dirty="0">
                <a:solidFill>
                  <a:srgbClr val="00A896"/>
                </a:solidFill>
              </a:rPr>
              <a:t>→</a:t>
            </a:r>
            <a:endParaRPr lang="en-US" sz="1400" dirty="0"/>
          </a:p>
        </p:txBody>
      </p:sp>
      <p:sp>
        <p:nvSpPr>
          <p:cNvPr id="35" name="Shape 33"/>
          <p:cNvSpPr/>
          <p:nvPr/>
        </p:nvSpPr>
        <p:spPr>
          <a:xfrm>
            <a:off x="6181344" y="2432304"/>
            <a:ext cx="292608" cy="292608"/>
          </a:xfrm>
          <a:prstGeom prst="ellipse">
            <a:avLst/>
          </a:prstGeom>
          <a:solidFill>
            <a:srgbClr val="00A896"/>
          </a:solidFill>
          <a:ln w="12700">
            <a:solidFill>
              <a:srgbClr val="00A896"/>
            </a:solidFill>
            <a:prstDash val="solid"/>
          </a:ln>
        </p:spPr>
        <p:txBody>
          <a:bodyPr/>
          <a:lstStyle/>
          <a:p>
            <a:endParaRPr lang="en-US"/>
          </a:p>
        </p:txBody>
      </p:sp>
      <p:sp>
        <p:nvSpPr>
          <p:cNvPr id="36" name="Text 34"/>
          <p:cNvSpPr/>
          <p:nvPr/>
        </p:nvSpPr>
        <p:spPr>
          <a:xfrm>
            <a:off x="6181344" y="243230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7" name="Text 35"/>
          <p:cNvSpPr/>
          <p:nvPr/>
        </p:nvSpPr>
        <p:spPr>
          <a:xfrm>
            <a:off x="6528816" y="2432304"/>
            <a:ext cx="2377440" cy="201168"/>
          </a:xfrm>
          <a:prstGeom prst="rect">
            <a:avLst/>
          </a:prstGeom>
          <a:noFill/>
          <a:ln/>
        </p:spPr>
        <p:txBody>
          <a:bodyPr wrap="square" rtlCol="0" anchor="ctr"/>
          <a:lstStyle/>
          <a:p>
            <a:pPr marL="0" indent="0">
              <a:buNone/>
            </a:pPr>
            <a:r>
              <a:rPr lang="en-US" sz="950" b="1" dirty="0">
                <a:solidFill>
                  <a:srgbClr val="0A1628"/>
                </a:solidFill>
                <a:latin typeface="Calibri" pitchFamily="34" charset="0"/>
                <a:ea typeface="Calibri" pitchFamily="34" charset="-122"/>
                <a:cs typeface="Calibri" pitchFamily="34" charset="-120"/>
              </a:rPr>
              <a:t>Data Access Granted</a:t>
            </a:r>
            <a:endParaRPr lang="en-US" sz="950" dirty="0"/>
          </a:p>
        </p:txBody>
      </p:sp>
      <p:sp>
        <p:nvSpPr>
          <p:cNvPr id="38" name="Text 36"/>
          <p:cNvSpPr/>
          <p:nvPr/>
        </p:nvSpPr>
        <p:spPr>
          <a:xfrm>
            <a:off x="6528816" y="2642616"/>
            <a:ext cx="2377440" cy="27432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access_token used to call Plaid endpoints: balances, transactions, identity.</a:t>
            </a:r>
            <a:endParaRPr lang="en-US" sz="850" dirty="0"/>
          </a:p>
        </p:txBody>
      </p:sp>
      <p:sp>
        <p:nvSpPr>
          <p:cNvPr id="39" name="Shape 37"/>
          <p:cNvSpPr/>
          <p:nvPr/>
        </p:nvSpPr>
        <p:spPr>
          <a:xfrm>
            <a:off x="274320" y="3310128"/>
            <a:ext cx="8595360" cy="142646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40" name="Shape 38"/>
          <p:cNvSpPr/>
          <p:nvPr/>
        </p:nvSpPr>
        <p:spPr>
          <a:xfrm>
            <a:off x="274320" y="3310128"/>
            <a:ext cx="8595360" cy="256032"/>
          </a:xfrm>
          <a:prstGeom prst="rect">
            <a:avLst/>
          </a:prstGeom>
          <a:solidFill>
            <a:srgbClr val="0A1628"/>
          </a:solidFill>
          <a:ln w="12700">
            <a:solidFill>
              <a:srgbClr val="0A1628"/>
            </a:solidFill>
            <a:prstDash val="solid"/>
          </a:ln>
        </p:spPr>
        <p:txBody>
          <a:bodyPr/>
          <a:lstStyle/>
          <a:p>
            <a:endParaRPr lang="en-US"/>
          </a:p>
        </p:txBody>
      </p:sp>
      <p:sp>
        <p:nvSpPr>
          <p:cNvPr id="41" name="Text 39"/>
          <p:cNvSpPr/>
          <p:nvPr/>
        </p:nvSpPr>
        <p:spPr>
          <a:xfrm>
            <a:off x="274320" y="3310128"/>
            <a:ext cx="8595360" cy="256032"/>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Calibri" pitchFamily="34" charset="0"/>
                <a:ea typeface="Calibri" pitchFamily="34" charset="-122"/>
                <a:cs typeface="Calibri" pitchFamily="34" charset="-120"/>
              </a:rPr>
              <a:t>PHASE 3 — DATA CAPABILITIES UNLOCKED</a:t>
            </a:r>
            <a:endParaRPr lang="en-US" sz="950" dirty="0"/>
          </a:p>
        </p:txBody>
      </p:sp>
      <p:sp>
        <p:nvSpPr>
          <p:cNvPr id="42" name="Shape 40"/>
          <p:cNvSpPr/>
          <p:nvPr/>
        </p:nvSpPr>
        <p:spPr>
          <a:xfrm>
            <a:off x="411480" y="3657600"/>
            <a:ext cx="2011680" cy="987552"/>
          </a:xfrm>
          <a:prstGeom prst="rect">
            <a:avLst/>
          </a:prstGeom>
          <a:solidFill>
            <a:srgbClr val="FFFFFF"/>
          </a:solidFill>
          <a:ln w="9525">
            <a:solidFill>
              <a:srgbClr val="C8EAE8"/>
            </a:solidFill>
            <a:prstDash val="solid"/>
          </a:ln>
          <a:effectLst>
            <a:outerShdw blurRad="63500" dist="25400" dir="8100000" algn="bl" rotWithShape="0">
              <a:srgbClr val="000000">
                <a:alpha val="8000"/>
              </a:srgbClr>
            </a:outerShdw>
          </a:effectLst>
        </p:spPr>
        <p:txBody>
          <a:bodyPr/>
          <a:lstStyle/>
          <a:p>
            <a:endParaRPr lang="en-US"/>
          </a:p>
        </p:txBody>
      </p:sp>
      <p:sp>
        <p:nvSpPr>
          <p:cNvPr id="43" name="Shape 41"/>
          <p:cNvSpPr/>
          <p:nvPr/>
        </p:nvSpPr>
        <p:spPr>
          <a:xfrm>
            <a:off x="411480" y="3657600"/>
            <a:ext cx="45720" cy="987552"/>
          </a:xfrm>
          <a:prstGeom prst="rect">
            <a:avLst/>
          </a:prstGeom>
          <a:solidFill>
            <a:srgbClr val="028090"/>
          </a:solidFill>
          <a:ln w="12700">
            <a:solidFill>
              <a:srgbClr val="028090"/>
            </a:solidFill>
            <a:prstDash val="solid"/>
          </a:ln>
        </p:spPr>
        <p:txBody>
          <a:bodyPr/>
          <a:lstStyle/>
          <a:p>
            <a:endParaRPr lang="en-US"/>
          </a:p>
        </p:txBody>
      </p:sp>
      <p:sp>
        <p:nvSpPr>
          <p:cNvPr id="44" name="Text 42"/>
          <p:cNvSpPr/>
          <p:nvPr/>
        </p:nvSpPr>
        <p:spPr>
          <a:xfrm>
            <a:off x="521208" y="3694176"/>
            <a:ext cx="1828800" cy="256032"/>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Instant Account Verification</a:t>
            </a:r>
            <a:endParaRPr lang="en-US" sz="900" dirty="0"/>
          </a:p>
        </p:txBody>
      </p:sp>
      <p:sp>
        <p:nvSpPr>
          <p:cNvPr id="45" name="Text 43"/>
          <p:cNvSpPr/>
          <p:nvPr/>
        </p:nvSpPr>
        <p:spPr>
          <a:xfrm>
            <a:off x="521208" y="3968496"/>
            <a:ext cx="1828800" cy="621792"/>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Verify accounts instantly — no micro-deposit delays.</a:t>
            </a:r>
            <a:endParaRPr lang="en-US" sz="850" dirty="0"/>
          </a:p>
        </p:txBody>
      </p:sp>
      <p:sp>
        <p:nvSpPr>
          <p:cNvPr id="46" name="Shape 44"/>
          <p:cNvSpPr/>
          <p:nvPr/>
        </p:nvSpPr>
        <p:spPr>
          <a:xfrm>
            <a:off x="2569464" y="3657600"/>
            <a:ext cx="2011680" cy="987552"/>
          </a:xfrm>
          <a:prstGeom prst="rect">
            <a:avLst/>
          </a:prstGeom>
          <a:solidFill>
            <a:srgbClr val="FFFFFF"/>
          </a:solidFill>
          <a:ln w="9525">
            <a:solidFill>
              <a:srgbClr val="C8EAE8"/>
            </a:solidFill>
            <a:prstDash val="solid"/>
          </a:ln>
          <a:effectLst>
            <a:outerShdw blurRad="63500" dist="25400" dir="8100000" algn="bl" rotWithShape="0">
              <a:srgbClr val="000000">
                <a:alpha val="8000"/>
              </a:srgbClr>
            </a:outerShdw>
          </a:effectLst>
        </p:spPr>
        <p:txBody>
          <a:bodyPr/>
          <a:lstStyle/>
          <a:p>
            <a:endParaRPr lang="en-US"/>
          </a:p>
        </p:txBody>
      </p:sp>
      <p:sp>
        <p:nvSpPr>
          <p:cNvPr id="47" name="Shape 45"/>
          <p:cNvSpPr/>
          <p:nvPr/>
        </p:nvSpPr>
        <p:spPr>
          <a:xfrm>
            <a:off x="2569464" y="3657600"/>
            <a:ext cx="45720" cy="987552"/>
          </a:xfrm>
          <a:prstGeom prst="rect">
            <a:avLst/>
          </a:prstGeom>
          <a:solidFill>
            <a:srgbClr val="028090"/>
          </a:solidFill>
          <a:ln w="12700">
            <a:solidFill>
              <a:srgbClr val="028090"/>
            </a:solidFill>
            <a:prstDash val="solid"/>
          </a:ln>
        </p:spPr>
        <p:txBody>
          <a:bodyPr/>
          <a:lstStyle/>
          <a:p>
            <a:endParaRPr lang="en-US"/>
          </a:p>
        </p:txBody>
      </p:sp>
      <p:sp>
        <p:nvSpPr>
          <p:cNvPr id="48" name="Text 46"/>
          <p:cNvSpPr/>
          <p:nvPr/>
        </p:nvSpPr>
        <p:spPr>
          <a:xfrm>
            <a:off x="2679192" y="3694176"/>
            <a:ext cx="1828800" cy="256032"/>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Balance &amp; Transactions</a:t>
            </a:r>
            <a:endParaRPr lang="en-US" sz="900" dirty="0"/>
          </a:p>
        </p:txBody>
      </p:sp>
      <p:sp>
        <p:nvSpPr>
          <p:cNvPr id="49" name="Text 47"/>
          <p:cNvSpPr/>
          <p:nvPr/>
        </p:nvSpPr>
        <p:spPr>
          <a:xfrm>
            <a:off x="2679192" y="3968496"/>
            <a:ext cx="1828800" cy="621792"/>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Real-time balance checks and full transaction history.</a:t>
            </a:r>
            <a:endParaRPr lang="en-US" sz="850" dirty="0"/>
          </a:p>
        </p:txBody>
      </p:sp>
      <p:sp>
        <p:nvSpPr>
          <p:cNvPr id="50" name="Shape 48"/>
          <p:cNvSpPr/>
          <p:nvPr/>
        </p:nvSpPr>
        <p:spPr>
          <a:xfrm>
            <a:off x="4727448" y="3657600"/>
            <a:ext cx="2011680" cy="987552"/>
          </a:xfrm>
          <a:prstGeom prst="rect">
            <a:avLst/>
          </a:prstGeom>
          <a:solidFill>
            <a:srgbClr val="FFFFFF"/>
          </a:solidFill>
          <a:ln w="9525">
            <a:solidFill>
              <a:srgbClr val="C8EAE8"/>
            </a:solidFill>
            <a:prstDash val="solid"/>
          </a:ln>
          <a:effectLst>
            <a:outerShdw blurRad="63500" dist="25400" dir="8100000" algn="bl" rotWithShape="0">
              <a:srgbClr val="000000">
                <a:alpha val="8000"/>
              </a:srgbClr>
            </a:outerShdw>
          </a:effectLst>
        </p:spPr>
        <p:txBody>
          <a:bodyPr/>
          <a:lstStyle/>
          <a:p>
            <a:endParaRPr lang="en-US"/>
          </a:p>
        </p:txBody>
      </p:sp>
      <p:sp>
        <p:nvSpPr>
          <p:cNvPr id="51" name="Shape 49"/>
          <p:cNvSpPr/>
          <p:nvPr/>
        </p:nvSpPr>
        <p:spPr>
          <a:xfrm>
            <a:off x="4727448" y="3657600"/>
            <a:ext cx="45720" cy="987552"/>
          </a:xfrm>
          <a:prstGeom prst="rect">
            <a:avLst/>
          </a:prstGeom>
          <a:solidFill>
            <a:srgbClr val="028090"/>
          </a:solidFill>
          <a:ln w="12700">
            <a:solidFill>
              <a:srgbClr val="028090"/>
            </a:solidFill>
            <a:prstDash val="solid"/>
          </a:ln>
        </p:spPr>
        <p:txBody>
          <a:bodyPr/>
          <a:lstStyle/>
          <a:p>
            <a:endParaRPr lang="en-US"/>
          </a:p>
        </p:txBody>
      </p:sp>
      <p:sp>
        <p:nvSpPr>
          <p:cNvPr id="52" name="Text 50"/>
          <p:cNvSpPr/>
          <p:nvPr/>
        </p:nvSpPr>
        <p:spPr>
          <a:xfrm>
            <a:off x="4837176" y="3694176"/>
            <a:ext cx="1828800" cy="256032"/>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Identity Verification</a:t>
            </a:r>
            <a:endParaRPr lang="en-US" sz="900" dirty="0"/>
          </a:p>
        </p:txBody>
      </p:sp>
      <p:sp>
        <p:nvSpPr>
          <p:cNvPr id="53" name="Text 51"/>
          <p:cNvSpPr/>
          <p:nvPr/>
        </p:nvSpPr>
        <p:spPr>
          <a:xfrm>
            <a:off x="4837176" y="3968496"/>
            <a:ext cx="1828800" cy="621792"/>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Confirm account ownership for KYC/AML workflows.</a:t>
            </a:r>
            <a:endParaRPr lang="en-US" sz="850" dirty="0"/>
          </a:p>
        </p:txBody>
      </p:sp>
      <p:sp>
        <p:nvSpPr>
          <p:cNvPr id="54" name="Shape 52"/>
          <p:cNvSpPr/>
          <p:nvPr/>
        </p:nvSpPr>
        <p:spPr>
          <a:xfrm>
            <a:off x="6885432" y="3657600"/>
            <a:ext cx="2011680" cy="987552"/>
          </a:xfrm>
          <a:prstGeom prst="rect">
            <a:avLst/>
          </a:prstGeom>
          <a:solidFill>
            <a:srgbClr val="FFFFFF"/>
          </a:solidFill>
          <a:ln w="9525">
            <a:solidFill>
              <a:srgbClr val="C8EAE8"/>
            </a:solidFill>
            <a:prstDash val="solid"/>
          </a:ln>
          <a:effectLst>
            <a:outerShdw blurRad="63500" dist="25400" dir="8100000" algn="bl" rotWithShape="0">
              <a:srgbClr val="000000">
                <a:alpha val="8000"/>
              </a:srgbClr>
            </a:outerShdw>
          </a:effectLst>
        </p:spPr>
        <p:txBody>
          <a:bodyPr/>
          <a:lstStyle/>
          <a:p>
            <a:endParaRPr lang="en-US"/>
          </a:p>
        </p:txBody>
      </p:sp>
      <p:sp>
        <p:nvSpPr>
          <p:cNvPr id="55" name="Shape 53"/>
          <p:cNvSpPr/>
          <p:nvPr/>
        </p:nvSpPr>
        <p:spPr>
          <a:xfrm>
            <a:off x="6885432" y="3657600"/>
            <a:ext cx="45720" cy="987552"/>
          </a:xfrm>
          <a:prstGeom prst="rect">
            <a:avLst/>
          </a:prstGeom>
          <a:solidFill>
            <a:srgbClr val="028090"/>
          </a:solidFill>
          <a:ln w="12700">
            <a:solidFill>
              <a:srgbClr val="028090"/>
            </a:solidFill>
            <a:prstDash val="solid"/>
          </a:ln>
        </p:spPr>
        <p:txBody>
          <a:bodyPr/>
          <a:lstStyle/>
          <a:p>
            <a:endParaRPr lang="en-US"/>
          </a:p>
        </p:txBody>
      </p:sp>
      <p:sp>
        <p:nvSpPr>
          <p:cNvPr id="56" name="Text 54"/>
          <p:cNvSpPr/>
          <p:nvPr/>
        </p:nvSpPr>
        <p:spPr>
          <a:xfrm>
            <a:off x="6995160" y="3694176"/>
            <a:ext cx="1828800" cy="256032"/>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Processor Token</a:t>
            </a:r>
            <a:endParaRPr lang="en-US" sz="900" dirty="0"/>
          </a:p>
        </p:txBody>
      </p:sp>
      <p:sp>
        <p:nvSpPr>
          <p:cNvPr id="57" name="Text 55"/>
          <p:cNvSpPr/>
          <p:nvPr/>
        </p:nvSpPr>
        <p:spPr>
          <a:xfrm>
            <a:off x="6995160" y="3968496"/>
            <a:ext cx="1828800" cy="621792"/>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Payment tokens for downstream processors (Stripe, Dwolla).</a:t>
            </a:r>
            <a:endParaRPr lang="en-US" sz="850" dirty="0"/>
          </a:p>
        </p:txBody>
      </p:sp>
      <p:sp>
        <p:nvSpPr>
          <p:cNvPr id="58" name="Shape 56"/>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59" name="Text 57"/>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60" name="Text 58"/>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roject Status">
    <p:bg>
      <p:bgPr>
        <a:solidFill>
          <a:srgbClr val="F4F8F9"/>
        </a:solidFill>
        <a:effectLst/>
      </p:bgPr>
    </p:bg>
    <p:spTree>
      <p:nvGrpSpPr>
        <p:cNvPr id="1" name=""/>
        <p:cNvGrpSpPr/>
        <p:nvPr/>
      </p:nvGrpSpPr>
      <p:grpSpPr>
        <a:xfrm>
          <a:off x="0" y="0"/>
          <a:ext cx="0" cy="0"/>
          <a:chOff x="0" y="0"/>
          <a:chExt cx="0" cy="0"/>
        </a:xfrm>
      </p:grpSpPr>
      <p:sp>
        <p:nvSpPr>
          <p:cNvPr id="2" name="HeaderBar"/>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TealBar"/>
          <p:cNvSpPr/>
          <p:nvPr/>
        </p:nvSpPr>
        <p:spPr>
          <a:xfrm>
            <a:off x="0" y="749808"/>
            <a:ext cx="9144000" cy="54864"/>
          </a:xfrm>
          <a:prstGeom prst="rect">
            <a:avLst/>
          </a:prstGeom>
          <a:solidFill>
            <a:srgbClr val="028090"/>
          </a:solidFill>
          <a:ln w="12700">
            <a:solidFill>
              <a:srgbClr val="028090"/>
            </a:solidFill>
          </a:ln>
        </p:spPr>
        <p:txBody>
          <a:bodyPr/>
          <a:lstStyle/>
          <a:p>
            <a:endParaRPr lang="en-US"/>
          </a:p>
        </p:txBody>
      </p:sp>
      <p:sp>
        <p:nvSpPr>
          <p:cNvPr id="4" name="Title"/>
          <p:cNvSpPr/>
          <p:nvPr/>
        </p:nvSpPr>
        <p:spPr>
          <a:xfrm>
            <a:off x="365760" y="0"/>
            <a:ext cx="6400000" cy="749808"/>
          </a:xfrm>
          <a:prstGeom prst="rect">
            <a:avLst/>
          </a:prstGeom>
          <a:noFill/>
          <a:ln/>
        </p:spPr>
        <p:txBody>
          <a:bodyPr wrap="square" rtlCol="0" anchor="ctr"/>
          <a:lstStyle/>
          <a:p>
            <a:pPr marL="0" indent="0">
              <a:buNone/>
            </a:pPr>
            <a:r>
              <a:rPr lang="en-US" sz="2200" b="1" dirty="0">
                <a:solidFill>
                  <a:srgbClr val="FFFFFF"/>
                </a:solidFill>
                <a:latin typeface="Calibri"/>
              </a:rPr>
              <a:t>Project Status &amp; Approval Pathway</a:t>
            </a:r>
          </a:p>
        </p:txBody>
      </p:sp>
      <p:sp>
        <p:nvSpPr>
          <p:cNvPr id="5" name="Badge"/>
          <p:cNvSpPr/>
          <p:nvPr/>
        </p:nvSpPr>
        <p:spPr>
          <a:xfrm>
            <a:off x="7772400" y="155520"/>
            <a:ext cx="1188720" cy="365760"/>
          </a:xfrm>
          <a:prstGeom prst="roundRect">
            <a:avLst>
              <a:gd name="adj" fmla="val 20000"/>
            </a:avLst>
          </a:prstGeom>
          <a:solidFill>
            <a:srgbClr val="E8A020"/>
          </a:solidFill>
          <a:ln>
            <a:noFill/>
          </a:ln>
        </p:spPr>
        <p:txBody>
          <a:bodyPr wrap="square" rtlCol="0" anchor="ctr"/>
          <a:lstStyle/>
          <a:p>
            <a:pPr algn="ctr">
              <a:buNone/>
            </a:pPr>
            <a:r>
              <a:rPr lang="en-US" sz="1000" b="1" dirty="0">
                <a:solidFill>
                  <a:srgbClr val="FFFFFF"/>
                </a:solidFill>
                <a:latin typeface="Calibri"/>
              </a:rPr>
              <a:t>PENDING APPROVAL</a:t>
            </a:r>
          </a:p>
        </p:txBody>
      </p:sp>
      <p:sp>
        <p:nvSpPr>
          <p:cNvPr id="6" name="Col1Hdr"/>
          <p:cNvSpPr/>
          <p:nvPr/>
        </p:nvSpPr>
        <p:spPr>
          <a:xfrm>
            <a:off x="274638" y="890280"/>
            <a:ext cx="2629440" cy="365760"/>
          </a:xfrm>
          <a:prstGeom prst="rect">
            <a:avLst/>
          </a:prstGeom>
          <a:solidFill>
            <a:srgbClr val="0A1628"/>
          </a:solidFill>
          <a:ln>
            <a:noFill/>
          </a:ln>
        </p:spPr>
        <p:txBody>
          <a:bodyPr wrap="square" lIns="91440" rIns="91440" rtlCol="0" anchor="ctr"/>
          <a:lstStyle/>
          <a:p>
            <a:pPr algn="ctr">
              <a:buNone/>
            </a:pPr>
            <a:r>
              <a:rPr lang="en-US" sz="1300" b="1" dirty="0">
                <a:solidFill>
                  <a:srgbClr val="FFFFFF"/>
                </a:solidFill>
                <a:latin typeface="Calibri"/>
              </a:rPr>
              <a:t>WHERE WE ARE</a:t>
            </a:r>
          </a:p>
        </p:txBody>
      </p:sp>
      <p:sp>
        <p:nvSpPr>
          <p:cNvPr id="7" name="Col1Body"/>
          <p:cNvSpPr/>
          <p:nvPr/>
        </p:nvSpPr>
        <p:spPr>
          <a:xfrm>
            <a:off x="274638" y="1270440"/>
            <a:ext cx="2629440" cy="4480200"/>
          </a:xfrm>
          <a:prstGeom prst="rect">
            <a:avLst/>
          </a:prstGeom>
          <a:solidFill>
            <a:srgbClr val="FFFFFF"/>
          </a:solidFill>
          <a:ln w="19050">
            <a:solidFill>
              <a:srgbClr val="028090"/>
            </a:solidFill>
          </a:ln>
        </p:spPr>
        <p:txBody>
          <a:bodyPr wrap="square" lIns="137160" tIns="137160" rIns="137160" bIns="91440" rtlCol="0" anchor="t"/>
          <a:lstStyle/>
          <a:p>
            <a:pPr marL="0" indent="0">
              <a:buNone/>
            </a:pPr>
            <a:r>
              <a:rPr lang="en-US" sz="1200" b="1" dirty="0">
                <a:solidFill>
                  <a:srgbClr val="028090"/>
                </a:solidFill>
                <a:latin typeface="Calibri"/>
              </a:rPr>
              <a:t>Architecture &amp; Design Complete</a:t>
            </a:r>
          </a:p>
          <a:p>
            <a:pPr marL="0" indent="0">
              <a:lnSpc>
                <a:spcPts val="1400"/>
              </a:lnSpc>
              <a:buNone/>
            </a:pPr>
            <a:r>
              <a:rPr lang="en-US" sz="1100" dirty="0">
                <a:solidFill>
                  <a:srgbClr val="333333"/>
                </a:solidFill>
                <a:latin typeface="Calibri"/>
              </a:rPr>
              <a:t>End-to-end integration design is complete: OAuth 2.0 token exchange, FDX/OFX inbound schema, outbound Plaid hub, STRIDE threat modeling, and NYDFS security controls are all documented.</a:t>
            </a:r>
          </a:p>
          <a:p>
            <a:pPr marL="0" indent="0">
              <a:buNone/>
            </a:pPr>
            <a:r>
              <a:rPr lang="en-US" sz="1200" b="1" dirty="0">
                <a:solidFill>
                  <a:srgbClr val="028090"/>
                </a:solidFill>
                <a:latin typeface="Calibri"/>
              </a:rPr>
              <a:t>ARB Review In Progress</a:t>
            </a:r>
          </a:p>
          <a:p>
            <a:pPr marL="0" indent="0">
              <a:lnSpc>
                <a:spcPts val="1400"/>
              </a:lnSpc>
              <a:buNone/>
            </a:pPr>
            <a:r>
              <a:rPr lang="en-US" sz="1100" dirty="0">
                <a:solidFill>
                  <a:srgbClr val="333333"/>
                </a:solidFill>
                <a:latin typeface="Calibri"/>
              </a:rPr>
              <a:t>This deck is the formal ARB submission. Security controls, STRIDE threat model, and infrastructure Q&amp;A are presented for Board sign-off.</a:t>
            </a:r>
          </a:p>
          <a:p>
            <a:pPr marL="0" indent="0">
              <a:buNone/>
            </a:pPr>
            <a:r>
              <a:rPr lang="en-US" sz="1200" b="1" dirty="0">
                <a:solidFill>
                  <a:srgbClr val="028090"/>
                </a:solidFill>
                <a:latin typeface="Calibri"/>
              </a:rPr>
              <a:t>Legal Review Initiated</a:t>
            </a:r>
          </a:p>
          <a:p>
            <a:pPr marL="0" indent="0">
              <a:lnSpc>
                <a:spcPts val="1400"/>
              </a:lnSpc>
              <a:buNone/>
            </a:pPr>
            <a:r>
              <a:rPr lang="en-US" sz="1100" dirty="0">
                <a:solidFill>
                  <a:srgbClr val="333333"/>
                </a:solidFill>
                <a:latin typeface="Calibri"/>
              </a:rPr>
              <a:t>BBH Legal has completed initial review of Plaid Data Partner Terms and FDX API License. Material gaps identified — escalation required before contract execution.</a:t>
            </a:r>
          </a:p>
        </p:txBody>
      </p:sp>
      <p:sp>
        <p:nvSpPr>
          <p:cNvPr id="8" name="Col2Hdr"/>
          <p:cNvSpPr/>
          <p:nvPr/>
        </p:nvSpPr>
        <p:spPr>
          <a:xfrm>
            <a:off x="3086580" y="890280"/>
            <a:ext cx="2629440" cy="365760"/>
          </a:xfrm>
          <a:prstGeom prst="rect">
            <a:avLst/>
          </a:prstGeom>
          <a:solidFill>
            <a:srgbClr val="6D2E46"/>
          </a:solidFill>
          <a:ln>
            <a:noFill/>
          </a:ln>
        </p:spPr>
        <p:txBody>
          <a:bodyPr wrap="square" lIns="91440" rIns="91440" rtlCol="0" anchor="ctr"/>
          <a:lstStyle/>
          <a:p>
            <a:pPr algn="ctr">
              <a:buNone/>
            </a:pPr>
            <a:r>
              <a:rPr lang="en-US" sz="1300" b="1" dirty="0">
                <a:solidFill>
                  <a:srgbClr val="FFFFFF"/>
                </a:solidFill>
                <a:latin typeface="Calibri"/>
              </a:rPr>
              <a:t>KEY CHALLENGES</a:t>
            </a:r>
          </a:p>
        </p:txBody>
      </p:sp>
      <p:sp>
        <p:nvSpPr>
          <p:cNvPr id="9" name="Col2Body"/>
          <p:cNvSpPr/>
          <p:nvPr/>
        </p:nvSpPr>
        <p:spPr>
          <a:xfrm>
            <a:off x="3086580" y="1270440"/>
            <a:ext cx="2629440" cy="4480200"/>
          </a:xfrm>
          <a:prstGeom prst="rect">
            <a:avLst/>
          </a:prstGeom>
          <a:solidFill>
            <a:srgbClr val="FFFFFF"/>
          </a:solidFill>
          <a:ln w="19050">
            <a:solidFill>
              <a:srgbClr val="6D2E46"/>
            </a:solidFill>
          </a:ln>
        </p:spPr>
        <p:txBody>
          <a:bodyPr wrap="square" lIns="137160" tIns="137160" rIns="137160" bIns="91440" rtlCol="0" anchor="t"/>
          <a:lstStyle/>
          <a:p>
            <a:pPr marL="0" indent="0">
              <a:buNone/>
            </a:pPr>
            <a:r>
              <a:rPr lang="en-US" sz="1200" b="1" dirty="0">
                <a:solidFill>
                  <a:srgbClr val="6D2E46"/>
                </a:solidFill>
                <a:latin typeface="Calibri"/>
              </a:rPr>
              <a:t>Plaid Contract Gaps</a:t>
            </a:r>
          </a:p>
          <a:p>
            <a:pPr marL="0" indent="0">
              <a:lnSpc>
                <a:spcPts val="1400"/>
              </a:lnSpc>
              <a:buNone/>
            </a:pPr>
            <a:r>
              <a:rPr lang="en-US" sz="1100" dirty="0">
                <a:solidFill>
                  <a:srgbClr val="333333"/>
                </a:solidFill>
                <a:latin typeface="Calibri"/>
              </a:rPr>
              <a:t>Plaid disclaims all liability while exposing BBH to unlimited damages. No warranty, asymmetric indemnity, unilateral right to modify terms or disconnect BBH without notice.</a:t>
            </a:r>
          </a:p>
          <a:p>
            <a:pPr marL="0" indent="0">
              <a:buNone/>
            </a:pPr>
            <a:r>
              <a:rPr lang="en-US" sz="1200" b="1" dirty="0">
                <a:solidFill>
                  <a:srgbClr val="6D2E46"/>
                </a:solidFill>
                <a:latin typeface="Calibri"/>
              </a:rPr>
              <a:t>FDX License Issues</a:t>
            </a:r>
          </a:p>
          <a:p>
            <a:pPr marL="0" indent="0">
              <a:lnSpc>
                <a:spcPts val="1400"/>
              </a:lnSpc>
              <a:buNone/>
            </a:pPr>
            <a:r>
              <a:rPr lang="en-US" sz="1100" dirty="0">
                <a:solidFill>
                  <a:srgbClr val="333333"/>
                </a:solidFill>
                <a:latin typeface="Calibri"/>
              </a:rPr>
              <a:t>FDX requires BBH to indemnify FDX directly — broader than market. Immediate termination without cure rights. Asymmetric jury trial waiver favoring FDX.</a:t>
            </a:r>
          </a:p>
          <a:p>
            <a:pPr marL="0" indent="0">
              <a:buNone/>
            </a:pPr>
            <a:r>
              <a:rPr lang="en-US" sz="1200" b="1" dirty="0">
                <a:solidFill>
                  <a:srgbClr val="6D2E46"/>
                </a:solidFill>
                <a:latin typeface="Calibri"/>
              </a:rPr>
              <a:t>Data Security Gaps</a:t>
            </a:r>
          </a:p>
          <a:p>
            <a:pPr marL="0" indent="0">
              <a:lnSpc>
                <a:spcPts val="1400"/>
              </a:lnSpc>
              <a:buNone/>
            </a:pPr>
            <a:r>
              <a:rPr lang="en-US" sz="1100" dirty="0">
                <a:solidFill>
                  <a:srgbClr val="333333"/>
                </a:solidFill>
                <a:latin typeface="Calibri"/>
              </a:rPr>
              <a:t>Plaid’s confidentiality obligations do not meet BBH’s NYDFS / CCPA / GDPR standards. Client data residency and processing terms are unaddressed in Plaid’s current agreement.</a:t>
            </a:r>
          </a:p>
          <a:p>
            <a:pPr marL="0" indent="0">
              <a:buNone/>
            </a:pPr>
            <a:r>
              <a:rPr lang="en-US" sz="1200" b="1" dirty="0">
                <a:solidFill>
                  <a:srgbClr val="6D2E46"/>
                </a:solidFill>
                <a:latin typeface="Calibri"/>
              </a:rPr>
              <a:t>Competing Priorities</a:t>
            </a:r>
          </a:p>
          <a:p>
            <a:pPr marL="0" indent="0">
              <a:lnSpc>
                <a:spcPts val="1400"/>
              </a:lnSpc>
              <a:buNone/>
            </a:pPr>
            <a:r>
              <a:rPr lang="en-US" sz="1100" dirty="0">
                <a:solidFill>
                  <a:srgbClr val="333333"/>
                </a:solidFill>
                <a:latin typeface="Calibri"/>
              </a:rPr>
              <a:t>SWP migration and other enterprise initiatives are absorbing Legal, Risk, and Architecture bandwidth, requiring careful timeline coordination.</a:t>
            </a:r>
          </a:p>
        </p:txBody>
      </p:sp>
      <p:sp>
        <p:nvSpPr>
          <p:cNvPr id="10" name="Col3Hdr"/>
          <p:cNvSpPr/>
          <p:nvPr/>
        </p:nvSpPr>
        <p:spPr>
          <a:xfrm>
            <a:off x="5898522" y="890280"/>
            <a:ext cx="2629440" cy="365760"/>
          </a:xfrm>
          <a:prstGeom prst="rect">
            <a:avLst/>
          </a:prstGeom>
          <a:solidFill>
            <a:srgbClr val="065A82"/>
          </a:solidFill>
          <a:ln>
            <a:noFill/>
          </a:ln>
        </p:spPr>
        <p:txBody>
          <a:bodyPr wrap="square" lIns="91440" rIns="91440" rtlCol="0" anchor="ctr"/>
          <a:lstStyle/>
          <a:p>
            <a:pPr algn="ctr">
              <a:buNone/>
            </a:pPr>
            <a:r>
              <a:rPr lang="en-US" sz="1300" b="1" dirty="0">
                <a:solidFill>
                  <a:srgbClr val="FFFFFF"/>
                </a:solidFill>
                <a:latin typeface="Calibri"/>
              </a:rPr>
              <a:t>NEXT STEPS</a:t>
            </a:r>
          </a:p>
        </p:txBody>
      </p:sp>
      <p:sp>
        <p:nvSpPr>
          <p:cNvPr id="11" name="Col3Body"/>
          <p:cNvSpPr/>
          <p:nvPr/>
        </p:nvSpPr>
        <p:spPr>
          <a:xfrm>
            <a:off x="5898522" y="1270440"/>
            <a:ext cx="2629440" cy="4480200"/>
          </a:xfrm>
          <a:prstGeom prst="rect">
            <a:avLst/>
          </a:prstGeom>
          <a:solidFill>
            <a:srgbClr val="FFFFFF"/>
          </a:solidFill>
          <a:ln w="19050">
            <a:solidFill>
              <a:srgbClr val="065A82"/>
            </a:solidFill>
          </a:ln>
        </p:spPr>
        <p:txBody>
          <a:bodyPr wrap="square" lIns="137160" tIns="137160" rIns="137160" bIns="91440" rtlCol="0" anchor="t"/>
          <a:lstStyle/>
          <a:p>
            <a:pPr marL="0" indent="0">
              <a:buNone/>
            </a:pPr>
            <a:r>
              <a:rPr lang="en-US" sz="1200" b="1" dirty="0">
                <a:solidFill>
                  <a:srgbClr val="065A82"/>
                </a:solidFill>
                <a:latin typeface="Calibri"/>
              </a:rPr>
              <a:t>1 — ARB Approval Decision</a:t>
            </a:r>
          </a:p>
          <a:p>
            <a:pPr marL="0" indent="0">
              <a:lnSpc>
                <a:spcPts val="1400"/>
              </a:lnSpc>
              <a:buNone/>
            </a:pPr>
            <a:r>
              <a:rPr lang="en-US" sz="1100" dirty="0">
                <a:solidFill>
                  <a:srgbClr val="333333"/>
                </a:solidFill>
                <a:latin typeface="Calibri"/>
              </a:rPr>
              <a:t>ARB to render approval decision on architecture and security design. Conditional approval with legal carve-out is acceptable to unblock technical workstreams.</a:t>
            </a:r>
          </a:p>
          <a:p>
            <a:pPr marL="0" indent="0">
              <a:buNone/>
            </a:pPr>
            <a:r>
              <a:rPr lang="en-US" sz="1200" b="1" dirty="0">
                <a:solidFill>
                  <a:srgbClr val="065A82"/>
                </a:solidFill>
                <a:latin typeface="Calibri"/>
              </a:rPr>
              <a:t>2 — Legal Escalation</a:t>
            </a:r>
          </a:p>
          <a:p>
            <a:pPr marL="0" indent="0">
              <a:lnSpc>
                <a:spcPts val="1400"/>
              </a:lnSpc>
              <a:buNone/>
            </a:pPr>
            <a:r>
              <a:rPr lang="en-US" sz="1100" dirty="0">
                <a:solidFill>
                  <a:srgbClr val="333333"/>
                </a:solidFill>
                <a:latin typeface="Calibri"/>
              </a:rPr>
              <a:t>Escalate to General Counsel, Head of Risk, LOB Executive Committee Partner, and CISO. Liability caps, indemnity, venue, and data security terms all require senior sign-off.</a:t>
            </a:r>
          </a:p>
          <a:p>
            <a:pPr marL="0" indent="0">
              <a:buNone/>
            </a:pPr>
            <a:r>
              <a:rPr lang="en-US" sz="1200" b="1" dirty="0">
                <a:solidFill>
                  <a:srgbClr val="065A82"/>
                </a:solidFill>
                <a:latin typeface="Calibri"/>
              </a:rPr>
              <a:t>3 — Plaid / FDX Negotiation</a:t>
            </a:r>
          </a:p>
          <a:p>
            <a:pPr marL="0" indent="0">
              <a:lnSpc>
                <a:spcPts val="1400"/>
              </a:lnSpc>
              <a:buNone/>
            </a:pPr>
            <a:r>
              <a:rPr lang="en-US" sz="1100" dirty="0">
                <a:solidFill>
                  <a:srgbClr val="333333"/>
                </a:solidFill>
                <a:latin typeface="Calibri"/>
              </a:rPr>
              <a:t>Negotiate supplemental terms with Plaid: mutual liability caps, consequential damage waivers, NYDFS/CCPA data processing terms, and mandatory arbitration. Resolve FDX indemnity scope.</a:t>
            </a:r>
          </a:p>
          <a:p>
            <a:pPr marL="0" indent="0">
              <a:buNone/>
            </a:pPr>
            <a:r>
              <a:rPr lang="en-US" sz="1200" b="1" dirty="0">
                <a:solidFill>
                  <a:srgbClr val="065A82"/>
                </a:solidFill>
                <a:latin typeface="Calibri"/>
              </a:rPr>
              <a:t>4 — Pilot Scope &amp; LOB Alignment</a:t>
            </a:r>
          </a:p>
          <a:p>
            <a:pPr marL="0" indent="0">
              <a:lnSpc>
                <a:spcPts val="1400"/>
              </a:lnSpc>
              <a:buNone/>
            </a:pPr>
            <a:r>
              <a:rPr lang="en-US" sz="1100" dirty="0">
                <a:solidFill>
                  <a:srgbClr val="333333"/>
                </a:solidFill>
                <a:latin typeface="Calibri"/>
              </a:rPr>
              <a:t>Define pilot client population with Private Bank. Determine whether Plaid access should be restricted to PB clients only vs. general availability to limit data exposure.</a:t>
            </a:r>
          </a:p>
        </p:txBody>
      </p:sp>
      <p:sp>
        <p:nvSpPr>
          <p:cNvPr id="12" name="Footer"/>
          <p:cNvSpPr/>
          <p:nvPr/>
        </p:nvSpPr>
        <p:spPr>
          <a:xfrm>
            <a:off x="0" y="6101040"/>
            <a:ext cx="9144000" cy="286560"/>
          </a:xfrm>
          <a:prstGeom prst="rect">
            <a:avLst/>
          </a:prstGeom>
          <a:solidFill>
            <a:srgbClr val="0A1628"/>
          </a:solidFill>
          <a:ln>
            <a:noFill/>
          </a:ln>
        </p:spPr>
        <p:txBody>
          <a:bodyPr wrap="square" rtlCol="0" anchor="ctr"/>
          <a:lstStyle/>
          <a:p>
            <a:pPr algn="ctr">
              <a:buNone/>
            </a:pPr>
            <a:r>
              <a:rPr lang="en-US" sz="900" dirty="0">
                <a:solidFill>
                  <a:srgbClr val="AAAAAA"/>
                </a:solidFill>
                <a:latin typeface="Calibri"/>
              </a:rPr>
              <a:t>BBH x Plaid | Architecture Review Board | Confidential &amp; Proprietary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0"/>
            <a:ext cx="7315200" cy="74980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Security Architecture — Key Controls</a:t>
            </a:r>
            <a:endParaRPr lang="en-US" sz="2200" dirty="0"/>
          </a:p>
        </p:txBody>
      </p:sp>
      <p:sp>
        <p:nvSpPr>
          <p:cNvPr id="5" name="Shape 3"/>
          <p:cNvSpPr/>
          <p:nvPr/>
        </p:nvSpPr>
        <p:spPr>
          <a:xfrm>
            <a:off x="7516368" y="146304"/>
            <a:ext cx="1389888" cy="457200"/>
          </a:xfrm>
          <a:prstGeom prst="rect">
            <a:avLst/>
          </a:prstGeom>
          <a:solidFill>
            <a:srgbClr val="8B1A1A"/>
          </a:solidFill>
          <a:ln w="12700">
            <a:solidFill>
              <a:srgbClr val="8B1A1A"/>
            </a:solidFill>
            <a:prstDash val="solid"/>
          </a:ln>
        </p:spPr>
        <p:txBody>
          <a:bodyPr/>
          <a:lstStyle/>
          <a:p>
            <a:endParaRPr lang="en-US"/>
          </a:p>
        </p:txBody>
      </p:sp>
      <p:sp>
        <p:nvSpPr>
          <p:cNvPr id="6" name="Text 4"/>
          <p:cNvSpPr/>
          <p:nvPr/>
        </p:nvSpPr>
        <p:spPr>
          <a:xfrm>
            <a:off x="7516368" y="146304"/>
            <a:ext cx="1389888" cy="457200"/>
          </a:xfrm>
          <a:prstGeom prst="rect">
            <a:avLst/>
          </a:prstGeom>
          <a:noFill/>
          <a:ln/>
        </p:spPr>
        <p:txBody>
          <a:bodyPr wrap="square" lIns="0" tIns="0" rIns="0" bIns="0" rtlCol="0" anchor="ctr"/>
          <a:lstStyle/>
          <a:p>
            <a:pPr marL="0" indent="0" algn="ctr">
              <a:buNone/>
            </a:pPr>
            <a:r>
              <a:rPr lang="en-US" sz="850" b="1" kern="0" spc="50" dirty="0">
                <a:solidFill>
                  <a:srgbClr val="FFFFFF"/>
                </a:solidFill>
              </a:rPr>
              <a:t>SECURITY</a:t>
            </a:r>
            <a:endParaRPr lang="en-US" sz="850" dirty="0"/>
          </a:p>
        </p:txBody>
      </p:sp>
      <p:sp>
        <p:nvSpPr>
          <p:cNvPr id="7" name="Shape 5"/>
          <p:cNvSpPr/>
          <p:nvPr/>
        </p:nvSpPr>
        <p:spPr>
          <a:xfrm>
            <a:off x="274320" y="896112"/>
            <a:ext cx="8595360" cy="256032"/>
          </a:xfrm>
          <a:prstGeom prst="rect">
            <a:avLst/>
          </a:prstGeom>
          <a:solidFill>
            <a:srgbClr val="FDF3F3"/>
          </a:solidFill>
          <a:ln w="6350">
            <a:solidFill>
              <a:srgbClr val="F5C6C6"/>
            </a:solidFill>
            <a:prstDash val="solid"/>
          </a:ln>
        </p:spPr>
        <p:txBody>
          <a:bodyPr/>
          <a:lstStyle/>
          <a:p>
            <a:endParaRPr lang="en-US"/>
          </a:p>
        </p:txBody>
      </p:sp>
      <p:sp>
        <p:nvSpPr>
          <p:cNvPr id="8" name="Text 6"/>
          <p:cNvSpPr/>
          <p:nvPr/>
        </p:nvSpPr>
        <p:spPr>
          <a:xfrm>
            <a:off x="384048" y="896112"/>
            <a:ext cx="8375904" cy="256032"/>
          </a:xfrm>
          <a:prstGeom prst="rect">
            <a:avLst/>
          </a:prstGeom>
          <a:noFill/>
          <a:ln/>
        </p:spPr>
        <p:txBody>
          <a:bodyPr wrap="square" rtlCol="0" anchor="ctr"/>
          <a:lstStyle/>
          <a:p>
            <a:pPr marL="0" indent="0">
              <a:buNone/>
            </a:pPr>
            <a:r>
              <a:rPr lang="en-US" sz="850" dirty="0">
                <a:solidFill>
                  <a:srgbClr val="7B3333"/>
                </a:solidFill>
                <a:latin typeface="Calibri" pitchFamily="34" charset="0"/>
                <a:ea typeface="Calibri" pitchFamily="34" charset="-122"/>
                <a:cs typeface="Calibri" pitchFamily="34" charset="-120"/>
              </a:rPr>
              <a:t>All security controls below are validated against BBH CISO policy, NYDFS 500.12, and FDX open banking standards. Controls are layered — no single control is a single point of failure.</a:t>
            </a:r>
            <a:endParaRPr lang="en-US" sz="850" dirty="0"/>
          </a:p>
        </p:txBody>
      </p:sp>
      <p:sp>
        <p:nvSpPr>
          <p:cNvPr id="9" name="Shape 7"/>
          <p:cNvSpPr/>
          <p:nvPr/>
        </p:nvSpPr>
        <p:spPr>
          <a:xfrm>
            <a:off x="274320" y="1243584"/>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274320" y="1243584"/>
            <a:ext cx="64008" cy="786384"/>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420624" y="1289304"/>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Zero Credential Storage</a:t>
            </a:r>
            <a:endParaRPr lang="en-US" sz="1000" dirty="0"/>
          </a:p>
        </p:txBody>
      </p:sp>
      <p:sp>
        <p:nvSpPr>
          <p:cNvPr id="12" name="Text 10"/>
          <p:cNvSpPr/>
          <p:nvPr/>
        </p:nvSpPr>
        <p:spPr>
          <a:xfrm>
            <a:off x="420624" y="1517904"/>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Fintech apps and Plaid never store or transmit BBH login credentials. Authentication is delegated entirely to BBH PingFederate via OAuth 2.0. No username or password transits any third-party system at any point in the flow.</a:t>
            </a:r>
            <a:endParaRPr lang="en-US" sz="850" dirty="0"/>
          </a:p>
        </p:txBody>
      </p:sp>
      <p:sp>
        <p:nvSpPr>
          <p:cNvPr id="13" name="Shape 11"/>
          <p:cNvSpPr/>
          <p:nvPr/>
        </p:nvSpPr>
        <p:spPr>
          <a:xfrm>
            <a:off x="4663440" y="1243584"/>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12"/>
          <p:cNvSpPr/>
          <p:nvPr/>
        </p:nvSpPr>
        <p:spPr>
          <a:xfrm>
            <a:off x="4663440" y="1243584"/>
            <a:ext cx="64008" cy="786384"/>
          </a:xfrm>
          <a:prstGeom prst="rect">
            <a:avLst/>
          </a:prstGeom>
          <a:solidFill>
            <a:srgbClr val="00A896"/>
          </a:solidFill>
          <a:ln w="12700">
            <a:solidFill>
              <a:srgbClr val="00A896"/>
            </a:solidFill>
            <a:prstDash val="solid"/>
          </a:ln>
        </p:spPr>
        <p:txBody>
          <a:bodyPr/>
          <a:lstStyle/>
          <a:p>
            <a:endParaRPr lang="en-US"/>
          </a:p>
        </p:txBody>
      </p:sp>
      <p:sp>
        <p:nvSpPr>
          <p:cNvPr id="15" name="Text 13"/>
          <p:cNvSpPr/>
          <p:nvPr/>
        </p:nvSpPr>
        <p:spPr>
          <a:xfrm>
            <a:off x="4809744" y="1289304"/>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Tokenized Access — Scoped</a:t>
            </a:r>
            <a:endParaRPr lang="en-US" sz="1000" dirty="0"/>
          </a:p>
        </p:txBody>
      </p:sp>
      <p:sp>
        <p:nvSpPr>
          <p:cNvPr id="16" name="Text 14"/>
          <p:cNvSpPr/>
          <p:nvPr/>
        </p:nvSpPr>
        <p:spPr>
          <a:xfrm>
            <a:off x="4809744" y="1517904"/>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Only short-lived, scoped access tokens are returned to fintech apps. Tokens are restricted to specific Plaid products (e.g., Read-only: Balance). Compromised tokens cannot access admin functions or perform write operations.</a:t>
            </a:r>
            <a:endParaRPr lang="en-US" sz="850" dirty="0"/>
          </a:p>
        </p:txBody>
      </p:sp>
      <p:sp>
        <p:nvSpPr>
          <p:cNvPr id="17" name="Shape 15"/>
          <p:cNvSpPr/>
          <p:nvPr/>
        </p:nvSpPr>
        <p:spPr>
          <a:xfrm>
            <a:off x="274320" y="2139696"/>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6"/>
          <p:cNvSpPr/>
          <p:nvPr/>
        </p:nvSpPr>
        <p:spPr>
          <a:xfrm>
            <a:off x="274320" y="2139696"/>
            <a:ext cx="64008" cy="786384"/>
          </a:xfrm>
          <a:prstGeom prst="rect">
            <a:avLst/>
          </a:prstGeom>
          <a:solidFill>
            <a:srgbClr val="1A5276"/>
          </a:solidFill>
          <a:ln w="12700">
            <a:solidFill>
              <a:srgbClr val="1A5276"/>
            </a:solidFill>
            <a:prstDash val="solid"/>
          </a:ln>
        </p:spPr>
        <p:txBody>
          <a:bodyPr/>
          <a:lstStyle/>
          <a:p>
            <a:endParaRPr lang="en-US"/>
          </a:p>
        </p:txBody>
      </p:sp>
      <p:sp>
        <p:nvSpPr>
          <p:cNvPr id="19" name="Text 17"/>
          <p:cNvSpPr/>
          <p:nvPr/>
        </p:nvSpPr>
        <p:spPr>
          <a:xfrm>
            <a:off x="420624" y="2185416"/>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OAuth 2.0 + FDX Standard</a:t>
            </a:r>
            <a:endParaRPr lang="en-US" sz="1000" dirty="0"/>
          </a:p>
        </p:txBody>
      </p:sp>
      <p:sp>
        <p:nvSpPr>
          <p:cNvPr id="20" name="Text 18"/>
          <p:cNvSpPr/>
          <p:nvPr/>
        </p:nvSpPr>
        <p:spPr>
          <a:xfrm>
            <a:off x="420624" y="2414016"/>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BBH PingFederate enforces OAuth 2.0 authorization flows, fully aligned with FDX open banking interoperability standards and NYDFS 500.12 requirements. Risk-based step-up authentication layered post-token exchange.</a:t>
            </a:r>
            <a:endParaRPr lang="en-US" sz="850" dirty="0"/>
          </a:p>
        </p:txBody>
      </p:sp>
      <p:sp>
        <p:nvSpPr>
          <p:cNvPr id="21" name="Shape 19"/>
          <p:cNvSpPr/>
          <p:nvPr/>
        </p:nvSpPr>
        <p:spPr>
          <a:xfrm>
            <a:off x="4663440" y="2139696"/>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2" name="Shape 20"/>
          <p:cNvSpPr/>
          <p:nvPr/>
        </p:nvSpPr>
        <p:spPr>
          <a:xfrm>
            <a:off x="4663440" y="2139696"/>
            <a:ext cx="64008" cy="786384"/>
          </a:xfrm>
          <a:prstGeom prst="rect">
            <a:avLst/>
          </a:prstGeom>
          <a:solidFill>
            <a:srgbClr val="1E8449"/>
          </a:solidFill>
          <a:ln w="12700">
            <a:solidFill>
              <a:srgbClr val="1E8449"/>
            </a:solidFill>
            <a:prstDash val="solid"/>
          </a:ln>
        </p:spPr>
        <p:txBody>
          <a:bodyPr/>
          <a:lstStyle/>
          <a:p>
            <a:endParaRPr lang="en-US"/>
          </a:p>
        </p:txBody>
      </p:sp>
      <p:sp>
        <p:nvSpPr>
          <p:cNvPr id="23" name="Text 21"/>
          <p:cNvSpPr/>
          <p:nvPr/>
        </p:nvSpPr>
        <p:spPr>
          <a:xfrm>
            <a:off x="4809744" y="2185416"/>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Multi-Factor Authentication</a:t>
            </a:r>
            <a:endParaRPr lang="en-US" sz="1000" dirty="0"/>
          </a:p>
        </p:txBody>
      </p:sp>
      <p:sp>
        <p:nvSpPr>
          <p:cNvPr id="24" name="Text 22"/>
          <p:cNvSpPr/>
          <p:nvPr/>
        </p:nvSpPr>
        <p:spPr>
          <a:xfrm>
            <a:off x="4809744" y="2414016"/>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BBH PingFederate manages MFA for all authentication flows. Plaid surfaces and propagates bank-level MFA challenges (SMS, TOTP, security questions) without bypassing them. NYDFS 500.12 AAL2 compliant.</a:t>
            </a:r>
            <a:endParaRPr lang="en-US" sz="850" dirty="0"/>
          </a:p>
        </p:txBody>
      </p:sp>
      <p:sp>
        <p:nvSpPr>
          <p:cNvPr id="25" name="Shape 23"/>
          <p:cNvSpPr/>
          <p:nvPr/>
        </p:nvSpPr>
        <p:spPr>
          <a:xfrm>
            <a:off x="274320" y="3035808"/>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274320" y="3035808"/>
            <a:ext cx="64008" cy="786384"/>
          </a:xfrm>
          <a:prstGeom prst="rect">
            <a:avLst/>
          </a:prstGeom>
          <a:solidFill>
            <a:srgbClr val="7D3C98"/>
          </a:solidFill>
          <a:ln w="12700">
            <a:solidFill>
              <a:srgbClr val="7D3C98"/>
            </a:solidFill>
            <a:prstDash val="solid"/>
          </a:ln>
        </p:spPr>
        <p:txBody>
          <a:bodyPr/>
          <a:lstStyle/>
          <a:p>
            <a:endParaRPr lang="en-US"/>
          </a:p>
        </p:txBody>
      </p:sp>
      <p:sp>
        <p:nvSpPr>
          <p:cNvPr id="27" name="Text 25"/>
          <p:cNvSpPr/>
          <p:nvPr/>
        </p:nvSpPr>
        <p:spPr>
          <a:xfrm>
            <a:off x="420624" y="3081528"/>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Centralized Token Revocation</a:t>
            </a:r>
            <a:endParaRPr lang="en-US" sz="1000" dirty="0"/>
          </a:p>
        </p:txBody>
      </p:sp>
      <p:sp>
        <p:nvSpPr>
          <p:cNvPr id="28" name="Text 26"/>
          <p:cNvSpPr/>
          <p:nvPr/>
        </p:nvSpPr>
        <p:spPr>
          <a:xfrm>
            <a:off x="420624" y="3310128"/>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BBH can revoke any Plaid access token instantly, terminating all fintech access within seconds. Users can self-revoke through BBH. Token revocation events are logged and SIEM-ingestible in near real-time.</a:t>
            </a:r>
            <a:endParaRPr lang="en-US" sz="850" dirty="0"/>
          </a:p>
        </p:txBody>
      </p:sp>
      <p:sp>
        <p:nvSpPr>
          <p:cNvPr id="29" name="Shape 27"/>
          <p:cNvSpPr/>
          <p:nvPr/>
        </p:nvSpPr>
        <p:spPr>
          <a:xfrm>
            <a:off x="4663440" y="3035808"/>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0" name="Shape 28"/>
          <p:cNvSpPr/>
          <p:nvPr/>
        </p:nvSpPr>
        <p:spPr>
          <a:xfrm>
            <a:off x="4663440" y="3035808"/>
            <a:ext cx="64008" cy="786384"/>
          </a:xfrm>
          <a:prstGeom prst="rect">
            <a:avLst/>
          </a:prstGeom>
          <a:solidFill>
            <a:srgbClr val="BA4A00"/>
          </a:solidFill>
          <a:ln w="12700">
            <a:solidFill>
              <a:srgbClr val="BA4A00"/>
            </a:solidFill>
            <a:prstDash val="solid"/>
          </a:ln>
        </p:spPr>
        <p:txBody>
          <a:bodyPr/>
          <a:lstStyle/>
          <a:p>
            <a:endParaRPr lang="en-US"/>
          </a:p>
        </p:txBody>
      </p:sp>
      <p:sp>
        <p:nvSpPr>
          <p:cNvPr id="31" name="Text 29"/>
          <p:cNvSpPr/>
          <p:nvPr/>
        </p:nvSpPr>
        <p:spPr>
          <a:xfrm>
            <a:off x="4809744" y="3081528"/>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Audit Trail &amp; SIEM Ingestion</a:t>
            </a:r>
            <a:endParaRPr lang="en-US" sz="1000" dirty="0"/>
          </a:p>
        </p:txBody>
      </p:sp>
      <p:sp>
        <p:nvSpPr>
          <p:cNvPr id="32" name="Text 30"/>
          <p:cNvSpPr/>
          <p:nvPr/>
        </p:nvSpPr>
        <p:spPr>
          <a:xfrm>
            <a:off x="4809744" y="3310128"/>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Plaid webhooks deliver full token lifecycle events (creation, MFA completion, refresh, revocation) for ingestion into BBH SIEM. Provides continuous monitoring, alerting on anomalies, and a complete regulatory audit trail.</a:t>
            </a:r>
            <a:endParaRPr lang="en-US" sz="850" dirty="0"/>
          </a:p>
        </p:txBody>
      </p:sp>
      <p:sp>
        <p:nvSpPr>
          <p:cNvPr id="33" name="Shape 31"/>
          <p:cNvSpPr/>
          <p:nvPr/>
        </p:nvSpPr>
        <p:spPr>
          <a:xfrm>
            <a:off x="274320" y="3931920"/>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4" name="Shape 32"/>
          <p:cNvSpPr/>
          <p:nvPr/>
        </p:nvSpPr>
        <p:spPr>
          <a:xfrm>
            <a:off x="274320" y="3931920"/>
            <a:ext cx="64008" cy="786384"/>
          </a:xfrm>
          <a:prstGeom prst="rect">
            <a:avLst/>
          </a:prstGeom>
          <a:solidFill>
            <a:srgbClr val="C0392B"/>
          </a:solidFill>
          <a:ln w="12700">
            <a:solidFill>
              <a:srgbClr val="C0392B"/>
            </a:solidFill>
            <a:prstDash val="solid"/>
          </a:ln>
        </p:spPr>
        <p:txBody>
          <a:bodyPr/>
          <a:lstStyle/>
          <a:p>
            <a:endParaRPr lang="en-US"/>
          </a:p>
        </p:txBody>
      </p:sp>
      <p:sp>
        <p:nvSpPr>
          <p:cNvPr id="35" name="Text 33"/>
          <p:cNvSpPr/>
          <p:nvPr/>
        </p:nvSpPr>
        <p:spPr>
          <a:xfrm>
            <a:off x="420624" y="3977640"/>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Phishing Mitigation</a:t>
            </a:r>
            <a:endParaRPr lang="en-US" sz="1000" dirty="0"/>
          </a:p>
        </p:txBody>
      </p:sp>
      <p:sp>
        <p:nvSpPr>
          <p:cNvPr id="36" name="Text 34"/>
          <p:cNvSpPr/>
          <p:nvPr/>
        </p:nvSpPr>
        <p:spPr>
          <a:xfrm>
            <a:off x="420624" y="4206240"/>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OAuth redirect sends users to their bank's official domain — users never enter credentials into a Plaid-hosted screen. Certificate pinning and redirect_uri allow-listing prevent domain spoofing. BBH proxy URL allow-listing as compensating control.</a:t>
            </a:r>
            <a:endParaRPr lang="en-US" sz="850" dirty="0"/>
          </a:p>
        </p:txBody>
      </p:sp>
      <p:sp>
        <p:nvSpPr>
          <p:cNvPr id="37" name="Shape 35"/>
          <p:cNvSpPr/>
          <p:nvPr/>
        </p:nvSpPr>
        <p:spPr>
          <a:xfrm>
            <a:off x="4663440" y="3931920"/>
            <a:ext cx="4206240" cy="786384"/>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8" name="Shape 36"/>
          <p:cNvSpPr/>
          <p:nvPr/>
        </p:nvSpPr>
        <p:spPr>
          <a:xfrm>
            <a:off x="4663440" y="3931920"/>
            <a:ext cx="64008" cy="786384"/>
          </a:xfrm>
          <a:prstGeom prst="rect">
            <a:avLst/>
          </a:prstGeom>
          <a:solidFill>
            <a:srgbClr val="3D5260"/>
          </a:solidFill>
          <a:ln w="12700">
            <a:solidFill>
              <a:srgbClr val="3D5260"/>
            </a:solidFill>
            <a:prstDash val="solid"/>
          </a:ln>
        </p:spPr>
        <p:txBody>
          <a:bodyPr/>
          <a:lstStyle/>
          <a:p>
            <a:endParaRPr lang="en-US"/>
          </a:p>
        </p:txBody>
      </p:sp>
      <p:sp>
        <p:nvSpPr>
          <p:cNvPr id="39" name="Text 37"/>
          <p:cNvSpPr/>
          <p:nvPr/>
        </p:nvSpPr>
        <p:spPr>
          <a:xfrm>
            <a:off x="4809744" y="3977640"/>
            <a:ext cx="3977640" cy="219456"/>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No Cross-Tenant Exposure</a:t>
            </a:r>
            <a:endParaRPr lang="en-US" sz="1000" dirty="0"/>
          </a:p>
        </p:txBody>
      </p:sp>
      <p:sp>
        <p:nvSpPr>
          <p:cNvPr id="40" name="Text 38"/>
          <p:cNvSpPr/>
          <p:nvPr/>
        </p:nvSpPr>
        <p:spPr>
          <a:xfrm>
            <a:off x="4809744" y="4206240"/>
            <a:ext cx="3977640" cy="457200"/>
          </a:xfrm>
          <a:prstGeom prst="rect">
            <a:avLst/>
          </a:prstGeom>
          <a:noFill/>
          <a:ln/>
        </p:spPr>
        <p:txBody>
          <a:bodyPr wrap="square" rtlCol="0" anchor="ctr"/>
          <a:lstStyle/>
          <a:p>
            <a:pPr marL="0" indent="0">
              <a:buNone/>
            </a:pPr>
            <a:r>
              <a:rPr lang="en-US" sz="850" dirty="0">
                <a:solidFill>
                  <a:srgbClr val="3D5260"/>
                </a:solidFill>
                <a:latin typeface="Calibri" pitchFamily="34" charset="0"/>
                <a:ea typeface="Calibri" pitchFamily="34" charset="-122"/>
                <a:cs typeface="Calibri" pitchFamily="34" charset="-120"/>
              </a:rPr>
              <a:t>Plaid's architecture provides strict tenant isolation. BBH receives only events scoped to its own Plaid application. No cross-customer data is accessible via BBH API credentials under any circumstance.</a:t>
            </a:r>
            <a:endParaRPr lang="en-US" sz="850" dirty="0"/>
          </a:p>
        </p:txBody>
      </p:sp>
      <p:sp>
        <p:nvSpPr>
          <p:cNvPr id="41" name="Shape 39"/>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42" name="Text 40"/>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43" name="Text 41"/>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C0392B"/>
          </a:solidFill>
          <a:ln w="12700">
            <a:solidFill>
              <a:srgbClr val="C0392B"/>
            </a:solidFill>
            <a:prstDash val="solid"/>
          </a:ln>
        </p:spPr>
        <p:txBody>
          <a:bodyPr/>
          <a:lstStyle/>
          <a:p>
            <a:endParaRPr lang="en-US"/>
          </a:p>
        </p:txBody>
      </p:sp>
      <p:sp>
        <p:nvSpPr>
          <p:cNvPr id="4" name="Text 2"/>
          <p:cNvSpPr/>
          <p:nvPr/>
        </p:nvSpPr>
        <p:spPr>
          <a:xfrm>
            <a:off x="365760" y="0"/>
            <a:ext cx="7315200" cy="74980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STRIDE Threat Model — Cyber Risk Assessment</a:t>
            </a:r>
            <a:endParaRPr lang="en-US" sz="2200" dirty="0"/>
          </a:p>
        </p:txBody>
      </p:sp>
      <p:sp>
        <p:nvSpPr>
          <p:cNvPr id="5" name="Shape 3"/>
          <p:cNvSpPr/>
          <p:nvPr/>
        </p:nvSpPr>
        <p:spPr>
          <a:xfrm>
            <a:off x="7516368" y="146304"/>
            <a:ext cx="1389888" cy="457200"/>
          </a:xfrm>
          <a:prstGeom prst="rect">
            <a:avLst/>
          </a:prstGeom>
          <a:solidFill>
            <a:srgbClr val="8B1A1A"/>
          </a:solidFill>
          <a:ln w="12700">
            <a:solidFill>
              <a:srgbClr val="8B1A1A"/>
            </a:solidFill>
            <a:prstDash val="solid"/>
          </a:ln>
        </p:spPr>
        <p:txBody>
          <a:bodyPr/>
          <a:lstStyle/>
          <a:p>
            <a:endParaRPr lang="en-US"/>
          </a:p>
        </p:txBody>
      </p:sp>
      <p:sp>
        <p:nvSpPr>
          <p:cNvPr id="6" name="Text 4"/>
          <p:cNvSpPr/>
          <p:nvPr/>
        </p:nvSpPr>
        <p:spPr>
          <a:xfrm>
            <a:off x="7516368" y="146304"/>
            <a:ext cx="1389888" cy="457200"/>
          </a:xfrm>
          <a:prstGeom prst="rect">
            <a:avLst/>
          </a:prstGeom>
          <a:noFill/>
          <a:ln/>
        </p:spPr>
        <p:txBody>
          <a:bodyPr wrap="square" lIns="0" tIns="0" rIns="0" bIns="0" rtlCol="0" anchor="ctr"/>
          <a:lstStyle/>
          <a:p>
            <a:pPr marL="0" indent="0" algn="ctr">
              <a:buNone/>
            </a:pPr>
            <a:r>
              <a:rPr lang="en-US" sz="850" b="1" kern="0" spc="50" dirty="0">
                <a:solidFill>
                  <a:srgbClr val="FFFFFF"/>
                </a:solidFill>
              </a:rPr>
              <a:t>CYBER RISK</a:t>
            </a:r>
            <a:endParaRPr lang="en-US" sz="850" dirty="0"/>
          </a:p>
        </p:txBody>
      </p:sp>
      <p:sp>
        <p:nvSpPr>
          <p:cNvPr id="7" name="Shape 5"/>
          <p:cNvSpPr/>
          <p:nvPr/>
        </p:nvSpPr>
        <p:spPr>
          <a:xfrm>
            <a:off x="274320" y="896112"/>
            <a:ext cx="8595360" cy="237744"/>
          </a:xfrm>
          <a:prstGeom prst="rect">
            <a:avLst/>
          </a:prstGeom>
          <a:solidFill>
            <a:srgbClr val="FDF3F3"/>
          </a:solidFill>
          <a:ln w="6350">
            <a:solidFill>
              <a:srgbClr val="F5C6C6"/>
            </a:solidFill>
            <a:prstDash val="solid"/>
          </a:ln>
        </p:spPr>
        <p:txBody>
          <a:bodyPr/>
          <a:lstStyle/>
          <a:p>
            <a:endParaRPr lang="en-US"/>
          </a:p>
        </p:txBody>
      </p:sp>
      <p:sp>
        <p:nvSpPr>
          <p:cNvPr id="8" name="Text 6"/>
          <p:cNvSpPr/>
          <p:nvPr/>
        </p:nvSpPr>
        <p:spPr>
          <a:xfrm>
            <a:off x="384048" y="896112"/>
            <a:ext cx="8375904" cy="237744"/>
          </a:xfrm>
          <a:prstGeom prst="rect">
            <a:avLst/>
          </a:prstGeom>
          <a:noFill/>
          <a:ln/>
        </p:spPr>
        <p:txBody>
          <a:bodyPr wrap="square" rtlCol="0" anchor="ctr"/>
          <a:lstStyle/>
          <a:p>
            <a:pPr marL="0" indent="0">
              <a:buNone/>
            </a:pPr>
            <a:r>
              <a:rPr lang="en-US" sz="850" dirty="0">
                <a:solidFill>
                  <a:srgbClr val="7B3333"/>
                </a:solidFill>
                <a:latin typeface="Calibri" pitchFamily="34" charset="0"/>
                <a:ea typeface="Calibri" pitchFamily="34" charset="-122"/>
                <a:cs typeface="Calibri" pitchFamily="34" charset="-120"/>
              </a:rPr>
              <a:t>Threat modelling conducted against the Plaid OAuth integration layer using the STRIDE framework, assessed against BBH's conservative institutional risk posture.</a:t>
            </a:r>
            <a:endParaRPr lang="en-US" sz="850" dirty="0"/>
          </a:p>
        </p:txBody>
      </p:sp>
      <p:sp>
        <p:nvSpPr>
          <p:cNvPr id="9" name="Shape 7"/>
          <p:cNvSpPr/>
          <p:nvPr/>
        </p:nvSpPr>
        <p:spPr>
          <a:xfrm>
            <a:off x="274320" y="1207008"/>
            <a:ext cx="4315968"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274320" y="1207008"/>
            <a:ext cx="64008" cy="1115568"/>
          </a:xfrm>
          <a:prstGeom prst="rect">
            <a:avLst/>
          </a:prstGeom>
          <a:solidFill>
            <a:srgbClr val="C0392B"/>
          </a:solidFill>
          <a:ln w="12700">
            <a:solidFill>
              <a:srgbClr val="C0392B"/>
            </a:solidFill>
            <a:prstDash val="solid"/>
          </a:ln>
        </p:spPr>
        <p:txBody>
          <a:bodyPr/>
          <a:lstStyle/>
          <a:p>
            <a:endParaRPr lang="en-US"/>
          </a:p>
        </p:txBody>
      </p:sp>
      <p:sp>
        <p:nvSpPr>
          <p:cNvPr id="11" name="Shape 9"/>
          <p:cNvSpPr/>
          <p:nvPr/>
        </p:nvSpPr>
        <p:spPr>
          <a:xfrm>
            <a:off x="384048" y="1271016"/>
            <a:ext cx="310896" cy="310896"/>
          </a:xfrm>
          <a:prstGeom prst="rect">
            <a:avLst/>
          </a:prstGeom>
          <a:solidFill>
            <a:srgbClr val="C0392B"/>
          </a:solidFill>
          <a:ln w="12700">
            <a:solidFill>
              <a:srgbClr val="C0392B"/>
            </a:solidFill>
            <a:prstDash val="solid"/>
          </a:ln>
        </p:spPr>
        <p:txBody>
          <a:bodyPr/>
          <a:lstStyle/>
          <a:p>
            <a:endParaRPr lang="en-US"/>
          </a:p>
        </p:txBody>
      </p:sp>
      <p:sp>
        <p:nvSpPr>
          <p:cNvPr id="12" name="Text 10"/>
          <p:cNvSpPr/>
          <p:nvPr/>
        </p:nvSpPr>
        <p:spPr>
          <a:xfrm>
            <a:off x="384048" y="127101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rPr>
              <a:t>S</a:t>
            </a:r>
            <a:endParaRPr lang="en-US" sz="1300" dirty="0"/>
          </a:p>
        </p:txBody>
      </p:sp>
      <p:sp>
        <p:nvSpPr>
          <p:cNvPr id="13" name="Text 11"/>
          <p:cNvSpPr/>
          <p:nvPr/>
        </p:nvSpPr>
        <p:spPr>
          <a:xfrm>
            <a:off x="768096" y="1289304"/>
            <a:ext cx="2560320" cy="201168"/>
          </a:xfrm>
          <a:prstGeom prst="rect">
            <a:avLst/>
          </a:prstGeom>
          <a:noFill/>
          <a:ln/>
        </p:spPr>
        <p:txBody>
          <a:bodyPr wrap="square" rtlCol="0" anchor="ctr"/>
          <a:lstStyle/>
          <a:p>
            <a:pPr marL="0" indent="0">
              <a:buNone/>
            </a:pPr>
            <a:r>
              <a:rPr lang="en-US" sz="950" b="1" kern="0" spc="50" dirty="0">
                <a:solidFill>
                  <a:srgbClr val="C0392B"/>
                </a:solidFill>
                <a:latin typeface="Calibri" pitchFamily="34" charset="0"/>
                <a:ea typeface="Calibri" pitchFamily="34" charset="-122"/>
                <a:cs typeface="Calibri" pitchFamily="34" charset="-120"/>
              </a:rPr>
              <a:t>SPOOFING</a:t>
            </a:r>
            <a:endParaRPr lang="en-US" sz="950" dirty="0"/>
          </a:p>
        </p:txBody>
      </p:sp>
      <p:sp>
        <p:nvSpPr>
          <p:cNvPr id="14" name="Shape 12"/>
          <p:cNvSpPr/>
          <p:nvPr/>
        </p:nvSpPr>
        <p:spPr>
          <a:xfrm>
            <a:off x="3803904" y="1289304"/>
            <a:ext cx="713232" cy="201168"/>
          </a:xfrm>
          <a:prstGeom prst="rect">
            <a:avLst/>
          </a:prstGeom>
          <a:solidFill>
            <a:srgbClr val="BA4A00"/>
          </a:solidFill>
          <a:ln w="12700">
            <a:solidFill>
              <a:srgbClr val="BA4A00"/>
            </a:solidFill>
            <a:prstDash val="solid"/>
          </a:ln>
        </p:spPr>
        <p:txBody>
          <a:bodyPr/>
          <a:lstStyle/>
          <a:p>
            <a:endParaRPr lang="en-US"/>
          </a:p>
        </p:txBody>
      </p:sp>
      <p:sp>
        <p:nvSpPr>
          <p:cNvPr id="15" name="Text 13"/>
          <p:cNvSpPr/>
          <p:nvPr/>
        </p:nvSpPr>
        <p:spPr>
          <a:xfrm>
            <a:off x="3803904" y="1289304"/>
            <a:ext cx="713232" cy="201168"/>
          </a:xfrm>
          <a:prstGeom prst="rect">
            <a:avLst/>
          </a:prstGeom>
          <a:noFill/>
          <a:ln/>
        </p:spPr>
        <p:txBody>
          <a:bodyPr wrap="square" lIns="0" tIns="0" rIns="0" bIns="0" rtlCol="0" anchor="ctr"/>
          <a:lstStyle/>
          <a:p>
            <a:pPr marL="0" indent="0" algn="ctr">
              <a:buNone/>
            </a:pPr>
            <a:r>
              <a:rPr lang="en-US" sz="750" b="1" dirty="0">
                <a:solidFill>
                  <a:srgbClr val="FFFFFF"/>
                </a:solidFill>
              </a:rPr>
              <a:t>MEDIUM</a:t>
            </a:r>
            <a:endParaRPr lang="en-US" sz="750" dirty="0"/>
          </a:p>
        </p:txBody>
      </p:sp>
      <p:sp>
        <p:nvSpPr>
          <p:cNvPr id="16" name="Text 14"/>
          <p:cNvSpPr/>
          <p:nvPr/>
        </p:nvSpPr>
        <p:spPr>
          <a:xfrm>
            <a:off x="384048" y="1591056"/>
            <a:ext cx="658368" cy="182880"/>
          </a:xfrm>
          <a:prstGeom prst="rect">
            <a:avLst/>
          </a:prstGeom>
          <a:noFill/>
          <a:ln/>
        </p:spPr>
        <p:txBody>
          <a:bodyPr wrap="square" rtlCol="0" anchor="ctr"/>
          <a:lstStyle/>
          <a:p>
            <a:pPr marL="0" indent="0">
              <a:buNone/>
            </a:pPr>
            <a:r>
              <a:rPr lang="en-US" sz="750" b="1" dirty="0">
                <a:solidFill>
                  <a:srgbClr val="7B3333"/>
                </a:solidFill>
              </a:rPr>
              <a:t>⚠ Threat:</a:t>
            </a:r>
            <a:endParaRPr lang="en-US" sz="750" dirty="0"/>
          </a:p>
        </p:txBody>
      </p:sp>
      <p:sp>
        <p:nvSpPr>
          <p:cNvPr id="17" name="Text 15"/>
          <p:cNvSpPr/>
          <p:nvPr/>
        </p:nvSpPr>
        <p:spPr>
          <a:xfrm>
            <a:off x="1024128" y="1591056"/>
            <a:ext cx="349300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Adversaries host fake Plaid Link portals using BBH branding to capture client credentials (reverse-proxy / OAuth phishing).</a:t>
            </a:r>
            <a:endParaRPr lang="en-US" sz="750" dirty="0"/>
          </a:p>
        </p:txBody>
      </p:sp>
      <p:sp>
        <p:nvSpPr>
          <p:cNvPr id="18" name="Text 16"/>
          <p:cNvSpPr/>
          <p:nvPr/>
        </p:nvSpPr>
        <p:spPr>
          <a:xfrm>
            <a:off x="384048" y="1792224"/>
            <a:ext cx="594360" cy="182880"/>
          </a:xfrm>
          <a:prstGeom prst="rect">
            <a:avLst/>
          </a:prstGeom>
          <a:noFill/>
          <a:ln/>
        </p:spPr>
        <p:txBody>
          <a:bodyPr wrap="square" rtlCol="0" anchor="ctr"/>
          <a:lstStyle/>
          <a:p>
            <a:pPr marL="0" indent="0">
              <a:buNone/>
            </a:pPr>
            <a:r>
              <a:rPr lang="en-US" sz="750" b="1" dirty="0">
                <a:solidFill>
                  <a:srgbClr val="028090"/>
                </a:solidFill>
              </a:rPr>
              <a:t>✔ Plaid:</a:t>
            </a:r>
            <a:endParaRPr lang="en-US" sz="750" dirty="0"/>
          </a:p>
        </p:txBody>
      </p:sp>
      <p:sp>
        <p:nvSpPr>
          <p:cNvPr id="19" name="Text 17"/>
          <p:cNvSpPr/>
          <p:nvPr/>
        </p:nvSpPr>
        <p:spPr>
          <a:xfrm>
            <a:off x="960120" y="1792224"/>
            <a:ext cx="3557016"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OAuth redirect goes to the bank's own verified domain. HTTPS + certificate pinning + redirect_uri whitelisting block all rogue portal attempts.</a:t>
            </a:r>
            <a:endParaRPr lang="en-US" sz="750" dirty="0"/>
          </a:p>
        </p:txBody>
      </p:sp>
      <p:sp>
        <p:nvSpPr>
          <p:cNvPr id="20" name="Text 18"/>
          <p:cNvSpPr/>
          <p:nvPr/>
        </p:nvSpPr>
        <p:spPr>
          <a:xfrm>
            <a:off x="384048" y="1993392"/>
            <a:ext cx="566928" cy="182880"/>
          </a:xfrm>
          <a:prstGeom prst="rect">
            <a:avLst/>
          </a:prstGeom>
          <a:noFill/>
          <a:ln/>
        </p:spPr>
        <p:txBody>
          <a:bodyPr wrap="square" rtlCol="0" anchor="ctr"/>
          <a:lstStyle/>
          <a:p>
            <a:pPr marL="0" indent="0">
              <a:buNone/>
            </a:pPr>
            <a:r>
              <a:rPr lang="en-US" sz="750" b="1" dirty="0">
                <a:solidFill>
                  <a:srgbClr val="0A1628"/>
                </a:solidFill>
              </a:rPr>
              <a:t>⬡ BBH:</a:t>
            </a:r>
            <a:endParaRPr lang="en-US" sz="750" dirty="0"/>
          </a:p>
        </p:txBody>
      </p:sp>
      <p:sp>
        <p:nvSpPr>
          <p:cNvPr id="21" name="Text 19"/>
          <p:cNvSpPr/>
          <p:nvPr/>
        </p:nvSpPr>
        <p:spPr>
          <a:xfrm>
            <a:off x="932688" y="1993392"/>
            <a:ext cx="358444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Zscaler proxy URL allow-listing; BBH CISO phishing-awareness training; domain-verified Plaid OAuth app registration enforced.</a:t>
            </a:r>
            <a:endParaRPr lang="en-US" sz="750" dirty="0"/>
          </a:p>
        </p:txBody>
      </p:sp>
      <p:sp>
        <p:nvSpPr>
          <p:cNvPr id="22" name="Shape 20"/>
          <p:cNvSpPr/>
          <p:nvPr/>
        </p:nvSpPr>
        <p:spPr>
          <a:xfrm>
            <a:off x="4736592" y="1207008"/>
            <a:ext cx="4315968"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21"/>
          <p:cNvSpPr/>
          <p:nvPr/>
        </p:nvSpPr>
        <p:spPr>
          <a:xfrm>
            <a:off x="4736592" y="1207008"/>
            <a:ext cx="64008" cy="1115568"/>
          </a:xfrm>
          <a:prstGeom prst="rect">
            <a:avLst/>
          </a:prstGeom>
          <a:solidFill>
            <a:srgbClr val="7D3C98"/>
          </a:solidFill>
          <a:ln w="12700">
            <a:solidFill>
              <a:srgbClr val="7D3C98"/>
            </a:solidFill>
            <a:prstDash val="solid"/>
          </a:ln>
        </p:spPr>
        <p:txBody>
          <a:bodyPr/>
          <a:lstStyle/>
          <a:p>
            <a:endParaRPr lang="en-US"/>
          </a:p>
        </p:txBody>
      </p:sp>
      <p:sp>
        <p:nvSpPr>
          <p:cNvPr id="24" name="Shape 22"/>
          <p:cNvSpPr/>
          <p:nvPr/>
        </p:nvSpPr>
        <p:spPr>
          <a:xfrm>
            <a:off x="4846320" y="1271016"/>
            <a:ext cx="310896" cy="310896"/>
          </a:xfrm>
          <a:prstGeom prst="rect">
            <a:avLst/>
          </a:prstGeom>
          <a:solidFill>
            <a:srgbClr val="7D3C98"/>
          </a:solidFill>
          <a:ln w="12700">
            <a:solidFill>
              <a:srgbClr val="7D3C98"/>
            </a:solidFill>
            <a:prstDash val="solid"/>
          </a:ln>
        </p:spPr>
        <p:txBody>
          <a:bodyPr/>
          <a:lstStyle/>
          <a:p>
            <a:endParaRPr lang="en-US"/>
          </a:p>
        </p:txBody>
      </p:sp>
      <p:sp>
        <p:nvSpPr>
          <p:cNvPr id="25" name="Text 23"/>
          <p:cNvSpPr/>
          <p:nvPr/>
        </p:nvSpPr>
        <p:spPr>
          <a:xfrm>
            <a:off x="4846320" y="127101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rPr>
              <a:t>T</a:t>
            </a:r>
            <a:endParaRPr lang="en-US" sz="1300" dirty="0"/>
          </a:p>
        </p:txBody>
      </p:sp>
      <p:sp>
        <p:nvSpPr>
          <p:cNvPr id="26" name="Text 24"/>
          <p:cNvSpPr/>
          <p:nvPr/>
        </p:nvSpPr>
        <p:spPr>
          <a:xfrm>
            <a:off x="5230368" y="1289304"/>
            <a:ext cx="2560320" cy="201168"/>
          </a:xfrm>
          <a:prstGeom prst="rect">
            <a:avLst/>
          </a:prstGeom>
          <a:noFill/>
          <a:ln/>
        </p:spPr>
        <p:txBody>
          <a:bodyPr wrap="square" rtlCol="0" anchor="ctr"/>
          <a:lstStyle/>
          <a:p>
            <a:pPr marL="0" indent="0">
              <a:buNone/>
            </a:pPr>
            <a:r>
              <a:rPr lang="en-US" sz="950" b="1" kern="0" spc="50" dirty="0">
                <a:solidFill>
                  <a:srgbClr val="7D3C98"/>
                </a:solidFill>
                <a:latin typeface="Calibri" pitchFamily="34" charset="0"/>
                <a:ea typeface="Calibri" pitchFamily="34" charset="-122"/>
                <a:cs typeface="Calibri" pitchFamily="34" charset="-120"/>
              </a:rPr>
              <a:t>TAMPERING</a:t>
            </a:r>
            <a:endParaRPr lang="en-US" sz="950" dirty="0"/>
          </a:p>
        </p:txBody>
      </p:sp>
      <p:sp>
        <p:nvSpPr>
          <p:cNvPr id="27" name="Shape 25"/>
          <p:cNvSpPr/>
          <p:nvPr/>
        </p:nvSpPr>
        <p:spPr>
          <a:xfrm>
            <a:off x="8266176" y="1289304"/>
            <a:ext cx="713232" cy="201168"/>
          </a:xfrm>
          <a:prstGeom prst="rect">
            <a:avLst/>
          </a:prstGeom>
          <a:solidFill>
            <a:srgbClr val="1E8449"/>
          </a:solidFill>
          <a:ln w="12700">
            <a:solidFill>
              <a:srgbClr val="1E8449"/>
            </a:solidFill>
            <a:prstDash val="solid"/>
          </a:ln>
        </p:spPr>
        <p:txBody>
          <a:bodyPr/>
          <a:lstStyle/>
          <a:p>
            <a:endParaRPr lang="en-US"/>
          </a:p>
        </p:txBody>
      </p:sp>
      <p:sp>
        <p:nvSpPr>
          <p:cNvPr id="28" name="Text 26"/>
          <p:cNvSpPr/>
          <p:nvPr/>
        </p:nvSpPr>
        <p:spPr>
          <a:xfrm>
            <a:off x="8266176" y="1289304"/>
            <a:ext cx="713232" cy="201168"/>
          </a:xfrm>
          <a:prstGeom prst="rect">
            <a:avLst/>
          </a:prstGeom>
          <a:noFill/>
          <a:ln/>
        </p:spPr>
        <p:txBody>
          <a:bodyPr wrap="square" lIns="0" tIns="0" rIns="0" bIns="0" rtlCol="0" anchor="ctr"/>
          <a:lstStyle/>
          <a:p>
            <a:pPr marL="0" indent="0" algn="ctr">
              <a:buNone/>
            </a:pPr>
            <a:r>
              <a:rPr lang="en-US" sz="750" b="1" dirty="0">
                <a:solidFill>
                  <a:srgbClr val="FFFFFF"/>
                </a:solidFill>
              </a:rPr>
              <a:t>LOW</a:t>
            </a:r>
            <a:endParaRPr lang="en-US" sz="750" dirty="0"/>
          </a:p>
        </p:txBody>
      </p:sp>
      <p:sp>
        <p:nvSpPr>
          <p:cNvPr id="29" name="Text 27"/>
          <p:cNvSpPr/>
          <p:nvPr/>
        </p:nvSpPr>
        <p:spPr>
          <a:xfrm>
            <a:off x="4846320" y="1591056"/>
            <a:ext cx="658368" cy="182880"/>
          </a:xfrm>
          <a:prstGeom prst="rect">
            <a:avLst/>
          </a:prstGeom>
          <a:noFill/>
          <a:ln/>
        </p:spPr>
        <p:txBody>
          <a:bodyPr wrap="square" rtlCol="0" anchor="ctr"/>
          <a:lstStyle/>
          <a:p>
            <a:pPr marL="0" indent="0">
              <a:buNone/>
            </a:pPr>
            <a:r>
              <a:rPr lang="en-US" sz="750" b="1" dirty="0">
                <a:solidFill>
                  <a:srgbClr val="7B3333"/>
                </a:solidFill>
              </a:rPr>
              <a:t>⚠ Threat:</a:t>
            </a:r>
            <a:endParaRPr lang="en-US" sz="750" dirty="0"/>
          </a:p>
        </p:txBody>
      </p:sp>
      <p:sp>
        <p:nvSpPr>
          <p:cNvPr id="30" name="Text 28"/>
          <p:cNvSpPr/>
          <p:nvPr/>
        </p:nvSpPr>
        <p:spPr>
          <a:xfrm>
            <a:off x="5486400" y="1591056"/>
            <a:ext cx="349300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Man-in-the-middle manipulation of Plaid API payloads (account/balance data) between the Plaid platform and BBH DMZ.</a:t>
            </a:r>
            <a:endParaRPr lang="en-US" sz="750" dirty="0"/>
          </a:p>
        </p:txBody>
      </p:sp>
      <p:sp>
        <p:nvSpPr>
          <p:cNvPr id="31" name="Text 29"/>
          <p:cNvSpPr/>
          <p:nvPr/>
        </p:nvSpPr>
        <p:spPr>
          <a:xfrm>
            <a:off x="4846320" y="1792224"/>
            <a:ext cx="594360" cy="182880"/>
          </a:xfrm>
          <a:prstGeom prst="rect">
            <a:avLst/>
          </a:prstGeom>
          <a:noFill/>
          <a:ln/>
        </p:spPr>
        <p:txBody>
          <a:bodyPr wrap="square" rtlCol="0" anchor="ctr"/>
          <a:lstStyle/>
          <a:p>
            <a:pPr marL="0" indent="0">
              <a:buNone/>
            </a:pPr>
            <a:r>
              <a:rPr lang="en-US" sz="750" b="1" dirty="0">
                <a:solidFill>
                  <a:srgbClr val="028090"/>
                </a:solidFill>
              </a:rPr>
              <a:t>✔ Plaid:</a:t>
            </a:r>
            <a:endParaRPr lang="en-US" sz="750" dirty="0"/>
          </a:p>
        </p:txBody>
      </p:sp>
      <p:sp>
        <p:nvSpPr>
          <p:cNvPr id="32" name="Text 30"/>
          <p:cNvSpPr/>
          <p:nvPr/>
        </p:nvSpPr>
        <p:spPr>
          <a:xfrm>
            <a:off x="5422392" y="1792224"/>
            <a:ext cx="3557016"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TLS 1.2+ enforced end-to-end. Access tokens are signed and short-lived. Payload schema is validated at API Gateway on ingestion.</a:t>
            </a:r>
            <a:endParaRPr lang="en-US" sz="750" dirty="0"/>
          </a:p>
        </p:txBody>
      </p:sp>
      <p:sp>
        <p:nvSpPr>
          <p:cNvPr id="33" name="Text 31"/>
          <p:cNvSpPr/>
          <p:nvPr/>
        </p:nvSpPr>
        <p:spPr>
          <a:xfrm>
            <a:off x="4846320" y="1993392"/>
            <a:ext cx="566928" cy="182880"/>
          </a:xfrm>
          <a:prstGeom prst="rect">
            <a:avLst/>
          </a:prstGeom>
          <a:noFill/>
          <a:ln/>
        </p:spPr>
        <p:txBody>
          <a:bodyPr wrap="square" rtlCol="0" anchor="ctr"/>
          <a:lstStyle/>
          <a:p>
            <a:pPr marL="0" indent="0">
              <a:buNone/>
            </a:pPr>
            <a:r>
              <a:rPr lang="en-US" sz="750" b="1" dirty="0">
                <a:solidFill>
                  <a:srgbClr val="0A1628"/>
                </a:solidFill>
              </a:rPr>
              <a:t>⬡ BBH:</a:t>
            </a:r>
            <a:endParaRPr lang="en-US" sz="750" dirty="0"/>
          </a:p>
        </p:txBody>
      </p:sp>
      <p:sp>
        <p:nvSpPr>
          <p:cNvPr id="34" name="Text 32"/>
          <p:cNvSpPr/>
          <p:nvPr/>
        </p:nvSpPr>
        <p:spPr>
          <a:xfrm>
            <a:off x="5394960" y="1993392"/>
            <a:ext cx="358444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Apigee API Gateway enforces mTLS for all inbound Plaid webhooks. CP Services performs JSON schema validation before fan-out.</a:t>
            </a:r>
            <a:endParaRPr lang="en-US" sz="750" dirty="0"/>
          </a:p>
        </p:txBody>
      </p:sp>
      <p:sp>
        <p:nvSpPr>
          <p:cNvPr id="35" name="Shape 33"/>
          <p:cNvSpPr/>
          <p:nvPr/>
        </p:nvSpPr>
        <p:spPr>
          <a:xfrm>
            <a:off x="274320" y="2441448"/>
            <a:ext cx="4315968"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6" name="Shape 34"/>
          <p:cNvSpPr/>
          <p:nvPr/>
        </p:nvSpPr>
        <p:spPr>
          <a:xfrm>
            <a:off x="274320" y="2441448"/>
            <a:ext cx="64008" cy="1115568"/>
          </a:xfrm>
          <a:prstGeom prst="rect">
            <a:avLst/>
          </a:prstGeom>
          <a:solidFill>
            <a:srgbClr val="1A5276"/>
          </a:solidFill>
          <a:ln w="12700">
            <a:solidFill>
              <a:srgbClr val="1A5276"/>
            </a:solidFill>
            <a:prstDash val="solid"/>
          </a:ln>
        </p:spPr>
        <p:txBody>
          <a:bodyPr/>
          <a:lstStyle/>
          <a:p>
            <a:endParaRPr lang="en-US"/>
          </a:p>
        </p:txBody>
      </p:sp>
      <p:sp>
        <p:nvSpPr>
          <p:cNvPr id="37" name="Shape 35"/>
          <p:cNvSpPr/>
          <p:nvPr/>
        </p:nvSpPr>
        <p:spPr>
          <a:xfrm>
            <a:off x="384048" y="2505456"/>
            <a:ext cx="310896" cy="310896"/>
          </a:xfrm>
          <a:prstGeom prst="rect">
            <a:avLst/>
          </a:prstGeom>
          <a:solidFill>
            <a:srgbClr val="1A5276"/>
          </a:solidFill>
          <a:ln w="12700">
            <a:solidFill>
              <a:srgbClr val="1A5276"/>
            </a:solidFill>
            <a:prstDash val="solid"/>
          </a:ln>
        </p:spPr>
        <p:txBody>
          <a:bodyPr/>
          <a:lstStyle/>
          <a:p>
            <a:endParaRPr lang="en-US"/>
          </a:p>
        </p:txBody>
      </p:sp>
      <p:sp>
        <p:nvSpPr>
          <p:cNvPr id="38" name="Text 36"/>
          <p:cNvSpPr/>
          <p:nvPr/>
        </p:nvSpPr>
        <p:spPr>
          <a:xfrm>
            <a:off x="384048" y="250545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rPr>
              <a:t>R</a:t>
            </a:r>
            <a:endParaRPr lang="en-US" sz="1300" dirty="0"/>
          </a:p>
        </p:txBody>
      </p:sp>
      <p:sp>
        <p:nvSpPr>
          <p:cNvPr id="39" name="Text 37"/>
          <p:cNvSpPr/>
          <p:nvPr/>
        </p:nvSpPr>
        <p:spPr>
          <a:xfrm>
            <a:off x="768096" y="2523744"/>
            <a:ext cx="2560320" cy="201168"/>
          </a:xfrm>
          <a:prstGeom prst="rect">
            <a:avLst/>
          </a:prstGeom>
          <a:noFill/>
          <a:ln/>
        </p:spPr>
        <p:txBody>
          <a:bodyPr wrap="square" rtlCol="0" anchor="ctr"/>
          <a:lstStyle/>
          <a:p>
            <a:pPr marL="0" indent="0">
              <a:buNone/>
            </a:pPr>
            <a:r>
              <a:rPr lang="en-US" sz="950" b="1" kern="0" spc="50" dirty="0">
                <a:solidFill>
                  <a:srgbClr val="1A5276"/>
                </a:solidFill>
                <a:latin typeface="Calibri" pitchFamily="34" charset="0"/>
                <a:ea typeface="Calibri" pitchFamily="34" charset="-122"/>
                <a:cs typeface="Calibri" pitchFamily="34" charset="-120"/>
              </a:rPr>
              <a:t>REPUDIATION</a:t>
            </a:r>
            <a:endParaRPr lang="en-US" sz="950" dirty="0"/>
          </a:p>
        </p:txBody>
      </p:sp>
      <p:sp>
        <p:nvSpPr>
          <p:cNvPr id="40" name="Shape 38"/>
          <p:cNvSpPr/>
          <p:nvPr/>
        </p:nvSpPr>
        <p:spPr>
          <a:xfrm>
            <a:off x="3803904" y="2523744"/>
            <a:ext cx="713232" cy="201168"/>
          </a:xfrm>
          <a:prstGeom prst="rect">
            <a:avLst/>
          </a:prstGeom>
          <a:solidFill>
            <a:srgbClr val="1E8449"/>
          </a:solidFill>
          <a:ln w="12700">
            <a:solidFill>
              <a:srgbClr val="1E8449"/>
            </a:solidFill>
            <a:prstDash val="solid"/>
          </a:ln>
        </p:spPr>
        <p:txBody>
          <a:bodyPr/>
          <a:lstStyle/>
          <a:p>
            <a:endParaRPr lang="en-US"/>
          </a:p>
        </p:txBody>
      </p:sp>
      <p:sp>
        <p:nvSpPr>
          <p:cNvPr id="41" name="Text 39"/>
          <p:cNvSpPr/>
          <p:nvPr/>
        </p:nvSpPr>
        <p:spPr>
          <a:xfrm>
            <a:off x="3803904" y="2523744"/>
            <a:ext cx="713232" cy="201168"/>
          </a:xfrm>
          <a:prstGeom prst="rect">
            <a:avLst/>
          </a:prstGeom>
          <a:noFill/>
          <a:ln/>
        </p:spPr>
        <p:txBody>
          <a:bodyPr wrap="square" lIns="0" tIns="0" rIns="0" bIns="0" rtlCol="0" anchor="ctr"/>
          <a:lstStyle/>
          <a:p>
            <a:pPr marL="0" indent="0" algn="ctr">
              <a:buNone/>
            </a:pPr>
            <a:r>
              <a:rPr lang="en-US" sz="750" b="1" dirty="0">
                <a:solidFill>
                  <a:srgbClr val="FFFFFF"/>
                </a:solidFill>
              </a:rPr>
              <a:t>LOW</a:t>
            </a:r>
            <a:endParaRPr lang="en-US" sz="750" dirty="0"/>
          </a:p>
        </p:txBody>
      </p:sp>
      <p:sp>
        <p:nvSpPr>
          <p:cNvPr id="42" name="Text 40"/>
          <p:cNvSpPr/>
          <p:nvPr/>
        </p:nvSpPr>
        <p:spPr>
          <a:xfrm>
            <a:off x="384048" y="2825496"/>
            <a:ext cx="658368" cy="182880"/>
          </a:xfrm>
          <a:prstGeom prst="rect">
            <a:avLst/>
          </a:prstGeom>
          <a:noFill/>
          <a:ln/>
        </p:spPr>
        <p:txBody>
          <a:bodyPr wrap="square" rtlCol="0" anchor="ctr"/>
          <a:lstStyle/>
          <a:p>
            <a:pPr marL="0" indent="0">
              <a:buNone/>
            </a:pPr>
            <a:r>
              <a:rPr lang="en-US" sz="750" b="1" dirty="0">
                <a:solidFill>
                  <a:srgbClr val="7B3333"/>
                </a:solidFill>
              </a:rPr>
              <a:t>⚠ Threat:</a:t>
            </a:r>
            <a:endParaRPr lang="en-US" sz="750" dirty="0"/>
          </a:p>
        </p:txBody>
      </p:sp>
      <p:sp>
        <p:nvSpPr>
          <p:cNvPr id="43" name="Text 41"/>
          <p:cNvSpPr/>
          <p:nvPr/>
        </p:nvSpPr>
        <p:spPr>
          <a:xfrm>
            <a:off x="1024128" y="2825496"/>
            <a:ext cx="349300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Client or fintech app denies initiating a token creation or data fetch event. Insufficient audit evidence to reconstruct the sequence.</a:t>
            </a:r>
            <a:endParaRPr lang="en-US" sz="750" dirty="0"/>
          </a:p>
        </p:txBody>
      </p:sp>
      <p:sp>
        <p:nvSpPr>
          <p:cNvPr id="44" name="Text 42"/>
          <p:cNvSpPr/>
          <p:nvPr/>
        </p:nvSpPr>
        <p:spPr>
          <a:xfrm>
            <a:off x="384048" y="3026664"/>
            <a:ext cx="594360" cy="182880"/>
          </a:xfrm>
          <a:prstGeom prst="rect">
            <a:avLst/>
          </a:prstGeom>
          <a:noFill/>
          <a:ln/>
        </p:spPr>
        <p:txBody>
          <a:bodyPr wrap="square" rtlCol="0" anchor="ctr"/>
          <a:lstStyle/>
          <a:p>
            <a:pPr marL="0" indent="0">
              <a:buNone/>
            </a:pPr>
            <a:r>
              <a:rPr lang="en-US" sz="750" b="1" dirty="0">
                <a:solidFill>
                  <a:srgbClr val="028090"/>
                </a:solidFill>
              </a:rPr>
              <a:t>✔ Plaid:</a:t>
            </a:r>
            <a:endParaRPr lang="en-US" sz="750" dirty="0"/>
          </a:p>
        </p:txBody>
      </p:sp>
      <p:sp>
        <p:nvSpPr>
          <p:cNvPr id="45" name="Text 43"/>
          <p:cNvSpPr/>
          <p:nvPr/>
        </p:nvSpPr>
        <p:spPr>
          <a:xfrm>
            <a:off x="960120" y="3026664"/>
            <a:ext cx="3557016"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Immutable webhook event log covering: link creation, MFA completion, transaction fetch, token revocation — all timestamped.</a:t>
            </a:r>
            <a:endParaRPr lang="en-US" sz="750" dirty="0"/>
          </a:p>
        </p:txBody>
      </p:sp>
      <p:sp>
        <p:nvSpPr>
          <p:cNvPr id="46" name="Text 44"/>
          <p:cNvSpPr/>
          <p:nvPr/>
        </p:nvSpPr>
        <p:spPr>
          <a:xfrm>
            <a:off x="384048" y="3227832"/>
            <a:ext cx="566928" cy="182880"/>
          </a:xfrm>
          <a:prstGeom prst="rect">
            <a:avLst/>
          </a:prstGeom>
          <a:noFill/>
          <a:ln/>
        </p:spPr>
        <p:txBody>
          <a:bodyPr wrap="square" rtlCol="0" anchor="ctr"/>
          <a:lstStyle/>
          <a:p>
            <a:pPr marL="0" indent="0">
              <a:buNone/>
            </a:pPr>
            <a:r>
              <a:rPr lang="en-US" sz="750" b="1" dirty="0">
                <a:solidFill>
                  <a:srgbClr val="0A1628"/>
                </a:solidFill>
              </a:rPr>
              <a:t>⬡ BBH:</a:t>
            </a:r>
            <a:endParaRPr lang="en-US" sz="750" dirty="0"/>
          </a:p>
        </p:txBody>
      </p:sp>
      <p:sp>
        <p:nvSpPr>
          <p:cNvPr id="47" name="Text 45"/>
          <p:cNvSpPr/>
          <p:nvPr/>
        </p:nvSpPr>
        <p:spPr>
          <a:xfrm>
            <a:off x="932688" y="3227832"/>
            <a:ext cx="358444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SIEM ingestion of all Plaid webhook events (Q7). Token lifecycle events persisted in PB DataWarehouse audit schema.</a:t>
            </a:r>
            <a:endParaRPr lang="en-US" sz="750" dirty="0"/>
          </a:p>
        </p:txBody>
      </p:sp>
      <p:sp>
        <p:nvSpPr>
          <p:cNvPr id="48" name="Shape 46"/>
          <p:cNvSpPr/>
          <p:nvPr/>
        </p:nvSpPr>
        <p:spPr>
          <a:xfrm>
            <a:off x="4736592" y="2441448"/>
            <a:ext cx="4315968"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49" name="Shape 47"/>
          <p:cNvSpPr/>
          <p:nvPr/>
        </p:nvSpPr>
        <p:spPr>
          <a:xfrm>
            <a:off x="4736592" y="2441448"/>
            <a:ext cx="64008" cy="1115568"/>
          </a:xfrm>
          <a:prstGeom prst="rect">
            <a:avLst/>
          </a:prstGeom>
          <a:solidFill>
            <a:srgbClr val="BA4A00"/>
          </a:solidFill>
          <a:ln w="12700">
            <a:solidFill>
              <a:srgbClr val="BA4A00"/>
            </a:solidFill>
            <a:prstDash val="solid"/>
          </a:ln>
        </p:spPr>
        <p:txBody>
          <a:bodyPr/>
          <a:lstStyle/>
          <a:p>
            <a:endParaRPr lang="en-US"/>
          </a:p>
        </p:txBody>
      </p:sp>
      <p:sp>
        <p:nvSpPr>
          <p:cNvPr id="50" name="Shape 48"/>
          <p:cNvSpPr/>
          <p:nvPr/>
        </p:nvSpPr>
        <p:spPr>
          <a:xfrm>
            <a:off x="4846320" y="2505456"/>
            <a:ext cx="310896" cy="310896"/>
          </a:xfrm>
          <a:prstGeom prst="rect">
            <a:avLst/>
          </a:prstGeom>
          <a:solidFill>
            <a:srgbClr val="BA4A00"/>
          </a:solidFill>
          <a:ln w="12700">
            <a:solidFill>
              <a:srgbClr val="BA4A00"/>
            </a:solidFill>
            <a:prstDash val="solid"/>
          </a:ln>
        </p:spPr>
        <p:txBody>
          <a:bodyPr/>
          <a:lstStyle/>
          <a:p>
            <a:endParaRPr lang="en-US"/>
          </a:p>
        </p:txBody>
      </p:sp>
      <p:sp>
        <p:nvSpPr>
          <p:cNvPr id="51" name="Text 49"/>
          <p:cNvSpPr/>
          <p:nvPr/>
        </p:nvSpPr>
        <p:spPr>
          <a:xfrm>
            <a:off x="4846320" y="250545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rPr>
              <a:t>I</a:t>
            </a:r>
            <a:endParaRPr lang="en-US" sz="1300" dirty="0"/>
          </a:p>
        </p:txBody>
      </p:sp>
      <p:sp>
        <p:nvSpPr>
          <p:cNvPr id="52" name="Text 50"/>
          <p:cNvSpPr/>
          <p:nvPr/>
        </p:nvSpPr>
        <p:spPr>
          <a:xfrm>
            <a:off x="5230368" y="2523744"/>
            <a:ext cx="2560320" cy="201168"/>
          </a:xfrm>
          <a:prstGeom prst="rect">
            <a:avLst/>
          </a:prstGeom>
          <a:noFill/>
          <a:ln/>
        </p:spPr>
        <p:txBody>
          <a:bodyPr wrap="square" rtlCol="0" anchor="ctr"/>
          <a:lstStyle/>
          <a:p>
            <a:pPr marL="0" indent="0">
              <a:buNone/>
            </a:pPr>
            <a:r>
              <a:rPr lang="en-US" sz="950" b="1" kern="0" spc="50" dirty="0">
                <a:solidFill>
                  <a:srgbClr val="BA4A00"/>
                </a:solidFill>
                <a:latin typeface="Calibri" pitchFamily="34" charset="0"/>
                <a:ea typeface="Calibri" pitchFamily="34" charset="-122"/>
                <a:cs typeface="Calibri" pitchFamily="34" charset="-120"/>
              </a:rPr>
              <a:t>INFO DISCLOSURE</a:t>
            </a:r>
            <a:endParaRPr lang="en-US" sz="950" dirty="0"/>
          </a:p>
        </p:txBody>
      </p:sp>
      <p:sp>
        <p:nvSpPr>
          <p:cNvPr id="53" name="Shape 51"/>
          <p:cNvSpPr/>
          <p:nvPr/>
        </p:nvSpPr>
        <p:spPr>
          <a:xfrm>
            <a:off x="8266176" y="2523744"/>
            <a:ext cx="713232" cy="201168"/>
          </a:xfrm>
          <a:prstGeom prst="rect">
            <a:avLst/>
          </a:prstGeom>
          <a:solidFill>
            <a:srgbClr val="1E8449"/>
          </a:solidFill>
          <a:ln w="12700">
            <a:solidFill>
              <a:srgbClr val="1E8449"/>
            </a:solidFill>
            <a:prstDash val="solid"/>
          </a:ln>
        </p:spPr>
        <p:txBody>
          <a:bodyPr/>
          <a:lstStyle/>
          <a:p>
            <a:endParaRPr lang="en-US"/>
          </a:p>
        </p:txBody>
      </p:sp>
      <p:sp>
        <p:nvSpPr>
          <p:cNvPr id="54" name="Text 52"/>
          <p:cNvSpPr/>
          <p:nvPr/>
        </p:nvSpPr>
        <p:spPr>
          <a:xfrm>
            <a:off x="8266176" y="2523744"/>
            <a:ext cx="713232" cy="201168"/>
          </a:xfrm>
          <a:prstGeom prst="rect">
            <a:avLst/>
          </a:prstGeom>
          <a:noFill/>
          <a:ln/>
        </p:spPr>
        <p:txBody>
          <a:bodyPr wrap="square" lIns="0" tIns="0" rIns="0" bIns="0" rtlCol="0" anchor="ctr"/>
          <a:lstStyle/>
          <a:p>
            <a:pPr marL="0" indent="0" algn="ctr">
              <a:buNone/>
            </a:pPr>
            <a:r>
              <a:rPr lang="en-US" sz="750" b="1" dirty="0">
                <a:solidFill>
                  <a:srgbClr val="FFFFFF"/>
                </a:solidFill>
              </a:rPr>
              <a:t>LOW</a:t>
            </a:r>
            <a:endParaRPr lang="en-US" sz="750" dirty="0"/>
          </a:p>
        </p:txBody>
      </p:sp>
      <p:sp>
        <p:nvSpPr>
          <p:cNvPr id="55" name="Text 53"/>
          <p:cNvSpPr/>
          <p:nvPr/>
        </p:nvSpPr>
        <p:spPr>
          <a:xfrm>
            <a:off x="4846320" y="2825496"/>
            <a:ext cx="658368" cy="182880"/>
          </a:xfrm>
          <a:prstGeom prst="rect">
            <a:avLst/>
          </a:prstGeom>
          <a:noFill/>
          <a:ln/>
        </p:spPr>
        <p:txBody>
          <a:bodyPr wrap="square" rtlCol="0" anchor="ctr"/>
          <a:lstStyle/>
          <a:p>
            <a:pPr marL="0" indent="0">
              <a:buNone/>
            </a:pPr>
            <a:r>
              <a:rPr lang="en-US" sz="750" b="1" dirty="0">
                <a:solidFill>
                  <a:srgbClr val="7B3333"/>
                </a:solidFill>
              </a:rPr>
              <a:t>⚠ Threat:</a:t>
            </a:r>
            <a:endParaRPr lang="en-US" sz="750" dirty="0"/>
          </a:p>
        </p:txBody>
      </p:sp>
      <p:sp>
        <p:nvSpPr>
          <p:cNvPr id="56" name="Text 54"/>
          <p:cNvSpPr/>
          <p:nvPr/>
        </p:nvSpPr>
        <p:spPr>
          <a:xfrm>
            <a:off x="5486400" y="2825496"/>
            <a:ext cx="349300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Exposure of BBH client credentials, account numbers, or PII to Plaid or downstream fintech applications.</a:t>
            </a:r>
            <a:endParaRPr lang="en-US" sz="750" dirty="0"/>
          </a:p>
        </p:txBody>
      </p:sp>
      <p:sp>
        <p:nvSpPr>
          <p:cNvPr id="57" name="Text 55"/>
          <p:cNvSpPr/>
          <p:nvPr/>
        </p:nvSpPr>
        <p:spPr>
          <a:xfrm>
            <a:off x="4846320" y="3026664"/>
            <a:ext cx="594360" cy="182880"/>
          </a:xfrm>
          <a:prstGeom prst="rect">
            <a:avLst/>
          </a:prstGeom>
          <a:noFill/>
          <a:ln/>
        </p:spPr>
        <p:txBody>
          <a:bodyPr wrap="square" rtlCol="0" anchor="ctr"/>
          <a:lstStyle/>
          <a:p>
            <a:pPr marL="0" indent="0">
              <a:buNone/>
            </a:pPr>
            <a:r>
              <a:rPr lang="en-US" sz="750" b="1" dirty="0">
                <a:solidFill>
                  <a:srgbClr val="028090"/>
                </a:solidFill>
              </a:rPr>
              <a:t>✔ Plaid:</a:t>
            </a:r>
            <a:endParaRPr lang="en-US" sz="750" dirty="0"/>
          </a:p>
        </p:txBody>
      </p:sp>
      <p:sp>
        <p:nvSpPr>
          <p:cNvPr id="58" name="Text 56"/>
          <p:cNvSpPr/>
          <p:nvPr/>
        </p:nvSpPr>
        <p:spPr>
          <a:xfrm>
            <a:off x="5422392" y="3026664"/>
            <a:ext cx="3557016"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Plaid Link encrypts credentials in transit. Raw credentials are never stored, forwarded, or included in API responses.</a:t>
            </a:r>
            <a:endParaRPr lang="en-US" sz="750" dirty="0"/>
          </a:p>
        </p:txBody>
      </p:sp>
      <p:sp>
        <p:nvSpPr>
          <p:cNvPr id="59" name="Text 57"/>
          <p:cNvSpPr/>
          <p:nvPr/>
        </p:nvSpPr>
        <p:spPr>
          <a:xfrm>
            <a:off x="4846320" y="3227832"/>
            <a:ext cx="566928" cy="182880"/>
          </a:xfrm>
          <a:prstGeom prst="rect">
            <a:avLst/>
          </a:prstGeom>
          <a:noFill/>
          <a:ln/>
        </p:spPr>
        <p:txBody>
          <a:bodyPr wrap="square" rtlCol="0" anchor="ctr"/>
          <a:lstStyle/>
          <a:p>
            <a:pPr marL="0" indent="0">
              <a:buNone/>
            </a:pPr>
            <a:r>
              <a:rPr lang="en-US" sz="750" b="1" dirty="0">
                <a:solidFill>
                  <a:srgbClr val="0A1628"/>
                </a:solidFill>
              </a:rPr>
              <a:t>⬡ BBH:</a:t>
            </a:r>
            <a:endParaRPr lang="en-US" sz="750" dirty="0"/>
          </a:p>
        </p:txBody>
      </p:sp>
      <p:sp>
        <p:nvSpPr>
          <p:cNvPr id="60" name="Text 58"/>
          <p:cNvSpPr/>
          <p:nvPr/>
        </p:nvSpPr>
        <p:spPr>
          <a:xfrm>
            <a:off x="5394960" y="3227832"/>
            <a:ext cx="358444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Data classification policy applied at CP Services. PII fields masked in IM Datastore and BBH DataStore query responses.</a:t>
            </a:r>
            <a:endParaRPr lang="en-US" sz="750" dirty="0"/>
          </a:p>
        </p:txBody>
      </p:sp>
      <p:sp>
        <p:nvSpPr>
          <p:cNvPr id="61" name="Shape 59"/>
          <p:cNvSpPr/>
          <p:nvPr/>
        </p:nvSpPr>
        <p:spPr>
          <a:xfrm>
            <a:off x="274320" y="3675888"/>
            <a:ext cx="4315968"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62" name="Shape 60"/>
          <p:cNvSpPr/>
          <p:nvPr/>
        </p:nvSpPr>
        <p:spPr>
          <a:xfrm>
            <a:off x="274320" y="3675888"/>
            <a:ext cx="64008" cy="1115568"/>
          </a:xfrm>
          <a:prstGeom prst="rect">
            <a:avLst/>
          </a:prstGeom>
          <a:solidFill>
            <a:srgbClr val="1E8449"/>
          </a:solidFill>
          <a:ln w="12700">
            <a:solidFill>
              <a:srgbClr val="1E8449"/>
            </a:solidFill>
            <a:prstDash val="solid"/>
          </a:ln>
        </p:spPr>
        <p:txBody>
          <a:bodyPr/>
          <a:lstStyle/>
          <a:p>
            <a:endParaRPr lang="en-US"/>
          </a:p>
        </p:txBody>
      </p:sp>
      <p:sp>
        <p:nvSpPr>
          <p:cNvPr id="63" name="Shape 61"/>
          <p:cNvSpPr/>
          <p:nvPr/>
        </p:nvSpPr>
        <p:spPr>
          <a:xfrm>
            <a:off x="384048" y="3739896"/>
            <a:ext cx="310896" cy="310896"/>
          </a:xfrm>
          <a:prstGeom prst="rect">
            <a:avLst/>
          </a:prstGeom>
          <a:solidFill>
            <a:srgbClr val="1E8449"/>
          </a:solidFill>
          <a:ln w="12700">
            <a:solidFill>
              <a:srgbClr val="1E8449"/>
            </a:solidFill>
            <a:prstDash val="solid"/>
          </a:ln>
        </p:spPr>
        <p:txBody>
          <a:bodyPr/>
          <a:lstStyle/>
          <a:p>
            <a:endParaRPr lang="en-US"/>
          </a:p>
        </p:txBody>
      </p:sp>
      <p:sp>
        <p:nvSpPr>
          <p:cNvPr id="64" name="Text 62"/>
          <p:cNvSpPr/>
          <p:nvPr/>
        </p:nvSpPr>
        <p:spPr>
          <a:xfrm>
            <a:off x="384048" y="373989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rPr>
              <a:t>D</a:t>
            </a:r>
            <a:endParaRPr lang="en-US" sz="1300" dirty="0"/>
          </a:p>
        </p:txBody>
      </p:sp>
      <p:sp>
        <p:nvSpPr>
          <p:cNvPr id="65" name="Text 63"/>
          <p:cNvSpPr/>
          <p:nvPr/>
        </p:nvSpPr>
        <p:spPr>
          <a:xfrm>
            <a:off x="768096" y="3758184"/>
            <a:ext cx="2560320" cy="201168"/>
          </a:xfrm>
          <a:prstGeom prst="rect">
            <a:avLst/>
          </a:prstGeom>
          <a:noFill/>
          <a:ln/>
        </p:spPr>
        <p:txBody>
          <a:bodyPr wrap="square" rtlCol="0" anchor="ctr"/>
          <a:lstStyle/>
          <a:p>
            <a:pPr marL="0" indent="0">
              <a:buNone/>
            </a:pPr>
            <a:r>
              <a:rPr lang="en-US" sz="950" b="1" kern="0" spc="50" dirty="0">
                <a:solidFill>
                  <a:srgbClr val="1E8449"/>
                </a:solidFill>
                <a:latin typeface="Calibri" pitchFamily="34" charset="0"/>
                <a:ea typeface="Calibri" pitchFamily="34" charset="-122"/>
                <a:cs typeface="Calibri" pitchFamily="34" charset="-120"/>
              </a:rPr>
              <a:t>DENIAL OF SERVICE</a:t>
            </a:r>
            <a:endParaRPr lang="en-US" sz="950" dirty="0"/>
          </a:p>
        </p:txBody>
      </p:sp>
      <p:sp>
        <p:nvSpPr>
          <p:cNvPr id="66" name="Shape 64"/>
          <p:cNvSpPr/>
          <p:nvPr/>
        </p:nvSpPr>
        <p:spPr>
          <a:xfrm>
            <a:off x="3803904" y="3758184"/>
            <a:ext cx="713232" cy="201168"/>
          </a:xfrm>
          <a:prstGeom prst="rect">
            <a:avLst/>
          </a:prstGeom>
          <a:solidFill>
            <a:srgbClr val="BA4A00"/>
          </a:solidFill>
          <a:ln w="12700">
            <a:solidFill>
              <a:srgbClr val="BA4A00"/>
            </a:solidFill>
            <a:prstDash val="solid"/>
          </a:ln>
        </p:spPr>
        <p:txBody>
          <a:bodyPr/>
          <a:lstStyle/>
          <a:p>
            <a:endParaRPr lang="en-US"/>
          </a:p>
        </p:txBody>
      </p:sp>
      <p:sp>
        <p:nvSpPr>
          <p:cNvPr id="67" name="Text 65"/>
          <p:cNvSpPr/>
          <p:nvPr/>
        </p:nvSpPr>
        <p:spPr>
          <a:xfrm>
            <a:off x="3803904" y="3758184"/>
            <a:ext cx="713232" cy="201168"/>
          </a:xfrm>
          <a:prstGeom prst="rect">
            <a:avLst/>
          </a:prstGeom>
          <a:noFill/>
          <a:ln/>
        </p:spPr>
        <p:txBody>
          <a:bodyPr wrap="square" lIns="0" tIns="0" rIns="0" bIns="0" rtlCol="0" anchor="ctr"/>
          <a:lstStyle/>
          <a:p>
            <a:pPr marL="0" indent="0" algn="ctr">
              <a:buNone/>
            </a:pPr>
            <a:r>
              <a:rPr lang="en-US" sz="750" b="1" dirty="0">
                <a:solidFill>
                  <a:srgbClr val="FFFFFF"/>
                </a:solidFill>
              </a:rPr>
              <a:t>MEDIUM</a:t>
            </a:r>
            <a:endParaRPr lang="en-US" sz="750" dirty="0"/>
          </a:p>
        </p:txBody>
      </p:sp>
      <p:sp>
        <p:nvSpPr>
          <p:cNvPr id="68" name="Text 66"/>
          <p:cNvSpPr/>
          <p:nvPr/>
        </p:nvSpPr>
        <p:spPr>
          <a:xfrm>
            <a:off x="384048" y="4059936"/>
            <a:ext cx="658368" cy="182880"/>
          </a:xfrm>
          <a:prstGeom prst="rect">
            <a:avLst/>
          </a:prstGeom>
          <a:noFill/>
          <a:ln/>
        </p:spPr>
        <p:txBody>
          <a:bodyPr wrap="square" rtlCol="0" anchor="ctr"/>
          <a:lstStyle/>
          <a:p>
            <a:pPr marL="0" indent="0">
              <a:buNone/>
            </a:pPr>
            <a:r>
              <a:rPr lang="en-US" sz="750" b="1" dirty="0">
                <a:solidFill>
                  <a:srgbClr val="7B3333"/>
                </a:solidFill>
              </a:rPr>
              <a:t>⚠ Threat:</a:t>
            </a:r>
            <a:endParaRPr lang="en-US" sz="750" dirty="0"/>
          </a:p>
        </p:txBody>
      </p:sp>
      <p:sp>
        <p:nvSpPr>
          <p:cNvPr id="69" name="Text 67"/>
          <p:cNvSpPr/>
          <p:nvPr/>
        </p:nvSpPr>
        <p:spPr>
          <a:xfrm>
            <a:off x="1024128" y="4059936"/>
            <a:ext cx="349300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Flood of Plaid webhook events or token-exchange requests overwhelming BBH DMZ, Apigee Gateway, or the CP Services fan-out layer.</a:t>
            </a:r>
            <a:endParaRPr lang="en-US" sz="750" dirty="0"/>
          </a:p>
        </p:txBody>
      </p:sp>
      <p:sp>
        <p:nvSpPr>
          <p:cNvPr id="70" name="Text 68"/>
          <p:cNvSpPr/>
          <p:nvPr/>
        </p:nvSpPr>
        <p:spPr>
          <a:xfrm>
            <a:off x="384048" y="4261104"/>
            <a:ext cx="594360" cy="182880"/>
          </a:xfrm>
          <a:prstGeom prst="rect">
            <a:avLst/>
          </a:prstGeom>
          <a:noFill/>
          <a:ln/>
        </p:spPr>
        <p:txBody>
          <a:bodyPr wrap="square" rtlCol="0" anchor="ctr"/>
          <a:lstStyle/>
          <a:p>
            <a:pPr marL="0" indent="0">
              <a:buNone/>
            </a:pPr>
            <a:r>
              <a:rPr lang="en-US" sz="750" b="1" dirty="0">
                <a:solidFill>
                  <a:srgbClr val="028090"/>
                </a:solidFill>
              </a:rPr>
              <a:t>✔ Plaid:</a:t>
            </a:r>
            <a:endParaRPr lang="en-US" sz="750" dirty="0"/>
          </a:p>
        </p:txBody>
      </p:sp>
      <p:sp>
        <p:nvSpPr>
          <p:cNvPr id="71" name="Text 69"/>
          <p:cNvSpPr/>
          <p:nvPr/>
        </p:nvSpPr>
        <p:spPr>
          <a:xfrm>
            <a:off x="960120" y="4261104"/>
            <a:ext cx="3557016"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Plaid applies per-institution rate limits on all API calls. Webhook delivery has built-in backpressure and retry throttling.</a:t>
            </a:r>
            <a:endParaRPr lang="en-US" sz="750" dirty="0"/>
          </a:p>
        </p:txBody>
      </p:sp>
      <p:sp>
        <p:nvSpPr>
          <p:cNvPr id="72" name="Text 70"/>
          <p:cNvSpPr/>
          <p:nvPr/>
        </p:nvSpPr>
        <p:spPr>
          <a:xfrm>
            <a:off x="384048" y="4462272"/>
            <a:ext cx="566928" cy="182880"/>
          </a:xfrm>
          <a:prstGeom prst="rect">
            <a:avLst/>
          </a:prstGeom>
          <a:noFill/>
          <a:ln/>
        </p:spPr>
        <p:txBody>
          <a:bodyPr wrap="square" rtlCol="0" anchor="ctr"/>
          <a:lstStyle/>
          <a:p>
            <a:pPr marL="0" indent="0">
              <a:buNone/>
            </a:pPr>
            <a:r>
              <a:rPr lang="en-US" sz="750" b="1" dirty="0">
                <a:solidFill>
                  <a:srgbClr val="0A1628"/>
                </a:solidFill>
              </a:rPr>
              <a:t>⬡ BBH:</a:t>
            </a:r>
            <a:endParaRPr lang="en-US" sz="750" dirty="0"/>
          </a:p>
        </p:txBody>
      </p:sp>
      <p:sp>
        <p:nvSpPr>
          <p:cNvPr id="73" name="Text 71"/>
          <p:cNvSpPr/>
          <p:nvPr/>
        </p:nvSpPr>
        <p:spPr>
          <a:xfrm>
            <a:off x="932688" y="4462272"/>
            <a:ext cx="358444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Apigee token-bucket throttling on inbound channel; OpenShift HPA on CP Services pods; circuit-breaker pattern in fan-out logic.</a:t>
            </a:r>
            <a:endParaRPr lang="en-US" sz="750" dirty="0"/>
          </a:p>
        </p:txBody>
      </p:sp>
      <p:sp>
        <p:nvSpPr>
          <p:cNvPr id="74" name="Shape 72"/>
          <p:cNvSpPr/>
          <p:nvPr/>
        </p:nvSpPr>
        <p:spPr>
          <a:xfrm>
            <a:off x="4736592" y="3675888"/>
            <a:ext cx="4315968" cy="11155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75" name="Shape 73"/>
          <p:cNvSpPr/>
          <p:nvPr/>
        </p:nvSpPr>
        <p:spPr>
          <a:xfrm>
            <a:off x="4736592" y="3675888"/>
            <a:ext cx="64008" cy="1115568"/>
          </a:xfrm>
          <a:prstGeom prst="rect">
            <a:avLst/>
          </a:prstGeom>
          <a:solidFill>
            <a:srgbClr val="A04000"/>
          </a:solidFill>
          <a:ln w="12700">
            <a:solidFill>
              <a:srgbClr val="A04000"/>
            </a:solidFill>
            <a:prstDash val="solid"/>
          </a:ln>
        </p:spPr>
        <p:txBody>
          <a:bodyPr/>
          <a:lstStyle/>
          <a:p>
            <a:endParaRPr lang="en-US"/>
          </a:p>
        </p:txBody>
      </p:sp>
      <p:sp>
        <p:nvSpPr>
          <p:cNvPr id="76" name="Shape 74"/>
          <p:cNvSpPr/>
          <p:nvPr/>
        </p:nvSpPr>
        <p:spPr>
          <a:xfrm>
            <a:off x="4846320" y="3739896"/>
            <a:ext cx="310896" cy="310896"/>
          </a:xfrm>
          <a:prstGeom prst="rect">
            <a:avLst/>
          </a:prstGeom>
          <a:solidFill>
            <a:srgbClr val="A04000"/>
          </a:solidFill>
          <a:ln w="12700">
            <a:solidFill>
              <a:srgbClr val="A04000"/>
            </a:solidFill>
            <a:prstDash val="solid"/>
          </a:ln>
        </p:spPr>
        <p:txBody>
          <a:bodyPr/>
          <a:lstStyle/>
          <a:p>
            <a:endParaRPr lang="en-US"/>
          </a:p>
        </p:txBody>
      </p:sp>
      <p:sp>
        <p:nvSpPr>
          <p:cNvPr id="77" name="Text 75"/>
          <p:cNvSpPr/>
          <p:nvPr/>
        </p:nvSpPr>
        <p:spPr>
          <a:xfrm>
            <a:off x="4846320" y="373989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rPr>
              <a:t>E</a:t>
            </a:r>
            <a:endParaRPr lang="en-US" sz="1300" dirty="0"/>
          </a:p>
        </p:txBody>
      </p:sp>
      <p:sp>
        <p:nvSpPr>
          <p:cNvPr id="78" name="Text 76"/>
          <p:cNvSpPr/>
          <p:nvPr/>
        </p:nvSpPr>
        <p:spPr>
          <a:xfrm>
            <a:off x="5230368" y="3758184"/>
            <a:ext cx="2560320" cy="201168"/>
          </a:xfrm>
          <a:prstGeom prst="rect">
            <a:avLst/>
          </a:prstGeom>
          <a:noFill/>
          <a:ln/>
        </p:spPr>
        <p:txBody>
          <a:bodyPr wrap="square" rtlCol="0" anchor="ctr"/>
          <a:lstStyle/>
          <a:p>
            <a:pPr marL="0" indent="0">
              <a:buNone/>
            </a:pPr>
            <a:r>
              <a:rPr lang="en-US" sz="950" b="1" kern="0" spc="50" dirty="0">
                <a:solidFill>
                  <a:srgbClr val="A04000"/>
                </a:solidFill>
                <a:latin typeface="Calibri" pitchFamily="34" charset="0"/>
                <a:ea typeface="Calibri" pitchFamily="34" charset="-122"/>
                <a:cs typeface="Calibri" pitchFamily="34" charset="-120"/>
              </a:rPr>
              <a:t>ELEVATION OF PRIVILEGE</a:t>
            </a:r>
            <a:endParaRPr lang="en-US" sz="950" dirty="0"/>
          </a:p>
        </p:txBody>
      </p:sp>
      <p:sp>
        <p:nvSpPr>
          <p:cNvPr id="79" name="Shape 77"/>
          <p:cNvSpPr/>
          <p:nvPr/>
        </p:nvSpPr>
        <p:spPr>
          <a:xfrm>
            <a:off x="8266176" y="3758184"/>
            <a:ext cx="713232" cy="201168"/>
          </a:xfrm>
          <a:prstGeom prst="rect">
            <a:avLst/>
          </a:prstGeom>
          <a:solidFill>
            <a:srgbClr val="1E8449"/>
          </a:solidFill>
          <a:ln w="12700">
            <a:solidFill>
              <a:srgbClr val="1E8449"/>
            </a:solidFill>
            <a:prstDash val="solid"/>
          </a:ln>
        </p:spPr>
        <p:txBody>
          <a:bodyPr/>
          <a:lstStyle/>
          <a:p>
            <a:endParaRPr lang="en-US"/>
          </a:p>
        </p:txBody>
      </p:sp>
      <p:sp>
        <p:nvSpPr>
          <p:cNvPr id="80" name="Text 78"/>
          <p:cNvSpPr/>
          <p:nvPr/>
        </p:nvSpPr>
        <p:spPr>
          <a:xfrm>
            <a:off x="8266176" y="3758184"/>
            <a:ext cx="713232" cy="201168"/>
          </a:xfrm>
          <a:prstGeom prst="rect">
            <a:avLst/>
          </a:prstGeom>
          <a:noFill/>
          <a:ln/>
        </p:spPr>
        <p:txBody>
          <a:bodyPr wrap="square" lIns="0" tIns="0" rIns="0" bIns="0" rtlCol="0" anchor="ctr"/>
          <a:lstStyle/>
          <a:p>
            <a:pPr marL="0" indent="0" algn="ctr">
              <a:buNone/>
            </a:pPr>
            <a:r>
              <a:rPr lang="en-US" sz="750" b="1" dirty="0">
                <a:solidFill>
                  <a:srgbClr val="FFFFFF"/>
                </a:solidFill>
              </a:rPr>
              <a:t>LOW</a:t>
            </a:r>
            <a:endParaRPr lang="en-US" sz="750" dirty="0"/>
          </a:p>
        </p:txBody>
      </p:sp>
      <p:sp>
        <p:nvSpPr>
          <p:cNvPr id="81" name="Text 79"/>
          <p:cNvSpPr/>
          <p:nvPr/>
        </p:nvSpPr>
        <p:spPr>
          <a:xfrm>
            <a:off x="4846320" y="4059936"/>
            <a:ext cx="658368" cy="182880"/>
          </a:xfrm>
          <a:prstGeom prst="rect">
            <a:avLst/>
          </a:prstGeom>
          <a:noFill/>
          <a:ln/>
        </p:spPr>
        <p:txBody>
          <a:bodyPr wrap="square" rtlCol="0" anchor="ctr"/>
          <a:lstStyle/>
          <a:p>
            <a:pPr marL="0" indent="0">
              <a:buNone/>
            </a:pPr>
            <a:r>
              <a:rPr lang="en-US" sz="750" b="1" dirty="0">
                <a:solidFill>
                  <a:srgbClr val="7B3333"/>
                </a:solidFill>
              </a:rPr>
              <a:t>⚠ Threat:</a:t>
            </a:r>
            <a:endParaRPr lang="en-US" sz="750" dirty="0"/>
          </a:p>
        </p:txBody>
      </p:sp>
      <p:sp>
        <p:nvSpPr>
          <p:cNvPr id="82" name="Text 80"/>
          <p:cNvSpPr/>
          <p:nvPr/>
        </p:nvSpPr>
        <p:spPr>
          <a:xfrm>
            <a:off x="5486400" y="4059936"/>
            <a:ext cx="349300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A compromised Plaid access token used to access data beyond the client's authorized scope (e.g., other accounts or admin APIs).</a:t>
            </a:r>
            <a:endParaRPr lang="en-US" sz="750" dirty="0"/>
          </a:p>
        </p:txBody>
      </p:sp>
      <p:sp>
        <p:nvSpPr>
          <p:cNvPr id="83" name="Text 81"/>
          <p:cNvSpPr/>
          <p:nvPr/>
        </p:nvSpPr>
        <p:spPr>
          <a:xfrm>
            <a:off x="4846320" y="4261104"/>
            <a:ext cx="594360" cy="182880"/>
          </a:xfrm>
          <a:prstGeom prst="rect">
            <a:avLst/>
          </a:prstGeom>
          <a:noFill/>
          <a:ln/>
        </p:spPr>
        <p:txBody>
          <a:bodyPr wrap="square" rtlCol="0" anchor="ctr"/>
          <a:lstStyle/>
          <a:p>
            <a:pPr marL="0" indent="0">
              <a:buNone/>
            </a:pPr>
            <a:r>
              <a:rPr lang="en-US" sz="750" b="1" dirty="0">
                <a:solidFill>
                  <a:srgbClr val="028090"/>
                </a:solidFill>
              </a:rPr>
              <a:t>✔ Plaid:</a:t>
            </a:r>
            <a:endParaRPr lang="en-US" sz="750" dirty="0"/>
          </a:p>
        </p:txBody>
      </p:sp>
      <p:sp>
        <p:nvSpPr>
          <p:cNvPr id="84" name="Text 82"/>
          <p:cNvSpPr/>
          <p:nvPr/>
        </p:nvSpPr>
        <p:spPr>
          <a:xfrm>
            <a:off x="5422392" y="4261104"/>
            <a:ext cx="3557016"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Tokens are scoped at issuance to specific Plaid products (Read-only: Balance, Transactions). Admin APIs are unreachable via Plaid channel.</a:t>
            </a:r>
            <a:endParaRPr lang="en-US" sz="750" dirty="0"/>
          </a:p>
        </p:txBody>
      </p:sp>
      <p:sp>
        <p:nvSpPr>
          <p:cNvPr id="85" name="Text 83"/>
          <p:cNvSpPr/>
          <p:nvPr/>
        </p:nvSpPr>
        <p:spPr>
          <a:xfrm>
            <a:off x="4846320" y="4462272"/>
            <a:ext cx="566928" cy="182880"/>
          </a:xfrm>
          <a:prstGeom prst="rect">
            <a:avLst/>
          </a:prstGeom>
          <a:noFill/>
          <a:ln/>
        </p:spPr>
        <p:txBody>
          <a:bodyPr wrap="square" rtlCol="0" anchor="ctr"/>
          <a:lstStyle/>
          <a:p>
            <a:pPr marL="0" indent="0">
              <a:buNone/>
            </a:pPr>
            <a:r>
              <a:rPr lang="en-US" sz="750" b="1" dirty="0">
                <a:solidFill>
                  <a:srgbClr val="0A1628"/>
                </a:solidFill>
              </a:rPr>
              <a:t>⬡ BBH:</a:t>
            </a:r>
            <a:endParaRPr lang="en-US" sz="750" dirty="0"/>
          </a:p>
        </p:txBody>
      </p:sp>
      <p:sp>
        <p:nvSpPr>
          <p:cNvPr id="86" name="Text 84"/>
          <p:cNvSpPr/>
          <p:nvPr/>
        </p:nvSpPr>
        <p:spPr>
          <a:xfrm>
            <a:off x="5394960" y="4462272"/>
            <a:ext cx="3584448" cy="182880"/>
          </a:xfrm>
          <a:prstGeom prst="rect">
            <a:avLst/>
          </a:prstGeom>
          <a:noFill/>
          <a:ln/>
        </p:spPr>
        <p:txBody>
          <a:bodyPr wrap="square" rtlCol="0" anchor="ctr"/>
          <a:lstStyle/>
          <a:p>
            <a:pPr marL="0" indent="0">
              <a:buNone/>
            </a:pPr>
            <a:r>
              <a:rPr lang="en-US" sz="750" dirty="0">
                <a:solidFill>
                  <a:srgbClr val="3D5260"/>
                </a:solidFill>
                <a:latin typeface="Calibri" pitchFamily="34" charset="0"/>
                <a:ea typeface="Calibri" pitchFamily="34" charset="-122"/>
                <a:cs typeface="Calibri" pitchFamily="34" charset="-120"/>
              </a:rPr>
              <a:t>BBH Auth layer validates token scope before any routing to PB DataWarehouse or BBH DataStore. RBAC enforced at PingFederate.</a:t>
            </a:r>
            <a:endParaRPr lang="en-US" sz="750" dirty="0"/>
          </a:p>
        </p:txBody>
      </p:sp>
      <p:sp>
        <p:nvSpPr>
          <p:cNvPr id="87" name="Shape 85"/>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88" name="Text 86"/>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89" name="Text 87"/>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8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1628"/>
          </a:solidFill>
          <a:ln w="12700">
            <a:solidFill>
              <a:srgbClr val="0A1628"/>
            </a:solidFill>
            <a:prstDash val="solid"/>
          </a:ln>
        </p:spPr>
        <p:txBody>
          <a:bodyPr/>
          <a:lstStyle/>
          <a:p>
            <a:endParaRPr lang="en-US"/>
          </a:p>
        </p:txBody>
      </p:sp>
      <p:sp>
        <p:nvSpPr>
          <p:cNvPr id="3" name="Shape 1"/>
          <p:cNvSpPr/>
          <p:nvPr/>
        </p:nvSpPr>
        <p:spPr>
          <a:xfrm>
            <a:off x="0" y="749808"/>
            <a:ext cx="9144000" cy="54864"/>
          </a:xfrm>
          <a:prstGeom prst="rect">
            <a:avLst/>
          </a:prstGeom>
          <a:solidFill>
            <a:srgbClr val="00A896"/>
          </a:solidFill>
          <a:ln w="12700">
            <a:solidFill>
              <a:srgbClr val="00A896"/>
            </a:solidFill>
            <a:prstDash val="solid"/>
          </a:ln>
        </p:spPr>
        <p:txBody>
          <a:bodyPr/>
          <a:lstStyle/>
          <a:p>
            <a:endParaRPr lang="en-US"/>
          </a:p>
        </p:txBody>
      </p:sp>
      <p:sp>
        <p:nvSpPr>
          <p:cNvPr id="4" name="Text 2"/>
          <p:cNvSpPr/>
          <p:nvPr/>
        </p:nvSpPr>
        <p:spPr>
          <a:xfrm>
            <a:off x="365760" y="0"/>
            <a:ext cx="7315200" cy="74980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Infrastructure Security — Questions &amp; Responses</a:t>
            </a:r>
            <a:endParaRPr lang="en-US" sz="2200" dirty="0"/>
          </a:p>
        </p:txBody>
      </p:sp>
      <p:sp>
        <p:nvSpPr>
          <p:cNvPr id="5" name="Shape 3"/>
          <p:cNvSpPr/>
          <p:nvPr/>
        </p:nvSpPr>
        <p:spPr>
          <a:xfrm>
            <a:off x="7516368" y="146304"/>
            <a:ext cx="1389888" cy="45720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7516368" y="146304"/>
            <a:ext cx="1389888" cy="457200"/>
          </a:xfrm>
          <a:prstGeom prst="rect">
            <a:avLst/>
          </a:prstGeom>
          <a:noFill/>
          <a:ln/>
        </p:spPr>
        <p:txBody>
          <a:bodyPr wrap="square" lIns="0" tIns="0" rIns="0" bIns="0" rtlCol="0" anchor="ctr"/>
          <a:lstStyle/>
          <a:p>
            <a:pPr marL="0" indent="0" algn="ctr">
              <a:buNone/>
            </a:pPr>
            <a:r>
              <a:rPr lang="en-US" sz="850" b="1" kern="0" spc="50" dirty="0">
                <a:solidFill>
                  <a:srgbClr val="FFFFFF"/>
                </a:solidFill>
              </a:rPr>
              <a:t>INFRA SEC</a:t>
            </a:r>
            <a:endParaRPr lang="en-US" sz="850" dirty="0"/>
          </a:p>
        </p:txBody>
      </p:sp>
      <p:sp>
        <p:nvSpPr>
          <p:cNvPr id="7" name="Shape 5"/>
          <p:cNvSpPr/>
          <p:nvPr/>
        </p:nvSpPr>
        <p:spPr>
          <a:xfrm>
            <a:off x="274320" y="905256"/>
            <a:ext cx="4251960" cy="8869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274320" y="905256"/>
            <a:ext cx="64008" cy="886968"/>
          </a:xfrm>
          <a:prstGeom prst="rect">
            <a:avLst/>
          </a:prstGeom>
          <a:solidFill>
            <a:srgbClr val="028090"/>
          </a:solidFill>
          <a:ln w="12700">
            <a:solidFill>
              <a:srgbClr val="028090"/>
            </a:solidFill>
            <a:prstDash val="solid"/>
          </a:ln>
        </p:spPr>
        <p:txBody>
          <a:bodyPr/>
          <a:lstStyle/>
          <a:p>
            <a:endParaRPr lang="en-US"/>
          </a:p>
        </p:txBody>
      </p:sp>
      <p:sp>
        <p:nvSpPr>
          <p:cNvPr id="9" name="Shape 7"/>
          <p:cNvSpPr/>
          <p:nvPr/>
        </p:nvSpPr>
        <p:spPr>
          <a:xfrm>
            <a:off x="3858768" y="969264"/>
            <a:ext cx="603504" cy="182880"/>
          </a:xfrm>
          <a:prstGeom prst="rect">
            <a:avLst/>
          </a:prstGeom>
          <a:solidFill>
            <a:srgbClr val="1E8449"/>
          </a:solidFill>
          <a:ln w="12700">
            <a:solidFill>
              <a:srgbClr val="1E8449"/>
            </a:solidFill>
            <a:prstDash val="solid"/>
          </a:ln>
        </p:spPr>
        <p:txBody>
          <a:bodyPr/>
          <a:lstStyle/>
          <a:p>
            <a:endParaRPr lang="en-US"/>
          </a:p>
        </p:txBody>
      </p:sp>
      <p:sp>
        <p:nvSpPr>
          <p:cNvPr id="10" name="Text 8"/>
          <p:cNvSpPr/>
          <p:nvPr/>
        </p:nvSpPr>
        <p:spPr>
          <a:xfrm>
            <a:off x="3858768" y="969264"/>
            <a:ext cx="603504" cy="182880"/>
          </a:xfrm>
          <a:prstGeom prst="rect">
            <a:avLst/>
          </a:prstGeom>
          <a:noFill/>
          <a:ln/>
        </p:spPr>
        <p:txBody>
          <a:bodyPr wrap="square" lIns="0" tIns="0" rIns="0" bIns="0" rtlCol="0" anchor="ctr"/>
          <a:lstStyle/>
          <a:p>
            <a:pPr marL="0" indent="0" algn="ctr">
              <a:buNone/>
            </a:pPr>
            <a:r>
              <a:rPr lang="en-US" sz="650" b="1" dirty="0">
                <a:solidFill>
                  <a:srgbClr val="FFFFFF"/>
                </a:solidFill>
              </a:rPr>
              <a:t>ADDRESSED</a:t>
            </a:r>
            <a:endParaRPr lang="en-US" sz="650" dirty="0"/>
          </a:p>
        </p:txBody>
      </p:sp>
      <p:sp>
        <p:nvSpPr>
          <p:cNvPr id="11" name="Text 9"/>
          <p:cNvSpPr/>
          <p:nvPr/>
        </p:nvSpPr>
        <p:spPr>
          <a:xfrm>
            <a:off x="420624" y="950976"/>
            <a:ext cx="336499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Q1.  Phishing risk via fake portals using BBH branding?</a:t>
            </a:r>
            <a:endParaRPr lang="en-US" sz="900" dirty="0"/>
          </a:p>
        </p:txBody>
      </p:sp>
      <p:sp>
        <p:nvSpPr>
          <p:cNvPr id="12" name="Text 10"/>
          <p:cNvSpPr/>
          <p:nvPr/>
        </p:nvSpPr>
        <p:spPr>
          <a:xfrm>
            <a:off x="420624" y="1216152"/>
            <a:ext cx="4041648" cy="53035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Plaid's OAuth flow redirects users to their bank's own verified domain — no credentials are ever typed into a Plaid-hosted screen. Certificate pinning and redirect_uri whitelisting prevent rogue portals. BBH must enforce proxy URL allow-listing and phishing-awareness training as compensating controls.</a:t>
            </a:r>
            <a:endParaRPr lang="en-US" sz="800" dirty="0"/>
          </a:p>
        </p:txBody>
      </p:sp>
      <p:sp>
        <p:nvSpPr>
          <p:cNvPr id="13" name="Shape 11"/>
          <p:cNvSpPr/>
          <p:nvPr/>
        </p:nvSpPr>
        <p:spPr>
          <a:xfrm>
            <a:off x="274320" y="1892808"/>
            <a:ext cx="4251960" cy="8869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12"/>
          <p:cNvSpPr/>
          <p:nvPr/>
        </p:nvSpPr>
        <p:spPr>
          <a:xfrm>
            <a:off x="274320" y="1892808"/>
            <a:ext cx="64008" cy="886968"/>
          </a:xfrm>
          <a:prstGeom prst="rect">
            <a:avLst/>
          </a:prstGeom>
          <a:solidFill>
            <a:srgbClr val="028090"/>
          </a:solidFill>
          <a:ln w="12700">
            <a:solidFill>
              <a:srgbClr val="028090"/>
            </a:solidFill>
            <a:prstDash val="solid"/>
          </a:ln>
        </p:spPr>
        <p:txBody>
          <a:bodyPr/>
          <a:lstStyle/>
          <a:p>
            <a:endParaRPr lang="en-US"/>
          </a:p>
        </p:txBody>
      </p:sp>
      <p:sp>
        <p:nvSpPr>
          <p:cNvPr id="15" name="Shape 13"/>
          <p:cNvSpPr/>
          <p:nvPr/>
        </p:nvSpPr>
        <p:spPr>
          <a:xfrm>
            <a:off x="3858768" y="1956816"/>
            <a:ext cx="603504" cy="182880"/>
          </a:xfrm>
          <a:prstGeom prst="rect">
            <a:avLst/>
          </a:prstGeom>
          <a:solidFill>
            <a:srgbClr val="1E8449"/>
          </a:solidFill>
          <a:ln w="12700">
            <a:solidFill>
              <a:srgbClr val="1E8449"/>
            </a:solidFill>
            <a:prstDash val="solid"/>
          </a:ln>
        </p:spPr>
        <p:txBody>
          <a:bodyPr/>
          <a:lstStyle/>
          <a:p>
            <a:endParaRPr lang="en-US"/>
          </a:p>
        </p:txBody>
      </p:sp>
      <p:sp>
        <p:nvSpPr>
          <p:cNvPr id="16" name="Text 14"/>
          <p:cNvSpPr/>
          <p:nvPr/>
        </p:nvSpPr>
        <p:spPr>
          <a:xfrm>
            <a:off x="3858768" y="1956816"/>
            <a:ext cx="603504" cy="182880"/>
          </a:xfrm>
          <a:prstGeom prst="rect">
            <a:avLst/>
          </a:prstGeom>
          <a:noFill/>
          <a:ln/>
        </p:spPr>
        <p:txBody>
          <a:bodyPr wrap="square" lIns="0" tIns="0" rIns="0" bIns="0" rtlCol="0" anchor="ctr"/>
          <a:lstStyle/>
          <a:p>
            <a:pPr marL="0" indent="0" algn="ctr">
              <a:buNone/>
            </a:pPr>
            <a:r>
              <a:rPr lang="en-US" sz="650" b="1" dirty="0">
                <a:solidFill>
                  <a:srgbClr val="FFFFFF"/>
                </a:solidFill>
              </a:rPr>
              <a:t>ADDRESSED</a:t>
            </a:r>
            <a:endParaRPr lang="en-US" sz="650" dirty="0"/>
          </a:p>
        </p:txBody>
      </p:sp>
      <p:sp>
        <p:nvSpPr>
          <p:cNvPr id="17" name="Text 15"/>
          <p:cNvSpPr/>
          <p:nvPr/>
        </p:nvSpPr>
        <p:spPr>
          <a:xfrm>
            <a:off x="420624" y="1938528"/>
            <a:ext cx="336499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Q2.  MFA compliance with NYDFS 500.12 &amp; risk-based step-up?</a:t>
            </a:r>
            <a:endParaRPr lang="en-US" sz="900" dirty="0"/>
          </a:p>
        </p:txBody>
      </p:sp>
      <p:sp>
        <p:nvSpPr>
          <p:cNvPr id="18" name="Text 16"/>
          <p:cNvSpPr/>
          <p:nvPr/>
        </p:nvSpPr>
        <p:spPr>
          <a:xfrm>
            <a:off x="420624" y="2203704"/>
            <a:ext cx="4041648" cy="53035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Plaid surfaces bank-issued MFA (SMS, TOTP, security questions) without bypassing it. BBH PingFederate enforces risk-based step-up authentication post-token exchange, fully satisfying NYDFS 500.12 AAL2 requirements.</a:t>
            </a:r>
            <a:endParaRPr lang="en-US" sz="800" dirty="0"/>
          </a:p>
        </p:txBody>
      </p:sp>
      <p:sp>
        <p:nvSpPr>
          <p:cNvPr id="19" name="Shape 17"/>
          <p:cNvSpPr/>
          <p:nvPr/>
        </p:nvSpPr>
        <p:spPr>
          <a:xfrm>
            <a:off x="274320" y="2880360"/>
            <a:ext cx="4251960" cy="8869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8"/>
          <p:cNvSpPr/>
          <p:nvPr/>
        </p:nvSpPr>
        <p:spPr>
          <a:xfrm>
            <a:off x="274320" y="2880360"/>
            <a:ext cx="64008" cy="886968"/>
          </a:xfrm>
          <a:prstGeom prst="rect">
            <a:avLst/>
          </a:prstGeom>
          <a:solidFill>
            <a:srgbClr val="028090"/>
          </a:solidFill>
          <a:ln w="12700">
            <a:solidFill>
              <a:srgbClr val="028090"/>
            </a:solidFill>
            <a:prstDash val="solid"/>
          </a:ln>
        </p:spPr>
        <p:txBody>
          <a:bodyPr/>
          <a:lstStyle/>
          <a:p>
            <a:endParaRPr lang="en-US"/>
          </a:p>
        </p:txBody>
      </p:sp>
      <p:sp>
        <p:nvSpPr>
          <p:cNvPr id="21" name="Shape 19"/>
          <p:cNvSpPr/>
          <p:nvPr/>
        </p:nvSpPr>
        <p:spPr>
          <a:xfrm>
            <a:off x="3858768" y="2944368"/>
            <a:ext cx="603504" cy="182880"/>
          </a:xfrm>
          <a:prstGeom prst="rect">
            <a:avLst/>
          </a:prstGeom>
          <a:solidFill>
            <a:srgbClr val="1E8449"/>
          </a:solidFill>
          <a:ln w="12700">
            <a:solidFill>
              <a:srgbClr val="1E8449"/>
            </a:solidFill>
            <a:prstDash val="solid"/>
          </a:ln>
        </p:spPr>
        <p:txBody>
          <a:bodyPr/>
          <a:lstStyle/>
          <a:p>
            <a:endParaRPr lang="en-US"/>
          </a:p>
        </p:txBody>
      </p:sp>
      <p:sp>
        <p:nvSpPr>
          <p:cNvPr id="22" name="Text 20"/>
          <p:cNvSpPr/>
          <p:nvPr/>
        </p:nvSpPr>
        <p:spPr>
          <a:xfrm>
            <a:off x="3858768" y="2944368"/>
            <a:ext cx="603504" cy="182880"/>
          </a:xfrm>
          <a:prstGeom prst="rect">
            <a:avLst/>
          </a:prstGeom>
          <a:noFill/>
          <a:ln/>
        </p:spPr>
        <p:txBody>
          <a:bodyPr wrap="square" lIns="0" tIns="0" rIns="0" bIns="0" rtlCol="0" anchor="ctr"/>
          <a:lstStyle/>
          <a:p>
            <a:pPr marL="0" indent="0" algn="ctr">
              <a:buNone/>
            </a:pPr>
            <a:r>
              <a:rPr lang="en-US" sz="650" b="1" dirty="0">
                <a:solidFill>
                  <a:srgbClr val="FFFFFF"/>
                </a:solidFill>
              </a:rPr>
              <a:t>ADDRESSED</a:t>
            </a:r>
            <a:endParaRPr lang="en-US" sz="650" dirty="0"/>
          </a:p>
        </p:txBody>
      </p:sp>
      <p:sp>
        <p:nvSpPr>
          <p:cNvPr id="23" name="Text 21"/>
          <p:cNvSpPr/>
          <p:nvPr/>
        </p:nvSpPr>
        <p:spPr>
          <a:xfrm>
            <a:off x="420624" y="2926080"/>
            <a:ext cx="336499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Q3.  Can we block Plaid while still allowing direct user login?</a:t>
            </a:r>
            <a:endParaRPr lang="en-US" sz="900" dirty="0"/>
          </a:p>
        </p:txBody>
      </p:sp>
      <p:sp>
        <p:nvSpPr>
          <p:cNvPr id="24" name="Text 22"/>
          <p:cNvSpPr/>
          <p:nvPr/>
        </p:nvSpPr>
        <p:spPr>
          <a:xfrm>
            <a:off x="420624" y="3191256"/>
            <a:ext cx="4041648" cy="53035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Yes. Revoking Plaid API access tokens immediately terminates all Plaid-brokered sessions. Users retain the ability to log in directly to their bank. The Plaid channel and direct-login channel share no session state — revocation of one does not affect the other.</a:t>
            </a:r>
            <a:endParaRPr lang="en-US" sz="800" dirty="0"/>
          </a:p>
        </p:txBody>
      </p:sp>
      <p:sp>
        <p:nvSpPr>
          <p:cNvPr id="25" name="Shape 23"/>
          <p:cNvSpPr/>
          <p:nvPr/>
        </p:nvSpPr>
        <p:spPr>
          <a:xfrm>
            <a:off x="274320" y="3867912"/>
            <a:ext cx="4251960" cy="886968"/>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274320" y="3867912"/>
            <a:ext cx="64008" cy="886968"/>
          </a:xfrm>
          <a:prstGeom prst="rect">
            <a:avLst/>
          </a:prstGeom>
          <a:solidFill>
            <a:srgbClr val="028090"/>
          </a:solidFill>
          <a:ln w="12700">
            <a:solidFill>
              <a:srgbClr val="028090"/>
            </a:solidFill>
            <a:prstDash val="solid"/>
          </a:ln>
        </p:spPr>
        <p:txBody>
          <a:bodyPr/>
          <a:lstStyle/>
          <a:p>
            <a:endParaRPr lang="en-US"/>
          </a:p>
        </p:txBody>
      </p:sp>
      <p:sp>
        <p:nvSpPr>
          <p:cNvPr id="27" name="Shape 25"/>
          <p:cNvSpPr/>
          <p:nvPr/>
        </p:nvSpPr>
        <p:spPr>
          <a:xfrm>
            <a:off x="3858768" y="3931920"/>
            <a:ext cx="603504" cy="182880"/>
          </a:xfrm>
          <a:prstGeom prst="rect">
            <a:avLst/>
          </a:prstGeom>
          <a:solidFill>
            <a:srgbClr val="BA4A00"/>
          </a:solidFill>
          <a:ln w="12700">
            <a:solidFill>
              <a:srgbClr val="BA4A00"/>
            </a:solidFill>
            <a:prstDash val="solid"/>
          </a:ln>
        </p:spPr>
        <p:txBody>
          <a:bodyPr/>
          <a:lstStyle/>
          <a:p>
            <a:endParaRPr lang="en-US"/>
          </a:p>
        </p:txBody>
      </p:sp>
      <p:sp>
        <p:nvSpPr>
          <p:cNvPr id="28" name="Text 26"/>
          <p:cNvSpPr/>
          <p:nvPr/>
        </p:nvSpPr>
        <p:spPr>
          <a:xfrm>
            <a:off x="3858768" y="3931920"/>
            <a:ext cx="603504" cy="182880"/>
          </a:xfrm>
          <a:prstGeom prst="rect">
            <a:avLst/>
          </a:prstGeom>
          <a:noFill/>
          <a:ln/>
        </p:spPr>
        <p:txBody>
          <a:bodyPr wrap="square" lIns="0" tIns="0" rIns="0" bIns="0" rtlCol="0" anchor="ctr"/>
          <a:lstStyle/>
          <a:p>
            <a:pPr marL="0" indent="0" algn="ctr">
              <a:buNone/>
            </a:pPr>
            <a:r>
              <a:rPr lang="en-US" sz="650" b="1" dirty="0">
                <a:solidFill>
                  <a:srgbClr val="FFFFFF"/>
                </a:solidFill>
              </a:rPr>
              <a:t>BBH CONTROL</a:t>
            </a:r>
            <a:endParaRPr lang="en-US" sz="650" dirty="0"/>
          </a:p>
        </p:txBody>
      </p:sp>
      <p:sp>
        <p:nvSpPr>
          <p:cNvPr id="29" name="Text 27"/>
          <p:cNvSpPr/>
          <p:nvPr/>
        </p:nvSpPr>
        <p:spPr>
          <a:xfrm>
            <a:off x="420624" y="3913632"/>
            <a:ext cx="336499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Q4.  Can we block Plaid access from specific countries or regions?</a:t>
            </a:r>
            <a:endParaRPr lang="en-US" sz="900" dirty="0"/>
          </a:p>
        </p:txBody>
      </p:sp>
      <p:sp>
        <p:nvSpPr>
          <p:cNvPr id="30" name="Text 28"/>
          <p:cNvSpPr/>
          <p:nvPr/>
        </p:nvSpPr>
        <p:spPr>
          <a:xfrm>
            <a:off x="420624" y="4178808"/>
            <a:ext cx="4041648" cy="53035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Plaid does not provide native per-customer geo-blocking. BBH can implement geo-fencing at the Apigee API Gateway (IP-based allow/block lists) or at the Zscaler Internet Access proxy. This is a BBH-owned compensating control, not a Plaid-native feature.</a:t>
            </a:r>
            <a:endParaRPr lang="en-US" sz="800" dirty="0"/>
          </a:p>
        </p:txBody>
      </p:sp>
      <p:sp>
        <p:nvSpPr>
          <p:cNvPr id="31" name="Shape 29"/>
          <p:cNvSpPr/>
          <p:nvPr/>
        </p:nvSpPr>
        <p:spPr>
          <a:xfrm>
            <a:off x="4736592" y="905256"/>
            <a:ext cx="4133088" cy="1188720"/>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2" name="Shape 30"/>
          <p:cNvSpPr/>
          <p:nvPr/>
        </p:nvSpPr>
        <p:spPr>
          <a:xfrm>
            <a:off x="4736592" y="905256"/>
            <a:ext cx="64008" cy="1188720"/>
          </a:xfrm>
          <a:prstGeom prst="rect">
            <a:avLst/>
          </a:prstGeom>
          <a:solidFill>
            <a:srgbClr val="00A896"/>
          </a:solidFill>
          <a:ln w="12700">
            <a:solidFill>
              <a:srgbClr val="00A896"/>
            </a:solidFill>
            <a:prstDash val="solid"/>
          </a:ln>
        </p:spPr>
        <p:txBody>
          <a:bodyPr/>
          <a:lstStyle/>
          <a:p>
            <a:endParaRPr lang="en-US"/>
          </a:p>
        </p:txBody>
      </p:sp>
      <p:sp>
        <p:nvSpPr>
          <p:cNvPr id="33" name="Shape 31"/>
          <p:cNvSpPr/>
          <p:nvPr/>
        </p:nvSpPr>
        <p:spPr>
          <a:xfrm>
            <a:off x="8229600" y="969264"/>
            <a:ext cx="566928" cy="182880"/>
          </a:xfrm>
          <a:prstGeom prst="rect">
            <a:avLst/>
          </a:prstGeom>
          <a:solidFill>
            <a:srgbClr val="BA4A00"/>
          </a:solidFill>
          <a:ln w="12700">
            <a:solidFill>
              <a:srgbClr val="BA4A00"/>
            </a:solidFill>
            <a:prstDash val="solid"/>
          </a:ln>
        </p:spPr>
        <p:txBody>
          <a:bodyPr/>
          <a:lstStyle/>
          <a:p>
            <a:endParaRPr lang="en-US"/>
          </a:p>
        </p:txBody>
      </p:sp>
      <p:sp>
        <p:nvSpPr>
          <p:cNvPr id="34" name="Text 32"/>
          <p:cNvSpPr/>
          <p:nvPr/>
        </p:nvSpPr>
        <p:spPr>
          <a:xfrm>
            <a:off x="8229600" y="969264"/>
            <a:ext cx="566928" cy="182880"/>
          </a:xfrm>
          <a:prstGeom prst="rect">
            <a:avLst/>
          </a:prstGeom>
          <a:noFill/>
          <a:ln/>
        </p:spPr>
        <p:txBody>
          <a:bodyPr wrap="square" lIns="0" tIns="0" rIns="0" bIns="0" rtlCol="0" anchor="ctr"/>
          <a:lstStyle/>
          <a:p>
            <a:pPr marL="0" indent="0" algn="ctr">
              <a:buNone/>
            </a:pPr>
            <a:r>
              <a:rPr lang="en-US" sz="650" b="1" dirty="0">
                <a:solidFill>
                  <a:srgbClr val="FFFFFF"/>
                </a:solidFill>
              </a:rPr>
              <a:t>CUSTOM IMPL</a:t>
            </a:r>
            <a:endParaRPr lang="en-US" sz="650" dirty="0"/>
          </a:p>
        </p:txBody>
      </p:sp>
      <p:sp>
        <p:nvSpPr>
          <p:cNvPr id="35" name="Text 33"/>
          <p:cNvSpPr/>
          <p:nvPr/>
        </p:nvSpPr>
        <p:spPr>
          <a:xfrm>
            <a:off x="4882896" y="950976"/>
            <a:ext cx="327355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Q5.  Can Plaid preserve original source IP in SAML assertion headers?</a:t>
            </a:r>
            <a:endParaRPr lang="en-US" sz="900" dirty="0"/>
          </a:p>
        </p:txBody>
      </p:sp>
      <p:sp>
        <p:nvSpPr>
          <p:cNvPr id="36" name="Text 34"/>
          <p:cNvSpPr/>
          <p:nvPr/>
        </p:nvSpPr>
        <p:spPr>
          <a:xfrm>
            <a:off x="4882896" y="1234440"/>
            <a:ext cx="3913632" cy="80467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Plaid logs the initiating client IP internally. Passing the original IP in SAML assertion headers (e.g., X-Forwarded-For) is non-standard but achievable via the BBH application layer before PingFederate constructs the SAML assertion. Recommended for forensic audit chain completeness.</a:t>
            </a:r>
            <a:endParaRPr lang="en-US" sz="800" dirty="0"/>
          </a:p>
        </p:txBody>
      </p:sp>
      <p:sp>
        <p:nvSpPr>
          <p:cNvPr id="37" name="Shape 35"/>
          <p:cNvSpPr/>
          <p:nvPr/>
        </p:nvSpPr>
        <p:spPr>
          <a:xfrm>
            <a:off x="4736592" y="2221992"/>
            <a:ext cx="4133088" cy="1188720"/>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38" name="Shape 36"/>
          <p:cNvSpPr/>
          <p:nvPr/>
        </p:nvSpPr>
        <p:spPr>
          <a:xfrm>
            <a:off x="4736592" y="2221992"/>
            <a:ext cx="64008" cy="1188720"/>
          </a:xfrm>
          <a:prstGeom prst="rect">
            <a:avLst/>
          </a:prstGeom>
          <a:solidFill>
            <a:srgbClr val="00A896"/>
          </a:solidFill>
          <a:ln w="12700">
            <a:solidFill>
              <a:srgbClr val="00A896"/>
            </a:solidFill>
            <a:prstDash val="solid"/>
          </a:ln>
        </p:spPr>
        <p:txBody>
          <a:bodyPr/>
          <a:lstStyle/>
          <a:p>
            <a:endParaRPr lang="en-US"/>
          </a:p>
        </p:txBody>
      </p:sp>
      <p:sp>
        <p:nvSpPr>
          <p:cNvPr id="39" name="Shape 37"/>
          <p:cNvSpPr/>
          <p:nvPr/>
        </p:nvSpPr>
        <p:spPr>
          <a:xfrm>
            <a:off x="8229600" y="2286000"/>
            <a:ext cx="566928" cy="182880"/>
          </a:xfrm>
          <a:prstGeom prst="rect">
            <a:avLst/>
          </a:prstGeom>
          <a:solidFill>
            <a:srgbClr val="1E8449"/>
          </a:solidFill>
          <a:ln w="12700">
            <a:solidFill>
              <a:srgbClr val="1E8449"/>
            </a:solidFill>
            <a:prstDash val="solid"/>
          </a:ln>
        </p:spPr>
        <p:txBody>
          <a:bodyPr/>
          <a:lstStyle/>
          <a:p>
            <a:endParaRPr lang="en-US"/>
          </a:p>
        </p:txBody>
      </p:sp>
      <p:sp>
        <p:nvSpPr>
          <p:cNvPr id="40" name="Text 38"/>
          <p:cNvSpPr/>
          <p:nvPr/>
        </p:nvSpPr>
        <p:spPr>
          <a:xfrm>
            <a:off x="8229600" y="2286000"/>
            <a:ext cx="566928" cy="182880"/>
          </a:xfrm>
          <a:prstGeom prst="rect">
            <a:avLst/>
          </a:prstGeom>
          <a:noFill/>
          <a:ln/>
        </p:spPr>
        <p:txBody>
          <a:bodyPr wrap="square" lIns="0" tIns="0" rIns="0" bIns="0" rtlCol="0" anchor="ctr"/>
          <a:lstStyle/>
          <a:p>
            <a:pPr marL="0" indent="0" algn="ctr">
              <a:buNone/>
            </a:pPr>
            <a:r>
              <a:rPr lang="en-US" sz="650" b="1" dirty="0">
                <a:solidFill>
                  <a:srgbClr val="FFFFFF"/>
                </a:solidFill>
              </a:rPr>
              <a:t>ADDRESSED</a:t>
            </a:r>
            <a:endParaRPr lang="en-US" sz="650" dirty="0"/>
          </a:p>
        </p:txBody>
      </p:sp>
      <p:sp>
        <p:nvSpPr>
          <p:cNvPr id="41" name="Text 39"/>
          <p:cNvSpPr/>
          <p:nvPr/>
        </p:nvSpPr>
        <p:spPr>
          <a:xfrm>
            <a:off x="4882896" y="2267712"/>
            <a:ext cx="327355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Q6.  Do we receive system admin logs &amp; user authentication details?</a:t>
            </a:r>
            <a:endParaRPr lang="en-US" sz="900" dirty="0"/>
          </a:p>
        </p:txBody>
      </p:sp>
      <p:sp>
        <p:nvSpPr>
          <p:cNvPr id="42" name="Text 40"/>
          <p:cNvSpPr/>
          <p:nvPr/>
        </p:nvSpPr>
        <p:spPr>
          <a:xfrm>
            <a:off x="4882896" y="2551176"/>
            <a:ext cx="3913632" cy="80467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Yes. Plaid exposes connection creation, transaction, and full token lifecycle events (issuance, refresh, revocation) via API and webhooks. Raw credentials are never included. All events are scoped strictly to BBH's Plaid tenant — no cross-tenant data exposure is possible.</a:t>
            </a:r>
            <a:endParaRPr lang="en-US" sz="800" dirty="0"/>
          </a:p>
        </p:txBody>
      </p:sp>
      <p:sp>
        <p:nvSpPr>
          <p:cNvPr id="43" name="Shape 41"/>
          <p:cNvSpPr/>
          <p:nvPr/>
        </p:nvSpPr>
        <p:spPr>
          <a:xfrm>
            <a:off x="4736592" y="3538728"/>
            <a:ext cx="4133088" cy="1188720"/>
          </a:xfrm>
          <a:prstGeom prst="rect">
            <a:avLst/>
          </a:prstGeom>
          <a:solidFill>
            <a:srgbClr val="FFFFFF"/>
          </a:solidFill>
          <a:ln w="9525">
            <a:solidFill>
              <a:srgbClr val="E8EEF0"/>
            </a:solidFill>
            <a:prstDash val="solid"/>
          </a:ln>
          <a:effectLst>
            <a:outerShdw blurRad="63500" dist="25400" dir="8100000" algn="bl" rotWithShape="0">
              <a:srgbClr val="000000">
                <a:alpha val="8000"/>
              </a:srgbClr>
            </a:outerShdw>
          </a:effectLst>
        </p:spPr>
        <p:txBody>
          <a:bodyPr/>
          <a:lstStyle/>
          <a:p>
            <a:endParaRPr lang="en-US"/>
          </a:p>
        </p:txBody>
      </p:sp>
      <p:sp>
        <p:nvSpPr>
          <p:cNvPr id="44" name="Shape 42"/>
          <p:cNvSpPr/>
          <p:nvPr/>
        </p:nvSpPr>
        <p:spPr>
          <a:xfrm>
            <a:off x="4736592" y="3538728"/>
            <a:ext cx="64008" cy="1188720"/>
          </a:xfrm>
          <a:prstGeom prst="rect">
            <a:avLst/>
          </a:prstGeom>
          <a:solidFill>
            <a:srgbClr val="00A896"/>
          </a:solidFill>
          <a:ln w="12700">
            <a:solidFill>
              <a:srgbClr val="00A896"/>
            </a:solidFill>
            <a:prstDash val="solid"/>
          </a:ln>
        </p:spPr>
        <p:txBody>
          <a:bodyPr/>
          <a:lstStyle/>
          <a:p>
            <a:endParaRPr lang="en-US"/>
          </a:p>
        </p:txBody>
      </p:sp>
      <p:sp>
        <p:nvSpPr>
          <p:cNvPr id="45" name="Shape 43"/>
          <p:cNvSpPr/>
          <p:nvPr/>
        </p:nvSpPr>
        <p:spPr>
          <a:xfrm>
            <a:off x="8229600" y="3602736"/>
            <a:ext cx="566928" cy="182880"/>
          </a:xfrm>
          <a:prstGeom prst="rect">
            <a:avLst/>
          </a:prstGeom>
          <a:solidFill>
            <a:srgbClr val="1E8449"/>
          </a:solidFill>
          <a:ln w="12700">
            <a:solidFill>
              <a:srgbClr val="1E8449"/>
            </a:solidFill>
            <a:prstDash val="solid"/>
          </a:ln>
        </p:spPr>
        <p:txBody>
          <a:bodyPr/>
          <a:lstStyle/>
          <a:p>
            <a:endParaRPr lang="en-US"/>
          </a:p>
        </p:txBody>
      </p:sp>
      <p:sp>
        <p:nvSpPr>
          <p:cNvPr id="46" name="Text 44"/>
          <p:cNvSpPr/>
          <p:nvPr/>
        </p:nvSpPr>
        <p:spPr>
          <a:xfrm>
            <a:off x="8229600" y="3602736"/>
            <a:ext cx="566928" cy="182880"/>
          </a:xfrm>
          <a:prstGeom prst="rect">
            <a:avLst/>
          </a:prstGeom>
          <a:noFill/>
          <a:ln/>
        </p:spPr>
        <p:txBody>
          <a:bodyPr wrap="square" lIns="0" tIns="0" rIns="0" bIns="0" rtlCol="0" anchor="ctr"/>
          <a:lstStyle/>
          <a:p>
            <a:pPr marL="0" indent="0" algn="ctr">
              <a:buNone/>
            </a:pPr>
            <a:r>
              <a:rPr lang="en-US" sz="650" b="1" dirty="0">
                <a:solidFill>
                  <a:srgbClr val="FFFFFF"/>
                </a:solidFill>
              </a:rPr>
              <a:t>ADDRESSED</a:t>
            </a:r>
            <a:endParaRPr lang="en-US" sz="650" dirty="0"/>
          </a:p>
        </p:txBody>
      </p:sp>
      <p:sp>
        <p:nvSpPr>
          <p:cNvPr id="47" name="Text 45"/>
          <p:cNvSpPr/>
          <p:nvPr/>
        </p:nvSpPr>
        <p:spPr>
          <a:xfrm>
            <a:off x="4882896" y="3584448"/>
            <a:ext cx="3273552" cy="237744"/>
          </a:xfrm>
          <a:prstGeom prst="rect">
            <a:avLst/>
          </a:prstGeom>
          <a:noFill/>
          <a:ln/>
        </p:spPr>
        <p:txBody>
          <a:bodyPr wrap="square" rtlCol="0" anchor="ctr"/>
          <a:lstStyle/>
          <a:p>
            <a:pPr marL="0" indent="0">
              <a:buNone/>
            </a:pPr>
            <a:r>
              <a:rPr lang="en-US" sz="900" b="1" dirty="0">
                <a:solidFill>
                  <a:srgbClr val="0A1628"/>
                </a:solidFill>
                <a:latin typeface="Calibri" pitchFamily="34" charset="0"/>
                <a:ea typeface="Calibri" pitchFamily="34" charset="-122"/>
                <a:cs typeface="Calibri" pitchFamily="34" charset="-120"/>
              </a:rPr>
              <a:t>Q7.  Can we ingest Plaid authentication logs into our SIEM?</a:t>
            </a:r>
            <a:endParaRPr lang="en-US" sz="900" dirty="0"/>
          </a:p>
        </p:txBody>
      </p:sp>
      <p:sp>
        <p:nvSpPr>
          <p:cNvPr id="48" name="Text 46"/>
          <p:cNvSpPr/>
          <p:nvPr/>
        </p:nvSpPr>
        <p:spPr>
          <a:xfrm>
            <a:off x="4882896" y="3867912"/>
            <a:ext cx="3913632" cy="804672"/>
          </a:xfrm>
          <a:prstGeom prst="rect">
            <a:avLst/>
          </a:prstGeom>
          <a:noFill/>
          <a:ln/>
        </p:spPr>
        <p:txBody>
          <a:bodyPr wrap="square" rtlCol="0" anchor="ctr"/>
          <a:lstStyle/>
          <a:p>
            <a:pPr marL="0" indent="0">
              <a:buNone/>
            </a:pPr>
            <a:r>
              <a:rPr lang="en-US" sz="800" dirty="0">
                <a:solidFill>
                  <a:srgbClr val="3D5260"/>
                </a:solidFill>
                <a:latin typeface="Calibri" pitchFamily="34" charset="0"/>
                <a:ea typeface="Calibri" pitchFamily="34" charset="-122"/>
                <a:cs typeface="Calibri" pitchFamily="34" charset="-120"/>
              </a:rPr>
              <a:t>Yes. Plaid webhooks deliver auth events (link creation, MFA completion, token revocation) in near real-time. Events are ingestible directly into BBH's SIEM (Splunk or equivalent) for continuous monitoring, compliance alerting, and regulatory audit trails. Raw MFA responses are not exposed.</a:t>
            </a:r>
            <a:endParaRPr lang="en-US" sz="800" dirty="0"/>
          </a:p>
        </p:txBody>
      </p:sp>
      <p:sp>
        <p:nvSpPr>
          <p:cNvPr id="49" name="Shape 47"/>
          <p:cNvSpPr/>
          <p:nvPr/>
        </p:nvSpPr>
        <p:spPr>
          <a:xfrm>
            <a:off x="274320" y="4846320"/>
            <a:ext cx="118872" cy="118872"/>
          </a:xfrm>
          <a:prstGeom prst="rect">
            <a:avLst/>
          </a:prstGeom>
          <a:solidFill>
            <a:srgbClr val="1E8449"/>
          </a:solidFill>
          <a:ln w="12700">
            <a:solidFill>
              <a:srgbClr val="1E8449"/>
            </a:solidFill>
            <a:prstDash val="solid"/>
          </a:ln>
        </p:spPr>
        <p:txBody>
          <a:bodyPr/>
          <a:lstStyle/>
          <a:p>
            <a:endParaRPr lang="en-US"/>
          </a:p>
        </p:txBody>
      </p:sp>
      <p:sp>
        <p:nvSpPr>
          <p:cNvPr id="50" name="Text 48"/>
          <p:cNvSpPr/>
          <p:nvPr/>
        </p:nvSpPr>
        <p:spPr>
          <a:xfrm>
            <a:off x="457200" y="4837176"/>
            <a:ext cx="2651760" cy="146304"/>
          </a:xfrm>
          <a:prstGeom prst="rect">
            <a:avLst/>
          </a:prstGeom>
          <a:noFill/>
          <a:ln/>
        </p:spPr>
        <p:txBody>
          <a:bodyPr wrap="square" rtlCol="0" anchor="ctr"/>
          <a:lstStyle/>
          <a:p>
            <a:pPr marL="0" indent="0">
              <a:buNone/>
            </a:pPr>
            <a:r>
              <a:rPr lang="en-US" sz="750" dirty="0">
                <a:solidFill>
                  <a:srgbClr val="8FA3A8"/>
                </a:solidFill>
                <a:latin typeface="Calibri" pitchFamily="34" charset="0"/>
                <a:ea typeface="Calibri" pitchFamily="34" charset="-122"/>
                <a:cs typeface="Calibri" pitchFamily="34" charset="-120"/>
              </a:rPr>
              <a:t>ADDRESSED — Plaid native or standard control</a:t>
            </a:r>
            <a:endParaRPr lang="en-US" sz="750" dirty="0"/>
          </a:p>
        </p:txBody>
      </p:sp>
      <p:sp>
        <p:nvSpPr>
          <p:cNvPr id="51" name="Shape 49"/>
          <p:cNvSpPr/>
          <p:nvPr/>
        </p:nvSpPr>
        <p:spPr>
          <a:xfrm>
            <a:off x="3172968" y="4846320"/>
            <a:ext cx="118872" cy="118872"/>
          </a:xfrm>
          <a:prstGeom prst="rect">
            <a:avLst/>
          </a:prstGeom>
          <a:solidFill>
            <a:srgbClr val="BA4A00"/>
          </a:solidFill>
          <a:ln w="12700">
            <a:solidFill>
              <a:srgbClr val="BA4A00"/>
            </a:solidFill>
            <a:prstDash val="solid"/>
          </a:ln>
        </p:spPr>
        <p:txBody>
          <a:bodyPr/>
          <a:lstStyle/>
          <a:p>
            <a:endParaRPr lang="en-US"/>
          </a:p>
        </p:txBody>
      </p:sp>
      <p:sp>
        <p:nvSpPr>
          <p:cNvPr id="52" name="Text 50"/>
          <p:cNvSpPr/>
          <p:nvPr/>
        </p:nvSpPr>
        <p:spPr>
          <a:xfrm>
            <a:off x="3355848" y="4837176"/>
            <a:ext cx="2651760" cy="146304"/>
          </a:xfrm>
          <a:prstGeom prst="rect">
            <a:avLst/>
          </a:prstGeom>
          <a:noFill/>
          <a:ln/>
        </p:spPr>
        <p:txBody>
          <a:bodyPr wrap="square" rtlCol="0" anchor="ctr"/>
          <a:lstStyle/>
          <a:p>
            <a:pPr marL="0" indent="0">
              <a:buNone/>
            </a:pPr>
            <a:r>
              <a:rPr lang="en-US" sz="750" dirty="0">
                <a:solidFill>
                  <a:srgbClr val="8FA3A8"/>
                </a:solidFill>
                <a:latin typeface="Calibri" pitchFamily="34" charset="0"/>
                <a:ea typeface="Calibri" pitchFamily="34" charset="-122"/>
                <a:cs typeface="Calibri" pitchFamily="34" charset="-120"/>
              </a:rPr>
              <a:t>BBH CONTROL — Requires BBH-side implementation</a:t>
            </a:r>
            <a:endParaRPr lang="en-US" sz="750" dirty="0"/>
          </a:p>
        </p:txBody>
      </p:sp>
      <p:sp>
        <p:nvSpPr>
          <p:cNvPr id="53" name="Shape 51"/>
          <p:cNvSpPr/>
          <p:nvPr/>
        </p:nvSpPr>
        <p:spPr>
          <a:xfrm>
            <a:off x="6071616" y="4846320"/>
            <a:ext cx="118872" cy="118872"/>
          </a:xfrm>
          <a:prstGeom prst="rect">
            <a:avLst/>
          </a:prstGeom>
          <a:solidFill>
            <a:srgbClr val="BA4A00"/>
          </a:solidFill>
          <a:ln w="12700">
            <a:solidFill>
              <a:srgbClr val="BA4A00"/>
            </a:solidFill>
            <a:prstDash val="solid"/>
          </a:ln>
        </p:spPr>
        <p:txBody>
          <a:bodyPr/>
          <a:lstStyle/>
          <a:p>
            <a:endParaRPr lang="en-US"/>
          </a:p>
        </p:txBody>
      </p:sp>
      <p:sp>
        <p:nvSpPr>
          <p:cNvPr id="54" name="Text 52"/>
          <p:cNvSpPr/>
          <p:nvPr/>
        </p:nvSpPr>
        <p:spPr>
          <a:xfrm>
            <a:off x="6254496" y="4837176"/>
            <a:ext cx="2651760" cy="146304"/>
          </a:xfrm>
          <a:prstGeom prst="rect">
            <a:avLst/>
          </a:prstGeom>
          <a:noFill/>
          <a:ln/>
        </p:spPr>
        <p:txBody>
          <a:bodyPr wrap="square" rtlCol="0" anchor="ctr"/>
          <a:lstStyle/>
          <a:p>
            <a:pPr marL="0" indent="0">
              <a:buNone/>
            </a:pPr>
            <a:r>
              <a:rPr lang="en-US" sz="750" dirty="0">
                <a:solidFill>
                  <a:srgbClr val="8FA3A8"/>
                </a:solidFill>
                <a:latin typeface="Calibri" pitchFamily="34" charset="0"/>
                <a:ea typeface="Calibri" pitchFamily="34" charset="-122"/>
                <a:cs typeface="Calibri" pitchFamily="34" charset="-120"/>
              </a:rPr>
              <a:t>CUSTOM IMPL — Non-standard; BBH app layer required</a:t>
            </a:r>
            <a:endParaRPr lang="en-US" sz="750" dirty="0"/>
          </a:p>
        </p:txBody>
      </p:sp>
      <p:sp>
        <p:nvSpPr>
          <p:cNvPr id="55" name="Shape 53"/>
          <p:cNvSpPr/>
          <p:nvPr/>
        </p:nvSpPr>
        <p:spPr>
          <a:xfrm>
            <a:off x="0" y="4864608"/>
            <a:ext cx="9144000" cy="278892"/>
          </a:xfrm>
          <a:prstGeom prst="rect">
            <a:avLst/>
          </a:prstGeom>
          <a:solidFill>
            <a:srgbClr val="0A1628"/>
          </a:solidFill>
          <a:ln w="12700">
            <a:solidFill>
              <a:srgbClr val="0A1628"/>
            </a:solidFill>
            <a:prstDash val="solid"/>
          </a:ln>
        </p:spPr>
        <p:txBody>
          <a:bodyPr/>
          <a:lstStyle/>
          <a:p>
            <a:endParaRPr lang="en-US"/>
          </a:p>
        </p:txBody>
      </p:sp>
      <p:sp>
        <p:nvSpPr>
          <p:cNvPr id="56" name="Text 54"/>
          <p:cNvSpPr/>
          <p:nvPr/>
        </p:nvSpPr>
        <p:spPr>
          <a:xfrm>
            <a:off x="320040" y="4878324"/>
            <a:ext cx="7772400" cy="237744"/>
          </a:xfrm>
          <a:prstGeom prst="rect">
            <a:avLst/>
          </a:prstGeom>
          <a:noFill/>
          <a:ln/>
        </p:spPr>
        <p:txBody>
          <a:bodyPr wrap="square" rtlCol="0" anchor="ctr"/>
          <a:lstStyle/>
          <a:p>
            <a:pPr marL="0" indent="0">
              <a:buNone/>
            </a:pPr>
            <a:r>
              <a:rPr lang="en-US" sz="850" dirty="0">
                <a:solidFill>
                  <a:srgbClr val="8FA3A8"/>
                </a:solidFill>
              </a:rPr>
              <a:t>BBH × Plaid | Architecture Review Board | Confidential &amp; Proprietary</a:t>
            </a:r>
            <a:endParaRPr lang="en-US" sz="850" dirty="0"/>
          </a:p>
        </p:txBody>
      </p:sp>
      <p:sp>
        <p:nvSpPr>
          <p:cNvPr id="57" name="Text 55"/>
          <p:cNvSpPr/>
          <p:nvPr/>
        </p:nvSpPr>
        <p:spPr>
          <a:xfrm>
            <a:off x="8503920" y="4878324"/>
            <a:ext cx="457200" cy="237744"/>
          </a:xfrm>
          <a:prstGeom prst="rect">
            <a:avLst/>
          </a:prstGeom>
          <a:noFill/>
          <a:ln/>
        </p:spPr>
        <p:txBody>
          <a:bodyPr wrap="square" rtlCol="0" anchor="ctr"/>
          <a:lstStyle/>
          <a:p>
            <a:pPr marL="0" indent="0" algn="r">
              <a:buNone/>
            </a:pPr>
            <a:r>
              <a:rPr lang="en-US" sz="850" dirty="0">
                <a:solidFill>
                  <a:srgbClr val="8FA3A8"/>
                </a:solidFill>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182880" y="0"/>
            <a:ext cx="8961120" cy="64008"/>
          </a:xfrm>
          <a:prstGeom prst="rect">
            <a:avLst/>
          </a:prstGeom>
          <a:solidFill>
            <a:srgbClr val="00A896"/>
          </a:solidFill>
          <a:ln w="12700">
            <a:solidFill>
              <a:srgbClr val="00A896"/>
            </a:solidFill>
            <a:prstDash val="solid"/>
          </a:ln>
        </p:spPr>
        <p:txBody>
          <a:bodyPr/>
          <a:lstStyle/>
          <a:p>
            <a:endParaRPr lang="en-US"/>
          </a:p>
        </p:txBody>
      </p:sp>
      <p:sp>
        <p:nvSpPr>
          <p:cNvPr id="4" name="Shape 2"/>
          <p:cNvSpPr/>
          <p:nvPr/>
        </p:nvSpPr>
        <p:spPr>
          <a:xfrm>
            <a:off x="5669280" y="274320"/>
            <a:ext cx="4389120" cy="4389120"/>
          </a:xfrm>
          <a:prstGeom prst="ellipse">
            <a:avLst/>
          </a:prstGeom>
          <a:solidFill>
            <a:srgbClr val="028090">
              <a:alpha val="10000"/>
            </a:srgbClr>
          </a:solidFill>
          <a:ln w="12700">
            <a:solidFill>
              <a:srgbClr val="028090">
                <a:alpha val="22000"/>
              </a:srgbClr>
            </a:solidFill>
            <a:prstDash val="solid"/>
          </a:ln>
        </p:spPr>
        <p:txBody>
          <a:bodyPr/>
          <a:lstStyle/>
          <a:p>
            <a:endParaRPr lang="en-US"/>
          </a:p>
        </p:txBody>
      </p:sp>
      <p:sp>
        <p:nvSpPr>
          <p:cNvPr id="5" name="Shape 3"/>
          <p:cNvSpPr/>
          <p:nvPr/>
        </p:nvSpPr>
        <p:spPr>
          <a:xfrm>
            <a:off x="6583680" y="1097280"/>
            <a:ext cx="2743200" cy="2743200"/>
          </a:xfrm>
          <a:prstGeom prst="ellipse">
            <a:avLst/>
          </a:prstGeom>
          <a:solidFill>
            <a:srgbClr val="00A896">
              <a:alpha val="15000"/>
            </a:srgbClr>
          </a:solidFill>
          <a:ln w="12700">
            <a:solidFill>
              <a:srgbClr val="00A896">
                <a:alpha val="28000"/>
              </a:srgbClr>
            </a:solidFill>
            <a:prstDash val="solid"/>
          </a:ln>
        </p:spPr>
        <p:txBody>
          <a:bodyPr/>
          <a:lstStyle/>
          <a:p>
            <a:endParaRPr lang="en-US"/>
          </a:p>
        </p:txBody>
      </p:sp>
      <p:sp>
        <p:nvSpPr>
          <p:cNvPr id="6" name="Text 4"/>
          <p:cNvSpPr/>
          <p:nvPr/>
        </p:nvSpPr>
        <p:spPr>
          <a:xfrm>
            <a:off x="457200" y="822960"/>
            <a:ext cx="5943600" cy="914400"/>
          </a:xfrm>
          <a:prstGeom prst="rect">
            <a:avLst/>
          </a:prstGeom>
          <a:noFill/>
          <a:ln/>
        </p:spPr>
        <p:txBody>
          <a:bodyPr wrap="square" rtlCol="0" anchor="ctr"/>
          <a:lstStyle/>
          <a:p>
            <a:pPr marL="0" indent="0">
              <a:buNone/>
            </a:pPr>
            <a:r>
              <a:rPr lang="en-US" sz="5000" b="1" dirty="0">
                <a:solidFill>
                  <a:srgbClr val="FFFFFF"/>
                </a:solidFill>
                <a:latin typeface="Calibri" pitchFamily="34" charset="0"/>
                <a:ea typeface="Calibri" pitchFamily="34" charset="-122"/>
                <a:cs typeface="Calibri" pitchFamily="34" charset="-120"/>
              </a:rPr>
              <a:t>Thank You</a:t>
            </a:r>
            <a:endParaRPr lang="en-US" sz="5000" dirty="0"/>
          </a:p>
        </p:txBody>
      </p:sp>
      <p:sp>
        <p:nvSpPr>
          <p:cNvPr id="7" name="Text 5"/>
          <p:cNvSpPr/>
          <p:nvPr/>
        </p:nvSpPr>
        <p:spPr>
          <a:xfrm>
            <a:off x="457200" y="1828800"/>
            <a:ext cx="5943600" cy="457200"/>
          </a:xfrm>
          <a:prstGeom prst="rect">
            <a:avLst/>
          </a:prstGeom>
          <a:noFill/>
          <a:ln/>
        </p:spPr>
        <p:txBody>
          <a:bodyPr wrap="square" rtlCol="0" anchor="ctr"/>
          <a:lstStyle/>
          <a:p>
            <a:pPr marL="0" indent="0">
              <a:buNone/>
            </a:pPr>
            <a:r>
              <a:rPr lang="en-US" sz="2000" dirty="0">
                <a:solidFill>
                  <a:srgbClr val="02C39A"/>
                </a:solidFill>
                <a:latin typeface="Calibri" pitchFamily="34" charset="0"/>
                <a:ea typeface="Calibri" pitchFamily="34" charset="-122"/>
                <a:cs typeface="Calibri" pitchFamily="34" charset="-120"/>
              </a:rPr>
              <a:t>Questions &amp; Discussion</a:t>
            </a:r>
            <a:endParaRPr lang="en-US" sz="2000" dirty="0"/>
          </a:p>
        </p:txBody>
      </p:sp>
      <p:sp>
        <p:nvSpPr>
          <p:cNvPr id="8" name="Shape 6"/>
          <p:cNvSpPr/>
          <p:nvPr/>
        </p:nvSpPr>
        <p:spPr>
          <a:xfrm>
            <a:off x="457200" y="2395728"/>
            <a:ext cx="4572000" cy="36576"/>
          </a:xfrm>
          <a:prstGeom prst="rect">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457200" y="2560320"/>
            <a:ext cx="6400800" cy="274320"/>
          </a:xfrm>
          <a:prstGeom prst="rect">
            <a:avLst/>
          </a:prstGeom>
          <a:noFill/>
          <a:ln/>
        </p:spPr>
        <p:txBody>
          <a:bodyPr wrap="square" rtlCol="0" anchor="ctr"/>
          <a:lstStyle/>
          <a:p>
            <a:pPr marL="0" indent="0">
              <a:buNone/>
            </a:pPr>
            <a:r>
              <a:rPr lang="en-US" sz="1100" b="1" dirty="0">
                <a:solidFill>
                  <a:srgbClr val="8FA3A8"/>
                </a:solidFill>
                <a:latin typeface="Calibri" pitchFamily="34" charset="0"/>
                <a:ea typeface="Calibri" pitchFamily="34" charset="-122"/>
                <a:cs typeface="Calibri" pitchFamily="34" charset="-120"/>
              </a:rPr>
              <a:t>Presented by: BBH Solution Architecture &amp; Enterprise Architecture</a:t>
            </a:r>
            <a:endParaRPr lang="en-US" sz="1100" dirty="0"/>
          </a:p>
        </p:txBody>
      </p:sp>
      <p:sp>
        <p:nvSpPr>
          <p:cNvPr id="10" name="Text 8"/>
          <p:cNvSpPr/>
          <p:nvPr/>
        </p:nvSpPr>
        <p:spPr>
          <a:xfrm>
            <a:off x="457200" y="2889504"/>
            <a:ext cx="5486400" cy="256032"/>
          </a:xfrm>
          <a:prstGeom prst="rect">
            <a:avLst/>
          </a:prstGeom>
          <a:noFill/>
          <a:ln/>
        </p:spPr>
        <p:txBody>
          <a:bodyPr wrap="square" rtlCol="0" anchor="ctr"/>
          <a:lstStyle/>
          <a:p>
            <a:pPr marL="0" indent="0">
              <a:buNone/>
            </a:pPr>
            <a:r>
              <a:rPr lang="en-US" sz="1100" dirty="0">
                <a:solidFill>
                  <a:srgbClr val="8FA3A8"/>
                </a:solidFill>
                <a:latin typeface="Calibri" pitchFamily="34" charset="0"/>
                <a:ea typeface="Calibri" pitchFamily="34" charset="-122"/>
                <a:cs typeface="Calibri" pitchFamily="34" charset="-120"/>
              </a:rPr>
              <a:t>Architecture Review Board | March 2026</a:t>
            </a:r>
            <a:endParaRPr lang="en-US" sz="1100" dirty="0"/>
          </a:p>
        </p:txBody>
      </p:sp>
      <p:sp>
        <p:nvSpPr>
          <p:cNvPr id="11" name="Text 9"/>
          <p:cNvSpPr/>
          <p:nvPr/>
        </p:nvSpPr>
        <p:spPr>
          <a:xfrm>
            <a:off x="457200" y="3218688"/>
            <a:ext cx="5943600" cy="256032"/>
          </a:xfrm>
          <a:prstGeom prst="rect">
            <a:avLst/>
          </a:prstGeom>
          <a:noFill/>
          <a:ln/>
        </p:spPr>
        <p:txBody>
          <a:bodyPr wrap="square" rtlCol="0" anchor="ctr"/>
          <a:lstStyle/>
          <a:p>
            <a:pPr marL="0" indent="0">
              <a:buNone/>
            </a:pPr>
            <a:r>
              <a:rPr lang="en-US" sz="1000" dirty="0">
                <a:solidFill>
                  <a:srgbClr val="8FA3A8"/>
                </a:solidFill>
                <a:latin typeface="Calibri" pitchFamily="34" charset="0"/>
                <a:ea typeface="Calibri" pitchFamily="34" charset="-122"/>
                <a:cs typeface="Calibri" pitchFamily="34" charset="-120"/>
              </a:rPr>
              <a:t>© 2026 Brown Brothers Harriman &amp; Co. | Confidential &amp; Proprietary</a:t>
            </a:r>
            <a:endParaRPr lang="en-US" sz="1000" dirty="0"/>
          </a:p>
        </p:txBody>
      </p:sp>
      <p:sp>
        <p:nvSpPr>
          <p:cNvPr id="12" name="Shape 10"/>
          <p:cNvSpPr/>
          <p:nvPr/>
        </p:nvSpPr>
        <p:spPr>
          <a:xfrm>
            <a:off x="0" y="4709160"/>
            <a:ext cx="9144000" cy="434340"/>
          </a:xfrm>
          <a:prstGeom prst="rect">
            <a:avLst/>
          </a:prstGeom>
          <a:solidFill>
            <a:srgbClr val="1A2F4E"/>
          </a:solidFill>
          <a:ln w="12700">
            <a:solidFill>
              <a:srgbClr val="1A2F4E"/>
            </a:solidFill>
            <a:prstDash val="solid"/>
          </a:ln>
        </p:spPr>
        <p:txBody>
          <a:bodyPr/>
          <a:lstStyle/>
          <a:p>
            <a:endParaRPr lang="en-US"/>
          </a:p>
        </p:txBody>
      </p:sp>
      <p:sp>
        <p:nvSpPr>
          <p:cNvPr id="13" name="Text 11"/>
          <p:cNvSpPr/>
          <p:nvPr/>
        </p:nvSpPr>
        <p:spPr>
          <a:xfrm>
            <a:off x="320040" y="4727448"/>
            <a:ext cx="8503920" cy="329184"/>
          </a:xfrm>
          <a:prstGeom prst="rect">
            <a:avLst/>
          </a:prstGeom>
          <a:noFill/>
          <a:ln/>
        </p:spPr>
        <p:txBody>
          <a:bodyPr wrap="square" rtlCol="0" anchor="ctr"/>
          <a:lstStyle/>
          <a:p>
            <a:pPr marL="0" indent="0">
              <a:buNone/>
            </a:pPr>
            <a:r>
              <a:rPr lang="en-US" sz="850" dirty="0">
                <a:solidFill>
                  <a:srgbClr val="8FA3A8"/>
                </a:solidFill>
              </a:rPr>
              <a:t>© 2026 Brown Brothers Harriman &amp; Co. | Confidential &amp; Proprietary | Not to be reproduced without the explicit consent of BBH &amp; Co.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BBH × Plaid | Open Banking Integration</dc:title>
  <dc:subject>PptxGenJS Presentation</dc:subject>
  <dc:creator>BBH Enterprise Architecture</dc:creator>
  <cp:lastModifiedBy>A Nair</cp:lastModifiedBy>
  <cp:revision>2</cp:revision>
  <dcterms:created xsi:type="dcterms:W3CDTF">2026-03-11T00:42:48Z</dcterms:created>
  <dcterms:modified xsi:type="dcterms:W3CDTF">2026-03-12T19:06:46Z</dcterms:modified>
</cp:coreProperties>
</file>