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Data Architecture: Oracle Exadata OLTP  →  Snowflake Analytics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418320" y="118872"/>
            <a:ext cx="2468880" cy="40233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0" y="118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11521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67512"/>
            <a:ext cx="0" cy="274320"/>
          </a:xfrm>
          <a:prstGeom prst="line">
            <a:avLst/>
          </a:prstGeom>
          <a:noFill/>
          <a:ln w="3810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6583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EXADATA   ·   OLTP System of Record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667512"/>
            <a:ext cx="0" cy="274320"/>
          </a:xfrm>
          <a:prstGeom prst="line">
            <a:avLst/>
          </a:prstGeom>
          <a:noFill/>
          <a:ln w="38100">
            <a:solidFill>
              <a:srgbClr val="9240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6583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PIPELINE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366760" y="667512"/>
            <a:ext cx="0" cy="27432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6583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 ·   Elastic Cloud Warehouse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97680" y="621792"/>
            <a:ext cx="0" cy="48006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621792"/>
            <a:ext cx="0" cy="480060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" y="1005840"/>
            <a:ext cx="3840480" cy="10515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1005840"/>
            <a:ext cx="45720" cy="10515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060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Exadata Hardware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1371600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Smart Scan &amp; Cell Offloading for OLTP writes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438912" y="1609344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In-Memory Flash Cache: microsecond latency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438912" y="184708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RAC: Always-On high availability clustering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92608" y="2176272"/>
            <a:ext cx="3840480" cy="105156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176272"/>
            <a:ext cx="45720" cy="10515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2311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Mission-Critical Applications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" y="254203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Order Management / Custody / Portfolio Accounting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38912" y="2779776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Real-time trade settlement &amp; journal posting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38912" y="3017520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Strong ACID transactions — Exadata excels here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92608" y="3273552"/>
            <a:ext cx="3840480" cy="164592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3273552"/>
            <a:ext cx="45720" cy="16459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3284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Why Exadata Fails as a Warehouse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8912" y="3639312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CapEx: $500K–$2M+ hardware refresh cycles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38912" y="3877056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Vertical scaling requires downtime + DBA tuning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38912" y="4114800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Columnar analytics is an afterthought on OLTP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38912" y="4352544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native JSON / semi-structured data support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38912" y="4590288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Concurrency degrades beyond ~100 analytic users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92608" y="5010912"/>
            <a:ext cx="3840480" cy="347472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50109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Exadata stays as OLTP system of record — zero migration risk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4407408" y="1005840"/>
            <a:ext cx="3703320" cy="804672"/>
          </a:xfrm>
          <a:prstGeom prst="rect">
            <a:avLst/>
          </a:prstGeom>
          <a:solidFill>
            <a:srgbClr val="F0FAF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62272" y="1143000"/>
            <a:ext cx="384048" cy="38404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62272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9472" y="109728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GoldenGate / Kafka CDC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19472" y="140817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Data Capture — sub-minute lag</a:t>
            </a:r>
            <a:endParaRPr lang="en-US" sz="780" dirty="0"/>
          </a:p>
        </p:txBody>
      </p:sp>
      <p:sp>
        <p:nvSpPr>
          <p:cNvPr id="42" name="Text 40"/>
          <p:cNvSpPr/>
          <p:nvPr/>
        </p:nvSpPr>
        <p:spPr>
          <a:xfrm>
            <a:off x="5394960" y="1828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DC"/>
                </a:solidFill>
              </a:rPr>
              <a:t>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407408" y="2029968"/>
            <a:ext cx="3703320" cy="804672"/>
          </a:xfrm>
          <a:prstGeom prst="rect">
            <a:avLst/>
          </a:prstGeom>
          <a:solidFill>
            <a:srgbClr val="F0FAF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62272" y="2167128"/>
            <a:ext cx="384048" cy="38404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62272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919472" y="2121408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Snowpipe / Airflow Orchestration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919472" y="243230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Auto-ingest from S3 / Azure Blob → SF stage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5394960" y="28529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DC"/>
                </a:solidFill>
              </a:rPr>
              <a:t>↓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407408" y="3054096"/>
            <a:ext cx="3703320" cy="804672"/>
          </a:xfrm>
          <a:prstGeom prst="rect">
            <a:avLst/>
          </a:prstGeom>
          <a:solidFill>
            <a:srgbClr val="F0FAFB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462272" y="3191256"/>
            <a:ext cx="384048" cy="38404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62272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19472" y="3145536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Transformation Layer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919472" y="34564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→ Canonical → Analytics Mart</a:t>
            </a:r>
            <a:endParaRPr lang="en-US" sz="780" dirty="0"/>
          </a:p>
        </p:txBody>
      </p:sp>
      <p:sp>
        <p:nvSpPr>
          <p:cNvPr id="54" name="Text 52"/>
          <p:cNvSpPr/>
          <p:nvPr/>
        </p:nvSpPr>
        <p:spPr>
          <a:xfrm>
            <a:off x="5394960" y="3877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DC"/>
                </a:solidFill>
              </a:rPr>
              <a:t>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07408" y="4078224"/>
            <a:ext cx="3703320" cy="804672"/>
          </a:xfrm>
          <a:prstGeom prst="rect">
            <a:avLst/>
          </a:prstGeom>
          <a:solidFill>
            <a:srgbClr val="E6F4F5"/>
          </a:solidFill>
          <a:ln w="15875">
            <a:solidFill>
              <a:srgbClr val="12A3A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462272" y="4215384"/>
            <a:ext cx="384048" cy="38404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62272" y="4215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919472" y="416966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Lands in Snowflake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19472" y="448056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zero-copy cloneable, query-ready</a:t>
            </a:r>
            <a:endParaRPr lang="en-US" sz="780" dirty="0"/>
          </a:p>
        </p:txBody>
      </p:sp>
      <p:sp>
        <p:nvSpPr>
          <p:cNvPr id="60" name="Shape 58"/>
          <p:cNvSpPr/>
          <p:nvPr/>
        </p:nvSpPr>
        <p:spPr>
          <a:xfrm>
            <a:off x="4709160" y="4992624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09160" y="499262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End-to-end latency under 5 minutes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430768" y="1005840"/>
            <a:ext cx="1078992" cy="804672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430768" y="102412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8430768" y="15179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Reduction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9601200" y="1005840"/>
            <a:ext cx="1078992" cy="804672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01200" y="102412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10–100×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9601200" y="15179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Queries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10771632" y="1005840"/>
            <a:ext cx="1078992" cy="804672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771632" y="1024128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</a:t>
            </a:r>
            <a:endParaRPr lang="en-US" sz="2800" dirty="0"/>
          </a:p>
        </p:txBody>
      </p:sp>
      <p:sp>
        <p:nvSpPr>
          <p:cNvPr id="70" name="Text 68"/>
          <p:cNvSpPr/>
          <p:nvPr/>
        </p:nvSpPr>
        <p:spPr>
          <a:xfrm>
            <a:off x="10771632" y="15179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Scale</a:t>
            </a:r>
            <a:endParaRPr lang="en-US" sz="650" dirty="0"/>
          </a:p>
        </p:txBody>
      </p:sp>
      <p:sp>
        <p:nvSpPr>
          <p:cNvPr id="71" name="Shape 69"/>
          <p:cNvSpPr/>
          <p:nvPr/>
        </p:nvSpPr>
        <p:spPr>
          <a:xfrm>
            <a:off x="8430768" y="1920240"/>
            <a:ext cx="17647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30768" y="1920240"/>
            <a:ext cx="1764792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503920" y="20116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Multi-Cluster Concurrency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503920" y="2331720"/>
            <a:ext cx="1627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virtual warehouses per team. 1,000+ concurrent users, zero contention, auto-suspend/resume.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10287000" y="1920240"/>
            <a:ext cx="17647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287000" y="1920240"/>
            <a:ext cx="1764792" cy="54864"/>
          </a:xfrm>
          <a:prstGeom prst="rect">
            <a:avLst/>
          </a:prstGeom>
          <a:solidFill>
            <a:srgbClr val="12A3AF"/>
          </a:solidFill>
          <a:ln w="12700">
            <a:solidFill>
              <a:srgbClr val="12A3A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360152" y="20116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True OpEx Cost Model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10360152" y="2331720"/>
            <a:ext cx="1627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Pay-per-second compute. No CapEx hardware cycles. Storage at ~$23/TB/mo. Auto-suspend = $0 at idle.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8430768" y="3447288"/>
            <a:ext cx="17647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430768" y="3447288"/>
            <a:ext cx="1764792" cy="548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503920" y="353872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AI &amp; Open Ecosystem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503920" y="3858768"/>
            <a:ext cx="1627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 AI, Iceberg tables, native dbt/Spark. JSON/Avro/Parquet built-in. Direct BI connector for all tools.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10287000" y="3447288"/>
            <a:ext cx="17647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287000" y="3447288"/>
            <a:ext cx="1764792" cy="54864"/>
          </a:xfrm>
          <a:prstGeom prst="rect">
            <a:avLst/>
          </a:prstGeom>
          <a:solidFill>
            <a:srgbClr val="12A3AF"/>
          </a:solidFill>
          <a:ln w="12700">
            <a:solidFill>
              <a:srgbClr val="12A3A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360152" y="3538728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Enterprise-Grade Security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0360152" y="3858768"/>
            <a:ext cx="16276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Column/row security, dynamic masking, Tri-Secret encryption. SOC 2, HIPAA, FedRAMP. BBH data residency.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0" y="5486400"/>
            <a:ext cx="12161520" cy="1371600"/>
          </a:xfrm>
          <a:prstGeom prst="rect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55412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OUTCOMES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92608" y="585216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92608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612648" y="58338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disruption — Exadata remains OLTP system of record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2670048" y="585216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670048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2990088" y="58338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TCO reduction, no hardware refresh cycles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5047488" y="585216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047488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367528" y="58338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latency under 5 minutes vs. overnight batch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424928" y="585216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424928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7744968" y="58338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100s of self-service BI users with zero contention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9802368" y="5852160"/>
            <a:ext cx="274320" cy="2743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802368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50" dirty="0"/>
          </a:p>
        </p:txBody>
      </p:sp>
      <p:sp>
        <p:nvSpPr>
          <p:cNvPr id="104" name="Text 102"/>
          <p:cNvSpPr/>
          <p:nvPr/>
        </p:nvSpPr>
        <p:spPr>
          <a:xfrm>
            <a:off x="10122408" y="5833872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data sharing across clients and regulators</a:t>
            </a:r>
            <a:endParaRPr lang="en-US" sz="750" dirty="0"/>
          </a:p>
        </p:txBody>
      </p:sp>
      <p:sp>
        <p:nvSpPr>
          <p:cNvPr id="105" name="Text 103"/>
          <p:cNvSpPr/>
          <p:nvPr/>
        </p:nvSpPr>
        <p:spPr>
          <a:xfrm>
            <a:off x="320040" y="6702552"/>
            <a:ext cx="11521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Snowflake &amp; Oracle published benchmarks  |  Architecture: Exadata OLTP as SOR → CDC → Snowflake DWH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vs. Oracle Exadata: OLAP Performance &amp; Industry Standard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281160" y="118872"/>
            <a:ext cx="2606040" cy="402336"/>
          </a:xfrm>
          <a:prstGeom prst="roundRect">
            <a:avLst>
              <a:gd name="adj" fmla="val 5000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1188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Snowflake Wins for Analytics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1152144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675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09928" y="658368"/>
            <a:ext cx="4160520" cy="292608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09928" y="658368"/>
            <a:ext cx="4160520" cy="4572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685800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Exadata   —   Compromised for Analytics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016752" y="658368"/>
            <a:ext cx="5824728" cy="292608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16752" y="658368"/>
            <a:ext cx="5824728" cy="45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685800"/>
            <a:ext cx="5769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  —   Purpose-Built Cloud Data Warehouse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0" y="1005840"/>
            <a:ext cx="12161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060704"/>
            <a:ext cx="1298448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060704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09928" y="1060704"/>
            <a:ext cx="4160520" cy="69494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1088136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Shared-everything monolith. Compute and storage tightly coupled — scaling one forces scaling both. OLTP constantly competes with analytics for the same resources.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742432" y="1261872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1261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6144768" y="1060704"/>
            <a:ext cx="5696712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1088136"/>
            <a:ext cx="5541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decoupled architecture. Independent storage and compute layers. Spin virtual warehouses up or down in seconds. OLTP and analytics never share resources.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0" y="1865376"/>
            <a:ext cx="121615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1920240"/>
            <a:ext cx="1298448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1920240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Performance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709928" y="1920240"/>
            <a:ext cx="4160520" cy="69494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1947672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Scan offloads reads but wasn't designed for petabyte-scale analytics. Complex joins degrade sharply under concurrency. Requires manual indexing and partitioning.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742432" y="2121408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6144768" y="1920240"/>
            <a:ext cx="5696712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1947672"/>
            <a:ext cx="5541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Massively parallel columnar processing with automatic micro-partition pruning. 10–100× faster on BI workloads. Zero index management — optimizer handles everything.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0" y="2724912"/>
            <a:ext cx="12161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779776"/>
            <a:ext cx="1298448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779776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709928" y="2779776"/>
            <a:ext cx="4160520" cy="69494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83080" y="2807208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scaling requires planned downtime. Adding RAC nodes triggers exponential licensing costs. Analytics concurrency caps out before query performance degrades.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742432" y="2980944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42432" y="2980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6144768" y="2779776"/>
            <a:ext cx="5696712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2807208"/>
            <a:ext cx="5541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Multi-cluster auto-scaling with no downtime. Spin up 10 warehouses in seconds for quarter-end peaks, auto-suspend when idle. Supports 1,000+ concurrent users.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0" y="3584448"/>
            <a:ext cx="12161520" cy="82296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3639312"/>
            <a:ext cx="1298448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639312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709928" y="3639312"/>
            <a:ext cx="4160520" cy="69494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83080" y="3666744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CapEx-heavy: $500K–$2M+ per rack, plus 22% annual software maintenance. Requires dedicated DBA headcount for tuning, patching, and capacity management.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742432" y="3840480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42432" y="3840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6144768" y="3639312"/>
            <a:ext cx="5696712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0" y="3666744"/>
            <a:ext cx="5541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OpEx: pay-per-second compute billed to the second. Storage at ~$23/TB/month. Auto-suspend means zero compute cost at idle. No DBA tax for warehouse operations.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0" y="4443984"/>
            <a:ext cx="12161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0040" y="4498848"/>
            <a:ext cx="1298448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498848"/>
            <a:ext cx="12984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5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709928" y="4498848"/>
            <a:ext cx="4160520" cy="694944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783080" y="4526280"/>
            <a:ext cx="40050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Relational-first design. JSON bolted on in version 21c. No native ML inference or LLM integration. Every modern data use case requires additional tooling and ETL.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742432" y="4700016"/>
            <a:ext cx="329184" cy="329184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742432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6144768" y="4498848"/>
            <a:ext cx="5696712" cy="694944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4526280"/>
            <a:ext cx="5541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 for JSON, Avro, Parquet, ORC, and Iceberg. Cortex AI (LLM + vector search) built in. Python, Spark, dbt, and all BI tools connect natively.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20040" y="1865376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20040" y="2724912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0040" y="3584448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20040" y="4443984"/>
            <a:ext cx="1152144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0" y="5376672"/>
            <a:ext cx="121615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0" y="5376672"/>
            <a:ext cx="12161520" cy="1481328"/>
          </a:xfrm>
          <a:prstGeom prst="rect">
            <a:avLst/>
          </a:prstGeom>
          <a:solidFill>
            <a:srgbClr val="E6F4F5"/>
          </a:solidFill>
          <a:ln w="12700">
            <a:solidFill>
              <a:srgbClr val="E6F4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54498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6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IS THE INDUSTRY STANDARD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320040" y="568756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 by leading financial institutions and validated by independent analysts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92608" y="5943600"/>
            <a:ext cx="2267712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608" y="5943600"/>
            <a:ext cx="45720" cy="80467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59710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Financial Services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84048" y="6217920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One, JPMorgan, Fidelity, Goldman Sachs have all moved analytic workloads to Snowflake. BBH peers are already live.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2660904" y="5943600"/>
            <a:ext cx="2267712" cy="804672"/>
          </a:xfrm>
          <a:prstGeom prst="rect">
            <a:avLst/>
          </a:prstGeom>
          <a:solidFill>
            <a:srgbClr val="EDE9FE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660904" y="5943600"/>
            <a:ext cx="45720" cy="8046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52344" y="59710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Gartner Magic Quadrant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2752344" y="6217920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is a recognized Leader in Cloud DBMS platforms (2023–2024). Oracle rated lower on cloud DWH vision.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029200" y="5943600"/>
            <a:ext cx="2267712" cy="804672"/>
          </a:xfrm>
          <a:prstGeom prst="rect">
            <a:avLst/>
          </a:prstGeom>
          <a:solidFill>
            <a:srgbClr val="E6F4F5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029200" y="5943600"/>
            <a:ext cx="45720" cy="804672"/>
          </a:xfrm>
          <a:prstGeom prst="rect">
            <a:avLst/>
          </a:prstGeom>
          <a:solidFill>
            <a:srgbClr val="12A3AF"/>
          </a:solidFill>
          <a:ln w="12700">
            <a:solidFill>
              <a:srgbClr val="12A3A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20640" y="59710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Open Ecosystem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20640" y="6217920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dbt, Tableau, Power BI, Fivetran, Airflow, Spark — all ship native Snowflake connectors. Exadata needs custom adapters.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397496" y="5943600"/>
            <a:ext cx="2267712" cy="804672"/>
          </a:xfrm>
          <a:prstGeom prst="rect">
            <a:avLst/>
          </a:prstGeom>
          <a:solidFill>
            <a:srgbClr val="FEF3C7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397496" y="5943600"/>
            <a:ext cx="45720" cy="80467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488936" y="59710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Regulatory Ready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7488936" y="6217920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II, ISO 27001, HIPAA, PCI DSS, FedRAMP Moderate. Tri-secret encryption satisfies BBH data residency rules.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9765792" y="5943600"/>
            <a:ext cx="2267712" cy="804672"/>
          </a:xfrm>
          <a:prstGeom prst="rect">
            <a:avLst/>
          </a:prstGeom>
          <a:solidFill>
            <a:srgbClr val="DCFCE7"/>
          </a:solidFill>
          <a:ln w="9525">
            <a:solidFill>
              <a:srgbClr val="A8D8DC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65792" y="5943600"/>
            <a:ext cx="45720" cy="80467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857232" y="5971032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Market Momentum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9857232" y="6217920"/>
            <a:ext cx="2130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 enterprise customers. $2.7B ARR growing 30%+ YoY. Proven vendor stability — lower risk than Oracle's cloud pivot.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320040" y="6711696"/>
            <a:ext cx="11521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Gartner Magic Quadrant 2024  |  Snowflake FY2025 Annual Report  |  IDC Cloud DWH Market Report  |  Public customer case studies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2026-04-16T14:41:45Z</dcterms:created>
  <dcterms:modified xsi:type="dcterms:W3CDTF">2026-04-16T14:41:45Z</dcterms:modified>
</cp:coreProperties>
</file>