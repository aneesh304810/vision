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274320"/>
            <a:ext cx="50292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2062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&amp; Security — Plaid Core Exchange Responses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035040" y="310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8A7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SECURITY CONCERNS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416052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78992"/>
            <a:ext cx="54864" cy="80467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1197864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1266444"/>
            <a:ext cx="173736" cy="1737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117043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risk — credentials on a 3rd-party portal?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32688" y="1444752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Plaid-hosted login. Under OAuth/OIDC, consumers authenticate directly with BBH on BBH’s domain; BBH issues a token to Plaid, never credentials. Core Exchange layers TLS 1.2+, mTLS, scoped tokens, PKCE, JWKS verification, and token/key rotation, plus Plaid device &amp; phone-auth checks.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384048" y="1993392"/>
            <a:ext cx="416052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4048" y="1993392"/>
            <a:ext cx="54864" cy="804672"/>
          </a:xfrm>
          <a:prstGeom prst="rect">
            <a:avLst/>
          </a:prstGeom>
          <a:solidFill>
            <a:srgbClr val="A41E22"/>
          </a:solidFill>
          <a:ln/>
        </p:spPr>
      </p:sp>
      <p:sp>
        <p:nvSpPr>
          <p:cNvPr id="13" name="Shape 10"/>
          <p:cNvSpPr/>
          <p:nvPr/>
        </p:nvSpPr>
        <p:spPr>
          <a:xfrm>
            <a:off x="530352" y="2112264"/>
            <a:ext cx="310896" cy="310896"/>
          </a:xfrm>
          <a:prstGeom prst="ellipse">
            <a:avLst/>
          </a:prstGeom>
          <a:solidFill>
            <a:srgbClr val="A41E2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" y="2180844"/>
            <a:ext cx="173736" cy="1737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2688" y="208483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— NYDFS 500.12 &amp; risk-based step-up?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32688" y="2359152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retains primary authentication and MFA — the consumer logs in on BBH’s domain. Core Exchange does not bypass BBH controls; users complete login + MFA on first connection (IP allowlisting does not bypass auth). The OAuth token model permits scheduled background refreshes without repeated MFA prompts.</a:t>
            </a:r>
            <a:endParaRPr lang="en-US" sz="820" dirty="0"/>
          </a:p>
        </p:txBody>
      </p:sp>
      <p:sp>
        <p:nvSpPr>
          <p:cNvPr id="17" name="Shape 13"/>
          <p:cNvSpPr/>
          <p:nvPr/>
        </p:nvSpPr>
        <p:spPr>
          <a:xfrm>
            <a:off x="384048" y="2907792"/>
            <a:ext cx="416052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4048" y="2907792"/>
            <a:ext cx="54864" cy="804672"/>
          </a:xfrm>
          <a:prstGeom prst="rect">
            <a:avLst/>
          </a:prstGeom>
          <a:solidFill>
            <a:srgbClr val="8A7E72"/>
          </a:solidFill>
          <a:ln/>
        </p:spPr>
      </p:sp>
      <p:sp>
        <p:nvSpPr>
          <p:cNvPr id="19" name="Shape 15"/>
          <p:cNvSpPr/>
          <p:nvPr/>
        </p:nvSpPr>
        <p:spPr>
          <a:xfrm>
            <a:off x="530352" y="3026664"/>
            <a:ext cx="310896" cy="310896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" y="3095244"/>
            <a:ext cx="173736" cy="1737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2688" y="299923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independently block Plaid access?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932688" y="3273552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access can be blocked while the user still logs on manually. Preferred approach: unlink individual connections rather than blocking Plaid entirely.</a:t>
            </a:r>
            <a:endParaRPr lang="en-US" sz="820" dirty="0"/>
          </a:p>
        </p:txBody>
      </p:sp>
      <p:sp>
        <p:nvSpPr>
          <p:cNvPr id="23" name="Shape 18"/>
          <p:cNvSpPr/>
          <p:nvPr/>
        </p:nvSpPr>
        <p:spPr>
          <a:xfrm>
            <a:off x="384048" y="3822192"/>
            <a:ext cx="416052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84048" y="3822192"/>
            <a:ext cx="54864" cy="804672"/>
          </a:xfrm>
          <a:prstGeom prst="rect">
            <a:avLst/>
          </a:prstGeom>
          <a:solidFill>
            <a:srgbClr val="C28A2E"/>
          </a:solidFill>
          <a:ln/>
        </p:spPr>
      </p:sp>
      <p:sp>
        <p:nvSpPr>
          <p:cNvPr id="25" name="Shape 20"/>
          <p:cNvSpPr/>
          <p:nvPr/>
        </p:nvSpPr>
        <p:spPr>
          <a:xfrm>
            <a:off x="530352" y="3941064"/>
            <a:ext cx="310896" cy="310896"/>
          </a:xfrm>
          <a:prstGeom prst="ellipse">
            <a:avLst/>
          </a:prstGeom>
          <a:solidFill>
            <a:srgbClr val="C28A2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" y="4009644"/>
            <a:ext cx="173736" cy="1737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2688" y="391363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Geo-blocking by country / region?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932688" y="4187952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can apply geo/risk rules on its own authentication surface, since users authenticate on BBH’s domain. Plaid itself is only available in the US, Canada, UK, and parts of Europe.</a:t>
            </a:r>
            <a:endParaRPr lang="en-US" sz="820" dirty="0"/>
          </a:p>
        </p:txBody>
      </p:sp>
      <p:sp>
        <p:nvSpPr>
          <p:cNvPr id="29" name="Shape 23"/>
          <p:cNvSpPr/>
          <p:nvPr/>
        </p:nvSpPr>
        <p:spPr>
          <a:xfrm>
            <a:off x="4617720" y="1078992"/>
            <a:ext cx="416052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17720" y="1078992"/>
            <a:ext cx="54864" cy="804672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31" name="Shape 25"/>
          <p:cNvSpPr/>
          <p:nvPr/>
        </p:nvSpPr>
        <p:spPr>
          <a:xfrm>
            <a:off x="4764024" y="1197864"/>
            <a:ext cx="310896" cy="310896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604" y="1266444"/>
            <a:ext cx="173736" cy="1737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66360" y="117043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 preserved to our SAML / IdP?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166360" y="1444752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Front-channel: the user authenticates on BBH’s domain, so BBH’s SAML/IdP stack sees the session directly. Back-channel token &amp; data calls originate from Plaid infrastructure, not the end-user’s browser.</a:t>
            </a:r>
            <a:endParaRPr lang="en-US" sz="820" dirty="0"/>
          </a:p>
        </p:txBody>
      </p:sp>
      <p:sp>
        <p:nvSpPr>
          <p:cNvPr id="35" name="Shape 28"/>
          <p:cNvSpPr/>
          <p:nvPr/>
        </p:nvSpPr>
        <p:spPr>
          <a:xfrm>
            <a:off x="4617720" y="1993392"/>
            <a:ext cx="416052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617720" y="1993392"/>
            <a:ext cx="54864" cy="80467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7" name="Shape 30"/>
          <p:cNvSpPr/>
          <p:nvPr/>
        </p:nvSpPr>
        <p:spPr>
          <a:xfrm>
            <a:off x="4764024" y="2112264"/>
            <a:ext cx="310896" cy="310896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2604" y="2180844"/>
            <a:ext cx="173736" cy="1737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166360" y="208483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logs &amp; user auth details for our tenant?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5166360" y="2359152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Plaid exposes authorization &amp; consent detail via Permissions Manager — connected app, accounts shared, data types, consent timestamp, connection status — available through APIs and, for single-institution accounts, a no-code dashboard.</a:t>
            </a:r>
            <a:endParaRPr lang="en-US" sz="820" dirty="0"/>
          </a:p>
        </p:txBody>
      </p:sp>
      <p:sp>
        <p:nvSpPr>
          <p:cNvPr id="41" name="Shape 33"/>
          <p:cNvSpPr/>
          <p:nvPr/>
        </p:nvSpPr>
        <p:spPr>
          <a:xfrm>
            <a:off x="4617720" y="2907792"/>
            <a:ext cx="416052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617720" y="2907792"/>
            <a:ext cx="54864" cy="804672"/>
          </a:xfrm>
          <a:prstGeom prst="rect">
            <a:avLst/>
          </a:prstGeom>
          <a:solidFill>
            <a:srgbClr val="A41E22"/>
          </a:solidFill>
          <a:ln/>
        </p:spPr>
      </p:sp>
      <p:sp>
        <p:nvSpPr>
          <p:cNvPr id="43" name="Shape 35"/>
          <p:cNvSpPr/>
          <p:nvPr/>
        </p:nvSpPr>
        <p:spPr>
          <a:xfrm>
            <a:off x="4764024" y="3026664"/>
            <a:ext cx="310896" cy="310896"/>
          </a:xfrm>
          <a:prstGeom prst="ellipse">
            <a:avLst/>
          </a:prstGeom>
          <a:solidFill>
            <a:srgbClr val="A41E22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604" y="3095244"/>
            <a:ext cx="173736" cy="173736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5166360" y="299923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ingest authentication logs?</a:t>
            </a:r>
            <a:endParaRPr lang="en-US" sz="1050" dirty="0"/>
          </a:p>
        </p:txBody>
      </p:sp>
      <p:sp>
        <p:nvSpPr>
          <p:cNvPr id="46" name="Text 37"/>
          <p:cNvSpPr/>
          <p:nvPr/>
        </p:nvSpPr>
        <p:spPr>
          <a:xfrm>
            <a:off x="5166360" y="3273552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for consent &amp; authorization events. Plaid sends permission_granted / permission_revoked webhooks, and Permissions Manager APIs let BBH query authorization records for ingestion into its own monitoring/governance systems.</a:t>
            </a:r>
            <a:endParaRPr lang="en-US" sz="820" dirty="0"/>
          </a:p>
        </p:txBody>
      </p:sp>
      <p:sp>
        <p:nvSpPr>
          <p:cNvPr id="47" name="Shape 38"/>
          <p:cNvSpPr/>
          <p:nvPr/>
        </p:nvSpPr>
        <p:spPr>
          <a:xfrm>
            <a:off x="4617720" y="3822192"/>
            <a:ext cx="416052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EDE9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4617720" y="3822192"/>
            <a:ext cx="54864" cy="804672"/>
          </a:xfrm>
          <a:prstGeom prst="rect">
            <a:avLst/>
          </a:prstGeom>
          <a:solidFill>
            <a:srgbClr val="8A7E72"/>
          </a:solidFill>
          <a:ln/>
        </p:spPr>
      </p:sp>
      <p:sp>
        <p:nvSpPr>
          <p:cNvPr id="49" name="Shape 40"/>
          <p:cNvSpPr/>
          <p:nvPr/>
        </p:nvSpPr>
        <p:spPr>
          <a:xfrm>
            <a:off x="4764024" y="3941064"/>
            <a:ext cx="310896" cy="310896"/>
          </a:xfrm>
          <a:prstGeom prst="ellipse">
            <a:avLst/>
          </a:prstGeom>
          <a:solidFill>
            <a:srgbClr val="8A7E72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604" y="4009644"/>
            <a:ext cx="173736" cy="173736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5166360" y="391363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/ SOC implications &amp; diligence artifacts?</a:t>
            </a:r>
            <a:endParaRPr lang="en-US" sz="1050" dirty="0"/>
          </a:p>
        </p:txBody>
      </p:sp>
      <p:sp>
        <p:nvSpPr>
          <p:cNvPr id="52" name="Text 42"/>
          <p:cNvSpPr/>
          <p:nvPr/>
        </p:nvSpPr>
        <p:spPr>
          <a:xfrm>
            <a:off x="5166360" y="4187952"/>
            <a:ext cx="3483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6000"/>
              </a:lnSpc>
              <a:buNone/>
            </a:pPr>
            <a:r>
              <a:rPr lang="en-US" sz="82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design: auth on BBH’s domain; Core Exchange crypto &amp; token lifecycle controls; consent visibility + revocation via Permissions Manager; app visibility via App Directory. Diligence artifacts (SOC 2, ISO, pen-test results) live on Plaid’s Security Portal — security.plaid.com.</a:t>
            </a:r>
            <a:endParaRPr lang="en-US" sz="820" dirty="0"/>
          </a:p>
        </p:txBody>
      </p:sp>
      <p:sp>
        <p:nvSpPr>
          <p:cNvPr id="53" name="Text 43"/>
          <p:cNvSpPr/>
          <p:nvPr/>
        </p:nvSpPr>
        <p:spPr>
          <a:xfrm>
            <a:off x="384048" y="4864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BBH</a:t>
            </a:r>
            <a:pPr algn="l" indent="0" marL="0">
              <a:buNone/>
            </a:pPr>
            <a:r>
              <a:rPr lang="en-US" sz="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▬▬</a:t>
            </a:r>
            <a:pPr algn="l" indent="0" marL="0">
              <a:buNone/>
            </a:pPr>
            <a:r>
              <a:rPr lang="en-US" sz="7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Capital Partners — Plaid Open Banking   |  Internal Use Only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2026-06-23T14:28:08Z</dcterms:created>
  <dcterms:modified xsi:type="dcterms:W3CDTF">2026-06-23T14:28:08Z</dcterms:modified>
</cp:coreProperties>
</file>