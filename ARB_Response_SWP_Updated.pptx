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9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ARB Response: Data Movement &amp; Observability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4114800" cy="34747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14400"/>
            <a:ext cx="54864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14400"/>
            <a:ext cx="39776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 · Data Movement Approach (SFTP vs Streaming)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98448"/>
            <a:ext cx="41148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417320"/>
            <a:ext cx="3931920" cy="502920"/>
          </a:xfrm>
          <a:prstGeom prst="rect">
            <a:avLst/>
          </a:prstGeom>
          <a:solidFill>
            <a:srgbClr val="E8F4F6"/>
          </a:solidFill>
          <a:ln w="10160">
            <a:solidFill>
              <a:srgbClr val="00A0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366"/>
                </a:solidFill>
              </a:rPr>
              <a:t>Architecture Decision: SFTP + Go Feeds → Future Kafka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993392"/>
            <a:ext cx="457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933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A"/>
                </a:solidFill>
              </a:rPr>
              <a:t>Why SFTP Day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1762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SEI's Kafka capability resides within their Snowflake-based Data Integration Layer. BBH's data residency governance prohibits placement of client data in cloud/Snowflake environments, making this path unavailable at launch.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743200"/>
            <a:ext cx="457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432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A"/>
                </a:solidFill>
              </a:rPr>
              <a:t>Path to Kafka: A Data Residency Decision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SEI's Kafka capability is available exclusively via their Snowflake-based Data Integration Layer. If BBH makes a future strategic decision to permit BBH data on SEI Snowflake, Kafka streaming activates immediately — only an Airflow connector swap is required. No pipeline re-engineering needed.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3493008"/>
            <a:ext cx="457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93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A"/>
                </a:solidFill>
              </a:rPr>
              <a:t>Intraday Reconciliation via Apigee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EOD SFTP alone cannot support intraday recon. Real-time intraday data is addressed via Apigee-mediated API calls — providing synchronous event-level access without cloud data placement. SFTP covers batch/EOD flows; Apigee covers real-time queries.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251960" cy="34747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914400"/>
            <a:ext cx="54864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Q3 · Observability &amp; Monitoring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298448"/>
            <a:ext cx="42519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417320"/>
            <a:ext cx="4069080" cy="914400"/>
          </a:xfrm>
          <a:prstGeom prst="rect">
            <a:avLst/>
          </a:prstGeom>
          <a:solidFill>
            <a:srgbClr val="F8FBF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417320"/>
            <a:ext cx="36576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4173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1508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</a:rPr>
              <a:t>Airflow Observability → Splunk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6360" y="1709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Native Airflow metadata DB exposes DAG run status, task states, SLAs, and retry history. A lightweight log forwarder ships structured JSON logs to Splunk for enterprise-wide alerting, dashboarding, and cross-hop correlation across SEI ↔ BBH boundaries.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423160"/>
            <a:ext cx="4069080" cy="914400"/>
          </a:xfrm>
          <a:prstGeom prst="rect">
            <a:avLst/>
          </a:prstGeom>
          <a:solidFill>
            <a:srgbClr val="F8FBF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423160"/>
            <a:ext cx="36576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4231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</a:rPr>
              <a:t>dbt Observability → Splunk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2715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dbt exposes run artifacts (manifest, run_results.json) capturing model-level row counts, test pass/fail, and execution time per transformation. These artifacts feed Splunk to detect data drift, failed assertions, and lineage breaks at the transformation layer.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429000"/>
            <a:ext cx="4069080" cy="914400"/>
          </a:xfrm>
          <a:prstGeom prst="rect">
            <a:avLst/>
          </a:prstGeom>
          <a:solidFill>
            <a:srgbClr val="F8FBFC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429000"/>
            <a:ext cx="36576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290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3520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</a:rPr>
              <a:t>Holistic Tracing Model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37216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End-to-end trace IDs propagated from SFTP ingestion → Airflow DAG → dbt model → PB Data Warehouse. Splunk serves as the aggregation layer linking file arrival events, pipeline runs, and data quality outcomes into a single pane of glass.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CC"/>
                </a:solidFill>
              </a:rPr>
              <a:t>BBH Capital Partners · SWP Migration · ARB Committee Response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ARB Response: 3S Tooling — Airflow &amp; dbt Rationale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41080" cy="438912"/>
          </a:xfrm>
          <a:prstGeom prst="rect">
            <a:avLst/>
          </a:prstGeom>
          <a:solidFill>
            <a:srgbClr val="E8F4F6"/>
          </a:solidFill>
          <a:ln w="12700">
            <a:solidFill>
              <a:srgbClr val="00A0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96112"/>
            <a:ext cx="8458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3366"/>
                </a:solidFill>
              </a:rPr>
              <a:t>Airflow and dbt are not products competing with IDF/DPE — they are open-source execution engines that operate at a lower abstraction layer, enabling precise control over 2,600+ data points before data reaches IDF.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417320"/>
            <a:ext cx="4114800" cy="34747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417320"/>
            <a:ext cx="54864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39776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Q2a · Why Apache Airflow? (vs IDF/DPE)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801368"/>
            <a:ext cx="411480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20240"/>
            <a:ext cx="45720" cy="155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920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B8A"/>
                </a:solidFill>
              </a:rPr>
              <a:t>Not a Product — An Engine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21031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Airflow is an Apache-licensed orchestration library hosted in BBH Nexus. It is consumed the same way BBH consumes Spring Boot to build Java applications — as a framework to build on, not a vendor solution to procure.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45720" cy="155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578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B8A"/>
                </a:solidFill>
              </a:rPr>
              <a:t>OLTP-Layer Control IDF Cannot Provide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0624" y="27614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IDF is an OLAP engine optimized for analytical query workloads. The SWP integration requires OLTP-grade pipeline control: individual data point tracking, fine-grained retry logic, and row-level lineage — capabilities outside IDF's design scope.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45720" cy="155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2369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B8A"/>
                </a:solidFill>
              </a:rPr>
              <a:t>Dynamic DAG Creation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0624" y="34198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2,600+ data points with complex interdependencies require runtime DAG generation. Airflow's programmatic API enables dynamic DAG creation based on feed configuration, eliminating manual pipeline maintenance per data point.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895344"/>
            <a:ext cx="45720" cy="155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8953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B8A"/>
                </a:solidFill>
              </a:rPr>
              <a:t>Parallel Execution at Scale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0624" y="40782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Airflow's executor model enables parallel task execution across feeds, meeting ingest SLAs that sequential or OLAP-first approaches cannot achieve within the required processing windows.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17720" y="1417320"/>
            <a:ext cx="4279392" cy="34747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417320"/>
            <a:ext cx="54864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1417320"/>
            <a:ext cx="413308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Q2b · dbt Rationale, OSS Risk &amp; Strategic Future State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801368"/>
            <a:ext cx="4279392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901952"/>
            <a:ext cx="4096512" cy="201168"/>
          </a:xfrm>
          <a:prstGeom prst="rect">
            <a:avLst/>
          </a:prstGeom>
          <a:solidFill>
            <a:srgbClr val="F0F7F8"/>
          </a:solidFill>
          <a:ln w="6350">
            <a:solidFill>
              <a:srgbClr val="00A0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901952"/>
            <a:ext cx="409651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3366"/>
                </a:solidFill>
              </a:rPr>
              <a:t>dbt-oracle: Transformation Framework, Not a Competing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9160" y="2121408"/>
            <a:ext cx="4096512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dbt is a SQL transformation framework providing version-controlled, testable, documented data models. It handles the complex Capital Partners business logic across 2,600 data points, producing clean canonical data consumable by IDF — it operates upstream of, not instead of, IDF.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2697480"/>
            <a:ext cx="4096512" cy="201168"/>
          </a:xfrm>
          <a:prstGeom prst="rect">
            <a:avLst/>
          </a:prstGeom>
          <a:solidFill>
            <a:srgbClr val="FFF8E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97480"/>
            <a:ext cx="409651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5200"/>
                </a:solidFill>
              </a:rPr>
              <a:t>⚠  OSS Risk: Airflow — Addressed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09160" y="2916936"/>
            <a:ext cx="4096512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Apache Airflow (Apache 2.0 license) is governed, versioned, and served from BBH's internal Nexus repository — the same model used for all Apache libraries (Log4j, Spring, Kafka). BBH does not run Airflow as unsupported OSS; it is a controlled dependency with patching and version governance equivalent to any other enterprise library.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3557016"/>
            <a:ext cx="4096512" cy="201168"/>
          </a:xfrm>
          <a:prstGeom prst="rect">
            <a:avLst/>
          </a:prstGeom>
          <a:solidFill>
            <a:srgbClr val="EDF6F0"/>
          </a:solidFill>
          <a:ln w="6350">
            <a:solidFill>
              <a:srgbClr val="5AA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557016"/>
            <a:ext cx="409651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B47"/>
                </a:solidFill>
              </a:rPr>
              <a:t>Strategic Vision: Foundation for KP Low-Code Platform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09160" y="3776472"/>
            <a:ext cx="4096512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The Airflow + dbt-oracle engine being built for SWP is designed as a reusable orchestration layer. The Capital Partners team is building a low-code self-service platform that will expose these engines behind a simplified interface — allowing business users to configure pipelines without deep engineering involvement, using the same governed, tested infrastructure.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CC"/>
                </a:solidFill>
              </a:rPr>
              <a:t>BBH Capital Partners · SWP Migration · ARB Committee Response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09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ARB Response: Why Not IDF for Capital Partners?</a:t>
            </a:r>
          </a:p>
        </p:txBody>
      </p:sp>
      <p:sp>
        <p:nvSpPr>
          <p:cNvPr id="7" name="Shape 5"/>
          <p:cNvSpPr/>
          <p:nvPr/>
        </p:nvSpPr>
        <p:spPr>
          <a:xfrm>
            <a:off x="256032" y="820000"/>
            <a:ext cx="8641080" cy="360000"/>
          </a:xfrm>
          <a:prstGeom prst="rect">
            <a:avLst/>
          </a:prstGeom>
          <a:solidFill>
            <a:srgbClr val="E8F4F6"/>
          </a:solidFill>
          <a:ln w="12700">
            <a:solidFill>
              <a:srgbClr val="00A0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0000"/>
            <a:ext cx="8458200" cy="360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3366"/>
                </a:solidFill>
              </a:rPr>
              <a:t>IDF is well-suited for custody/accounting. CP’s asset-management analytics, business-rule flexibility, and cloud modernisation goals require a different fit-for-purpose stack.</a:t>
            </a:r>
          </a:p>
        </p:txBody>
      </p:sp>
      <p:sp>
        <p:nvSpPr>
          <p:cNvPr id="9" name="Shape LH"/>
          <p:cNvSpPr/>
          <p:nvPr/>
        </p:nvSpPr>
        <p:spPr>
          <a:xfrm>
            <a:off x="256032" y="1240000"/>
            <a:ext cx="4114800" cy="29500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0" name="Shape LHa"/>
          <p:cNvSpPr/>
          <p:nvPr/>
        </p:nvSpPr>
        <p:spPr>
          <a:xfrm>
            <a:off x="256032" y="1240000"/>
            <a:ext cx="54864" cy="295000"/>
          </a:xfrm>
          <a:prstGeom prst="rect">
            <a:avLst/>
          </a:prstGeom>
          <a:solidFill>
            <a:srgbClr val="00C8DC"/>
          </a:solidFill>
          <a:ln w="12700">
            <a:solidFill>
              <a:srgbClr val="00C8DC"/>
            </a:solidFill>
            <a:prstDash val="solid"/>
          </a:ln>
        </p:spPr>
      </p:sp>
      <p:sp>
        <p:nvSpPr>
          <p:cNvPr id="11" name="Text LH"/>
          <p:cNvSpPr/>
          <p:nvPr/>
        </p:nvSpPr>
        <p:spPr>
          <a:xfrm>
            <a:off x="347472" y="1240000"/>
            <a:ext cx="4023360" cy="295000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Q2c · Strategic &amp; Structural Fit Gaps</a:t>
            </a:r>
          </a:p>
        </p:txBody>
      </p:sp>
      <p:sp>
        <p:nvSpPr>
          <p:cNvPr id="12" name="Shape L1h"/>
          <p:cNvSpPr/>
          <p:nvPr/>
        </p:nvSpPr>
        <p:spPr>
          <a:xfrm>
            <a:off x="256032" y="1590000"/>
            <a:ext cx="4114800" cy="175000"/>
          </a:xfrm>
          <a:prstGeom prst="rect">
            <a:avLst/>
          </a:prstGeom>
          <a:solidFill>
            <a:srgbClr val="D9EEF2"/>
          </a:solidFill>
          <a:ln w="6350">
            <a:solidFill>
              <a:srgbClr val="007B8A"/>
            </a:solidFill>
            <a:prstDash val="solid"/>
          </a:ln>
        </p:spPr>
      </p:sp>
      <p:sp>
        <p:nvSpPr>
          <p:cNvPr id="13" name="Text L1h"/>
          <p:cNvSpPr/>
          <p:nvPr/>
        </p:nvSpPr>
        <p:spPr>
          <a:xfrm>
            <a:off x="256032" y="1590000"/>
            <a:ext cx="4114800" cy="175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3366"/>
                </a:solidFill>
              </a:rPr>
              <a:t>1. Strategic Alignment &amp; Roadmap Visibility</a:t>
            </a:r>
          </a:p>
        </p:txBody>
      </p:sp>
      <p:sp>
        <p:nvSpPr>
          <p:cNvPr id="14" name="Text L1b"/>
          <p:cNvSpPr/>
          <p:nvPr/>
        </p:nvSpPr>
        <p:spPr>
          <a:xfrm>
            <a:off x="256032" y="1772000"/>
            <a:ext cx="4114800" cy="380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44444"/>
                </a:solidFill>
              </a:rPr>
              <a:t>IDF’s roadmap and cloud direction are progressing in parallel with CP needs. CP requires business-rule customisation and targeted overrides without InServ dependency. IDF is oriented toward raw data delivery, not buy-side analytics or “what I knew when I knew it” bi-temporal patterns.</a:t>
            </a:r>
          </a:p>
        </p:txBody>
      </p:sp>
      <p:sp>
        <p:nvSpPr>
          <p:cNvPr id="15" name="Shape L2h"/>
          <p:cNvSpPr/>
          <p:nvPr/>
        </p:nvSpPr>
        <p:spPr>
          <a:xfrm>
            <a:off x="256032" y="2210000"/>
            <a:ext cx="4114800" cy="175000"/>
          </a:xfrm>
          <a:prstGeom prst="rect">
            <a:avLst/>
          </a:prstGeom>
          <a:solidFill>
            <a:srgbClr val="D9EEF2"/>
          </a:solidFill>
          <a:ln w="6350">
            <a:solidFill>
              <a:srgbClr val="007B8A"/>
            </a:solidFill>
            <a:prstDash val="solid"/>
          </a:ln>
        </p:spPr>
      </p:sp>
      <p:sp>
        <p:nvSpPr>
          <p:cNvPr id="16" name="Text L2h"/>
          <p:cNvSpPr/>
          <p:nvPr/>
        </p:nvSpPr>
        <p:spPr>
          <a:xfrm>
            <a:off x="256032" y="2210000"/>
            <a:ext cx="4114800" cy="175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3366"/>
                </a:solidFill>
              </a:rPr>
              <a:t>2. Delivery &amp; Operational Dependency Risk</a:t>
            </a:r>
          </a:p>
        </p:txBody>
      </p:sp>
      <p:sp>
        <p:nvSpPr>
          <p:cNvPr id="17" name="Text L2b"/>
          <p:cNvSpPr/>
          <p:nvPr/>
        </p:nvSpPr>
        <p:spPr>
          <a:xfrm>
            <a:off x="256032" y="2390000"/>
            <a:ext cx="4114800" cy="350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44444"/>
                </a:solidFill>
              </a:rPr>
              <a:t>Timelines risk slipping if prioritisation across teams is not aligned to CP needs. Legacy views and interim transformations introduce lineage and auditability complexity. Limited self-service increases CP’s ongoing operational burden and slows client-driven enhancements.</a:t>
            </a:r>
          </a:p>
        </p:txBody>
      </p:sp>
      <p:sp>
        <p:nvSpPr>
          <p:cNvPr id="18" name="Shape L3h"/>
          <p:cNvSpPr/>
          <p:nvPr/>
        </p:nvSpPr>
        <p:spPr>
          <a:xfrm>
            <a:off x="256032" y="2800000"/>
            <a:ext cx="4114800" cy="175000"/>
          </a:xfrm>
          <a:prstGeom prst="rect">
            <a:avLst/>
          </a:prstGeom>
          <a:solidFill>
            <a:srgbClr val="D9EEF2"/>
          </a:solidFill>
          <a:ln w="6350">
            <a:solidFill>
              <a:srgbClr val="007B8A"/>
            </a:solidFill>
            <a:prstDash val="solid"/>
          </a:ln>
        </p:spPr>
      </p:sp>
      <p:sp>
        <p:nvSpPr>
          <p:cNvPr id="19" name="Text L3h"/>
          <p:cNvSpPr/>
          <p:nvPr/>
        </p:nvSpPr>
        <p:spPr>
          <a:xfrm>
            <a:off x="256032" y="2800000"/>
            <a:ext cx="4114800" cy="175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3366"/>
                </a:solidFill>
              </a:rPr>
              <a:t>3. Platform Capability Gaps vs. CP Target State</a:t>
            </a:r>
          </a:p>
        </p:txBody>
      </p:sp>
      <p:sp>
        <p:nvSpPr>
          <p:cNvPr id="20" name="Text L3b"/>
          <p:cNvSpPr/>
          <p:nvPr/>
        </p:nvSpPr>
        <p:spPr>
          <a:xfrm>
            <a:off x="256032" y="2980000"/>
            <a:ext cx="4114800" cy="360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44444"/>
                </a:solidFill>
              </a:rPr>
              <a:t>No built-in medallion architecture (bronze/silver/gold) or layered transformation model. Standardised code-change tracking and end-to-end lineage are not consistently available. CP needs integrated MDM, Data Quality, Catalog, and Lineage — not present in IDF today.</a:t>
            </a:r>
          </a:p>
        </p:txBody>
      </p:sp>
      <p:sp>
        <p:nvSpPr>
          <p:cNvPr id="21" name="Shape L4h"/>
          <p:cNvSpPr/>
          <p:nvPr/>
        </p:nvSpPr>
        <p:spPr>
          <a:xfrm>
            <a:off x="256032" y="3400000"/>
            <a:ext cx="4114800" cy="175000"/>
          </a:xfrm>
          <a:prstGeom prst="rect">
            <a:avLst/>
          </a:prstGeom>
          <a:solidFill>
            <a:srgbClr val="D9EEF2"/>
          </a:solidFill>
          <a:ln w="6350">
            <a:solidFill>
              <a:srgbClr val="007B8A"/>
            </a:solidFill>
            <a:prstDash val="solid"/>
          </a:ln>
        </p:spPr>
      </p:sp>
      <p:sp>
        <p:nvSpPr>
          <p:cNvPr id="22" name="Text L4h"/>
          <p:cNvSpPr/>
          <p:nvPr/>
        </p:nvSpPr>
        <p:spPr>
          <a:xfrm>
            <a:off x="256032" y="3400000"/>
            <a:ext cx="4114800" cy="175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3366"/>
                </a:solidFill>
              </a:rPr>
              <a:t>4. Orchestration Maturity &amp; Operating Model</a:t>
            </a:r>
          </a:p>
        </p:txBody>
      </p:sp>
      <p:sp>
        <p:nvSpPr>
          <p:cNvPr id="23" name="Text L4b"/>
          <p:cNvSpPr/>
          <p:nvPr/>
        </p:nvSpPr>
        <p:spPr>
          <a:xfrm>
            <a:off x="256032" y="3580000"/>
            <a:ext cx="4114800" cy="310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44444"/>
                </a:solidFill>
              </a:rPr>
              <a:t>Modern workflow orchestration is limited, creating bottlenecks at CP scale. Resource-constrained model relies heavily on a central team with limited self-service. Shared multi-tenant environments constrain production-like isolation needed for CP testing.</a:t>
            </a:r>
          </a:p>
        </p:txBody>
      </p:sp>
      <p:sp>
        <p:nvSpPr>
          <p:cNvPr id="24" name="Shape RH"/>
          <p:cNvSpPr/>
          <p:nvPr/>
        </p:nvSpPr>
        <p:spPr>
          <a:xfrm>
            <a:off x="4480560" y="1240000"/>
            <a:ext cx="4418880" cy="29500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5" name="Shape RHa"/>
          <p:cNvSpPr/>
          <p:nvPr/>
        </p:nvSpPr>
        <p:spPr>
          <a:xfrm>
            <a:off x="4480560" y="1240000"/>
            <a:ext cx="54864" cy="295000"/>
          </a:xfrm>
          <a:prstGeom prst="rect">
            <a:avLst/>
          </a:prstGeom>
          <a:solidFill>
            <a:srgbClr val="00C8DC"/>
          </a:solidFill>
          <a:ln w="12700">
            <a:solidFill>
              <a:srgbClr val="00C8DC"/>
            </a:solidFill>
            <a:prstDash val="solid"/>
          </a:ln>
        </p:spPr>
      </p:sp>
      <p:sp>
        <p:nvSpPr>
          <p:cNvPr id="26" name="Text RH"/>
          <p:cNvSpPr/>
          <p:nvPr/>
        </p:nvSpPr>
        <p:spPr>
          <a:xfrm>
            <a:off x="4571904" y="1240000"/>
            <a:ext cx="4327440" cy="295000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Additional Fit Considerations</a:t>
            </a:r>
          </a:p>
        </p:txBody>
      </p:sp>
      <p:sp>
        <p:nvSpPr>
          <p:cNvPr id="27" name="Shape R1h"/>
          <p:cNvSpPr/>
          <p:nvPr/>
        </p:nvSpPr>
        <p:spPr>
          <a:xfrm>
            <a:off x="4480560" y="1590000"/>
            <a:ext cx="4418880" cy="175000"/>
          </a:xfrm>
          <a:prstGeom prst="rect">
            <a:avLst/>
          </a:prstGeom>
          <a:solidFill>
            <a:srgbClr val="EDF6F0"/>
          </a:solidFill>
          <a:ln w="6350">
            <a:solidFill>
              <a:srgbClr val="5AAA7A"/>
            </a:solidFill>
            <a:prstDash val="solid"/>
          </a:ln>
        </p:spPr>
      </p:sp>
      <p:sp>
        <p:nvSpPr>
          <p:cNvPr id="28" name="Text R1h"/>
          <p:cNvSpPr/>
          <p:nvPr/>
        </p:nvSpPr>
        <p:spPr>
          <a:xfrm>
            <a:off x="4480560" y="1590000"/>
            <a:ext cx="4418880" cy="175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E6B47"/>
                </a:solidFill>
              </a:rPr>
              <a:t>5. Data Corrections &amp; Business-Rule Overrides</a:t>
            </a:r>
          </a:p>
        </p:txBody>
      </p:sp>
      <p:sp>
        <p:nvSpPr>
          <p:cNvPr id="29" name="Text R1b"/>
          <p:cNvSpPr/>
          <p:nvPr/>
        </p:nvSpPr>
        <p:spPr>
          <a:xfrm>
            <a:off x="4480560" y="1772000"/>
            <a:ext cx="4418880" cy="305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44444"/>
                </a:solidFill>
              </a:rPr>
              <a:t>CP teams frequently need to remediate vendor data issues (e.g., incorrect durations) quickly. Process-intensive change paths and limited self-service slow time-sensitive corrections, impacting client reporting SLAs.</a:t>
            </a:r>
          </a:p>
        </p:txBody>
      </p:sp>
      <p:sp>
        <p:nvSpPr>
          <p:cNvPr id="30" name="Shape R2h"/>
          <p:cNvSpPr/>
          <p:nvPr/>
        </p:nvSpPr>
        <p:spPr>
          <a:xfrm>
            <a:off x="4480560" y="2140000"/>
            <a:ext cx="4418880" cy="175000"/>
          </a:xfrm>
          <a:prstGeom prst="rect">
            <a:avLst/>
          </a:prstGeom>
          <a:solidFill>
            <a:srgbClr val="EDF6F0"/>
          </a:solidFill>
          <a:ln w="6350">
            <a:solidFill>
              <a:srgbClr val="5AAA7A"/>
            </a:solidFill>
            <a:prstDash val="solid"/>
          </a:ln>
        </p:spPr>
      </p:sp>
      <p:sp>
        <p:nvSpPr>
          <p:cNvPr id="31" name="Text R2h"/>
          <p:cNvSpPr/>
          <p:nvPr/>
        </p:nvSpPr>
        <p:spPr>
          <a:xfrm>
            <a:off x="4480560" y="2140000"/>
            <a:ext cx="4418880" cy="175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E6B47"/>
                </a:solidFill>
              </a:rPr>
              <a:t>6. System-of-Record &amp; Schema Limitations</a:t>
            </a:r>
          </a:p>
        </p:txBody>
      </p:sp>
      <p:sp>
        <p:nvSpPr>
          <p:cNvPr id="32" name="Text R2b"/>
          <p:cNvSpPr/>
          <p:nvPr/>
        </p:nvSpPr>
        <p:spPr>
          <a:xfrm>
            <a:off x="4480560" y="2322000"/>
            <a:ext cx="4418880" cy="340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44444"/>
                </a:solidFill>
              </a:rPr>
              <a:t>Using IDF as CP’s primary system-of-record requires: explicit schema management (currently inferred from files), schema versioning and migration, primary key support, and transactional integrity — none are clearly available today.</a:t>
            </a:r>
          </a:p>
        </p:txBody>
      </p:sp>
      <p:sp>
        <p:nvSpPr>
          <p:cNvPr id="33" name="Shape R3h"/>
          <p:cNvSpPr/>
          <p:nvPr/>
        </p:nvSpPr>
        <p:spPr>
          <a:xfrm>
            <a:off x="4480560" y="2730000"/>
            <a:ext cx="4418880" cy="175000"/>
          </a:xfrm>
          <a:prstGeom prst="rect">
            <a:avLst/>
          </a:prstGeom>
          <a:solidFill>
            <a:srgbClr val="EDF6F0"/>
          </a:solidFill>
          <a:ln w="6350">
            <a:solidFill>
              <a:srgbClr val="5AAA7A"/>
            </a:solidFill>
            <a:prstDash val="solid"/>
          </a:ln>
        </p:spPr>
      </p:sp>
      <p:sp>
        <p:nvSpPr>
          <p:cNvPr id="34" name="Text R3h"/>
          <p:cNvSpPr/>
          <p:nvPr/>
        </p:nvSpPr>
        <p:spPr>
          <a:xfrm>
            <a:off x="4480560" y="2730000"/>
            <a:ext cx="4418880" cy="175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E6B47"/>
                </a:solidFill>
              </a:rPr>
              <a:t>7. Governance, Catalog &amp; Data Quality</a:t>
            </a:r>
          </a:p>
        </p:txBody>
      </p:sp>
      <p:sp>
        <p:nvSpPr>
          <p:cNvPr id="35" name="Text R3b"/>
          <p:cNvSpPr/>
          <p:nvPr/>
        </p:nvSpPr>
        <p:spPr>
          <a:xfrm>
            <a:off x="4480560" y="2912000"/>
            <a:ext cx="4418880" cy="310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44444"/>
                </a:solidFill>
              </a:rPr>
              <a:t>IBM Info Catalog is not fully self-service today; integrated end-to-end DQ tooling is absent. CP requires domain-specific buy-side rules and controls — similar to capabilities offered by dedicated asset-management vendors — that IDF does not currently provide.</a:t>
            </a:r>
          </a:p>
        </p:txBody>
      </p:sp>
      <p:sp>
        <p:nvSpPr>
          <p:cNvPr id="36" name="Shape R4h"/>
          <p:cNvSpPr/>
          <p:nvPr/>
        </p:nvSpPr>
        <p:spPr>
          <a:xfrm>
            <a:off x="4480560" y="3290000"/>
            <a:ext cx="4418880" cy="175000"/>
          </a:xfrm>
          <a:prstGeom prst="rect">
            <a:avLst/>
          </a:prstGeom>
          <a:solidFill>
            <a:srgbClr val="EDF6F0"/>
          </a:solidFill>
          <a:ln w="6350">
            <a:solidFill>
              <a:srgbClr val="5AAA7A"/>
            </a:solidFill>
            <a:prstDash val="solid"/>
          </a:ln>
        </p:spPr>
      </p:sp>
      <p:sp>
        <p:nvSpPr>
          <p:cNvPr id="37" name="Text R4h"/>
          <p:cNvSpPr/>
          <p:nvPr/>
        </p:nvSpPr>
        <p:spPr>
          <a:xfrm>
            <a:off x="4480560" y="3290000"/>
            <a:ext cx="4418880" cy="175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E6B47"/>
                </a:solidFill>
              </a:rPr>
              <a:t>8. Total Cost of Ownership &amp; Productivity</a:t>
            </a:r>
          </a:p>
        </p:txBody>
      </p:sp>
      <p:sp>
        <p:nvSpPr>
          <p:cNvPr id="38" name="Text R4b"/>
          <p:cNvSpPr/>
          <p:nvPr/>
        </p:nvSpPr>
        <p:spPr>
          <a:xfrm>
            <a:off x="4480560" y="3472000"/>
            <a:ext cx="4418880" cy="290000"/>
          </a:xfrm>
          <a:prstGeom prst="rect">
            <a:avLst/>
          </a:prstGeom>
          <a:noFill/>
          <a:ln/>
        </p:spPr>
        <p:txBody>
          <a:bodyPr wrap="square" lIns="50800" tIns="28000" rIns="50800" bIns="2800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444444"/>
                </a:solidFill>
              </a:rPr>
              <a:t>Up-front costs may appear lower, but ongoing customisation, workarounds, and performance constraints increase total ownership cost. Tooling friction reduces team productivity and slows delivery of client-driven enhancements.</a:t>
            </a:r>
          </a:p>
        </p:txBody>
      </p:sp>
      <p:sp>
        <p:nvSpPr>
          <p:cNvPr id="39" name="Shape Close"/>
          <p:cNvSpPr/>
          <p:nvPr/>
        </p:nvSpPr>
        <p:spPr>
          <a:xfrm>
            <a:off x="256032" y="3840000"/>
            <a:ext cx="8641080" cy="220000"/>
          </a:xfrm>
          <a:prstGeom prst="rect">
            <a:avLst/>
          </a:prstGeom>
          <a:solidFill>
            <a:srgbClr val="003366"/>
          </a:solidFill>
          <a:ln w="6350">
            <a:solidFill>
              <a:srgbClr val="003366"/>
            </a:solidFill>
            <a:prstDash val="solid"/>
          </a:ln>
        </p:spPr>
      </p:sp>
      <p:sp>
        <p:nvSpPr>
          <p:cNvPr id="40" name="Text Close"/>
          <p:cNvSpPr/>
          <p:nvPr/>
        </p:nvSpPr>
        <p:spPr>
          <a:xfrm>
            <a:off x="256032" y="3840000"/>
            <a:ext cx="8641080" cy="220000"/>
          </a:xfrm>
          <a:prstGeom prst="rect">
            <a:avLst/>
          </a:prstGeom>
          <a:noFill/>
          <a:ln/>
        </p:spPr>
        <p:txBody>
          <a:bodyPr wrap="square" lIns="80000" tIns="28000" rIns="80000" bIns="2800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AABBCC"/>
                </a:solidFill>
              </a:rPr>
              <a:t>Fit-for-purpose assessment, not a platform critique: IDF serves custody/accounting well. CP’s buy-side analytics, bi-temporal data, and self-service requirements are better served by a stack optimised for asset-management data products.</a:t>
            </a:r>
          </a:p>
        </p:txBody>
      </p:sp>
      <p:sp>
        <p:nvSpPr>
          <p:cNvPr id="41" name="Shape Footer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2" name="Text Footer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CC"/>
                </a:solidFill>
              </a:rPr>
              <a:t>BBH Capital Partners · SWP Migration · ARB Committee Response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SWP Migration - ARB Committee Responses</dc:title>
  <dc:subject>PptxGenJS Presentation</dc:subject>
  <dc:creator>PptxGenJS</dc:creator>
  <cp:lastModifiedBy>PptxGenJS</cp:lastModifiedBy>
  <cp:revision>1</cp:revision>
  <dcterms:created xsi:type="dcterms:W3CDTF">2026-03-26T16:13:44Z</dcterms:created>
  <dcterms:modified xsi:type="dcterms:W3CDTF">2026-03-26T16:13:44Z</dcterms:modified>
</cp:coreProperties>
</file>