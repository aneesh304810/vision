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3FC84-4519-F847-8DBA-A97073901578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DCD3E-161C-A147-BDF9-3DA2F0CC4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54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11996928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164592"/>
            <a:ext cx="658368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64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2416" y="5486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Strategic Wealth Platform Migration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4592" y="530352"/>
            <a:ext cx="11996928" cy="4572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530352"/>
            <a:ext cx="1177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Modernising our core accounting infrastructure — from FIS AddVantage to SEI SWP — with a governed, OpenShift-native data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548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Capital Partners  ·  March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" y="1060704"/>
            <a:ext cx="2871216" cy="896112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  <a:effectLst>
            <a:outerShdw blurRad="152400" dist="38100" dir="9000000" algn="bl" rotWithShape="0">
              <a:srgbClr val="DC26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7744" y="1060704"/>
            <a:ext cx="2871216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097280"/>
            <a:ext cx="1320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73352" y="1133856"/>
            <a:ext cx="137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73352" y="1389888"/>
            <a:ext cx="137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Feeds, APIs &amp; DB queries impacted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82112" y="1060704"/>
            <a:ext cx="2871216" cy="896112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blurRad="152400" dist="38100" dir="9000000" algn="bl" rotWithShape="0">
              <a:srgbClr val="B45309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82112" y="1060704"/>
            <a:ext cx="2871216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1097280"/>
            <a:ext cx="1320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17720" y="1133856"/>
            <a:ext cx="137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Automated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389888"/>
            <a:ext cx="137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RMJ jobs → governed Airflow pipelines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1060704"/>
            <a:ext cx="2871216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9000000" algn="bl" rotWithShape="0">
              <a:srgbClr val="0D9488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1060704"/>
            <a:ext cx="28712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1097280"/>
            <a:ext cx="1320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562088" y="1133856"/>
            <a:ext cx="137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Served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62088" y="1389888"/>
            <a:ext cx="137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systems — zero disruption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70848" y="1060704"/>
            <a:ext cx="2871216" cy="89611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52400" dist="38100" dir="9000000" algn="bl" rotWithShape="0">
              <a:srgbClr val="059669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70848" y="1060704"/>
            <a:ext cx="287121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80576" y="1097280"/>
            <a:ext cx="1320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0506456" y="1133856"/>
            <a:ext cx="137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SLA Target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06456" y="1389888"/>
            <a:ext cx="137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pipeline completion window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7744" y="2029968"/>
            <a:ext cx="287121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52400" dist="38100" dir="9000000" algn="bl" rotWithShape="0">
              <a:srgbClr val="0A746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7744" y="2029968"/>
            <a:ext cx="2871216" cy="54864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7472" y="2157984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" y="20848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4944" y="2359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7744" y="2578608"/>
            <a:ext cx="2871216" cy="475488"/>
          </a:xfrm>
          <a:prstGeom prst="rect">
            <a:avLst/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5968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modernization of our data pipeline — not just a software swap.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" y="3108960"/>
            <a:ext cx="2688336" cy="1060704"/>
          </a:xfrm>
          <a:prstGeom prst="rect">
            <a:avLst/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4048" y="3218688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6928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Replacement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" y="341985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AddVantage/Advantage → SEI Wealth Platform (SWP), a cloud-native SaaS on Oracle Cloud.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" y="4206240"/>
            <a:ext cx="2688336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84048" y="4315968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426110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" y="451713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OpenShift-native platform using Airflow for orchestration and dbt for data transformation.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" y="5303520"/>
            <a:ext cx="2688336" cy="1060704"/>
          </a:xfrm>
          <a:prstGeom prst="rect">
            <a:avLst/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84048" y="5413248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6928" y="53583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" y="561441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+ Data Hub replace hundreds of fragmented point-to-point connections.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82112" y="2029968"/>
            <a:ext cx="287121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152400" dist="38100" dir="9000000" algn="bl" rotWithShape="0">
              <a:srgbClr val="DC262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182112" y="2029968"/>
            <a:ext cx="2871216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291840" y="2157984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9184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39312" y="20848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3639312" y="2359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Drivers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182112" y="2578608"/>
            <a:ext cx="2871216" cy="475488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310128" y="25968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environment has fragmented integrations, no central governance, and inconsistent data.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73552" y="3108960"/>
            <a:ext cx="2688336" cy="1060704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328416" y="321868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11296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Growth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328416" y="341985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complex asset types, sleeve management, multi-currency, and Trust Company needs.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73552" y="4206240"/>
            <a:ext cx="2688336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328416" y="431596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511296" y="426110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328416" y="451713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mirror postings (Alternatives &amp; Trust) and automates onboarding workflows.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73552" y="5303520"/>
            <a:ext cx="2688336" cy="1060704"/>
          </a:xfrm>
          <a:prstGeom prst="rect">
            <a:avLst/>
          </a:prstGeom>
          <a:solidFill>
            <a:srgbClr val="FFF5F5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328416" y="541324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11296" y="53583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328416" y="561441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manual, brittle processes to a scalable, auditable Medallion architecture.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126480" y="2029968"/>
            <a:ext cx="287121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52400" dist="38100" dir="9000000" algn="bl" rotWithShape="0">
              <a:srgbClr val="B4530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126480" y="2029968"/>
            <a:ext cx="2871216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236208" y="2157984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36208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83680" y="20848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583680" y="2359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126480" y="2578608"/>
            <a:ext cx="2871216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254496" y="25968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modernized CP Integration Hub and Data Hub on OpenShift.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17920" y="3108960"/>
            <a:ext cx="2688336" cy="1060704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272784" y="321868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455664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Orchestration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2784" y="341985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manages ~1,000 downstream consumer data flows with full SLA monitoring.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17920" y="4206240"/>
            <a:ext cx="2688336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72784" y="431596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55664" y="426110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Data Pipeline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272784" y="451713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testing, documentation, and lineage for all financial data — Bronze/Silver/Gold layers.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217920" y="5303520"/>
            <a:ext cx="2688336" cy="1060704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272784" y="541324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455664" y="53583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272784" y="561441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OpenShift with KEDA auto-scaling handles variable loads across 4 environments.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070848" y="2029968"/>
            <a:ext cx="287121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52400" dist="38100" dir="9000000" algn="bl" rotWithShape="0">
              <a:srgbClr val="05966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070848" y="2029968"/>
            <a:ext cx="2871216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180576" y="2157984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9180576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9528048" y="20848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9528048" y="2359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9070848" y="2578608"/>
            <a:ext cx="2871216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198864" y="25968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infrastructure across Production, UAT, and Dev environments.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9162288" y="3108960"/>
            <a:ext cx="2688336" cy="106070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217152" y="321868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400032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9217152" y="341985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vCPU total — 52 for application pods + 44 for node OS &amp; system overhead across 10 nodes.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162288" y="4206240"/>
            <a:ext cx="2688336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217152" y="431596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400032" y="426110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Storage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217152" y="451713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GB RAM  ·  500 GB now → 1.5 TB by Year 2 to accommodate pipeline data growth.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162288" y="5303520"/>
            <a:ext cx="2688336" cy="106070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9217152" y="541324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9400032" y="53583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Approval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9217152" y="561441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10-node Production OpenShift cluster to guarantee zero data delivery misses to consumers.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64592" y="6565392"/>
            <a:ext cx="11996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274320" y="6574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 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1664208" y="6574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On-Prem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090672" y="6574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3.1.7  ·  dbt 1.7.5  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4480560" y="6574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OpenShift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5907024" y="6574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vCPU  ·  192 GB RAM  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296912" y="6574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cluster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8723376" y="6574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→ 1.5 TB  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10113264" y="6574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by Year 2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9509760" y="6574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Nair</cp:lastModifiedBy>
  <cp:revision>2</cp:revision>
  <dcterms:created xsi:type="dcterms:W3CDTF">2026-03-18T22:46:07Z</dcterms:created>
  <dcterms:modified xsi:type="dcterms:W3CDTF">2026-03-18T22:51:23Z</dcterms:modified>
</cp:coreProperties>
</file>