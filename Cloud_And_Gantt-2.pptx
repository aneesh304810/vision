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46304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SWP Cloud Model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640080"/>
            <a:ext cx="11521440" cy="36576"/>
          </a:xfrm>
          <a:prstGeom prst="rect">
            <a:avLst/>
          </a:prstGeom>
          <a:solidFill>
            <a:srgbClr val="005B6E"/>
          </a:solidFill>
          <a:ln w="12700">
            <a:solidFill>
              <a:srgbClr val="005B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34440"/>
            <a:ext cx="914400" cy="777240"/>
          </a:xfrm>
          <a:prstGeom prst="rect">
            <a:avLst/>
          </a:prstGeom>
          <a:solidFill>
            <a:srgbClr val="1C7C8C"/>
          </a:solidFill>
          <a:ln w="15240">
            <a:solidFill>
              <a:srgbClr val="005B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914400" cy="201168"/>
          </a:xfrm>
          <a:prstGeom prst="ellipse">
            <a:avLst/>
          </a:prstGeom>
          <a:solidFill>
            <a:srgbClr val="2AA5BB"/>
          </a:solidFill>
          <a:ln w="15240">
            <a:solidFill>
              <a:srgbClr val="005B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914400" cy="201168"/>
          </a:xfrm>
          <a:prstGeom prst="ellipse">
            <a:avLst/>
          </a:prstGeom>
          <a:solidFill>
            <a:srgbClr val="1C7C8C"/>
          </a:solidFill>
          <a:ln w="15240">
            <a:solidFill>
              <a:srgbClr val="005B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61872"/>
            <a:ext cx="914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SFTP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691640" y="841248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👥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600200" y="144475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834640" y="841248"/>
            <a:ext cx="4206240" cy="914400"/>
          </a:xfrm>
          <a:prstGeom prst="rect">
            <a:avLst/>
          </a:prstGeom>
          <a:solidFill>
            <a:srgbClr val="F4F9FB"/>
          </a:solidFill>
          <a:ln w="10160">
            <a:solidFill>
              <a:srgbClr val="A0BE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841248"/>
            <a:ext cx="4023360" cy="914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TLS, MFA/SSO, IP Whitelisting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browser and REST APIs, including loader file uploads.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Optionally, the client may also download files via this method.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97280" y="2029968"/>
            <a:ext cx="1371600" cy="77724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2084832" y="1664208"/>
            <a:ext cx="91440" cy="109728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1463040" y="2286000"/>
            <a:ext cx="4754880" cy="1783080"/>
          </a:xfrm>
          <a:prstGeom prst="ellipse">
            <a:avLst/>
          </a:prstGeom>
          <a:solidFill>
            <a:srgbClr val="C8441A"/>
          </a:solidFill>
          <a:ln w="19050">
            <a:solidFill>
              <a:srgbClr val="A8351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0" y="2103120"/>
            <a:ext cx="1371600" cy="822960"/>
          </a:xfrm>
          <a:prstGeom prst="ellipse">
            <a:avLst/>
          </a:prstGeom>
          <a:solidFill>
            <a:srgbClr val="D04E20"/>
          </a:solidFill>
          <a:ln w="12700">
            <a:solidFill>
              <a:srgbClr val="A8351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08960" y="1965960"/>
            <a:ext cx="1645920" cy="868680"/>
          </a:xfrm>
          <a:prstGeom prst="ellipse">
            <a:avLst/>
          </a:prstGeom>
          <a:solidFill>
            <a:srgbClr val="D04E20"/>
          </a:solidFill>
          <a:ln w="12700">
            <a:solidFill>
              <a:srgbClr val="A8351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0" y="2121408"/>
            <a:ext cx="1188720" cy="777240"/>
          </a:xfrm>
          <a:prstGeom prst="ellipse">
            <a:avLst/>
          </a:prstGeom>
          <a:solidFill>
            <a:srgbClr val="D04E20"/>
          </a:solidFill>
          <a:ln w="12700">
            <a:solidFill>
              <a:srgbClr val="A8351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63040" y="2286000"/>
            <a:ext cx="4754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400800" y="2240280"/>
            <a:ext cx="5120640" cy="1508760"/>
          </a:xfrm>
          <a:prstGeom prst="rect">
            <a:avLst/>
          </a:prstGeom>
          <a:solidFill>
            <a:srgbClr val="F4F9FB"/>
          </a:solidFill>
          <a:ln w="10160">
            <a:solidFill>
              <a:srgbClr val="A0BE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2240280"/>
            <a:ext cx="4937760" cy="1508760"/>
          </a:xfrm>
          <a:prstGeom prst="rect">
            <a:avLst/>
          </a:prstGeom>
          <a:noFill/>
          <a:ln/>
        </p:spPr>
        <p:txBody>
          <a:bodyPr wrap="square" lIns="88900" tIns="88900" rIns="88900" bIns="889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Compliance
</a:t>
            </a:r>
            <a:endParaRPr lang="en-US" sz="1100" dirty="0"/>
          </a:p>
          <a:p>
            <a:pPr indent="0" marL="0">
              <a:buNone/>
            </a:pPr>
            <a:r>
              <a:rPr lang="en-US" sz="9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Boundary:  </a:t>
            </a:r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or SAML SSO
</a:t>
            </a:r>
            <a:endParaRPr lang="en-US" sz="1100" dirty="0"/>
          </a:p>
          <a:p>
            <a:pPr indent="0" marL="0">
              <a:buNone/>
            </a:pPr>
            <a:r>
              <a:rPr lang="en-US" sz="9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Boundary: </a:t>
            </a:r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NAT IP Whitelisting
</a:t>
            </a:r>
            <a:endParaRPr lang="en-US" sz="1100" dirty="0"/>
          </a:p>
          <a:p>
            <a:pPr indent="0" marL="0">
              <a:buNone/>
            </a:pPr>
            <a:r>
              <a:rPr lang="en-US" sz="9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Encryption: </a:t>
            </a:r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TLS1.2 and TLS1.3 with PFS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40480" y="4078224"/>
            <a:ext cx="0" cy="384048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2926080" y="4462272"/>
            <a:ext cx="1828800" cy="658368"/>
          </a:xfrm>
          <a:prstGeom prst="rect">
            <a:avLst/>
          </a:prstGeom>
          <a:solidFill>
            <a:srgbClr val="1A7A3C"/>
          </a:solidFill>
          <a:ln w="15240">
            <a:solidFill>
              <a:srgbClr val="155F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0" y="446227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Edge WAF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blocking mode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33832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will push daily file</a:t>
            </a:r>
            <a:endParaRPr lang="en-US" sz="850" dirty="0"/>
          </a:p>
          <a:p>
            <a:pPr algn="l" indent="0" marL="0">
              <a:buNone/>
            </a:pPr>
            <a:r>
              <a:rPr lang="en-US" sz="8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to the client site</a:t>
            </a:r>
            <a:endParaRPr lang="en-US" sz="850" dirty="0"/>
          </a:p>
          <a:p>
            <a:pPr algn="l" indent="0" marL="0">
              <a:buNone/>
            </a:pPr>
            <a:r>
              <a:rPr lang="en-US" sz="8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SFTP as they are</a:t>
            </a:r>
            <a:endParaRPr lang="en-US" sz="850" dirty="0"/>
          </a:p>
          <a:p>
            <a:pPr algn="l" indent="0" marL="0">
              <a:buNone/>
            </a:pPr>
            <a:r>
              <a:rPr lang="en-US" sz="8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840480" y="5120640"/>
            <a:ext cx="0" cy="36576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2468880" y="5193792"/>
            <a:ext cx="2743200" cy="1051560"/>
          </a:xfrm>
          <a:prstGeom prst="ellipse">
            <a:avLst/>
          </a:prstGeom>
          <a:solidFill>
            <a:srgbClr val="1F4E79"/>
          </a:solidFill>
          <a:ln w="19050">
            <a:solidFill>
              <a:srgbClr val="16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68880" y="5193792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SWP on the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 OCI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Zone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651760" y="62910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Ashburn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212080" y="5724144"/>
            <a:ext cx="2468880" cy="0"/>
          </a:xfrm>
          <a:prstGeom prst="line">
            <a:avLst/>
          </a:prstGeom>
          <a:noFill/>
          <a:ln w="25400">
            <a:solidFill>
              <a:srgbClr val="44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0" y="5440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IPSec for Hybrid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406640" y="47548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🏠</a:t>
            </a:r>
            <a:endParaRPr lang="en-US" sz="5200" dirty="0"/>
          </a:p>
        </p:txBody>
      </p:sp>
      <p:sp>
        <p:nvSpPr>
          <p:cNvPr id="32" name="Text 30"/>
          <p:cNvSpPr/>
          <p:nvPr/>
        </p:nvSpPr>
        <p:spPr>
          <a:xfrm>
            <a:off x="7132320" y="5989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On-Premises Oaks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05B6E"/>
          </a:solidFill>
          <a:ln w="12700">
            <a:solidFill>
              <a:srgbClr val="005B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6656832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©2026 Brown Brothers Harriman &amp; Co. Confidential &amp; Proprietary. Not to be reproduced without the explicit consent of BBH &amp; Co.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SWP Implementation – Integrated Program Plan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74320" y="512064"/>
            <a:ext cx="11612880" cy="36576"/>
          </a:xfrm>
          <a:prstGeom prst="rect">
            <a:avLst/>
          </a:prstGeom>
          <a:solidFill>
            <a:srgbClr val="005B6E"/>
          </a:solidFill>
          <a:ln w="12700">
            <a:solidFill>
              <a:srgbClr val="005B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91440"/>
            <a:ext cx="128016" cy="12801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13848" y="8229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600" dirty="0"/>
          </a:p>
        </p:txBody>
      </p:sp>
      <p:sp>
        <p:nvSpPr>
          <p:cNvPr id="6" name="Shape 4"/>
          <p:cNvSpPr/>
          <p:nvPr/>
        </p:nvSpPr>
        <p:spPr>
          <a:xfrm>
            <a:off x="10744200" y="91440"/>
            <a:ext cx="128016" cy="128016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99648" y="8229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600" dirty="0"/>
          </a:p>
        </p:txBody>
      </p:sp>
      <p:sp>
        <p:nvSpPr>
          <p:cNvPr id="8" name="Shape 6"/>
          <p:cNvSpPr/>
          <p:nvPr/>
        </p:nvSpPr>
        <p:spPr>
          <a:xfrm>
            <a:off x="11430000" y="91440"/>
            <a:ext cx="128016" cy="128016"/>
          </a:xfrm>
          <a:prstGeom prst="rect">
            <a:avLst/>
          </a:prstGeom>
          <a:solidFill>
            <a:srgbClr val="538135"/>
          </a:solidFill>
          <a:ln w="12700">
            <a:solidFill>
              <a:srgbClr val="5381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585448" y="8229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10058400" y="274320"/>
            <a:ext cx="128016" cy="128016"/>
          </a:xfrm>
          <a:prstGeom prst="rect">
            <a:avLst/>
          </a:prstGeom>
          <a:solidFill>
            <a:srgbClr val="806000"/>
          </a:solidFill>
          <a:ln w="12700">
            <a:solidFill>
              <a:srgbClr val="806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13848" y="26517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10744200" y="274320"/>
            <a:ext cx="128016" cy="128016"/>
          </a:xfrm>
          <a:prstGeom prst="rect">
            <a:avLst/>
          </a:prstGeom>
          <a:solidFill>
            <a:srgbClr val="8080A0"/>
          </a:solidFill>
          <a:ln w="12700">
            <a:solidFill>
              <a:srgbClr val="8080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99648" y="26517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1874520" y="585216"/>
            <a:ext cx="481149" cy="292608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74520" y="585216"/>
            <a:ext cx="4811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520" dirty="0"/>
          </a:p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'26</a:t>
            </a:r>
            <a:endParaRPr lang="en-US" sz="520" dirty="0"/>
          </a:p>
        </p:txBody>
      </p:sp>
      <p:sp>
        <p:nvSpPr>
          <p:cNvPr id="16" name="Shape 14"/>
          <p:cNvSpPr/>
          <p:nvPr/>
        </p:nvSpPr>
        <p:spPr>
          <a:xfrm>
            <a:off x="2355669" y="585216"/>
            <a:ext cx="481149" cy="292608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5669" y="585216"/>
            <a:ext cx="4811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520" dirty="0"/>
          </a:p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'26</a:t>
            </a:r>
            <a:endParaRPr lang="en-US" sz="520" dirty="0"/>
          </a:p>
        </p:txBody>
      </p:sp>
      <p:sp>
        <p:nvSpPr>
          <p:cNvPr id="18" name="Shape 16"/>
          <p:cNvSpPr/>
          <p:nvPr/>
        </p:nvSpPr>
        <p:spPr>
          <a:xfrm>
            <a:off x="2836817" y="585216"/>
            <a:ext cx="481149" cy="292608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36817" y="585216"/>
            <a:ext cx="4811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520" dirty="0"/>
          </a:p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'26</a:t>
            </a:r>
            <a:endParaRPr lang="en-US" sz="520" dirty="0"/>
          </a:p>
        </p:txBody>
      </p:sp>
      <p:sp>
        <p:nvSpPr>
          <p:cNvPr id="20" name="Shape 18"/>
          <p:cNvSpPr/>
          <p:nvPr/>
        </p:nvSpPr>
        <p:spPr>
          <a:xfrm>
            <a:off x="3317966" y="585216"/>
            <a:ext cx="481149" cy="292608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7966" y="585216"/>
            <a:ext cx="4811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520" dirty="0"/>
          </a:p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'26</a:t>
            </a:r>
            <a:endParaRPr lang="en-US" sz="520" dirty="0"/>
          </a:p>
        </p:txBody>
      </p:sp>
      <p:sp>
        <p:nvSpPr>
          <p:cNvPr id="22" name="Shape 20"/>
          <p:cNvSpPr/>
          <p:nvPr/>
        </p:nvSpPr>
        <p:spPr>
          <a:xfrm>
            <a:off x="3799114" y="585216"/>
            <a:ext cx="481149" cy="292608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99114" y="585216"/>
            <a:ext cx="4811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520" dirty="0"/>
          </a:p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'26</a:t>
            </a:r>
            <a:endParaRPr lang="en-US" sz="520" dirty="0"/>
          </a:p>
        </p:txBody>
      </p:sp>
      <p:sp>
        <p:nvSpPr>
          <p:cNvPr id="24" name="Shape 22"/>
          <p:cNvSpPr/>
          <p:nvPr/>
        </p:nvSpPr>
        <p:spPr>
          <a:xfrm>
            <a:off x="4280263" y="585216"/>
            <a:ext cx="481149" cy="292608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80263" y="585216"/>
            <a:ext cx="4811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520" dirty="0"/>
          </a:p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'26</a:t>
            </a:r>
            <a:endParaRPr lang="en-US" sz="520" dirty="0"/>
          </a:p>
        </p:txBody>
      </p:sp>
      <p:sp>
        <p:nvSpPr>
          <p:cNvPr id="26" name="Shape 24"/>
          <p:cNvSpPr/>
          <p:nvPr/>
        </p:nvSpPr>
        <p:spPr>
          <a:xfrm>
            <a:off x="4761411" y="585216"/>
            <a:ext cx="481149" cy="292608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61411" y="585216"/>
            <a:ext cx="4811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520" dirty="0"/>
          </a:p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'26</a:t>
            </a:r>
            <a:endParaRPr lang="en-US" sz="520" dirty="0"/>
          </a:p>
        </p:txBody>
      </p:sp>
      <p:sp>
        <p:nvSpPr>
          <p:cNvPr id="28" name="Shape 26"/>
          <p:cNvSpPr/>
          <p:nvPr/>
        </p:nvSpPr>
        <p:spPr>
          <a:xfrm>
            <a:off x="5242560" y="585216"/>
            <a:ext cx="481149" cy="292608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42560" y="585216"/>
            <a:ext cx="4811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520" dirty="0"/>
          </a:p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'26</a:t>
            </a:r>
            <a:endParaRPr lang="en-US" sz="520" dirty="0"/>
          </a:p>
        </p:txBody>
      </p:sp>
      <p:sp>
        <p:nvSpPr>
          <p:cNvPr id="30" name="Shape 28"/>
          <p:cNvSpPr/>
          <p:nvPr/>
        </p:nvSpPr>
        <p:spPr>
          <a:xfrm>
            <a:off x="5723709" y="585216"/>
            <a:ext cx="481149" cy="292608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23709" y="585216"/>
            <a:ext cx="4811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520" dirty="0"/>
          </a:p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'26</a:t>
            </a:r>
            <a:endParaRPr lang="en-US" sz="520" dirty="0"/>
          </a:p>
        </p:txBody>
      </p:sp>
      <p:sp>
        <p:nvSpPr>
          <p:cNvPr id="32" name="Shape 30"/>
          <p:cNvSpPr/>
          <p:nvPr/>
        </p:nvSpPr>
        <p:spPr>
          <a:xfrm>
            <a:off x="6204857" y="585216"/>
            <a:ext cx="481149" cy="292608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04857" y="585216"/>
            <a:ext cx="4811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520" dirty="0"/>
          </a:p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'27</a:t>
            </a:r>
            <a:endParaRPr lang="en-US" sz="520" dirty="0"/>
          </a:p>
        </p:txBody>
      </p:sp>
      <p:sp>
        <p:nvSpPr>
          <p:cNvPr id="34" name="Shape 32"/>
          <p:cNvSpPr/>
          <p:nvPr/>
        </p:nvSpPr>
        <p:spPr>
          <a:xfrm>
            <a:off x="6686006" y="585216"/>
            <a:ext cx="481149" cy="292608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86006" y="585216"/>
            <a:ext cx="4811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520" dirty="0"/>
          </a:p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'27</a:t>
            </a:r>
            <a:endParaRPr lang="en-US" sz="520" dirty="0"/>
          </a:p>
        </p:txBody>
      </p:sp>
      <p:sp>
        <p:nvSpPr>
          <p:cNvPr id="36" name="Shape 34"/>
          <p:cNvSpPr/>
          <p:nvPr/>
        </p:nvSpPr>
        <p:spPr>
          <a:xfrm>
            <a:off x="7167154" y="585216"/>
            <a:ext cx="481149" cy="292608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67154" y="585216"/>
            <a:ext cx="4811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520" dirty="0"/>
          </a:p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'27</a:t>
            </a:r>
            <a:endParaRPr lang="en-US" sz="520" dirty="0"/>
          </a:p>
        </p:txBody>
      </p:sp>
      <p:sp>
        <p:nvSpPr>
          <p:cNvPr id="38" name="Shape 36"/>
          <p:cNvSpPr/>
          <p:nvPr/>
        </p:nvSpPr>
        <p:spPr>
          <a:xfrm>
            <a:off x="7648303" y="585216"/>
            <a:ext cx="481149" cy="292608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48303" y="585216"/>
            <a:ext cx="4811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520" dirty="0"/>
          </a:p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'27</a:t>
            </a:r>
            <a:endParaRPr lang="en-US" sz="520" dirty="0"/>
          </a:p>
        </p:txBody>
      </p:sp>
      <p:sp>
        <p:nvSpPr>
          <p:cNvPr id="40" name="Shape 38"/>
          <p:cNvSpPr/>
          <p:nvPr/>
        </p:nvSpPr>
        <p:spPr>
          <a:xfrm>
            <a:off x="8129451" y="585216"/>
            <a:ext cx="481149" cy="292608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29451" y="585216"/>
            <a:ext cx="4811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520" dirty="0"/>
          </a:p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'27</a:t>
            </a:r>
            <a:endParaRPr lang="en-US" sz="520" dirty="0"/>
          </a:p>
        </p:txBody>
      </p:sp>
      <p:sp>
        <p:nvSpPr>
          <p:cNvPr id="42" name="Shape 40"/>
          <p:cNvSpPr/>
          <p:nvPr/>
        </p:nvSpPr>
        <p:spPr>
          <a:xfrm>
            <a:off x="8610600" y="585216"/>
            <a:ext cx="481149" cy="292608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10600" y="585216"/>
            <a:ext cx="4811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520" dirty="0"/>
          </a:p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'27</a:t>
            </a:r>
            <a:endParaRPr lang="en-US" sz="520" dirty="0"/>
          </a:p>
        </p:txBody>
      </p:sp>
      <p:sp>
        <p:nvSpPr>
          <p:cNvPr id="44" name="Shape 42"/>
          <p:cNvSpPr/>
          <p:nvPr/>
        </p:nvSpPr>
        <p:spPr>
          <a:xfrm>
            <a:off x="9091749" y="585216"/>
            <a:ext cx="481149" cy="292608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091749" y="585216"/>
            <a:ext cx="4811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520" dirty="0"/>
          </a:p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'27</a:t>
            </a:r>
            <a:endParaRPr lang="en-US" sz="520" dirty="0"/>
          </a:p>
        </p:txBody>
      </p:sp>
      <p:sp>
        <p:nvSpPr>
          <p:cNvPr id="46" name="Shape 44"/>
          <p:cNvSpPr/>
          <p:nvPr/>
        </p:nvSpPr>
        <p:spPr>
          <a:xfrm>
            <a:off x="9572897" y="585216"/>
            <a:ext cx="481149" cy="292608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572897" y="585216"/>
            <a:ext cx="4811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520" dirty="0"/>
          </a:p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'27</a:t>
            </a:r>
            <a:endParaRPr lang="en-US" sz="520" dirty="0"/>
          </a:p>
        </p:txBody>
      </p:sp>
      <p:sp>
        <p:nvSpPr>
          <p:cNvPr id="48" name="Shape 46"/>
          <p:cNvSpPr/>
          <p:nvPr/>
        </p:nvSpPr>
        <p:spPr>
          <a:xfrm>
            <a:off x="10054046" y="585216"/>
            <a:ext cx="481149" cy="292608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054046" y="585216"/>
            <a:ext cx="4811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520" dirty="0"/>
          </a:p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'27</a:t>
            </a:r>
            <a:endParaRPr lang="en-US" sz="520" dirty="0"/>
          </a:p>
        </p:txBody>
      </p:sp>
      <p:sp>
        <p:nvSpPr>
          <p:cNvPr id="50" name="Shape 48"/>
          <p:cNvSpPr/>
          <p:nvPr/>
        </p:nvSpPr>
        <p:spPr>
          <a:xfrm>
            <a:off x="10535194" y="585216"/>
            <a:ext cx="481149" cy="292608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535194" y="585216"/>
            <a:ext cx="4811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520" dirty="0"/>
          </a:p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'27</a:t>
            </a:r>
            <a:endParaRPr lang="en-US" sz="520" dirty="0"/>
          </a:p>
        </p:txBody>
      </p:sp>
      <p:sp>
        <p:nvSpPr>
          <p:cNvPr id="52" name="Shape 50"/>
          <p:cNvSpPr/>
          <p:nvPr/>
        </p:nvSpPr>
        <p:spPr>
          <a:xfrm>
            <a:off x="11016343" y="585216"/>
            <a:ext cx="481149" cy="292608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016343" y="585216"/>
            <a:ext cx="4811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520" dirty="0"/>
          </a:p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'27</a:t>
            </a:r>
            <a:endParaRPr lang="en-US" sz="520" dirty="0"/>
          </a:p>
        </p:txBody>
      </p:sp>
      <p:sp>
        <p:nvSpPr>
          <p:cNvPr id="54" name="Shape 52"/>
          <p:cNvSpPr/>
          <p:nvPr/>
        </p:nvSpPr>
        <p:spPr>
          <a:xfrm>
            <a:off x="11497491" y="585216"/>
            <a:ext cx="481149" cy="292608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1497491" y="585216"/>
            <a:ext cx="4811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520" dirty="0"/>
          </a:p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'27</a:t>
            </a:r>
            <a:endParaRPr lang="en-US" sz="520" dirty="0"/>
          </a:p>
        </p:txBody>
      </p:sp>
      <p:sp>
        <p:nvSpPr>
          <p:cNvPr id="56" name="Shape 54"/>
          <p:cNvSpPr/>
          <p:nvPr/>
        </p:nvSpPr>
        <p:spPr>
          <a:xfrm>
            <a:off x="274320" y="585216"/>
            <a:ext cx="1600200" cy="292608"/>
          </a:xfrm>
          <a:prstGeom prst="rect">
            <a:avLst/>
          </a:prstGeom>
          <a:solidFill>
            <a:srgbClr val="005B6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0040" y="585216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Stream / Task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274320" y="877824"/>
            <a:ext cx="1600200" cy="206654"/>
          </a:xfrm>
          <a:prstGeom prst="rect">
            <a:avLst/>
          </a:prstGeom>
          <a:solidFill>
            <a:srgbClr val="EDF4F7"/>
          </a:solidFill>
          <a:ln w="3810">
            <a:solidFill>
              <a:srgbClr val="D0DCE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5760" y="877824"/>
            <a:ext cx="1490472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SWP Sign-Off</a:t>
            </a:r>
            <a:endParaRPr lang="en-US" sz="620" dirty="0"/>
          </a:p>
        </p:txBody>
      </p:sp>
      <p:sp>
        <p:nvSpPr>
          <p:cNvPr id="60" name="Shape 58"/>
          <p:cNvSpPr/>
          <p:nvPr/>
        </p:nvSpPr>
        <p:spPr>
          <a:xfrm>
            <a:off x="1874520" y="87782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355669" y="877824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836817" y="87782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317966" y="877824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799114" y="87782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280263" y="877824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761411" y="87782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242560" y="877824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723709" y="87782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204857" y="877824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686006" y="87782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167154" y="877824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648303" y="87782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129451" y="877824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610600" y="87782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091749" y="877824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572897" y="87782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054046" y="877824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0535194" y="87782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1016343" y="877824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1497491" y="87782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023654" y="896112"/>
            <a:ext cx="182880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864"/>
                </a:solidFill>
              </a:rPr>
              <a:t>▲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274320" y="1084478"/>
            <a:ext cx="1600200" cy="206654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4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65760" y="1084478"/>
            <a:ext cx="1490472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TAF 2.0 Stable Release</a:t>
            </a:r>
            <a:endParaRPr lang="en-US" sz="620" dirty="0"/>
          </a:p>
        </p:txBody>
      </p:sp>
      <p:sp>
        <p:nvSpPr>
          <p:cNvPr id="84" name="Shape 82"/>
          <p:cNvSpPr/>
          <p:nvPr/>
        </p:nvSpPr>
        <p:spPr>
          <a:xfrm>
            <a:off x="1874520" y="1084478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355669" y="1084478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836817" y="1084478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317966" y="1084478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799114" y="1084478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280263" y="1084478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761411" y="1084478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242560" y="1084478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723709" y="1084478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204857" y="1084478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686006" y="1084478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167154" y="1084478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648303" y="1084478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129451" y="1084478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610600" y="1084478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091749" y="1084478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572897" y="1084478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0054046" y="1084478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0535194" y="1084478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1016343" y="1084478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1497491" y="1084478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429397" y="1102766"/>
            <a:ext cx="182880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864"/>
                </a:solidFill>
              </a:rPr>
              <a:t>▲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274320" y="1291133"/>
            <a:ext cx="11887200" cy="234086"/>
          </a:xfrm>
          <a:prstGeom prst="rect">
            <a:avLst/>
          </a:prstGeom>
          <a:solidFill>
            <a:srgbClr val="264B5A"/>
          </a:solidFill>
          <a:ln w="5080">
            <a:solidFill>
              <a:srgbClr val="1A3A46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347472" y="1291133"/>
            <a:ext cx="11704320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 Technology</a:t>
            </a:r>
            <a:endParaRPr lang="en-US" sz="750" dirty="0"/>
          </a:p>
        </p:txBody>
      </p:sp>
      <p:sp>
        <p:nvSpPr>
          <p:cNvPr id="108" name="Shape 106"/>
          <p:cNvSpPr/>
          <p:nvPr/>
        </p:nvSpPr>
        <p:spPr>
          <a:xfrm>
            <a:off x="274320" y="1525219"/>
            <a:ext cx="1600200" cy="206654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4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365760" y="1525219"/>
            <a:ext cx="1490472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Requirements</a:t>
            </a:r>
            <a:endParaRPr lang="en-US" sz="620" dirty="0"/>
          </a:p>
        </p:txBody>
      </p:sp>
      <p:sp>
        <p:nvSpPr>
          <p:cNvPr id="110" name="Shape 108"/>
          <p:cNvSpPr/>
          <p:nvPr/>
        </p:nvSpPr>
        <p:spPr>
          <a:xfrm>
            <a:off x="1874520" y="1525219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2355669" y="1525219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2836817" y="1525219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3317966" y="1525219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799114" y="1525219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280263" y="1525219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761411" y="1525219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242560" y="1525219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723709" y="1525219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6204857" y="1525219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686006" y="1525219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7167154" y="1525219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7648303" y="1525219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8129451" y="1525219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8610600" y="1525219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9091749" y="1525219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9572897" y="1525219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10054046" y="1525219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0535194" y="1525219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1016343" y="1525219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1497491" y="1525219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1874520" y="1562252"/>
            <a:ext cx="962297" cy="13258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2836817" y="1562252"/>
            <a:ext cx="481149" cy="13258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3317966" y="1562252"/>
            <a:ext cx="481149" cy="132588"/>
          </a:xfrm>
          <a:prstGeom prst="rect">
            <a:avLst/>
          </a:prstGeom>
          <a:solidFill>
            <a:srgbClr val="538135"/>
          </a:solidFill>
          <a:ln w="12700">
            <a:solidFill>
              <a:srgbClr val="538135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3799114" y="1562252"/>
            <a:ext cx="481149" cy="132588"/>
          </a:xfrm>
          <a:prstGeom prst="rect">
            <a:avLst/>
          </a:prstGeom>
          <a:solidFill>
            <a:srgbClr val="806000"/>
          </a:solidFill>
          <a:ln w="12700">
            <a:solidFill>
              <a:srgbClr val="80600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1911096" y="1562252"/>
            <a:ext cx="907433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Requirements</a:t>
            </a:r>
            <a:endParaRPr lang="en-US" sz="550" dirty="0"/>
          </a:p>
        </p:txBody>
      </p:sp>
      <p:sp>
        <p:nvSpPr>
          <p:cNvPr id="136" name="Shape 134"/>
          <p:cNvSpPr/>
          <p:nvPr/>
        </p:nvSpPr>
        <p:spPr>
          <a:xfrm>
            <a:off x="274320" y="1731874"/>
            <a:ext cx="1600200" cy="206654"/>
          </a:xfrm>
          <a:prstGeom prst="rect">
            <a:avLst/>
          </a:prstGeom>
          <a:solidFill>
            <a:srgbClr val="EDF4F7"/>
          </a:solidFill>
          <a:ln w="3810">
            <a:solidFill>
              <a:srgbClr val="D0DCE4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365760" y="1731874"/>
            <a:ext cx="1490472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Requirements</a:t>
            </a:r>
            <a:endParaRPr lang="en-US" sz="620" dirty="0"/>
          </a:p>
        </p:txBody>
      </p:sp>
      <p:sp>
        <p:nvSpPr>
          <p:cNvPr id="138" name="Shape 136"/>
          <p:cNvSpPr/>
          <p:nvPr/>
        </p:nvSpPr>
        <p:spPr>
          <a:xfrm>
            <a:off x="1874520" y="173187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2355669" y="1731874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2836817" y="173187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3317966" y="1731874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3799114" y="173187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4280263" y="1731874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4761411" y="173187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242560" y="1731874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723709" y="173187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6204857" y="1731874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6686006" y="173187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7167154" y="1731874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7648303" y="173187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8129451" y="1731874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8610600" y="173187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9091749" y="1731874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9572897" y="173187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10054046" y="1731874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10535194" y="173187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11016343" y="1731874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11497491" y="173187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2355669" y="1768907"/>
            <a:ext cx="962297" cy="13258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3317966" y="1768907"/>
            <a:ext cx="481149" cy="13258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3799114" y="1768907"/>
            <a:ext cx="481149" cy="132588"/>
          </a:xfrm>
          <a:prstGeom prst="rect">
            <a:avLst/>
          </a:prstGeom>
          <a:solidFill>
            <a:srgbClr val="538135"/>
          </a:solidFill>
          <a:ln w="12700">
            <a:solidFill>
              <a:srgbClr val="538135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4280263" y="1768907"/>
            <a:ext cx="481149" cy="132588"/>
          </a:xfrm>
          <a:prstGeom prst="rect">
            <a:avLst/>
          </a:prstGeom>
          <a:solidFill>
            <a:srgbClr val="806000"/>
          </a:solidFill>
          <a:ln w="12700">
            <a:solidFill>
              <a:srgbClr val="806000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2392245" y="1768907"/>
            <a:ext cx="907433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Requirements</a:t>
            </a:r>
            <a:endParaRPr lang="en-US" sz="550" dirty="0"/>
          </a:p>
        </p:txBody>
      </p:sp>
      <p:sp>
        <p:nvSpPr>
          <p:cNvPr id="164" name="Shape 162"/>
          <p:cNvSpPr/>
          <p:nvPr/>
        </p:nvSpPr>
        <p:spPr>
          <a:xfrm>
            <a:off x="274320" y="1938528"/>
            <a:ext cx="11887200" cy="234086"/>
          </a:xfrm>
          <a:prstGeom prst="rect">
            <a:avLst/>
          </a:prstGeom>
          <a:solidFill>
            <a:srgbClr val="264B5A"/>
          </a:solidFill>
          <a:ln w="5080">
            <a:solidFill>
              <a:srgbClr val="1A3A46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347472" y="1938528"/>
            <a:ext cx="11704320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Integration Plan &amp; Architecture</a:t>
            </a:r>
            <a:endParaRPr lang="en-US" sz="750" dirty="0"/>
          </a:p>
        </p:txBody>
      </p:sp>
      <p:sp>
        <p:nvSpPr>
          <p:cNvPr id="166" name="Shape 164"/>
          <p:cNvSpPr/>
          <p:nvPr/>
        </p:nvSpPr>
        <p:spPr>
          <a:xfrm>
            <a:off x="274320" y="2172614"/>
            <a:ext cx="1600200" cy="206654"/>
          </a:xfrm>
          <a:prstGeom prst="rect">
            <a:avLst/>
          </a:prstGeom>
          <a:solidFill>
            <a:srgbClr val="EDF4F7"/>
          </a:solidFill>
          <a:ln w="3810">
            <a:solidFill>
              <a:srgbClr val="D0DCE4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365760" y="2172614"/>
            <a:ext cx="1490472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Profiling &amp; Discovery</a:t>
            </a:r>
            <a:endParaRPr lang="en-US" sz="620" dirty="0"/>
          </a:p>
        </p:txBody>
      </p:sp>
      <p:sp>
        <p:nvSpPr>
          <p:cNvPr id="168" name="Shape 166"/>
          <p:cNvSpPr/>
          <p:nvPr/>
        </p:nvSpPr>
        <p:spPr>
          <a:xfrm>
            <a:off x="1874520" y="217261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2355669" y="2172614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2836817" y="217261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3317966" y="2172614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3799114" y="217261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4280263" y="2172614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4761411" y="217261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5242560" y="2172614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5723709" y="217261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204857" y="2172614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686006" y="217261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7167154" y="2172614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7648303" y="217261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8129451" y="2172614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8610600" y="217261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9091749" y="2172614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9572897" y="217261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10054046" y="2172614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10535194" y="217261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11016343" y="2172614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11497491" y="217261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1874520" y="2209648"/>
            <a:ext cx="1924594" cy="132588"/>
          </a:xfrm>
          <a:prstGeom prst="rect">
            <a:avLst/>
          </a:prstGeom>
          <a:solidFill>
            <a:srgbClr val="8080A0"/>
          </a:solidFill>
          <a:ln w="12700">
            <a:solidFill>
              <a:srgbClr val="8080A0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1911096" y="2209648"/>
            <a:ext cx="186973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Profiling &amp; Discovery</a:t>
            </a:r>
            <a:endParaRPr lang="en-US" sz="550" dirty="0"/>
          </a:p>
        </p:txBody>
      </p:sp>
      <p:sp>
        <p:nvSpPr>
          <p:cNvPr id="191" name="Text 189"/>
          <p:cNvSpPr/>
          <p:nvPr/>
        </p:nvSpPr>
        <p:spPr>
          <a:xfrm>
            <a:off x="3485388" y="2191360"/>
            <a:ext cx="14630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72C4"/>
                </a:solidFill>
              </a:rPr>
              <a:t>▲</a:t>
            </a:r>
            <a:endParaRPr lang="en-US" sz="700" dirty="0"/>
          </a:p>
        </p:txBody>
      </p:sp>
      <p:sp>
        <p:nvSpPr>
          <p:cNvPr id="192" name="Shape 190"/>
          <p:cNvSpPr/>
          <p:nvPr/>
        </p:nvSpPr>
        <p:spPr>
          <a:xfrm>
            <a:off x="274320" y="2379269"/>
            <a:ext cx="1600200" cy="206654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4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365760" y="2379269"/>
            <a:ext cx="1490472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Controls Sign-Off</a:t>
            </a:r>
            <a:endParaRPr lang="en-US" sz="620" dirty="0"/>
          </a:p>
        </p:txBody>
      </p:sp>
      <p:sp>
        <p:nvSpPr>
          <p:cNvPr id="194" name="Shape 192"/>
          <p:cNvSpPr/>
          <p:nvPr/>
        </p:nvSpPr>
        <p:spPr>
          <a:xfrm>
            <a:off x="1874520" y="2379269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2355669" y="2379269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2836817" y="2379269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3317966" y="2379269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3799114" y="2379269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4280263" y="2379269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4761411" y="2379269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5242560" y="2379269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5723709" y="2379269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6204857" y="2379269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6686006" y="2379269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167154" y="2379269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7648303" y="2379269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8129451" y="2379269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8610600" y="2379269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9091749" y="2379269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9572897" y="2379269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10054046" y="2379269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10535194" y="2379269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11016343" y="2379269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11497491" y="2379269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3467100" y="2397557"/>
            <a:ext cx="182880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864"/>
                </a:solidFill>
              </a:rPr>
              <a:t>▲</a:t>
            </a:r>
            <a:endParaRPr lang="en-US" sz="900" dirty="0"/>
          </a:p>
        </p:txBody>
      </p:sp>
      <p:sp>
        <p:nvSpPr>
          <p:cNvPr id="216" name="Shape 214"/>
          <p:cNvSpPr/>
          <p:nvPr/>
        </p:nvSpPr>
        <p:spPr>
          <a:xfrm>
            <a:off x="274320" y="2585923"/>
            <a:ext cx="11887200" cy="234086"/>
          </a:xfrm>
          <a:prstGeom prst="rect">
            <a:avLst/>
          </a:prstGeom>
          <a:solidFill>
            <a:srgbClr val="264B5A"/>
          </a:solidFill>
          <a:ln w="5080">
            <a:solidFill>
              <a:srgbClr val="1A3A46"/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347472" y="2585923"/>
            <a:ext cx="11704320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Infrastructure</a:t>
            </a:r>
            <a:endParaRPr lang="en-US" sz="750" dirty="0"/>
          </a:p>
        </p:txBody>
      </p:sp>
      <p:sp>
        <p:nvSpPr>
          <p:cNvPr id="218" name="Shape 216"/>
          <p:cNvSpPr/>
          <p:nvPr/>
        </p:nvSpPr>
        <p:spPr>
          <a:xfrm>
            <a:off x="274320" y="2820010"/>
            <a:ext cx="1600200" cy="206654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4"/>
            </a:solidFill>
            <a:prstDash val="solid"/>
          </a:ln>
        </p:spPr>
      </p:sp>
      <p:sp>
        <p:nvSpPr>
          <p:cNvPr id="219" name="Text 217"/>
          <p:cNvSpPr/>
          <p:nvPr/>
        </p:nvSpPr>
        <p:spPr>
          <a:xfrm>
            <a:off x="365760" y="2820010"/>
            <a:ext cx="1490472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Mapping &amp; Migration</a:t>
            </a:r>
            <a:endParaRPr lang="en-US" sz="620" dirty="0"/>
          </a:p>
        </p:txBody>
      </p:sp>
      <p:sp>
        <p:nvSpPr>
          <p:cNvPr id="220" name="Shape 218"/>
          <p:cNvSpPr/>
          <p:nvPr/>
        </p:nvSpPr>
        <p:spPr>
          <a:xfrm>
            <a:off x="1874520" y="2820010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2355669" y="2820010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2836817" y="2820010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3317966" y="2820010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3799114" y="2820010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4280263" y="2820010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4761411" y="2820010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5242560" y="2820010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5723709" y="2820010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6204857" y="2820010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6686006" y="2820010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7167154" y="2820010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7648303" y="2820010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8129451" y="2820010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8610600" y="2820010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9091749" y="2820010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9572897" y="2820010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10054046" y="2820010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10535194" y="2820010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11016343" y="2820010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11497491" y="2820010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1874520" y="2857043"/>
            <a:ext cx="962297" cy="13258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2836817" y="2857043"/>
            <a:ext cx="1924594" cy="13258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4761411" y="2857043"/>
            <a:ext cx="2886891" cy="132588"/>
          </a:xfrm>
          <a:prstGeom prst="rect">
            <a:avLst/>
          </a:prstGeom>
          <a:solidFill>
            <a:srgbClr val="538135"/>
          </a:solidFill>
          <a:ln w="12700">
            <a:solidFill>
              <a:srgbClr val="538135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7648303" y="2857043"/>
            <a:ext cx="1924594" cy="132588"/>
          </a:xfrm>
          <a:prstGeom prst="rect">
            <a:avLst/>
          </a:prstGeom>
          <a:solidFill>
            <a:srgbClr val="806000"/>
          </a:solidFill>
          <a:ln w="12700">
            <a:solidFill>
              <a:srgbClr val="806000"/>
            </a:solidFill>
            <a:prstDash val="solid"/>
          </a:ln>
        </p:spPr>
      </p:sp>
      <p:sp>
        <p:nvSpPr>
          <p:cNvPr id="245" name="Text 243"/>
          <p:cNvSpPr/>
          <p:nvPr/>
        </p:nvSpPr>
        <p:spPr>
          <a:xfrm>
            <a:off x="1911096" y="2857043"/>
            <a:ext cx="907433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Mapping &amp; Migration</a:t>
            </a:r>
            <a:endParaRPr lang="en-US" sz="550" dirty="0"/>
          </a:p>
        </p:txBody>
      </p:sp>
      <p:sp>
        <p:nvSpPr>
          <p:cNvPr id="246" name="Text 244"/>
          <p:cNvSpPr/>
          <p:nvPr/>
        </p:nvSpPr>
        <p:spPr>
          <a:xfrm>
            <a:off x="9259171" y="2838755"/>
            <a:ext cx="14630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72C4"/>
                </a:solidFill>
              </a:rPr>
              <a:t>▲</a:t>
            </a:r>
            <a:endParaRPr lang="en-US" sz="700" dirty="0"/>
          </a:p>
        </p:txBody>
      </p:sp>
      <p:sp>
        <p:nvSpPr>
          <p:cNvPr id="247" name="Shape 245"/>
          <p:cNvSpPr/>
          <p:nvPr/>
        </p:nvSpPr>
        <p:spPr>
          <a:xfrm>
            <a:off x="274320" y="3026664"/>
            <a:ext cx="1600200" cy="206654"/>
          </a:xfrm>
          <a:prstGeom prst="rect">
            <a:avLst/>
          </a:prstGeom>
          <a:solidFill>
            <a:srgbClr val="EDF4F7"/>
          </a:solidFill>
          <a:ln w="3810">
            <a:solidFill>
              <a:srgbClr val="D0DCE4"/>
            </a:solidFill>
            <a:prstDash val="solid"/>
          </a:ln>
        </p:spPr>
      </p:sp>
      <p:sp>
        <p:nvSpPr>
          <p:cNvPr id="248" name="Text 246"/>
          <p:cNvSpPr/>
          <p:nvPr/>
        </p:nvSpPr>
        <p:spPr>
          <a:xfrm>
            <a:off x="365760" y="3026664"/>
            <a:ext cx="1490472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SWP Configuration &amp; Verification</a:t>
            </a:r>
            <a:endParaRPr lang="en-US" sz="620" dirty="0"/>
          </a:p>
        </p:txBody>
      </p:sp>
      <p:sp>
        <p:nvSpPr>
          <p:cNvPr id="249" name="Shape 247"/>
          <p:cNvSpPr/>
          <p:nvPr/>
        </p:nvSpPr>
        <p:spPr>
          <a:xfrm>
            <a:off x="1874520" y="302666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2355669" y="3026664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2836817" y="302666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3317966" y="3026664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3799114" y="302666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4280263" y="3026664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4761411" y="302666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5242560" y="3026664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5723709" y="302666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6204857" y="3026664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6686006" y="302666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7167154" y="3026664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7648303" y="302666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8129451" y="3026664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8610600" y="302666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9091749" y="3026664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9572897" y="302666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10054046" y="3026664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10535194" y="302666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11016343" y="3026664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11497491" y="302666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2355669" y="3063697"/>
            <a:ext cx="962297" cy="13258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3317966" y="3063697"/>
            <a:ext cx="1924594" cy="13258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5242560" y="3063697"/>
            <a:ext cx="3368040" cy="132588"/>
          </a:xfrm>
          <a:prstGeom prst="rect">
            <a:avLst/>
          </a:prstGeom>
          <a:solidFill>
            <a:srgbClr val="538135"/>
          </a:solidFill>
          <a:ln w="12700">
            <a:solidFill>
              <a:srgbClr val="538135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8610600" y="3063697"/>
            <a:ext cx="1924594" cy="132588"/>
          </a:xfrm>
          <a:prstGeom prst="rect">
            <a:avLst/>
          </a:prstGeom>
          <a:solidFill>
            <a:srgbClr val="806000"/>
          </a:solidFill>
          <a:ln w="12700">
            <a:solidFill>
              <a:srgbClr val="806000"/>
            </a:solidFill>
            <a:prstDash val="solid"/>
          </a:ln>
        </p:spPr>
      </p:sp>
      <p:sp>
        <p:nvSpPr>
          <p:cNvPr id="274" name="Text 272"/>
          <p:cNvSpPr/>
          <p:nvPr/>
        </p:nvSpPr>
        <p:spPr>
          <a:xfrm>
            <a:off x="2392245" y="3063697"/>
            <a:ext cx="907433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SWP Configuration &amp; Verification</a:t>
            </a:r>
            <a:endParaRPr lang="en-US" sz="550" dirty="0"/>
          </a:p>
        </p:txBody>
      </p:sp>
      <p:sp>
        <p:nvSpPr>
          <p:cNvPr id="275" name="Text 273"/>
          <p:cNvSpPr/>
          <p:nvPr/>
        </p:nvSpPr>
        <p:spPr>
          <a:xfrm>
            <a:off x="10221468" y="3045409"/>
            <a:ext cx="14630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72C4"/>
                </a:solidFill>
              </a:rPr>
              <a:t>▲</a:t>
            </a:r>
            <a:endParaRPr lang="en-US" sz="700" dirty="0"/>
          </a:p>
        </p:txBody>
      </p:sp>
      <p:sp>
        <p:nvSpPr>
          <p:cNvPr id="276" name="Shape 274"/>
          <p:cNvSpPr/>
          <p:nvPr/>
        </p:nvSpPr>
        <p:spPr>
          <a:xfrm>
            <a:off x="274320" y="3233318"/>
            <a:ext cx="1600200" cy="206654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4"/>
            </a:solidFill>
            <a:prstDash val="solid"/>
          </a:ln>
        </p:spPr>
      </p:sp>
      <p:sp>
        <p:nvSpPr>
          <p:cNvPr id="277" name="Text 275"/>
          <p:cNvSpPr/>
          <p:nvPr/>
        </p:nvSpPr>
        <p:spPr>
          <a:xfrm>
            <a:off x="365760" y="3233318"/>
            <a:ext cx="1490472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Environment Config &amp; Setup</a:t>
            </a:r>
            <a:endParaRPr lang="en-US" sz="620" dirty="0"/>
          </a:p>
        </p:txBody>
      </p:sp>
      <p:sp>
        <p:nvSpPr>
          <p:cNvPr id="278" name="Shape 276"/>
          <p:cNvSpPr/>
          <p:nvPr/>
        </p:nvSpPr>
        <p:spPr>
          <a:xfrm>
            <a:off x="1874520" y="3233318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2355669" y="3233318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2836817" y="3233318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3317966" y="3233318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3799114" y="3233318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4280263" y="3233318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4761411" y="3233318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5242560" y="3233318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5723709" y="3233318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6204857" y="3233318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6686006" y="3233318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7167154" y="3233318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7648303" y="3233318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8129451" y="3233318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8610600" y="3233318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9091749" y="3233318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9572897" y="3233318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10054046" y="3233318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10535194" y="3233318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11016343" y="3233318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11497491" y="3233318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3317966" y="3270352"/>
            <a:ext cx="3368040" cy="132588"/>
          </a:xfrm>
          <a:prstGeom prst="rect">
            <a:avLst/>
          </a:prstGeom>
          <a:solidFill>
            <a:srgbClr val="8080A0"/>
          </a:solidFill>
          <a:ln w="12700">
            <a:solidFill>
              <a:srgbClr val="8080A0"/>
            </a:solidFill>
            <a:prstDash val="solid"/>
          </a:ln>
        </p:spPr>
      </p:sp>
      <p:sp>
        <p:nvSpPr>
          <p:cNvPr id="300" name="Text 298"/>
          <p:cNvSpPr/>
          <p:nvPr/>
        </p:nvSpPr>
        <p:spPr>
          <a:xfrm>
            <a:off x="3354542" y="3270352"/>
            <a:ext cx="3313176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Environment Config &amp; Setup</a:t>
            </a:r>
            <a:endParaRPr lang="en-US" sz="550" dirty="0"/>
          </a:p>
        </p:txBody>
      </p:sp>
      <p:sp>
        <p:nvSpPr>
          <p:cNvPr id="301" name="Shape 299"/>
          <p:cNvSpPr/>
          <p:nvPr/>
        </p:nvSpPr>
        <p:spPr>
          <a:xfrm>
            <a:off x="274320" y="3439973"/>
            <a:ext cx="11887200" cy="234086"/>
          </a:xfrm>
          <a:prstGeom prst="rect">
            <a:avLst/>
          </a:prstGeom>
          <a:solidFill>
            <a:srgbClr val="264B5A"/>
          </a:solidFill>
          <a:ln w="5080">
            <a:solidFill>
              <a:srgbClr val="1A3A46"/>
            </a:solidFill>
            <a:prstDash val="solid"/>
          </a:ln>
        </p:spPr>
      </p:sp>
      <p:sp>
        <p:nvSpPr>
          <p:cNvPr id="302" name="Text 300"/>
          <p:cNvSpPr/>
          <p:nvPr/>
        </p:nvSpPr>
        <p:spPr>
          <a:xfrm>
            <a:off x="347472" y="3439973"/>
            <a:ext cx="11704320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750" dirty="0"/>
          </a:p>
        </p:txBody>
      </p:sp>
      <p:sp>
        <p:nvSpPr>
          <p:cNvPr id="303" name="Shape 301"/>
          <p:cNvSpPr/>
          <p:nvPr/>
        </p:nvSpPr>
        <p:spPr>
          <a:xfrm>
            <a:off x="274320" y="3674059"/>
            <a:ext cx="1600200" cy="206654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4"/>
            </a:solidFill>
            <a:prstDash val="solid"/>
          </a:ln>
        </p:spPr>
      </p:sp>
      <p:sp>
        <p:nvSpPr>
          <p:cNvPr id="304" name="Text 302"/>
          <p:cNvSpPr/>
          <p:nvPr/>
        </p:nvSpPr>
        <p:spPr>
          <a:xfrm>
            <a:off x="365760" y="3674059"/>
            <a:ext cx="1490472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Setup (BBH &amp; SEI)</a:t>
            </a:r>
            <a:endParaRPr lang="en-US" sz="620" dirty="0"/>
          </a:p>
        </p:txBody>
      </p:sp>
      <p:sp>
        <p:nvSpPr>
          <p:cNvPr id="305" name="Shape 303"/>
          <p:cNvSpPr/>
          <p:nvPr/>
        </p:nvSpPr>
        <p:spPr>
          <a:xfrm>
            <a:off x="1874520" y="3674059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2355669" y="3674059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2836817" y="3674059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3317966" y="3674059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3799114" y="3674059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4280263" y="3674059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4761411" y="3674059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5242560" y="3674059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5723709" y="3674059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6204857" y="3674059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6686006" y="3674059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7167154" y="3674059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7648303" y="3674059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8129451" y="3674059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8610600" y="3674059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9091749" y="3674059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9572897" y="3674059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10054046" y="3674059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10535194" y="3674059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11016343" y="3674059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11497491" y="3674059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2355669" y="3711092"/>
            <a:ext cx="4330337" cy="132588"/>
          </a:xfrm>
          <a:prstGeom prst="rect">
            <a:avLst/>
          </a:prstGeom>
          <a:solidFill>
            <a:srgbClr val="8080A0"/>
          </a:solidFill>
          <a:ln w="12700">
            <a:solidFill>
              <a:srgbClr val="8080A0"/>
            </a:solidFill>
            <a:prstDash val="solid"/>
          </a:ln>
        </p:spPr>
      </p:sp>
      <p:sp>
        <p:nvSpPr>
          <p:cNvPr id="327" name="Text 325"/>
          <p:cNvSpPr/>
          <p:nvPr/>
        </p:nvSpPr>
        <p:spPr>
          <a:xfrm>
            <a:off x="2392245" y="3711092"/>
            <a:ext cx="4275473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Setup (BBH &amp; SEI)</a:t>
            </a:r>
            <a:endParaRPr lang="en-US" sz="550" dirty="0"/>
          </a:p>
        </p:txBody>
      </p:sp>
      <p:sp>
        <p:nvSpPr>
          <p:cNvPr id="328" name="Shape 326"/>
          <p:cNvSpPr/>
          <p:nvPr/>
        </p:nvSpPr>
        <p:spPr>
          <a:xfrm>
            <a:off x="274320" y="3880714"/>
            <a:ext cx="1600200" cy="206654"/>
          </a:xfrm>
          <a:prstGeom prst="rect">
            <a:avLst/>
          </a:prstGeom>
          <a:solidFill>
            <a:srgbClr val="EDF4F7"/>
          </a:solidFill>
          <a:ln w="3810">
            <a:solidFill>
              <a:srgbClr val="D0DCE4"/>
            </a:solidFill>
            <a:prstDash val="solid"/>
          </a:ln>
        </p:spPr>
      </p:sp>
      <p:sp>
        <p:nvSpPr>
          <p:cNvPr id="329" name="Text 327"/>
          <p:cNvSpPr/>
          <p:nvPr/>
        </p:nvSpPr>
        <p:spPr>
          <a:xfrm>
            <a:off x="365760" y="3880714"/>
            <a:ext cx="1490472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Development</a:t>
            </a:r>
            <a:endParaRPr lang="en-US" sz="620" dirty="0"/>
          </a:p>
        </p:txBody>
      </p:sp>
      <p:sp>
        <p:nvSpPr>
          <p:cNvPr id="330" name="Shape 328"/>
          <p:cNvSpPr/>
          <p:nvPr/>
        </p:nvSpPr>
        <p:spPr>
          <a:xfrm>
            <a:off x="1874520" y="388071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2355669" y="3880714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2836817" y="388071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3317966" y="3880714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3799114" y="388071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4280263" y="3880714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4761411" y="388071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5242560" y="3880714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5723709" y="388071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6204857" y="3880714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>
            <a:off x="6686006" y="388071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41" name="Shape 339"/>
          <p:cNvSpPr/>
          <p:nvPr/>
        </p:nvSpPr>
        <p:spPr>
          <a:xfrm>
            <a:off x="7167154" y="3880714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42" name="Shape 340"/>
          <p:cNvSpPr/>
          <p:nvPr/>
        </p:nvSpPr>
        <p:spPr>
          <a:xfrm>
            <a:off x="7648303" y="388071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>
            <a:off x="8129451" y="3880714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8610600" y="388071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9091749" y="3880714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9572897" y="388071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>
            <a:off x="10054046" y="3880714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48" name="Shape 346"/>
          <p:cNvSpPr/>
          <p:nvPr/>
        </p:nvSpPr>
        <p:spPr>
          <a:xfrm>
            <a:off x="10535194" y="388071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11016343" y="3880714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11497491" y="388071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>
            <a:off x="2836817" y="3917747"/>
            <a:ext cx="962297" cy="13258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52" name="Shape 350"/>
          <p:cNvSpPr/>
          <p:nvPr/>
        </p:nvSpPr>
        <p:spPr>
          <a:xfrm>
            <a:off x="3799114" y="3917747"/>
            <a:ext cx="1924594" cy="13258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53" name="Shape 351"/>
          <p:cNvSpPr/>
          <p:nvPr/>
        </p:nvSpPr>
        <p:spPr>
          <a:xfrm>
            <a:off x="5723709" y="3917747"/>
            <a:ext cx="2886891" cy="132588"/>
          </a:xfrm>
          <a:prstGeom prst="rect">
            <a:avLst/>
          </a:prstGeom>
          <a:solidFill>
            <a:srgbClr val="538135"/>
          </a:solidFill>
          <a:ln w="12700">
            <a:solidFill>
              <a:srgbClr val="538135"/>
            </a:solidFill>
            <a:prstDash val="solid"/>
          </a:ln>
        </p:spPr>
      </p:sp>
      <p:sp>
        <p:nvSpPr>
          <p:cNvPr id="354" name="Shape 352"/>
          <p:cNvSpPr/>
          <p:nvPr/>
        </p:nvSpPr>
        <p:spPr>
          <a:xfrm>
            <a:off x="8610600" y="3917747"/>
            <a:ext cx="1443446" cy="132588"/>
          </a:xfrm>
          <a:prstGeom prst="rect">
            <a:avLst/>
          </a:prstGeom>
          <a:solidFill>
            <a:srgbClr val="806000"/>
          </a:solidFill>
          <a:ln w="12700">
            <a:solidFill>
              <a:srgbClr val="806000"/>
            </a:solidFill>
            <a:prstDash val="solid"/>
          </a:ln>
        </p:spPr>
      </p:sp>
      <p:sp>
        <p:nvSpPr>
          <p:cNvPr id="355" name="Text 353"/>
          <p:cNvSpPr/>
          <p:nvPr/>
        </p:nvSpPr>
        <p:spPr>
          <a:xfrm>
            <a:off x="2873393" y="3917747"/>
            <a:ext cx="907433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Development</a:t>
            </a:r>
            <a:endParaRPr lang="en-US" sz="550" dirty="0"/>
          </a:p>
        </p:txBody>
      </p:sp>
      <p:sp>
        <p:nvSpPr>
          <p:cNvPr id="356" name="Text 354"/>
          <p:cNvSpPr/>
          <p:nvPr/>
        </p:nvSpPr>
        <p:spPr>
          <a:xfrm>
            <a:off x="9740319" y="3899459"/>
            <a:ext cx="14630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72C4"/>
                </a:solidFill>
              </a:rPr>
              <a:t>▲</a:t>
            </a:r>
            <a:endParaRPr lang="en-US" sz="700" dirty="0"/>
          </a:p>
        </p:txBody>
      </p:sp>
      <p:sp>
        <p:nvSpPr>
          <p:cNvPr id="357" name="Shape 355"/>
          <p:cNvSpPr/>
          <p:nvPr/>
        </p:nvSpPr>
        <p:spPr>
          <a:xfrm>
            <a:off x="274320" y="4087368"/>
            <a:ext cx="1600200" cy="206654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4"/>
            </a:solidFill>
            <a:prstDash val="solid"/>
          </a:ln>
        </p:spPr>
      </p:sp>
      <p:sp>
        <p:nvSpPr>
          <p:cNvPr id="358" name="Text 356"/>
          <p:cNvSpPr/>
          <p:nvPr/>
        </p:nvSpPr>
        <p:spPr>
          <a:xfrm>
            <a:off x="365760" y="4087368"/>
            <a:ext cx="1490472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Development (System Integration Build)</a:t>
            </a:r>
            <a:endParaRPr lang="en-US" sz="620" dirty="0"/>
          </a:p>
        </p:txBody>
      </p:sp>
      <p:sp>
        <p:nvSpPr>
          <p:cNvPr id="359" name="Shape 357"/>
          <p:cNvSpPr/>
          <p:nvPr/>
        </p:nvSpPr>
        <p:spPr>
          <a:xfrm>
            <a:off x="1874520" y="4087368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60" name="Shape 358"/>
          <p:cNvSpPr/>
          <p:nvPr/>
        </p:nvSpPr>
        <p:spPr>
          <a:xfrm>
            <a:off x="2355669" y="4087368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61" name="Shape 359"/>
          <p:cNvSpPr/>
          <p:nvPr/>
        </p:nvSpPr>
        <p:spPr>
          <a:xfrm>
            <a:off x="2836817" y="4087368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62" name="Shape 360"/>
          <p:cNvSpPr/>
          <p:nvPr/>
        </p:nvSpPr>
        <p:spPr>
          <a:xfrm>
            <a:off x="3317966" y="4087368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63" name="Shape 361"/>
          <p:cNvSpPr/>
          <p:nvPr/>
        </p:nvSpPr>
        <p:spPr>
          <a:xfrm>
            <a:off x="3799114" y="4087368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64" name="Shape 362"/>
          <p:cNvSpPr/>
          <p:nvPr/>
        </p:nvSpPr>
        <p:spPr>
          <a:xfrm>
            <a:off x="4280263" y="4087368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65" name="Shape 363"/>
          <p:cNvSpPr/>
          <p:nvPr/>
        </p:nvSpPr>
        <p:spPr>
          <a:xfrm>
            <a:off x="4761411" y="4087368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66" name="Shape 364"/>
          <p:cNvSpPr/>
          <p:nvPr/>
        </p:nvSpPr>
        <p:spPr>
          <a:xfrm>
            <a:off x="5242560" y="4087368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67" name="Shape 365"/>
          <p:cNvSpPr/>
          <p:nvPr/>
        </p:nvSpPr>
        <p:spPr>
          <a:xfrm>
            <a:off x="5723709" y="4087368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68" name="Shape 366"/>
          <p:cNvSpPr/>
          <p:nvPr/>
        </p:nvSpPr>
        <p:spPr>
          <a:xfrm>
            <a:off x="6204857" y="4087368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69" name="Shape 367"/>
          <p:cNvSpPr/>
          <p:nvPr/>
        </p:nvSpPr>
        <p:spPr>
          <a:xfrm>
            <a:off x="6686006" y="4087368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70" name="Shape 368"/>
          <p:cNvSpPr/>
          <p:nvPr/>
        </p:nvSpPr>
        <p:spPr>
          <a:xfrm>
            <a:off x="7167154" y="4087368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71" name="Shape 369"/>
          <p:cNvSpPr/>
          <p:nvPr/>
        </p:nvSpPr>
        <p:spPr>
          <a:xfrm>
            <a:off x="7648303" y="4087368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72" name="Shape 370"/>
          <p:cNvSpPr/>
          <p:nvPr/>
        </p:nvSpPr>
        <p:spPr>
          <a:xfrm>
            <a:off x="8129451" y="4087368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73" name="Shape 371"/>
          <p:cNvSpPr/>
          <p:nvPr/>
        </p:nvSpPr>
        <p:spPr>
          <a:xfrm>
            <a:off x="8610600" y="4087368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74" name="Shape 372"/>
          <p:cNvSpPr/>
          <p:nvPr/>
        </p:nvSpPr>
        <p:spPr>
          <a:xfrm>
            <a:off x="9091749" y="4087368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75" name="Shape 373"/>
          <p:cNvSpPr/>
          <p:nvPr/>
        </p:nvSpPr>
        <p:spPr>
          <a:xfrm>
            <a:off x="9572897" y="4087368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76" name="Shape 374"/>
          <p:cNvSpPr/>
          <p:nvPr/>
        </p:nvSpPr>
        <p:spPr>
          <a:xfrm>
            <a:off x="10054046" y="4087368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77" name="Shape 375"/>
          <p:cNvSpPr/>
          <p:nvPr/>
        </p:nvSpPr>
        <p:spPr>
          <a:xfrm>
            <a:off x="10535194" y="4087368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78" name="Shape 376"/>
          <p:cNvSpPr/>
          <p:nvPr/>
        </p:nvSpPr>
        <p:spPr>
          <a:xfrm>
            <a:off x="11016343" y="4087368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79" name="Shape 377"/>
          <p:cNvSpPr/>
          <p:nvPr/>
        </p:nvSpPr>
        <p:spPr>
          <a:xfrm>
            <a:off x="11497491" y="4087368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80" name="Shape 378"/>
          <p:cNvSpPr/>
          <p:nvPr/>
        </p:nvSpPr>
        <p:spPr>
          <a:xfrm>
            <a:off x="2836817" y="4124401"/>
            <a:ext cx="962297" cy="13258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81" name="Shape 379"/>
          <p:cNvSpPr/>
          <p:nvPr/>
        </p:nvSpPr>
        <p:spPr>
          <a:xfrm>
            <a:off x="3799114" y="4124401"/>
            <a:ext cx="1924594" cy="13258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82" name="Shape 380"/>
          <p:cNvSpPr/>
          <p:nvPr/>
        </p:nvSpPr>
        <p:spPr>
          <a:xfrm>
            <a:off x="5723709" y="4124401"/>
            <a:ext cx="2886891" cy="132588"/>
          </a:xfrm>
          <a:prstGeom prst="rect">
            <a:avLst/>
          </a:prstGeom>
          <a:solidFill>
            <a:srgbClr val="538135"/>
          </a:solidFill>
          <a:ln w="12700">
            <a:solidFill>
              <a:srgbClr val="538135"/>
            </a:solidFill>
            <a:prstDash val="solid"/>
          </a:ln>
        </p:spPr>
      </p:sp>
      <p:sp>
        <p:nvSpPr>
          <p:cNvPr id="383" name="Shape 381"/>
          <p:cNvSpPr/>
          <p:nvPr/>
        </p:nvSpPr>
        <p:spPr>
          <a:xfrm>
            <a:off x="8610600" y="4124401"/>
            <a:ext cx="1443446" cy="132588"/>
          </a:xfrm>
          <a:prstGeom prst="rect">
            <a:avLst/>
          </a:prstGeom>
          <a:solidFill>
            <a:srgbClr val="806000"/>
          </a:solidFill>
          <a:ln w="12700">
            <a:solidFill>
              <a:srgbClr val="806000"/>
            </a:solidFill>
            <a:prstDash val="solid"/>
          </a:ln>
        </p:spPr>
      </p:sp>
      <p:sp>
        <p:nvSpPr>
          <p:cNvPr id="384" name="Text 382"/>
          <p:cNvSpPr/>
          <p:nvPr/>
        </p:nvSpPr>
        <p:spPr>
          <a:xfrm>
            <a:off x="2873393" y="4124401"/>
            <a:ext cx="907433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Development (System Integration Build)</a:t>
            </a:r>
            <a:endParaRPr lang="en-US" sz="550" dirty="0"/>
          </a:p>
        </p:txBody>
      </p:sp>
      <p:sp>
        <p:nvSpPr>
          <p:cNvPr id="385" name="Text 383"/>
          <p:cNvSpPr/>
          <p:nvPr/>
        </p:nvSpPr>
        <p:spPr>
          <a:xfrm>
            <a:off x="9740319" y="4106113"/>
            <a:ext cx="14630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72C4"/>
                </a:solidFill>
              </a:rPr>
              <a:t>▲</a:t>
            </a:r>
            <a:endParaRPr lang="en-US" sz="700" dirty="0"/>
          </a:p>
        </p:txBody>
      </p:sp>
      <p:sp>
        <p:nvSpPr>
          <p:cNvPr id="386" name="Shape 384"/>
          <p:cNvSpPr/>
          <p:nvPr/>
        </p:nvSpPr>
        <p:spPr>
          <a:xfrm>
            <a:off x="274320" y="4294022"/>
            <a:ext cx="11887200" cy="234086"/>
          </a:xfrm>
          <a:prstGeom prst="rect">
            <a:avLst/>
          </a:prstGeom>
          <a:solidFill>
            <a:srgbClr val="264B5A"/>
          </a:solidFill>
          <a:ln w="5080">
            <a:solidFill>
              <a:srgbClr val="1A3A46"/>
            </a:solidFill>
            <a:prstDash val="solid"/>
          </a:ln>
        </p:spPr>
      </p:sp>
      <p:sp>
        <p:nvSpPr>
          <p:cNvPr id="387" name="Text 385"/>
          <p:cNvSpPr/>
          <p:nvPr/>
        </p:nvSpPr>
        <p:spPr>
          <a:xfrm>
            <a:off x="347472" y="4294022"/>
            <a:ext cx="11704320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750" dirty="0"/>
          </a:p>
        </p:txBody>
      </p:sp>
      <p:sp>
        <p:nvSpPr>
          <p:cNvPr id="388" name="Shape 386"/>
          <p:cNvSpPr/>
          <p:nvPr/>
        </p:nvSpPr>
        <p:spPr>
          <a:xfrm>
            <a:off x="274320" y="4528109"/>
            <a:ext cx="1600200" cy="206654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4"/>
            </a:solidFill>
            <a:prstDash val="solid"/>
          </a:ln>
        </p:spPr>
      </p:sp>
      <p:sp>
        <p:nvSpPr>
          <p:cNvPr id="389" name="Text 387"/>
          <p:cNvSpPr/>
          <p:nvPr/>
        </p:nvSpPr>
        <p:spPr>
          <a:xfrm>
            <a:off x="365760" y="4528109"/>
            <a:ext cx="1490472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Execution (SIT, UAT, Parallel/Offline, Performance, Data Release)</a:t>
            </a:r>
            <a:endParaRPr lang="en-US" sz="620" dirty="0"/>
          </a:p>
        </p:txBody>
      </p:sp>
      <p:sp>
        <p:nvSpPr>
          <p:cNvPr id="390" name="Shape 388"/>
          <p:cNvSpPr/>
          <p:nvPr/>
        </p:nvSpPr>
        <p:spPr>
          <a:xfrm>
            <a:off x="1874520" y="4528109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91" name="Shape 389"/>
          <p:cNvSpPr/>
          <p:nvPr/>
        </p:nvSpPr>
        <p:spPr>
          <a:xfrm>
            <a:off x="2355669" y="4528109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92" name="Shape 390"/>
          <p:cNvSpPr/>
          <p:nvPr/>
        </p:nvSpPr>
        <p:spPr>
          <a:xfrm>
            <a:off x="2836817" y="4528109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93" name="Shape 391"/>
          <p:cNvSpPr/>
          <p:nvPr/>
        </p:nvSpPr>
        <p:spPr>
          <a:xfrm>
            <a:off x="3317966" y="4528109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94" name="Shape 392"/>
          <p:cNvSpPr/>
          <p:nvPr/>
        </p:nvSpPr>
        <p:spPr>
          <a:xfrm>
            <a:off x="3799114" y="4528109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95" name="Shape 393"/>
          <p:cNvSpPr/>
          <p:nvPr/>
        </p:nvSpPr>
        <p:spPr>
          <a:xfrm>
            <a:off x="4280263" y="4528109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96" name="Shape 394"/>
          <p:cNvSpPr/>
          <p:nvPr/>
        </p:nvSpPr>
        <p:spPr>
          <a:xfrm>
            <a:off x="4761411" y="4528109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97" name="Shape 395"/>
          <p:cNvSpPr/>
          <p:nvPr/>
        </p:nvSpPr>
        <p:spPr>
          <a:xfrm>
            <a:off x="5242560" y="4528109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98" name="Shape 396"/>
          <p:cNvSpPr/>
          <p:nvPr/>
        </p:nvSpPr>
        <p:spPr>
          <a:xfrm>
            <a:off x="5723709" y="4528109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399" name="Shape 397"/>
          <p:cNvSpPr/>
          <p:nvPr/>
        </p:nvSpPr>
        <p:spPr>
          <a:xfrm>
            <a:off x="6204857" y="4528109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00" name="Shape 398"/>
          <p:cNvSpPr/>
          <p:nvPr/>
        </p:nvSpPr>
        <p:spPr>
          <a:xfrm>
            <a:off x="6686006" y="4528109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01" name="Shape 399"/>
          <p:cNvSpPr/>
          <p:nvPr/>
        </p:nvSpPr>
        <p:spPr>
          <a:xfrm>
            <a:off x="7167154" y="4528109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02" name="Shape 400"/>
          <p:cNvSpPr/>
          <p:nvPr/>
        </p:nvSpPr>
        <p:spPr>
          <a:xfrm>
            <a:off x="7648303" y="4528109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03" name="Shape 401"/>
          <p:cNvSpPr/>
          <p:nvPr/>
        </p:nvSpPr>
        <p:spPr>
          <a:xfrm>
            <a:off x="8129451" y="4528109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04" name="Shape 402"/>
          <p:cNvSpPr/>
          <p:nvPr/>
        </p:nvSpPr>
        <p:spPr>
          <a:xfrm>
            <a:off x="8610600" y="4528109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05" name="Shape 403"/>
          <p:cNvSpPr/>
          <p:nvPr/>
        </p:nvSpPr>
        <p:spPr>
          <a:xfrm>
            <a:off x="9091749" y="4528109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06" name="Shape 404"/>
          <p:cNvSpPr/>
          <p:nvPr/>
        </p:nvSpPr>
        <p:spPr>
          <a:xfrm>
            <a:off x="9572897" y="4528109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07" name="Shape 405"/>
          <p:cNvSpPr/>
          <p:nvPr/>
        </p:nvSpPr>
        <p:spPr>
          <a:xfrm>
            <a:off x="10054046" y="4528109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08" name="Shape 406"/>
          <p:cNvSpPr/>
          <p:nvPr/>
        </p:nvSpPr>
        <p:spPr>
          <a:xfrm>
            <a:off x="10535194" y="4528109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09" name="Shape 407"/>
          <p:cNvSpPr/>
          <p:nvPr/>
        </p:nvSpPr>
        <p:spPr>
          <a:xfrm>
            <a:off x="11016343" y="4528109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10" name="Shape 408"/>
          <p:cNvSpPr/>
          <p:nvPr/>
        </p:nvSpPr>
        <p:spPr>
          <a:xfrm>
            <a:off x="11497491" y="4528109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11" name="Shape 409"/>
          <p:cNvSpPr/>
          <p:nvPr/>
        </p:nvSpPr>
        <p:spPr>
          <a:xfrm>
            <a:off x="5723709" y="4565142"/>
            <a:ext cx="1443446" cy="13258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12" name="Shape 410"/>
          <p:cNvSpPr/>
          <p:nvPr/>
        </p:nvSpPr>
        <p:spPr>
          <a:xfrm>
            <a:off x="7167154" y="4565142"/>
            <a:ext cx="2405743" cy="132588"/>
          </a:xfrm>
          <a:prstGeom prst="rect">
            <a:avLst/>
          </a:prstGeom>
          <a:solidFill>
            <a:srgbClr val="538135"/>
          </a:solidFill>
          <a:ln w="12700">
            <a:solidFill>
              <a:srgbClr val="538135"/>
            </a:solidFill>
            <a:prstDash val="solid"/>
          </a:ln>
        </p:spPr>
      </p:sp>
      <p:sp>
        <p:nvSpPr>
          <p:cNvPr id="413" name="Shape 411"/>
          <p:cNvSpPr/>
          <p:nvPr/>
        </p:nvSpPr>
        <p:spPr>
          <a:xfrm>
            <a:off x="9572897" y="4565142"/>
            <a:ext cx="2405743" cy="132588"/>
          </a:xfrm>
          <a:prstGeom prst="rect">
            <a:avLst/>
          </a:prstGeom>
          <a:solidFill>
            <a:srgbClr val="806000"/>
          </a:solidFill>
          <a:ln w="12700">
            <a:solidFill>
              <a:srgbClr val="806000"/>
            </a:solidFill>
            <a:prstDash val="solid"/>
          </a:ln>
        </p:spPr>
      </p:sp>
      <p:sp>
        <p:nvSpPr>
          <p:cNvPr id="414" name="Text 412"/>
          <p:cNvSpPr/>
          <p:nvPr/>
        </p:nvSpPr>
        <p:spPr>
          <a:xfrm>
            <a:off x="5760285" y="4565142"/>
            <a:ext cx="1388582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Execution (SIT, UAT, Parallel/Offline, Performance, Data Release)</a:t>
            </a:r>
            <a:endParaRPr lang="en-US" sz="550" dirty="0"/>
          </a:p>
        </p:txBody>
      </p:sp>
      <p:sp>
        <p:nvSpPr>
          <p:cNvPr id="415" name="Text 413"/>
          <p:cNvSpPr/>
          <p:nvPr/>
        </p:nvSpPr>
        <p:spPr>
          <a:xfrm>
            <a:off x="10702617" y="4546854"/>
            <a:ext cx="14630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72C4"/>
                </a:solidFill>
              </a:rPr>
              <a:t>▲</a:t>
            </a:r>
            <a:endParaRPr lang="en-US" sz="700" dirty="0"/>
          </a:p>
        </p:txBody>
      </p:sp>
      <p:sp>
        <p:nvSpPr>
          <p:cNvPr id="416" name="Shape 414"/>
          <p:cNvSpPr/>
          <p:nvPr/>
        </p:nvSpPr>
        <p:spPr>
          <a:xfrm>
            <a:off x="274320" y="4734763"/>
            <a:ext cx="11887200" cy="234086"/>
          </a:xfrm>
          <a:prstGeom prst="rect">
            <a:avLst/>
          </a:prstGeom>
          <a:solidFill>
            <a:srgbClr val="264B5A"/>
          </a:solidFill>
          <a:ln w="5080">
            <a:solidFill>
              <a:srgbClr val="1A3A46"/>
            </a:solidFill>
            <a:prstDash val="solid"/>
          </a:ln>
        </p:spPr>
      </p:sp>
      <p:sp>
        <p:nvSpPr>
          <p:cNvPr id="417" name="Text 415"/>
          <p:cNvSpPr/>
          <p:nvPr/>
        </p:nvSpPr>
        <p:spPr>
          <a:xfrm>
            <a:off x="347472" y="4734763"/>
            <a:ext cx="11704320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</a:t>
            </a:r>
            <a:endParaRPr lang="en-US" sz="750" dirty="0"/>
          </a:p>
        </p:txBody>
      </p:sp>
      <p:sp>
        <p:nvSpPr>
          <p:cNvPr id="418" name="Shape 416"/>
          <p:cNvSpPr/>
          <p:nvPr/>
        </p:nvSpPr>
        <p:spPr>
          <a:xfrm>
            <a:off x="274320" y="4968850"/>
            <a:ext cx="1600200" cy="206654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4"/>
            </a:solidFill>
            <a:prstDash val="solid"/>
          </a:ln>
        </p:spPr>
      </p:sp>
      <p:sp>
        <p:nvSpPr>
          <p:cNvPr id="419" name="Text 417"/>
          <p:cNvSpPr/>
          <p:nvPr/>
        </p:nvSpPr>
        <p:spPr>
          <a:xfrm>
            <a:off x="365760" y="4968850"/>
            <a:ext cx="1490472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Training (Internal)</a:t>
            </a:r>
            <a:endParaRPr lang="en-US" sz="620" dirty="0"/>
          </a:p>
        </p:txBody>
      </p:sp>
      <p:sp>
        <p:nvSpPr>
          <p:cNvPr id="420" name="Shape 418"/>
          <p:cNvSpPr/>
          <p:nvPr/>
        </p:nvSpPr>
        <p:spPr>
          <a:xfrm>
            <a:off x="1874520" y="4968850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21" name="Shape 419"/>
          <p:cNvSpPr/>
          <p:nvPr/>
        </p:nvSpPr>
        <p:spPr>
          <a:xfrm>
            <a:off x="2355669" y="4968850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22" name="Shape 420"/>
          <p:cNvSpPr/>
          <p:nvPr/>
        </p:nvSpPr>
        <p:spPr>
          <a:xfrm>
            <a:off x="2836817" y="4968850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23" name="Shape 421"/>
          <p:cNvSpPr/>
          <p:nvPr/>
        </p:nvSpPr>
        <p:spPr>
          <a:xfrm>
            <a:off x="3317966" y="4968850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24" name="Shape 422"/>
          <p:cNvSpPr/>
          <p:nvPr/>
        </p:nvSpPr>
        <p:spPr>
          <a:xfrm>
            <a:off x="3799114" y="4968850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25" name="Shape 423"/>
          <p:cNvSpPr/>
          <p:nvPr/>
        </p:nvSpPr>
        <p:spPr>
          <a:xfrm>
            <a:off x="4280263" y="4968850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26" name="Shape 424"/>
          <p:cNvSpPr/>
          <p:nvPr/>
        </p:nvSpPr>
        <p:spPr>
          <a:xfrm>
            <a:off x="4761411" y="4968850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27" name="Shape 425"/>
          <p:cNvSpPr/>
          <p:nvPr/>
        </p:nvSpPr>
        <p:spPr>
          <a:xfrm>
            <a:off x="5242560" y="4968850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28" name="Shape 426"/>
          <p:cNvSpPr/>
          <p:nvPr/>
        </p:nvSpPr>
        <p:spPr>
          <a:xfrm>
            <a:off x="5723709" y="4968850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29" name="Shape 427"/>
          <p:cNvSpPr/>
          <p:nvPr/>
        </p:nvSpPr>
        <p:spPr>
          <a:xfrm>
            <a:off x="6204857" y="4968850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30" name="Shape 428"/>
          <p:cNvSpPr/>
          <p:nvPr/>
        </p:nvSpPr>
        <p:spPr>
          <a:xfrm>
            <a:off x="6686006" y="4968850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31" name="Shape 429"/>
          <p:cNvSpPr/>
          <p:nvPr/>
        </p:nvSpPr>
        <p:spPr>
          <a:xfrm>
            <a:off x="7167154" y="4968850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32" name="Shape 430"/>
          <p:cNvSpPr/>
          <p:nvPr/>
        </p:nvSpPr>
        <p:spPr>
          <a:xfrm>
            <a:off x="7648303" y="4968850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33" name="Shape 431"/>
          <p:cNvSpPr/>
          <p:nvPr/>
        </p:nvSpPr>
        <p:spPr>
          <a:xfrm>
            <a:off x="8129451" y="4968850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34" name="Shape 432"/>
          <p:cNvSpPr/>
          <p:nvPr/>
        </p:nvSpPr>
        <p:spPr>
          <a:xfrm>
            <a:off x="8610600" y="4968850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35" name="Shape 433"/>
          <p:cNvSpPr/>
          <p:nvPr/>
        </p:nvSpPr>
        <p:spPr>
          <a:xfrm>
            <a:off x="9091749" y="4968850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36" name="Shape 434"/>
          <p:cNvSpPr/>
          <p:nvPr/>
        </p:nvSpPr>
        <p:spPr>
          <a:xfrm>
            <a:off x="9572897" y="4968850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37" name="Shape 435"/>
          <p:cNvSpPr/>
          <p:nvPr/>
        </p:nvSpPr>
        <p:spPr>
          <a:xfrm>
            <a:off x="10054046" y="4968850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38" name="Shape 436"/>
          <p:cNvSpPr/>
          <p:nvPr/>
        </p:nvSpPr>
        <p:spPr>
          <a:xfrm>
            <a:off x="10535194" y="4968850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39" name="Shape 437"/>
          <p:cNvSpPr/>
          <p:nvPr/>
        </p:nvSpPr>
        <p:spPr>
          <a:xfrm>
            <a:off x="11016343" y="4968850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40" name="Shape 438"/>
          <p:cNvSpPr/>
          <p:nvPr/>
        </p:nvSpPr>
        <p:spPr>
          <a:xfrm>
            <a:off x="11497491" y="4968850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41" name="Shape 439"/>
          <p:cNvSpPr/>
          <p:nvPr/>
        </p:nvSpPr>
        <p:spPr>
          <a:xfrm>
            <a:off x="1874520" y="5005883"/>
            <a:ext cx="3849189" cy="132588"/>
          </a:xfrm>
          <a:prstGeom prst="rect">
            <a:avLst/>
          </a:prstGeom>
          <a:solidFill>
            <a:srgbClr val="8080A0"/>
          </a:solidFill>
          <a:ln w="12700">
            <a:solidFill>
              <a:srgbClr val="8080A0"/>
            </a:solidFill>
            <a:prstDash val="solid"/>
          </a:ln>
        </p:spPr>
      </p:sp>
      <p:sp>
        <p:nvSpPr>
          <p:cNvPr id="442" name="Text 440"/>
          <p:cNvSpPr/>
          <p:nvPr/>
        </p:nvSpPr>
        <p:spPr>
          <a:xfrm>
            <a:off x="1911096" y="5005883"/>
            <a:ext cx="3794325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Training (Internal)</a:t>
            </a:r>
            <a:endParaRPr lang="en-US" sz="550" dirty="0"/>
          </a:p>
        </p:txBody>
      </p:sp>
      <p:sp>
        <p:nvSpPr>
          <p:cNvPr id="443" name="Shape 441"/>
          <p:cNvSpPr/>
          <p:nvPr/>
        </p:nvSpPr>
        <p:spPr>
          <a:xfrm>
            <a:off x="274320" y="5175504"/>
            <a:ext cx="1600200" cy="206654"/>
          </a:xfrm>
          <a:prstGeom prst="rect">
            <a:avLst/>
          </a:prstGeom>
          <a:solidFill>
            <a:srgbClr val="EDF4F7"/>
          </a:solidFill>
          <a:ln w="3810">
            <a:solidFill>
              <a:srgbClr val="D0DCE4"/>
            </a:solidFill>
            <a:prstDash val="solid"/>
          </a:ln>
        </p:spPr>
      </p:sp>
      <p:sp>
        <p:nvSpPr>
          <p:cNvPr id="444" name="Text 442"/>
          <p:cNvSpPr/>
          <p:nvPr/>
        </p:nvSpPr>
        <p:spPr>
          <a:xfrm>
            <a:off x="365760" y="5175504"/>
            <a:ext cx="1490472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Strategy &amp; Plan</a:t>
            </a:r>
            <a:endParaRPr lang="en-US" sz="620" dirty="0"/>
          </a:p>
        </p:txBody>
      </p:sp>
      <p:sp>
        <p:nvSpPr>
          <p:cNvPr id="445" name="Shape 443"/>
          <p:cNvSpPr/>
          <p:nvPr/>
        </p:nvSpPr>
        <p:spPr>
          <a:xfrm>
            <a:off x="1874520" y="517550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46" name="Shape 444"/>
          <p:cNvSpPr/>
          <p:nvPr/>
        </p:nvSpPr>
        <p:spPr>
          <a:xfrm>
            <a:off x="2355669" y="5175504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47" name="Shape 445"/>
          <p:cNvSpPr/>
          <p:nvPr/>
        </p:nvSpPr>
        <p:spPr>
          <a:xfrm>
            <a:off x="2836817" y="517550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48" name="Shape 446"/>
          <p:cNvSpPr/>
          <p:nvPr/>
        </p:nvSpPr>
        <p:spPr>
          <a:xfrm>
            <a:off x="3317966" y="5175504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49" name="Shape 447"/>
          <p:cNvSpPr/>
          <p:nvPr/>
        </p:nvSpPr>
        <p:spPr>
          <a:xfrm>
            <a:off x="3799114" y="517550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50" name="Shape 448"/>
          <p:cNvSpPr/>
          <p:nvPr/>
        </p:nvSpPr>
        <p:spPr>
          <a:xfrm>
            <a:off x="4280263" y="5175504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51" name="Shape 449"/>
          <p:cNvSpPr/>
          <p:nvPr/>
        </p:nvSpPr>
        <p:spPr>
          <a:xfrm>
            <a:off x="4761411" y="517550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52" name="Shape 450"/>
          <p:cNvSpPr/>
          <p:nvPr/>
        </p:nvSpPr>
        <p:spPr>
          <a:xfrm>
            <a:off x="5242560" y="5175504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53" name="Shape 451"/>
          <p:cNvSpPr/>
          <p:nvPr/>
        </p:nvSpPr>
        <p:spPr>
          <a:xfrm>
            <a:off x="5723709" y="517550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54" name="Shape 452"/>
          <p:cNvSpPr/>
          <p:nvPr/>
        </p:nvSpPr>
        <p:spPr>
          <a:xfrm>
            <a:off x="6204857" y="5175504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55" name="Shape 453"/>
          <p:cNvSpPr/>
          <p:nvPr/>
        </p:nvSpPr>
        <p:spPr>
          <a:xfrm>
            <a:off x="6686006" y="517550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56" name="Shape 454"/>
          <p:cNvSpPr/>
          <p:nvPr/>
        </p:nvSpPr>
        <p:spPr>
          <a:xfrm>
            <a:off x="7167154" y="5175504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57" name="Shape 455"/>
          <p:cNvSpPr/>
          <p:nvPr/>
        </p:nvSpPr>
        <p:spPr>
          <a:xfrm>
            <a:off x="7648303" y="517550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58" name="Shape 456"/>
          <p:cNvSpPr/>
          <p:nvPr/>
        </p:nvSpPr>
        <p:spPr>
          <a:xfrm>
            <a:off x="8129451" y="5175504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59" name="Shape 457"/>
          <p:cNvSpPr/>
          <p:nvPr/>
        </p:nvSpPr>
        <p:spPr>
          <a:xfrm>
            <a:off x="8610600" y="517550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60" name="Shape 458"/>
          <p:cNvSpPr/>
          <p:nvPr/>
        </p:nvSpPr>
        <p:spPr>
          <a:xfrm>
            <a:off x="9091749" y="5175504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61" name="Shape 459"/>
          <p:cNvSpPr/>
          <p:nvPr/>
        </p:nvSpPr>
        <p:spPr>
          <a:xfrm>
            <a:off x="9572897" y="517550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62" name="Shape 460"/>
          <p:cNvSpPr/>
          <p:nvPr/>
        </p:nvSpPr>
        <p:spPr>
          <a:xfrm>
            <a:off x="10054046" y="5175504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63" name="Shape 461"/>
          <p:cNvSpPr/>
          <p:nvPr/>
        </p:nvSpPr>
        <p:spPr>
          <a:xfrm>
            <a:off x="10535194" y="517550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64" name="Shape 462"/>
          <p:cNvSpPr/>
          <p:nvPr/>
        </p:nvSpPr>
        <p:spPr>
          <a:xfrm>
            <a:off x="11016343" y="5175504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65" name="Shape 463"/>
          <p:cNvSpPr/>
          <p:nvPr/>
        </p:nvSpPr>
        <p:spPr>
          <a:xfrm>
            <a:off x="11497491" y="5175504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66" name="Shape 464"/>
          <p:cNvSpPr/>
          <p:nvPr/>
        </p:nvSpPr>
        <p:spPr>
          <a:xfrm>
            <a:off x="5723709" y="5212537"/>
            <a:ext cx="1924594" cy="132588"/>
          </a:xfrm>
          <a:prstGeom prst="rect">
            <a:avLst/>
          </a:prstGeom>
          <a:solidFill>
            <a:srgbClr val="8080A0"/>
          </a:solidFill>
          <a:ln w="12700">
            <a:solidFill>
              <a:srgbClr val="8080A0"/>
            </a:solidFill>
            <a:prstDash val="solid"/>
          </a:ln>
        </p:spPr>
      </p:sp>
      <p:sp>
        <p:nvSpPr>
          <p:cNvPr id="467" name="Text 465"/>
          <p:cNvSpPr/>
          <p:nvPr/>
        </p:nvSpPr>
        <p:spPr>
          <a:xfrm>
            <a:off x="5760285" y="5212537"/>
            <a:ext cx="186973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Strategy &amp; Plan</a:t>
            </a:r>
            <a:endParaRPr lang="en-US" sz="550" dirty="0"/>
          </a:p>
        </p:txBody>
      </p:sp>
      <p:sp>
        <p:nvSpPr>
          <p:cNvPr id="468" name="Shape 466"/>
          <p:cNvSpPr/>
          <p:nvPr/>
        </p:nvSpPr>
        <p:spPr>
          <a:xfrm>
            <a:off x="274320" y="5382158"/>
            <a:ext cx="1600200" cy="206654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4"/>
            </a:solidFill>
            <a:prstDash val="solid"/>
          </a:ln>
        </p:spPr>
      </p:sp>
      <p:sp>
        <p:nvSpPr>
          <p:cNvPr id="469" name="Text 467"/>
          <p:cNvSpPr/>
          <p:nvPr/>
        </p:nvSpPr>
        <p:spPr>
          <a:xfrm>
            <a:off x="365760" y="5382158"/>
            <a:ext cx="1490472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Content &amp; Prep</a:t>
            </a:r>
            <a:endParaRPr lang="en-US" sz="620" dirty="0"/>
          </a:p>
        </p:txBody>
      </p:sp>
      <p:sp>
        <p:nvSpPr>
          <p:cNvPr id="470" name="Shape 468"/>
          <p:cNvSpPr/>
          <p:nvPr/>
        </p:nvSpPr>
        <p:spPr>
          <a:xfrm>
            <a:off x="1874520" y="5382158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71" name="Shape 469"/>
          <p:cNvSpPr/>
          <p:nvPr/>
        </p:nvSpPr>
        <p:spPr>
          <a:xfrm>
            <a:off x="2355669" y="5382158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72" name="Shape 470"/>
          <p:cNvSpPr/>
          <p:nvPr/>
        </p:nvSpPr>
        <p:spPr>
          <a:xfrm>
            <a:off x="2836817" y="5382158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73" name="Shape 471"/>
          <p:cNvSpPr/>
          <p:nvPr/>
        </p:nvSpPr>
        <p:spPr>
          <a:xfrm>
            <a:off x="3317966" y="5382158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74" name="Shape 472"/>
          <p:cNvSpPr/>
          <p:nvPr/>
        </p:nvSpPr>
        <p:spPr>
          <a:xfrm>
            <a:off x="3799114" y="5382158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75" name="Shape 473"/>
          <p:cNvSpPr/>
          <p:nvPr/>
        </p:nvSpPr>
        <p:spPr>
          <a:xfrm>
            <a:off x="4280263" y="5382158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76" name="Shape 474"/>
          <p:cNvSpPr/>
          <p:nvPr/>
        </p:nvSpPr>
        <p:spPr>
          <a:xfrm>
            <a:off x="4761411" y="5382158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77" name="Shape 475"/>
          <p:cNvSpPr/>
          <p:nvPr/>
        </p:nvSpPr>
        <p:spPr>
          <a:xfrm>
            <a:off x="5242560" y="5382158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78" name="Shape 476"/>
          <p:cNvSpPr/>
          <p:nvPr/>
        </p:nvSpPr>
        <p:spPr>
          <a:xfrm>
            <a:off x="5723709" y="5382158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79" name="Shape 477"/>
          <p:cNvSpPr/>
          <p:nvPr/>
        </p:nvSpPr>
        <p:spPr>
          <a:xfrm>
            <a:off x="6204857" y="5382158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80" name="Shape 478"/>
          <p:cNvSpPr/>
          <p:nvPr/>
        </p:nvSpPr>
        <p:spPr>
          <a:xfrm>
            <a:off x="6686006" y="5382158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81" name="Shape 479"/>
          <p:cNvSpPr/>
          <p:nvPr/>
        </p:nvSpPr>
        <p:spPr>
          <a:xfrm>
            <a:off x="7167154" y="5382158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82" name="Shape 480"/>
          <p:cNvSpPr/>
          <p:nvPr/>
        </p:nvSpPr>
        <p:spPr>
          <a:xfrm>
            <a:off x="7648303" y="5382158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83" name="Shape 481"/>
          <p:cNvSpPr/>
          <p:nvPr/>
        </p:nvSpPr>
        <p:spPr>
          <a:xfrm>
            <a:off x="8129451" y="5382158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84" name="Shape 482"/>
          <p:cNvSpPr/>
          <p:nvPr/>
        </p:nvSpPr>
        <p:spPr>
          <a:xfrm>
            <a:off x="8610600" y="5382158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85" name="Shape 483"/>
          <p:cNvSpPr/>
          <p:nvPr/>
        </p:nvSpPr>
        <p:spPr>
          <a:xfrm>
            <a:off x="9091749" y="5382158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86" name="Shape 484"/>
          <p:cNvSpPr/>
          <p:nvPr/>
        </p:nvSpPr>
        <p:spPr>
          <a:xfrm>
            <a:off x="9572897" y="5382158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87" name="Shape 485"/>
          <p:cNvSpPr/>
          <p:nvPr/>
        </p:nvSpPr>
        <p:spPr>
          <a:xfrm>
            <a:off x="10054046" y="5382158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88" name="Shape 486"/>
          <p:cNvSpPr/>
          <p:nvPr/>
        </p:nvSpPr>
        <p:spPr>
          <a:xfrm>
            <a:off x="10535194" y="5382158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89" name="Shape 487"/>
          <p:cNvSpPr/>
          <p:nvPr/>
        </p:nvSpPr>
        <p:spPr>
          <a:xfrm>
            <a:off x="11016343" y="5382158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90" name="Shape 488"/>
          <p:cNvSpPr/>
          <p:nvPr/>
        </p:nvSpPr>
        <p:spPr>
          <a:xfrm>
            <a:off x="11497491" y="5382158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91" name="Shape 489"/>
          <p:cNvSpPr/>
          <p:nvPr/>
        </p:nvSpPr>
        <p:spPr>
          <a:xfrm>
            <a:off x="5723709" y="5419192"/>
            <a:ext cx="2886891" cy="132588"/>
          </a:xfrm>
          <a:prstGeom prst="rect">
            <a:avLst/>
          </a:prstGeom>
          <a:solidFill>
            <a:srgbClr val="8080A0"/>
          </a:solidFill>
          <a:ln w="12700">
            <a:solidFill>
              <a:srgbClr val="8080A0"/>
            </a:solidFill>
            <a:prstDash val="solid"/>
          </a:ln>
        </p:spPr>
      </p:sp>
      <p:sp>
        <p:nvSpPr>
          <p:cNvPr id="492" name="Text 490"/>
          <p:cNvSpPr/>
          <p:nvPr/>
        </p:nvSpPr>
        <p:spPr>
          <a:xfrm>
            <a:off x="5760285" y="5419192"/>
            <a:ext cx="2832027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Content &amp; Prep</a:t>
            </a:r>
            <a:endParaRPr lang="en-US" sz="550" dirty="0"/>
          </a:p>
        </p:txBody>
      </p:sp>
      <p:sp>
        <p:nvSpPr>
          <p:cNvPr id="493" name="Shape 491"/>
          <p:cNvSpPr/>
          <p:nvPr/>
        </p:nvSpPr>
        <p:spPr>
          <a:xfrm>
            <a:off x="274320" y="5588813"/>
            <a:ext cx="1600200" cy="206654"/>
          </a:xfrm>
          <a:prstGeom prst="rect">
            <a:avLst/>
          </a:prstGeom>
          <a:solidFill>
            <a:srgbClr val="EDF4F7"/>
          </a:solidFill>
          <a:ln w="3810">
            <a:solidFill>
              <a:srgbClr val="D0DCE4"/>
            </a:solidFill>
            <a:prstDash val="solid"/>
          </a:ln>
        </p:spPr>
      </p:sp>
      <p:sp>
        <p:nvSpPr>
          <p:cNvPr id="494" name="Text 492"/>
          <p:cNvSpPr/>
          <p:nvPr/>
        </p:nvSpPr>
        <p:spPr>
          <a:xfrm>
            <a:off x="365760" y="5588813"/>
            <a:ext cx="1490472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Plan &amp; Condition</a:t>
            </a:r>
            <a:endParaRPr lang="en-US" sz="620" dirty="0"/>
          </a:p>
        </p:txBody>
      </p:sp>
      <p:sp>
        <p:nvSpPr>
          <p:cNvPr id="495" name="Shape 493"/>
          <p:cNvSpPr/>
          <p:nvPr/>
        </p:nvSpPr>
        <p:spPr>
          <a:xfrm>
            <a:off x="1874520" y="5588813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96" name="Shape 494"/>
          <p:cNvSpPr/>
          <p:nvPr/>
        </p:nvSpPr>
        <p:spPr>
          <a:xfrm>
            <a:off x="2355669" y="5588813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97" name="Shape 495"/>
          <p:cNvSpPr/>
          <p:nvPr/>
        </p:nvSpPr>
        <p:spPr>
          <a:xfrm>
            <a:off x="2836817" y="5588813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98" name="Shape 496"/>
          <p:cNvSpPr/>
          <p:nvPr/>
        </p:nvSpPr>
        <p:spPr>
          <a:xfrm>
            <a:off x="3317966" y="5588813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499" name="Shape 497"/>
          <p:cNvSpPr/>
          <p:nvPr/>
        </p:nvSpPr>
        <p:spPr>
          <a:xfrm>
            <a:off x="3799114" y="5588813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500" name="Shape 498"/>
          <p:cNvSpPr/>
          <p:nvPr/>
        </p:nvSpPr>
        <p:spPr>
          <a:xfrm>
            <a:off x="4280263" y="5588813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501" name="Shape 499"/>
          <p:cNvSpPr/>
          <p:nvPr/>
        </p:nvSpPr>
        <p:spPr>
          <a:xfrm>
            <a:off x="4761411" y="5588813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502" name="Shape 500"/>
          <p:cNvSpPr/>
          <p:nvPr/>
        </p:nvSpPr>
        <p:spPr>
          <a:xfrm>
            <a:off x="5242560" y="5588813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503" name="Shape 501"/>
          <p:cNvSpPr/>
          <p:nvPr/>
        </p:nvSpPr>
        <p:spPr>
          <a:xfrm>
            <a:off x="5723709" y="5588813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504" name="Shape 502"/>
          <p:cNvSpPr/>
          <p:nvPr/>
        </p:nvSpPr>
        <p:spPr>
          <a:xfrm>
            <a:off x="6204857" y="5588813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505" name="Shape 503"/>
          <p:cNvSpPr/>
          <p:nvPr/>
        </p:nvSpPr>
        <p:spPr>
          <a:xfrm>
            <a:off x="6686006" y="5588813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506" name="Shape 504"/>
          <p:cNvSpPr/>
          <p:nvPr/>
        </p:nvSpPr>
        <p:spPr>
          <a:xfrm>
            <a:off x="7167154" y="5588813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507" name="Shape 505"/>
          <p:cNvSpPr/>
          <p:nvPr/>
        </p:nvSpPr>
        <p:spPr>
          <a:xfrm>
            <a:off x="7648303" y="5588813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508" name="Shape 506"/>
          <p:cNvSpPr/>
          <p:nvPr/>
        </p:nvSpPr>
        <p:spPr>
          <a:xfrm>
            <a:off x="8129451" y="5588813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509" name="Shape 507"/>
          <p:cNvSpPr/>
          <p:nvPr/>
        </p:nvSpPr>
        <p:spPr>
          <a:xfrm>
            <a:off x="8610600" y="5588813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510" name="Shape 508"/>
          <p:cNvSpPr/>
          <p:nvPr/>
        </p:nvSpPr>
        <p:spPr>
          <a:xfrm>
            <a:off x="9091749" y="5588813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511" name="Shape 509"/>
          <p:cNvSpPr/>
          <p:nvPr/>
        </p:nvSpPr>
        <p:spPr>
          <a:xfrm>
            <a:off x="9572897" y="5588813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512" name="Shape 510"/>
          <p:cNvSpPr/>
          <p:nvPr/>
        </p:nvSpPr>
        <p:spPr>
          <a:xfrm>
            <a:off x="10054046" y="5588813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513" name="Shape 511"/>
          <p:cNvSpPr/>
          <p:nvPr/>
        </p:nvSpPr>
        <p:spPr>
          <a:xfrm>
            <a:off x="10535194" y="5588813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514" name="Shape 512"/>
          <p:cNvSpPr/>
          <p:nvPr/>
        </p:nvSpPr>
        <p:spPr>
          <a:xfrm>
            <a:off x="11016343" y="5588813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515" name="Shape 513"/>
          <p:cNvSpPr/>
          <p:nvPr/>
        </p:nvSpPr>
        <p:spPr>
          <a:xfrm>
            <a:off x="11497491" y="5588813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516" name="Shape 514"/>
          <p:cNvSpPr/>
          <p:nvPr/>
        </p:nvSpPr>
        <p:spPr>
          <a:xfrm>
            <a:off x="7648303" y="5625846"/>
            <a:ext cx="2405743" cy="132588"/>
          </a:xfrm>
          <a:prstGeom prst="rect">
            <a:avLst/>
          </a:prstGeom>
          <a:solidFill>
            <a:srgbClr val="8080A0"/>
          </a:solidFill>
          <a:ln w="12700">
            <a:solidFill>
              <a:srgbClr val="8080A0"/>
            </a:solidFill>
            <a:prstDash val="solid"/>
          </a:ln>
        </p:spPr>
      </p:sp>
      <p:sp>
        <p:nvSpPr>
          <p:cNvPr id="517" name="Text 515"/>
          <p:cNvSpPr/>
          <p:nvPr/>
        </p:nvSpPr>
        <p:spPr>
          <a:xfrm>
            <a:off x="7684879" y="5625846"/>
            <a:ext cx="2350879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Plan &amp; Condition</a:t>
            </a:r>
            <a:endParaRPr lang="en-US" sz="550" dirty="0"/>
          </a:p>
        </p:txBody>
      </p:sp>
      <p:sp>
        <p:nvSpPr>
          <p:cNvPr id="518" name="Shape 516"/>
          <p:cNvSpPr/>
          <p:nvPr/>
        </p:nvSpPr>
        <p:spPr>
          <a:xfrm>
            <a:off x="274320" y="5795467"/>
            <a:ext cx="1600200" cy="206654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4"/>
            </a:solidFill>
            <a:prstDash val="solid"/>
          </a:ln>
        </p:spPr>
      </p:sp>
      <p:sp>
        <p:nvSpPr>
          <p:cNvPr id="519" name="Text 517"/>
          <p:cNvSpPr/>
          <p:nvPr/>
        </p:nvSpPr>
        <p:spPr>
          <a:xfrm>
            <a:off x="365760" y="5795467"/>
            <a:ext cx="1490472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to BAU Prep</a:t>
            </a:r>
            <a:endParaRPr lang="en-US" sz="620" dirty="0"/>
          </a:p>
        </p:txBody>
      </p:sp>
      <p:sp>
        <p:nvSpPr>
          <p:cNvPr id="520" name="Shape 518"/>
          <p:cNvSpPr/>
          <p:nvPr/>
        </p:nvSpPr>
        <p:spPr>
          <a:xfrm>
            <a:off x="1874520" y="5795467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521" name="Shape 519"/>
          <p:cNvSpPr/>
          <p:nvPr/>
        </p:nvSpPr>
        <p:spPr>
          <a:xfrm>
            <a:off x="2355669" y="5795467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522" name="Shape 520"/>
          <p:cNvSpPr/>
          <p:nvPr/>
        </p:nvSpPr>
        <p:spPr>
          <a:xfrm>
            <a:off x="2836817" y="5795467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523" name="Shape 521"/>
          <p:cNvSpPr/>
          <p:nvPr/>
        </p:nvSpPr>
        <p:spPr>
          <a:xfrm>
            <a:off x="3317966" y="5795467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524" name="Shape 522"/>
          <p:cNvSpPr/>
          <p:nvPr/>
        </p:nvSpPr>
        <p:spPr>
          <a:xfrm>
            <a:off x="3799114" y="5795467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525" name="Shape 523"/>
          <p:cNvSpPr/>
          <p:nvPr/>
        </p:nvSpPr>
        <p:spPr>
          <a:xfrm>
            <a:off x="4280263" y="5795467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526" name="Shape 524"/>
          <p:cNvSpPr/>
          <p:nvPr/>
        </p:nvSpPr>
        <p:spPr>
          <a:xfrm>
            <a:off x="4761411" y="5795467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527" name="Shape 525"/>
          <p:cNvSpPr/>
          <p:nvPr/>
        </p:nvSpPr>
        <p:spPr>
          <a:xfrm>
            <a:off x="5242560" y="5795467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528" name="Shape 526"/>
          <p:cNvSpPr/>
          <p:nvPr/>
        </p:nvSpPr>
        <p:spPr>
          <a:xfrm>
            <a:off x="5723709" y="5795467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529" name="Shape 527"/>
          <p:cNvSpPr/>
          <p:nvPr/>
        </p:nvSpPr>
        <p:spPr>
          <a:xfrm>
            <a:off x="6204857" y="5795467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530" name="Shape 528"/>
          <p:cNvSpPr/>
          <p:nvPr/>
        </p:nvSpPr>
        <p:spPr>
          <a:xfrm>
            <a:off x="6686006" y="5795467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531" name="Shape 529"/>
          <p:cNvSpPr/>
          <p:nvPr/>
        </p:nvSpPr>
        <p:spPr>
          <a:xfrm>
            <a:off x="7167154" y="5795467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532" name="Shape 530"/>
          <p:cNvSpPr/>
          <p:nvPr/>
        </p:nvSpPr>
        <p:spPr>
          <a:xfrm>
            <a:off x="7648303" y="5795467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533" name="Shape 531"/>
          <p:cNvSpPr/>
          <p:nvPr/>
        </p:nvSpPr>
        <p:spPr>
          <a:xfrm>
            <a:off x="8129451" y="5795467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534" name="Shape 532"/>
          <p:cNvSpPr/>
          <p:nvPr/>
        </p:nvSpPr>
        <p:spPr>
          <a:xfrm>
            <a:off x="8610600" y="5795467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535" name="Shape 533"/>
          <p:cNvSpPr/>
          <p:nvPr/>
        </p:nvSpPr>
        <p:spPr>
          <a:xfrm>
            <a:off x="9091749" y="5795467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536" name="Shape 534"/>
          <p:cNvSpPr/>
          <p:nvPr/>
        </p:nvSpPr>
        <p:spPr>
          <a:xfrm>
            <a:off x="9572897" y="5795467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537" name="Shape 535"/>
          <p:cNvSpPr/>
          <p:nvPr/>
        </p:nvSpPr>
        <p:spPr>
          <a:xfrm>
            <a:off x="10054046" y="5795467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538" name="Shape 536"/>
          <p:cNvSpPr/>
          <p:nvPr/>
        </p:nvSpPr>
        <p:spPr>
          <a:xfrm>
            <a:off x="10535194" y="5795467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539" name="Shape 537"/>
          <p:cNvSpPr/>
          <p:nvPr/>
        </p:nvSpPr>
        <p:spPr>
          <a:xfrm>
            <a:off x="11016343" y="5795467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540" name="Shape 538"/>
          <p:cNvSpPr/>
          <p:nvPr/>
        </p:nvSpPr>
        <p:spPr>
          <a:xfrm>
            <a:off x="11497491" y="5795467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541" name="Shape 539"/>
          <p:cNvSpPr/>
          <p:nvPr/>
        </p:nvSpPr>
        <p:spPr>
          <a:xfrm>
            <a:off x="8610600" y="5832500"/>
            <a:ext cx="3368040" cy="132588"/>
          </a:xfrm>
          <a:prstGeom prst="rect">
            <a:avLst/>
          </a:prstGeom>
          <a:solidFill>
            <a:srgbClr val="8080A0"/>
          </a:solidFill>
          <a:ln w="12700">
            <a:solidFill>
              <a:srgbClr val="8080A0"/>
            </a:solidFill>
            <a:prstDash val="solid"/>
          </a:ln>
        </p:spPr>
      </p:sp>
      <p:sp>
        <p:nvSpPr>
          <p:cNvPr id="542" name="Text 540"/>
          <p:cNvSpPr/>
          <p:nvPr/>
        </p:nvSpPr>
        <p:spPr>
          <a:xfrm>
            <a:off x="8647176" y="5832500"/>
            <a:ext cx="3313176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to BAU Prep</a:t>
            </a:r>
            <a:endParaRPr lang="en-US" sz="550" dirty="0"/>
          </a:p>
        </p:txBody>
      </p:sp>
      <p:sp>
        <p:nvSpPr>
          <p:cNvPr id="543" name="Shape 541"/>
          <p:cNvSpPr/>
          <p:nvPr/>
        </p:nvSpPr>
        <p:spPr>
          <a:xfrm>
            <a:off x="274320" y="6002122"/>
            <a:ext cx="11887200" cy="234086"/>
          </a:xfrm>
          <a:prstGeom prst="rect">
            <a:avLst/>
          </a:prstGeom>
          <a:solidFill>
            <a:srgbClr val="264B5A"/>
          </a:solidFill>
          <a:ln w="5080">
            <a:solidFill>
              <a:srgbClr val="1A3A46"/>
            </a:solidFill>
            <a:prstDash val="solid"/>
          </a:ln>
        </p:spPr>
      </p:sp>
      <p:sp>
        <p:nvSpPr>
          <p:cNvPr id="544" name="Text 542"/>
          <p:cNvSpPr/>
          <p:nvPr/>
        </p:nvSpPr>
        <p:spPr>
          <a:xfrm>
            <a:off x="347472" y="6002122"/>
            <a:ext cx="11704320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750" dirty="0"/>
          </a:p>
        </p:txBody>
      </p:sp>
      <p:sp>
        <p:nvSpPr>
          <p:cNvPr id="545" name="Shape 543"/>
          <p:cNvSpPr/>
          <p:nvPr/>
        </p:nvSpPr>
        <p:spPr>
          <a:xfrm>
            <a:off x="274320" y="6236208"/>
            <a:ext cx="1600200" cy="206654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4"/>
            </a:solidFill>
            <a:prstDash val="solid"/>
          </a:ln>
        </p:spPr>
      </p:sp>
      <p:sp>
        <p:nvSpPr>
          <p:cNvPr id="546" name="Text 544"/>
          <p:cNvSpPr/>
          <p:nvPr/>
        </p:nvSpPr>
        <p:spPr>
          <a:xfrm>
            <a:off x="365760" y="6236208"/>
            <a:ext cx="1490472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Sign-Off</a:t>
            </a:r>
            <a:endParaRPr lang="en-US" sz="620" dirty="0"/>
          </a:p>
        </p:txBody>
      </p:sp>
      <p:sp>
        <p:nvSpPr>
          <p:cNvPr id="547" name="Shape 545"/>
          <p:cNvSpPr/>
          <p:nvPr/>
        </p:nvSpPr>
        <p:spPr>
          <a:xfrm>
            <a:off x="1874520" y="6236208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548" name="Shape 546"/>
          <p:cNvSpPr/>
          <p:nvPr/>
        </p:nvSpPr>
        <p:spPr>
          <a:xfrm>
            <a:off x="2355669" y="6236208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549" name="Shape 547"/>
          <p:cNvSpPr/>
          <p:nvPr/>
        </p:nvSpPr>
        <p:spPr>
          <a:xfrm>
            <a:off x="2836817" y="6236208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550" name="Shape 548"/>
          <p:cNvSpPr/>
          <p:nvPr/>
        </p:nvSpPr>
        <p:spPr>
          <a:xfrm>
            <a:off x="3317966" y="6236208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551" name="Shape 549"/>
          <p:cNvSpPr/>
          <p:nvPr/>
        </p:nvSpPr>
        <p:spPr>
          <a:xfrm>
            <a:off x="3799114" y="6236208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552" name="Shape 550"/>
          <p:cNvSpPr/>
          <p:nvPr/>
        </p:nvSpPr>
        <p:spPr>
          <a:xfrm>
            <a:off x="4280263" y="6236208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553" name="Shape 551"/>
          <p:cNvSpPr/>
          <p:nvPr/>
        </p:nvSpPr>
        <p:spPr>
          <a:xfrm>
            <a:off x="4761411" y="6236208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554" name="Shape 552"/>
          <p:cNvSpPr/>
          <p:nvPr/>
        </p:nvSpPr>
        <p:spPr>
          <a:xfrm>
            <a:off x="5242560" y="6236208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555" name="Shape 553"/>
          <p:cNvSpPr/>
          <p:nvPr/>
        </p:nvSpPr>
        <p:spPr>
          <a:xfrm>
            <a:off x="5723709" y="6236208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556" name="Shape 554"/>
          <p:cNvSpPr/>
          <p:nvPr/>
        </p:nvSpPr>
        <p:spPr>
          <a:xfrm>
            <a:off x="6204857" y="6236208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557" name="Shape 555"/>
          <p:cNvSpPr/>
          <p:nvPr/>
        </p:nvSpPr>
        <p:spPr>
          <a:xfrm>
            <a:off x="6686006" y="6236208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558" name="Shape 556"/>
          <p:cNvSpPr/>
          <p:nvPr/>
        </p:nvSpPr>
        <p:spPr>
          <a:xfrm>
            <a:off x="7167154" y="6236208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559" name="Shape 557"/>
          <p:cNvSpPr/>
          <p:nvPr/>
        </p:nvSpPr>
        <p:spPr>
          <a:xfrm>
            <a:off x="7648303" y="6236208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560" name="Shape 558"/>
          <p:cNvSpPr/>
          <p:nvPr/>
        </p:nvSpPr>
        <p:spPr>
          <a:xfrm>
            <a:off x="8129451" y="6236208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561" name="Shape 559"/>
          <p:cNvSpPr/>
          <p:nvPr/>
        </p:nvSpPr>
        <p:spPr>
          <a:xfrm>
            <a:off x="8610600" y="6236208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562" name="Shape 560"/>
          <p:cNvSpPr/>
          <p:nvPr/>
        </p:nvSpPr>
        <p:spPr>
          <a:xfrm>
            <a:off x="9091749" y="6236208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563" name="Shape 561"/>
          <p:cNvSpPr/>
          <p:nvPr/>
        </p:nvSpPr>
        <p:spPr>
          <a:xfrm>
            <a:off x="9572897" y="6236208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564" name="Shape 562"/>
          <p:cNvSpPr/>
          <p:nvPr/>
        </p:nvSpPr>
        <p:spPr>
          <a:xfrm>
            <a:off x="10054046" y="6236208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565" name="Shape 563"/>
          <p:cNvSpPr/>
          <p:nvPr/>
        </p:nvSpPr>
        <p:spPr>
          <a:xfrm>
            <a:off x="10535194" y="6236208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566" name="Shape 564"/>
          <p:cNvSpPr/>
          <p:nvPr/>
        </p:nvSpPr>
        <p:spPr>
          <a:xfrm>
            <a:off x="11016343" y="6236208"/>
            <a:ext cx="481149" cy="206654"/>
          </a:xfrm>
          <a:prstGeom prst="rect">
            <a:avLst/>
          </a:prstGeom>
          <a:solidFill>
            <a:srgbClr val="F8FAFC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567" name="Shape 565"/>
          <p:cNvSpPr/>
          <p:nvPr/>
        </p:nvSpPr>
        <p:spPr>
          <a:xfrm>
            <a:off x="11497491" y="6236208"/>
            <a:ext cx="481149" cy="206654"/>
          </a:xfrm>
          <a:prstGeom prst="rect">
            <a:avLst/>
          </a:prstGeom>
          <a:solidFill>
            <a:srgbClr val="F0F5F8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568" name="Text 566"/>
          <p:cNvSpPr/>
          <p:nvPr/>
        </p:nvSpPr>
        <p:spPr>
          <a:xfrm>
            <a:off x="11646626" y="6254496"/>
            <a:ext cx="182880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864"/>
                </a:solidFill>
              </a:rPr>
              <a:t>▲</a:t>
            </a:r>
            <a:endParaRPr lang="en-US" sz="900" dirty="0"/>
          </a:p>
        </p:txBody>
      </p:sp>
      <p:sp>
        <p:nvSpPr>
          <p:cNvPr id="569" name="Shape 567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05B6E"/>
          </a:solidFill>
          <a:ln w="12700">
            <a:solidFill>
              <a:srgbClr val="005B6E"/>
            </a:solidFill>
            <a:prstDash val="solid"/>
          </a:ln>
        </p:spPr>
      </p:sp>
      <p:sp>
        <p:nvSpPr>
          <p:cNvPr id="570" name="Text 568"/>
          <p:cNvSpPr/>
          <p:nvPr/>
        </p:nvSpPr>
        <p:spPr>
          <a:xfrm>
            <a:off x="320040" y="6656832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©2026 Brown Brothers Harriman &amp; Co. Confidential &amp; Proprietary. Not to be reproduced without the explicit consent of BBH &amp; Co.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2026-05-02T22:52:30Z</dcterms:created>
  <dcterms:modified xsi:type="dcterms:W3CDTF">2026-05-02T22:52:30Z</dcterms:modified>
</cp:coreProperties>
</file>