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SWP Migration Program  ·  Capital Partners Technology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Modernising the SWP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Engine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0848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 + PL/SQL  →  Airflow + dbt  ·  Same Oracle infrastructure, fundamentally different execution model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8046720" cy="27432"/>
          </a:xfrm>
          <a:prstGeom prst="rect">
            <a:avLst/>
          </a:prstGeom>
          <a:solidFill>
            <a:srgbClr val="5A889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743200"/>
            <a:ext cx="1920240" cy="123444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81635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93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scenarios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2743200"/>
            <a:ext cx="1920240" cy="123444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281635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3,740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51760" y="3493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executions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1920240" cy="123444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81635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hr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54880" y="3493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compute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2743200"/>
            <a:ext cx="1920240" cy="123444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281635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58000" y="3493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Records/day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2062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slides:  Current state  ·  Future state  ·  Proof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— ODI + PL/SQL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today.  At capacity.  Unable to scale.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01968" y="256032"/>
            <a:ext cx="1115568" cy="7132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601968" y="310896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hrs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601968" y="67665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compute/day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601968" y="1060704"/>
            <a:ext cx="1115568" cy="7132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6601968" y="1115568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22/24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01968" y="148132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window consumed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601968" y="1865376"/>
            <a:ext cx="1115568" cy="713232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11" name="Text 9"/>
          <p:cNvSpPr/>
          <p:nvPr/>
        </p:nvSpPr>
        <p:spPr>
          <a:xfrm>
            <a:off x="6601968" y="192024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3,740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01968" y="228600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executions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808976" y="256032"/>
            <a:ext cx="1115568" cy="713232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14" name="Text 12"/>
          <p:cNvSpPr/>
          <p:nvPr/>
        </p:nvSpPr>
        <p:spPr>
          <a:xfrm>
            <a:off x="7808976" y="310896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808976" y="67665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inserted/day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808976" y="1060704"/>
            <a:ext cx="1115568" cy="713232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17" name="Text 15"/>
          <p:cNvSpPr/>
          <p:nvPr/>
        </p:nvSpPr>
        <p:spPr>
          <a:xfrm>
            <a:off x="7808976" y="1115568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08976" y="148132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57200" y="10241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43 hours go — top 5 pipelines = 53% of compute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5989320" cy="1920240"/>
        </p:xfrm>
        <a:graphic>
          <a:graphicData uri="http://schemas.openxmlformats.org/drawingml/2006/table">
            <a:tbl>
              <a:tblPr/>
              <a:tblGrid>
                <a:gridCol w="2011680"/>
                <a:gridCol w="502920"/>
                <a:gridCol w="749808"/>
                <a:gridCol w="749808"/>
                <a:gridCol w="1060704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Avg/run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moved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Assets Intraday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329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PBCP Alerts Intraday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322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Positions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278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Summary Settlement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2.1M ins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Summary Info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5 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1,361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53% of 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57200" y="3291840"/>
            <a:ext cx="5989320" cy="384048"/>
          </a:xfrm>
          <a:prstGeom prst="rect">
            <a:avLst/>
          </a:prstGeom>
          <a:solidFill>
            <a:srgbClr val="E8EEF0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3310128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pipelines: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280M+ records inserted daily via full reload — 12 times per day — with no incremental or delta logic. 142M records reloaded every 2 hours regardless of what changed.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374904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going forward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404164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58368" y="40416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window full — 22 of 24 hrs consumed. No room for SWP growth.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57200" y="435254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58368" y="43525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top 3 pipelines move zero rows — time is procedural API overhead, not data.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57200" y="466344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58368" y="46634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Full-reload anti-pattern — CRM reloads 142M records 12×/day. No CDC, no delta.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709160" y="404164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910328" y="40416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parallelism per job — PL/SQL cursor pins 1 vCPU. Other 3 sit idle.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709160" y="435254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910328" y="43525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doesn't fix this — doubling the box adds job slots, not job parallelism.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709160" y="466344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910328" y="46634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guardrails — predicates, CI tests, lineage are convention only, not enforced.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601968" y="25603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continue →</a:t>
            </a:r>
            <a:endParaRPr lang="en-US" sz="10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816352"/>
          <a:ext cx="2377440" cy="1005840"/>
        </p:xfrm>
        <a:graphic>
          <a:graphicData uri="http://schemas.openxmlformats.org/drawingml/2006/table">
            <a:tbl>
              <a:tblPr/>
              <a:tblGrid>
                <a:gridCol w="749808"/>
                <a:gridCol w="530352"/>
                <a:gridCol w="566928"/>
                <a:gridCol w="530352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growth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5× growth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hr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~86 hr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~215 hr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inserts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hr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&gt; 24 hr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Breaks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state — Airflow + dbt on Oracle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4 vCPU / 8 GB Oracle.  Different execution model.  Built-in guardrails.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current challenge is resolved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43584"/>
          <a:ext cx="8321040" cy="1938528"/>
        </p:xfrm>
        <a:graphic>
          <a:graphicData uri="http://schemas.openxmlformats.org/drawingml/2006/table">
            <a:tbl>
              <a:tblPr/>
              <a:tblGrid>
                <a:gridCol w="2148840"/>
                <a:gridCol w="6172200"/>
              </a:tblGrid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 today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dbt + Airflow resolves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43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22-hr window — no slack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 parallel DAGs run models concurrently — sequential job chains collapse into simultaneous execution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PL/SQL pins 1 vCPU per job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Set-based SQL activates Oracle PX servers — one dbt model fans across all 4 vCPUs automatically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full reload 142M every 2 hrs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 incremental materialization — only changed rows processed. Estimated 80–90% reduction per cycle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API pipelines dominate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Airflow KubernetesExecutor dispatches API calls concurrently across pods — not sequentially on one thread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partition predicate enforcement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 pre-commit hooks enforce WHERE as_of_date on every staging model — commit fails if missing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restart on failure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Airflow native retry + circuit-breaker — no manual intervention required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CI tests or lineage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 tests gate every merge. Column-level lineage renders automatically from SQL — NYDFS-ready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2461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identical 4 vCPU / 8 GB hardware — AWR</a:t>
            </a:r>
            <a:endParaRPr lang="en-US" sz="10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93008"/>
          <a:ext cx="5577840" cy="1389888"/>
        </p:xfrm>
        <a:graphic>
          <a:graphicData uri="http://schemas.openxmlformats.org/drawingml/2006/table">
            <a:tbl>
              <a:tblPr/>
              <a:tblGrid>
                <a:gridCol w="2057400"/>
                <a:gridCol w="658368"/>
                <a:gridCol w="713232"/>
                <a:gridCol w="713232"/>
                <a:gridCol w="1435608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CPU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(S1)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815 MB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scale (S2)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947 MB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SWP scope (S3)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476 MB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predicate (S5)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 MB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Predicate enforced (S6)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506 MB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263640" y="32461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263640" y="3493008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SWP growth absorbs without hardware spend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263640" y="3721608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Set-based SQL — next million rows cheaper than last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263640" y="3950208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Automated retry — no manual pipeline restarts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263640" y="4178808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CI-gated tests catch regressions pre-production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263640" y="4407408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Auto-lineage makes audits self-service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263640" y="4636008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Every future mapping inherits the guardrails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proof — 8 scenarios on the existing 4 vCPU / 8 GB Oracle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loads S1–S6 captured via AWR.  S7/S8 projected via DBMS_STATS from 10M-row sample.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42416"/>
          <a:ext cx="8321040" cy="2788920"/>
        </p:xfrm>
        <a:graphic>
          <a:graphicData uri="http://schemas.openxmlformats.org/drawingml/2006/table">
            <a:tbl>
              <a:tblPr/>
              <a:tblGrid>
                <a:gridCol w="347472"/>
                <a:gridCol w="1481328"/>
                <a:gridCol w="621792"/>
                <a:gridCol w="932688"/>
                <a:gridCol w="658368"/>
                <a:gridCol w="621792"/>
                <a:gridCol w="749808"/>
                <a:gridCol w="731520"/>
                <a:gridCol w="2176272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processed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CPU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I/O (MB/s)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PGA (MB)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4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gate / floor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 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Cold-start spike, one-time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Today's AddVantage scale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scaling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SWP scope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Parallelism improves CPU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SQL / legacy RMJ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complexity = CPU 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partition predicate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 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 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Full-scan I/O bottleneck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Predicate enforced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~11M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11× faster · 1000× less I/O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(projected)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1.1B 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 smpl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min 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Pruning-dependent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 (projected)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5B 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 smpl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min 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Hard-ceiling reference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953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S1 I/O spike is cold-cache warm-up, not steady state.   * S7/S8 row counts projected via DBMS_STATS — standard Oracle capacity-planning technique.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" y="4160520"/>
            <a:ext cx="2651760" cy="868680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4206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box, 11× faster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44622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and S6 are identical hardware, identical 32M rows. One SQL predicate: 11 min → 1 min.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64408" y="4160520"/>
            <a:ext cx="2651760" cy="86868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10" name="Text 7"/>
          <p:cNvSpPr/>
          <p:nvPr/>
        </p:nvSpPr>
        <p:spPr>
          <a:xfrm>
            <a:off x="3401568" y="4206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saturation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01568" y="44622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DB CPU 1.8 of 4 available. Peak PGA 947 MB of 8 GB. Headroom on every axis.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71616" y="4160520"/>
            <a:ext cx="2651760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6208776" y="4206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cliff is SQL, not hardware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08776" y="44622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fails on un-predicated SQL — preventable at commit. Adding hardware would not fix it.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guardrails — VS Code extension + Jenkins CI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rules enforce design principles at write time and at the pipeline gate. The same ruleset runs twice — nothing ships without passing both.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536192" cy="420624"/>
          </a:xfrm>
          <a:prstGeom prst="rect">
            <a:avLst/>
          </a:prstGeom>
          <a:solidFill>
            <a:srgbClr val="14384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SQL/dbt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901952" y="841248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84832" y="822960"/>
            <a:ext cx="1536192" cy="420624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8" name="Text 6"/>
          <p:cNvSpPr/>
          <p:nvPr/>
        </p:nvSpPr>
        <p:spPr>
          <a:xfrm>
            <a:off x="2084832" y="82296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fires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21024" y="841248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03904" y="822960"/>
            <a:ext cx="1536192" cy="420624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11" name="Text 9"/>
          <p:cNvSpPr/>
          <p:nvPr/>
        </p:nvSpPr>
        <p:spPr>
          <a:xfrm>
            <a:off x="3803904" y="82296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40096" y="841248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22976" y="822960"/>
            <a:ext cx="1536192" cy="420624"/>
          </a:xfrm>
          <a:prstGeom prst="rect">
            <a:avLst/>
          </a:prstGeom>
          <a:solidFill>
            <a:srgbClr val="143843"/>
          </a:solidFill>
          <a:ln/>
        </p:spPr>
      </p:sp>
      <p:sp>
        <p:nvSpPr>
          <p:cNvPr id="14" name="Text 12"/>
          <p:cNvSpPr/>
          <p:nvPr/>
        </p:nvSpPr>
        <p:spPr>
          <a:xfrm>
            <a:off x="5522976" y="82296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059168" y="841248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42048" y="822960"/>
            <a:ext cx="1536192" cy="420624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17" name="Text 15"/>
          <p:cNvSpPr/>
          <p:nvPr/>
        </p:nvSpPr>
        <p:spPr>
          <a:xfrm>
            <a:off x="7242048" y="82296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1316736"/>
            <a:ext cx="64008" cy="3035808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" y="1316736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 — catches at write time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1208" y="1527048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Guardrails  ·  22 rules  ·  real-time squiggles + inline fix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1208" y="1737360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2648" y="1920240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Partition predicate on every staging model (WHERE as_of_date …)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2648" y="2103120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cursor loops or ROWTYPE iteration over large tables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2648" y="2286000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Layer-aware: staging cannot join; mart cannot reference raw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2648" y="2468880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CUSIP-else-ISIN canonical ID enforced in stg_securities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2648" y="2651760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NR fallback required for missing credit ratings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1208" y="2889504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quality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2648" y="3072384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SELECT *  — explicit column list required in every model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2648" y="3255264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hardcoded schemas — ref() and source() only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2648" y="3438144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dbt Jinja: all ref() and source() nodes must resolve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1208" y="3675888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validation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2648" y="3858768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Circular dependency detection across the model graph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2648" y="4041648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Mart models must not reference raw — intermediate only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498848" y="1316736"/>
            <a:ext cx="64008" cy="3035808"/>
          </a:xfrm>
          <a:prstGeom prst="rect">
            <a:avLst/>
          </a:prstGeom>
          <a:solidFill>
            <a:srgbClr val="143843"/>
          </a:solidFill>
          <a:ln/>
        </p:spPr>
      </p:sp>
      <p:sp>
        <p:nvSpPr>
          <p:cNvPr id="35" name="Text 33"/>
          <p:cNvSpPr/>
          <p:nvPr/>
        </p:nvSpPr>
        <p:spPr>
          <a:xfrm>
            <a:off x="4654296" y="1316736"/>
            <a:ext cx="4123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CI gate — enforces before merge to main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54296" y="1527048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Zero-tolerance gate  ·  PR blocked on any failure  ·  results posted back to Git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54296" y="1737360"/>
            <a:ext cx="4123944" cy="182880"/>
          </a:xfrm>
          <a:prstGeom prst="rect">
            <a:avLst/>
          </a:prstGeom>
          <a:solidFill>
            <a:srgbClr val="E8EEF0"/>
          </a:solidFill>
          <a:ln/>
        </p:spPr>
      </p:sp>
      <p:sp>
        <p:nvSpPr>
          <p:cNvPr id="38" name="Text 36"/>
          <p:cNvSpPr/>
          <p:nvPr/>
        </p:nvSpPr>
        <p:spPr>
          <a:xfrm>
            <a:off x="4690872" y="1737360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SQL static analysis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45736" y="1920240"/>
            <a:ext cx="3995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All 22 VS Code rules re-run in headless mode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45736" y="2084832"/>
            <a:ext cx="3995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Partition predicate present on every staging CTE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45736" y="2249424"/>
            <a:ext cx="3995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Layer integrity: staging → intermediate → mart enforced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54296" y="2478024"/>
            <a:ext cx="4123944" cy="182880"/>
          </a:xfrm>
          <a:prstGeom prst="rect">
            <a:avLst/>
          </a:prstGeom>
          <a:solidFill>
            <a:srgbClr val="E8EEF0"/>
          </a:solidFill>
          <a:ln/>
        </p:spPr>
      </p:sp>
      <p:sp>
        <p:nvSpPr>
          <p:cNvPr id="43" name="Text 41"/>
          <p:cNvSpPr/>
          <p:nvPr/>
        </p:nvSpPr>
        <p:spPr>
          <a:xfrm>
            <a:off x="4690872" y="2478024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dbt compile + schema tests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45736" y="2660904"/>
            <a:ext cx="3995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dbt compile — all ref() and source() nodes resolve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45736" y="2825496"/>
            <a:ext cx="3995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not_null on all primary keys and partition keys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45736" y="2990088"/>
            <a:ext cx="3995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unique on account_id × security_id × as_of_date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654296" y="3218688"/>
            <a:ext cx="4123944" cy="182880"/>
          </a:xfrm>
          <a:prstGeom prst="rect">
            <a:avLst/>
          </a:prstGeom>
          <a:solidFill>
            <a:srgbClr val="E8EEF0"/>
          </a:solidFill>
          <a:ln/>
        </p:spPr>
      </p:sp>
      <p:sp>
        <p:nvSpPr>
          <p:cNvPr id="48" name="Text 46"/>
          <p:cNvSpPr/>
          <p:nvPr/>
        </p:nvSpPr>
        <p:spPr>
          <a:xfrm>
            <a:off x="4690872" y="3218688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Performance gate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745736" y="3401568"/>
            <a:ext cx="3995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Explain plan captured for every model touching &gt;1M rows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45736" y="3566160"/>
            <a:ext cx="3995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Partition pruning verified: PARTITION RANGE ITERATOR in plan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45736" y="3730752"/>
            <a:ext cx="3995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Full-table-scan models auto-rejected via explain cost threshold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654296" y="3959352"/>
            <a:ext cx="4123944" cy="182880"/>
          </a:xfrm>
          <a:prstGeom prst="rect">
            <a:avLst/>
          </a:prstGeom>
          <a:solidFill>
            <a:srgbClr val="E8EEF0"/>
          </a:solidFill>
          <a:ln/>
        </p:spPr>
      </p:sp>
      <p:sp>
        <p:nvSpPr>
          <p:cNvPr id="53" name="Text 51"/>
          <p:cNvSpPr/>
          <p:nvPr/>
        </p:nvSpPr>
        <p:spPr>
          <a:xfrm>
            <a:off x="4690872" y="3959352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Runtime budget check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745736" y="4142232"/>
            <a:ext cx="3995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dbt run timed against S2 baseline (≤5 min threshold)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745736" y="4306824"/>
            <a:ext cx="3995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Regression vs. prior merge: &gt;20% slowdown auto-blocks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65760" y="4434840"/>
            <a:ext cx="8412480" cy="384048"/>
          </a:xfrm>
          <a:prstGeom prst="rect">
            <a:avLst/>
          </a:prstGeom>
          <a:solidFill>
            <a:srgbClr val="143843"/>
          </a:solidFill>
          <a:ln/>
        </p:spPr>
      </p:sp>
      <p:sp>
        <p:nvSpPr>
          <p:cNvPr id="57" name="Text 55"/>
          <p:cNvSpPr/>
          <p:nvPr/>
        </p:nvSpPr>
        <p:spPr>
          <a:xfrm>
            <a:off x="530352" y="4434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principle:  </a:t>
            </a:r>
            <a:pPr indent="0" marL="0">
              <a:buNone/>
            </a:pPr>
            <a:r>
              <a:rPr lang="en-US" sz="950" dirty="0">
                <a:solidFill>
                  <a:srgbClr val="C9D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discipline is enforced by the tools, not by memory.  Convention becomes enforcement.  Every change passes both gates before it reaches production.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2026-05-13T14:18:49Z</dcterms:created>
  <dcterms:modified xsi:type="dcterms:W3CDTF">2026-05-13T14:18:49Z</dcterms:modified>
</cp:coreProperties>
</file>