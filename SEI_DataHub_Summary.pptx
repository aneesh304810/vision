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F5C6B"/>
          </a:solidFill>
          <a:ln w="12700">
            <a:solidFill>
              <a:srgbClr val="1F5C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CP SEI Integration &amp; Data Hub — What We're Building and Why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6EEF3"/>
                </a:solidFill>
              </a:rPr>
              <a:t>Capital Partners Technology · SWP Migration Program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6995160" cy="347472"/>
          </a:xfrm>
          <a:prstGeom prst="rect">
            <a:avLst/>
          </a:prstGeom>
          <a:solidFill>
            <a:srgbClr val="2A7D8E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868680"/>
            <a:ext cx="6995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WHAT WE'RE BUILDING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452360" y="868680"/>
            <a:ext cx="4480560" cy="347472"/>
          </a:xfrm>
          <a:prstGeom prst="rect">
            <a:avLst/>
          </a:prstGeom>
          <a:solidFill>
            <a:srgbClr val="2A7D8E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52360" y="86868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WHY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" y="1325880"/>
            <a:ext cx="6995160" cy="658368"/>
          </a:xfrm>
          <a:prstGeom prst="rect">
            <a:avLst/>
          </a:prstGeom>
          <a:solidFill>
            <a:srgbClr val="EAF6FA"/>
          </a:solidFill>
          <a:ln w="12700">
            <a:solidFill>
              <a:srgbClr val="1F5C6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01752" y="1325880"/>
            <a:ext cx="684885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35"/>
                </a:solidFill>
              </a:rPr>
              <a:t>SEI SWP (Strategic Wealth Platform)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6572"/>
                </a:solidFill>
              </a:rPr>
              <a:t>New system of record · Loaders · Feeds · API · RTM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26180" y="1984248"/>
            <a:ext cx="0" cy="201168"/>
          </a:xfrm>
          <a:prstGeom prst="line">
            <a:avLst/>
          </a:prstGeom>
          <a:noFill/>
          <a:ln w="25400">
            <a:solidFill>
              <a:srgbClr val="1F5C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6452" y="2139696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5C6B"/>
                </a:solidFill>
              </a:rPr>
              <a:t>▼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0" y="2011680"/>
            <a:ext cx="1965960" cy="173736"/>
          </a:xfrm>
          <a:prstGeom prst="rect">
            <a:avLst/>
          </a:prstGeom>
          <a:solidFill>
            <a:srgbClr val="D6EEF3"/>
          </a:solidFill>
          <a:ln w="6350">
            <a:solidFill>
              <a:srgbClr val="3A9D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0" y="2011680"/>
            <a:ext cx="1965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1F5C6B"/>
                </a:solidFill>
              </a:rPr>
              <a:t>Day 1: SFTP  |  Intraday: API (Apigee)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28600" y="2286000"/>
            <a:ext cx="6995160" cy="658368"/>
          </a:xfrm>
          <a:prstGeom prst="rect">
            <a:avLst/>
          </a:prstGeom>
          <a:solidFill>
            <a:srgbClr val="F4F8FA"/>
          </a:solidFill>
          <a:ln w="12700">
            <a:solidFill>
              <a:srgbClr val="1F5C6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01752" y="2286000"/>
            <a:ext cx="684885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35"/>
                </a:solidFill>
              </a:rPr>
              <a:t>Integration Hub — Landing Zone &amp; Orchestration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6572"/>
                </a:solidFill>
              </a:rPr>
              <a:t>Airflow 3.x on OpenShift (KubernetesExecutor) · Schedule · Monitor · Ingest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726180" y="2944368"/>
            <a:ext cx="0" cy="201168"/>
          </a:xfrm>
          <a:prstGeom prst="line">
            <a:avLst/>
          </a:prstGeom>
          <a:noFill/>
          <a:ln w="25400">
            <a:solidFill>
              <a:srgbClr val="1F5C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16452" y="3099816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5C6B"/>
                </a:solidFill>
              </a:rPr>
              <a:t>▼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8600" y="3200400"/>
            <a:ext cx="6995160" cy="658368"/>
          </a:xfrm>
          <a:prstGeom prst="rect">
            <a:avLst/>
          </a:prstGeom>
          <a:solidFill>
            <a:srgbClr val="F4F8FA"/>
          </a:solidFill>
          <a:ln w="12700">
            <a:solidFill>
              <a:srgbClr val="1F5C6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01752" y="3200400"/>
            <a:ext cx="684885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35"/>
                </a:solidFill>
              </a:rPr>
              <a:t>Data Hub — Transformer Engine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6572"/>
                </a:solidFill>
              </a:rPr>
              <a:t>dbt-Oracle (Staging → Canonical → Mart)  ·  ODI rules  ·  3-layer transformation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726180" y="3858768"/>
            <a:ext cx="0" cy="201168"/>
          </a:xfrm>
          <a:prstGeom prst="line">
            <a:avLst/>
          </a:prstGeom>
          <a:noFill/>
          <a:ln w="25400">
            <a:solidFill>
              <a:srgbClr val="1F5C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16452" y="4014216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5C6B"/>
                </a:solidFill>
              </a:rPr>
              <a:t>▼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28600" y="4160520"/>
            <a:ext cx="6995160" cy="658368"/>
          </a:xfrm>
          <a:prstGeom prst="rect">
            <a:avLst/>
          </a:prstGeom>
          <a:solidFill>
            <a:srgbClr val="F4F8FA"/>
          </a:solidFill>
          <a:ln w="12700">
            <a:solidFill>
              <a:srgbClr val="1F5C6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01752" y="4160520"/>
            <a:ext cx="684885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35"/>
                </a:solidFill>
              </a:rPr>
              <a:t>CP Data Platform — Data Zone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6572"/>
                </a:solidFill>
              </a:rPr>
              <a:t>PBDW  ·  CPDW  ·  IMDS  ·  BBH Semantic Layer  ·  Data Virtualization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726180" y="4818888"/>
            <a:ext cx="0" cy="201168"/>
          </a:xfrm>
          <a:prstGeom prst="line">
            <a:avLst/>
          </a:prstGeom>
          <a:noFill/>
          <a:ln w="25400">
            <a:solidFill>
              <a:srgbClr val="1F5C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16452" y="4974336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5C6B"/>
                </a:solidFill>
              </a:rPr>
              <a:t>▼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28600" y="5074920"/>
            <a:ext cx="6995160" cy="658368"/>
          </a:xfrm>
          <a:prstGeom prst="rect">
            <a:avLst/>
          </a:prstGeom>
          <a:solidFill>
            <a:srgbClr val="EAF6FA"/>
          </a:solidFill>
          <a:ln w="12700">
            <a:solidFill>
              <a:srgbClr val="1F5C6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01752" y="5074920"/>
            <a:ext cx="684885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35"/>
                </a:solidFill>
              </a:rPr>
              <a:t>Downstream Consumers (~1,000)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6572"/>
                </a:solidFill>
              </a:rPr>
              <a:t>BBH Infuse · PB Client Portal · CRM · CRD · Advantage · 3rd Party Apps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452360" y="1307592"/>
            <a:ext cx="4480560" cy="914400"/>
          </a:xfrm>
          <a:prstGeom prst="rect">
            <a:avLst/>
          </a:prstGeom>
          <a:solidFill>
            <a:srgbClr val="F4F8FA"/>
          </a:solidFill>
          <a:ln w="6350">
            <a:solidFill>
              <a:srgbClr val="3A9DB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43800" y="1472184"/>
            <a:ext cx="329184" cy="329184"/>
          </a:xfrm>
          <a:prstGeom prst="ellipse">
            <a:avLst/>
          </a:prstGeom>
          <a:solidFill>
            <a:srgbClr val="1F5C6B"/>
          </a:solidFill>
          <a:ln w="12700">
            <a:solidFill>
              <a:srgbClr val="1F5C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43800" y="14721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✕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955280" y="136245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5C6B"/>
                </a:solidFill>
              </a:rPr>
              <a:t>Kill 2,500 RMJ Jobs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955280" y="1618488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2B35"/>
                </a:solidFill>
              </a:rPr>
              <a:t>Replace fragmented point-to-point RMJ scheduler jobs (IMDS + PDW) with governed, observable Airflow pipelines — &lt; 100 canonical DAGs.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452360" y="2359152"/>
            <a:ext cx="4480560" cy="914400"/>
          </a:xfrm>
          <a:prstGeom prst="rect">
            <a:avLst/>
          </a:prstGeom>
          <a:solidFill>
            <a:srgbClr val="D6EEF3"/>
          </a:solidFill>
          <a:ln w="6350">
            <a:solidFill>
              <a:srgbClr val="3A9DB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543800" y="2523744"/>
            <a:ext cx="329184" cy="329184"/>
          </a:xfrm>
          <a:prstGeom prst="ellipse">
            <a:avLst/>
          </a:prstGeom>
          <a:solidFill>
            <a:srgbClr val="1F5C6B"/>
          </a:solidFill>
          <a:ln w="12700">
            <a:solidFill>
              <a:srgbClr val="1F5C6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43800" y="25237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⚡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955280" y="241401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5C6B"/>
                </a:solidFill>
              </a:rPr>
              <a:t>Real-Time vs. Delayed Batch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955280" y="2670048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2B35"/>
                </a:solidFill>
              </a:rPr>
              <a:t>Current state: delayed, inconsistent data flows. Future state: intraday API feeds via Apigee + Airflow-triggered dbt runs for faster business decisions.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452360" y="3410712"/>
            <a:ext cx="4480560" cy="914400"/>
          </a:xfrm>
          <a:prstGeom prst="rect">
            <a:avLst/>
          </a:prstGeom>
          <a:solidFill>
            <a:srgbClr val="F4F8FA"/>
          </a:solidFill>
          <a:ln w="6350">
            <a:solidFill>
              <a:srgbClr val="3A9DB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543800" y="3575304"/>
            <a:ext cx="329184" cy="329184"/>
          </a:xfrm>
          <a:prstGeom prst="ellipse">
            <a:avLst/>
          </a:prstGeom>
          <a:solidFill>
            <a:srgbClr val="1F5C6B"/>
          </a:solidFill>
          <a:ln w="12700">
            <a:solidFill>
              <a:srgbClr val="1F5C6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43800" y="35753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🏛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955280" y="346557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5C6B"/>
                </a:solidFill>
              </a:rPr>
              <a:t>Replace Legacy Accounting Core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955280" y="3721608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2B35"/>
                </a:solidFill>
              </a:rPr>
              <a:t>Migrate both IM (STAR) and PB (FIS Addvantage) off legacy Advent systems onto SEI SWP — single accounting system of record.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452360" y="4462272"/>
            <a:ext cx="4480560" cy="914400"/>
          </a:xfrm>
          <a:prstGeom prst="rect">
            <a:avLst/>
          </a:prstGeom>
          <a:solidFill>
            <a:srgbClr val="D6EEF3"/>
          </a:solidFill>
          <a:ln w="6350">
            <a:solidFill>
              <a:srgbClr val="3A9DB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543800" y="4626864"/>
            <a:ext cx="329184" cy="329184"/>
          </a:xfrm>
          <a:prstGeom prst="ellipse">
            <a:avLst/>
          </a:prstGeom>
          <a:solidFill>
            <a:srgbClr val="1F5C6B"/>
          </a:solidFill>
          <a:ln w="12700">
            <a:solidFill>
              <a:srgbClr val="1F5C6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43800" y="46268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🔒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955280" y="451713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5C6B"/>
                </a:solidFill>
              </a:rPr>
              <a:t>Centralized Governance &amp; Quality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955280" y="4773168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2B35"/>
                </a:solidFill>
              </a:rPr>
              <a:t>dbt canonical layer as immutable contract for ~1,000 consumers. Great Expectations + Splunk observability. NYDFS 500 compliance.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7452360" y="5513832"/>
            <a:ext cx="4480560" cy="914400"/>
          </a:xfrm>
          <a:prstGeom prst="rect">
            <a:avLst/>
          </a:prstGeom>
          <a:solidFill>
            <a:srgbClr val="F4F8FA"/>
          </a:solidFill>
          <a:ln w="6350">
            <a:solidFill>
              <a:srgbClr val="3A9DB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543800" y="5678424"/>
            <a:ext cx="329184" cy="329184"/>
          </a:xfrm>
          <a:prstGeom prst="ellipse">
            <a:avLst/>
          </a:prstGeom>
          <a:solidFill>
            <a:srgbClr val="1F5C6B"/>
          </a:solidFill>
          <a:ln w="12700">
            <a:solidFill>
              <a:srgbClr val="1F5C6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43800" y="5678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📈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955280" y="556869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5C6B"/>
                </a:solidFill>
              </a:rPr>
              <a:t>Scalability &amp; Business Agility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7955280" y="5824728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2B35"/>
                </a:solidFill>
              </a:rPr>
              <a:t>BBH Semantic Layer + Data Virtualization decouples consumers from physical storage. Faster onboarding and extensibility for new data products.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F5C6B"/>
          </a:solidFill>
          <a:ln w="12700">
            <a:solidFill>
              <a:srgbClr val="1F5C6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28600" y="6583680"/>
            <a:ext cx="1188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6EEF3"/>
                </a:solidFill>
              </a:rPr>
              <a:t>© BBH Capital Partners Technology  ·  Confidential &amp; Proprietary  ·  SWP Migration Program  ·  2026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7315200" y="868680"/>
            <a:ext cx="0" cy="5669280"/>
          </a:xfrm>
          <a:prstGeom prst="line">
            <a:avLst/>
          </a:prstGeom>
          <a:noFill/>
          <a:ln w="12700">
            <a:solidFill>
              <a:srgbClr val="3A9DB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2026-05-03T22:14:45Z</dcterms:created>
  <dcterms:modified xsi:type="dcterms:W3CDTF">2026-05-03T22:14:45Z</dcterms:modified>
</cp:coreProperties>
</file>