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4572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54864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BBH SWP  |  In-House Build vs SEI Data Cloud — What We Build, What We Don't &amp; Operational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01752"/>
            <a:ext cx="5486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D4ECF2"/>
                </a:solidFill>
              </a:rPr>
              <a:t>CTO Reference  |  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" y="502920"/>
            <a:ext cx="5559552" cy="329184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502920"/>
            <a:ext cx="91440" cy="329184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1" y="530352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🏗   IN-HOUSE BUILD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5650992" y="502920"/>
            <a:ext cx="877824" cy="329184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50992" y="548640"/>
            <a:ext cx="877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47104" y="502920"/>
            <a:ext cx="5568696" cy="329184"/>
          </a:xfrm>
          <a:prstGeom prst="rect">
            <a:avLst/>
          </a:prstGeom>
          <a:solidFill>
            <a:srgbClr val="2E8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24360" y="502920"/>
            <a:ext cx="91440" cy="329184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38544" y="530352"/>
            <a:ext cx="5385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☁️   SEI DATA CLOUD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877824"/>
            <a:ext cx="5559552" cy="201168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" y="905256"/>
            <a:ext cx="54498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  WHAT BBH BUILDS &amp; OWNS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47104" y="877824"/>
            <a:ext cx="5568696" cy="201168"/>
          </a:xfrm>
          <a:prstGeom prst="rect">
            <a:avLst/>
          </a:prstGeom>
          <a:solidFill>
            <a:srgbClr val="2E8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6" y="905256"/>
            <a:ext cx="54589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  WHAT SEI PROVIDES  (BBH subscribes)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50992" y="877824"/>
            <a:ext cx="877824" cy="201168"/>
          </a:xfrm>
          <a:prstGeom prst="rect">
            <a:avLst/>
          </a:prstGeom>
          <a:solidFill>
            <a:srgbClr val="EC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" y="1097280"/>
            <a:ext cx="5559552" cy="242316"/>
          </a:xfrm>
          <a:prstGeom prst="rect">
            <a:avLst/>
          </a:prstGeom>
          <a:solidFill>
            <a:srgbClr val="E8F6ED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" y="1097280"/>
            <a:ext cx="45720" cy="242316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1124712"/>
            <a:ext cx="274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5C6B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" y="1124712"/>
            <a:ext cx="5148072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Airflow DAGs — SWP SFTP → Oracle Bronze ingestion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" y="1348740"/>
            <a:ext cx="5559552" cy="242316"/>
          </a:xfrm>
          <a:prstGeom prst="rect">
            <a:avLst/>
          </a:prstGeom>
          <a:solidFill>
            <a:srgbClr val="E8F6ED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" y="1348740"/>
            <a:ext cx="45720" cy="242316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" y="1376172"/>
            <a:ext cx="274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5C6B"/>
                </a:solidFill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" y="1376172"/>
            <a:ext cx="5148072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dbt Silver layer — cleanse, normalise, validate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" y="1600200"/>
            <a:ext cx="5559552" cy="242316"/>
          </a:xfrm>
          <a:prstGeom prst="rect">
            <a:avLst/>
          </a:prstGeom>
          <a:solidFill>
            <a:srgbClr val="E8F6ED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" y="1600200"/>
            <a:ext cx="45720" cy="242316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1627632"/>
            <a:ext cx="274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5C6B"/>
                </a:solidFill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" y="1627632"/>
            <a:ext cx="5148072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dbt Gold layer — business logic &amp; BBH transforms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" y="1851660"/>
            <a:ext cx="5559552" cy="242316"/>
          </a:xfrm>
          <a:prstGeom prst="rect">
            <a:avLst/>
          </a:prstGeom>
          <a:solidFill>
            <a:srgbClr val="E8F6ED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" y="1851660"/>
            <a:ext cx="45720" cy="242316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" y="1879091"/>
            <a:ext cx="274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5C6B"/>
                </a:solidFill>
              </a:rP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" y="1879091"/>
            <a:ext cx="5148072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AddVantage presentation views — 1,000+ consumers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" y="2103120"/>
            <a:ext cx="5559552" cy="242316"/>
          </a:xfrm>
          <a:prstGeom prst="rect">
            <a:avLst/>
          </a:prstGeom>
          <a:solidFill>
            <a:srgbClr val="E8F6ED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" y="2103120"/>
            <a:ext cx="45720" cy="242316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" y="2130551"/>
            <a:ext cx="274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5C6B"/>
                </a:solidFill>
              </a:rP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2130551"/>
            <a:ext cx="5148072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Splunk monitoring &amp; alerting — full observability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" y="2354579"/>
            <a:ext cx="5559552" cy="242316"/>
          </a:xfrm>
          <a:prstGeom prst="rect">
            <a:avLst/>
          </a:prstGeom>
          <a:solidFill>
            <a:srgbClr val="E8F6ED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" y="2354579"/>
            <a:ext cx="45720" cy="242316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7160" y="2382011"/>
            <a:ext cx="274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5C6B"/>
                </a:solidFill>
              </a:rPr>
              <a:t>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" y="2382011"/>
            <a:ext cx="5148072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Own Snowflake from Month 9 — analytics &amp; reporting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47104" y="1097280"/>
            <a:ext cx="5568696" cy="242316"/>
          </a:xfrm>
          <a:prstGeom prst="rect">
            <a:avLst/>
          </a:prstGeom>
          <a:solidFill>
            <a:srgbClr val="ECF6F9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47104" y="1097280"/>
            <a:ext cx="45720" cy="242316"/>
          </a:xfrm>
          <a:prstGeom prst="rect">
            <a:avLst/>
          </a:prstGeom>
          <a:solidFill>
            <a:srgbClr val="2E8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11112" y="1124712"/>
            <a:ext cx="274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879E"/>
                </a:solidFill>
              </a:rPr>
              <a:t>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94576" y="1124712"/>
            <a:ext cx="515721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Data replication — SWP → Azure Snowflake (managed)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47104" y="1348740"/>
            <a:ext cx="5568696" cy="242316"/>
          </a:xfrm>
          <a:prstGeom prst="rect">
            <a:avLst/>
          </a:prstGeom>
          <a:solidFill>
            <a:srgbClr val="ECF6F9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47104" y="1348740"/>
            <a:ext cx="45720" cy="242316"/>
          </a:xfrm>
          <a:prstGeom prst="rect">
            <a:avLst/>
          </a:prstGeom>
          <a:solidFill>
            <a:srgbClr val="2E8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11112" y="1376172"/>
            <a:ext cx="274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879E"/>
                </a:solidFill>
              </a:rPr>
              <a:t>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94576" y="1376172"/>
            <a:ext cx="515721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Domain Views — Accounts, Positions, Txns, Assets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47104" y="1600200"/>
            <a:ext cx="5568696" cy="242316"/>
          </a:xfrm>
          <a:prstGeom prst="rect">
            <a:avLst/>
          </a:prstGeom>
          <a:solidFill>
            <a:srgbClr val="ECF6F9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47104" y="1600200"/>
            <a:ext cx="45720" cy="242316"/>
          </a:xfrm>
          <a:prstGeom prst="rect">
            <a:avLst/>
          </a:prstGeom>
          <a:solidFill>
            <a:srgbClr val="2E8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11112" y="1627632"/>
            <a:ext cx="274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879E"/>
                </a:solidFill>
              </a:rPr>
              <a:t>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94576" y="1627632"/>
            <a:ext cx="515721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Azure Event Hubs — 1–2M events/sec real-time stream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47104" y="1851660"/>
            <a:ext cx="5568696" cy="242316"/>
          </a:xfrm>
          <a:prstGeom prst="rect">
            <a:avLst/>
          </a:prstGeom>
          <a:solidFill>
            <a:srgbClr val="ECF6F9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47104" y="1851660"/>
            <a:ext cx="45720" cy="242316"/>
          </a:xfrm>
          <a:prstGeom prst="rect">
            <a:avLst/>
          </a:prstGeom>
          <a:solidFill>
            <a:srgbClr val="2E8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11112" y="1879091"/>
            <a:ext cx="274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879E"/>
                </a:solidFill>
              </a:rPr>
              <a:t>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94576" y="1879091"/>
            <a:ext cx="515721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SDV standard report templates — out of box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47104" y="2103120"/>
            <a:ext cx="5568696" cy="242316"/>
          </a:xfrm>
          <a:prstGeom prst="rect">
            <a:avLst/>
          </a:prstGeom>
          <a:solidFill>
            <a:srgbClr val="ECF6F9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547104" y="2103120"/>
            <a:ext cx="45720" cy="242316"/>
          </a:xfrm>
          <a:prstGeom prst="rect">
            <a:avLst/>
          </a:prstGeom>
          <a:solidFill>
            <a:srgbClr val="2E8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11112" y="2130551"/>
            <a:ext cx="274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879E"/>
                </a:solidFill>
              </a:rPr>
              <a:t>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94576" y="2130551"/>
            <a:ext cx="515721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SEI manages SWP schema changes automatically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47104" y="2354579"/>
            <a:ext cx="5568696" cy="242316"/>
          </a:xfrm>
          <a:prstGeom prst="rect">
            <a:avLst/>
          </a:prstGeom>
          <a:solidFill>
            <a:srgbClr val="ECF6F9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47104" y="2354579"/>
            <a:ext cx="45720" cy="242316"/>
          </a:xfrm>
          <a:prstGeom prst="rect">
            <a:avLst/>
          </a:prstGeom>
          <a:solidFill>
            <a:srgbClr val="2E8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11112" y="2382011"/>
            <a:ext cx="274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879E"/>
                </a:solidFill>
              </a:rPr>
              <a:t>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94576" y="2382011"/>
            <a:ext cx="515721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</a:rPr>
              <a:t>Dedicated Azure infrastructure — SEI-operated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50992" y="1097280"/>
            <a:ext cx="877824" cy="1508759"/>
          </a:xfrm>
          <a:prstGeom prst="rect">
            <a:avLst/>
          </a:prstGeom>
          <a:solidFill>
            <a:srgbClr val="F4F6F8"/>
          </a:solidFill>
          <a:ln w="2540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152" y="2660903"/>
            <a:ext cx="5559552" cy="201168"/>
          </a:xfrm>
          <a:prstGeom prst="rect">
            <a:avLst/>
          </a:prstGeom>
          <a:solidFill>
            <a:srgbClr val="B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6304" y="2688335"/>
            <a:ext cx="54498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  WHAT BBH DOES NOT NEED TO BUILD  (SDC handles it)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47104" y="2660903"/>
            <a:ext cx="5568696" cy="201168"/>
          </a:xfrm>
          <a:prstGeom prst="rect">
            <a:avLst/>
          </a:prstGeom>
          <a:solidFill>
            <a:srgbClr val="B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20256" y="2688335"/>
            <a:ext cx="54589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  WHAT BBH STILL NEEDS TO BUILD  (SDC does NOT provide)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50992" y="2660903"/>
            <a:ext cx="877824" cy="201168"/>
          </a:xfrm>
          <a:prstGeom prst="rect">
            <a:avLst/>
          </a:prstGeom>
          <a:solidFill>
            <a:srgbClr val="EC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3152" y="2880359"/>
            <a:ext cx="5559552" cy="242316"/>
          </a:xfrm>
          <a:prstGeom prst="rect">
            <a:avLst/>
          </a:prstGeom>
          <a:solidFill>
            <a:srgbClr val="FFEDED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152" y="2880359"/>
            <a:ext cx="45720" cy="242316"/>
          </a:xfrm>
          <a:prstGeom prst="rect">
            <a:avLst/>
          </a:prstGeom>
          <a:solidFill>
            <a:srgbClr val="B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37160" y="2907791"/>
            <a:ext cx="274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B80000"/>
                </a:solidFill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0624" y="2907791"/>
            <a:ext cx="5148072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0000"/>
                </a:solidFill>
              </a:rPr>
              <a:t>SWP→Cloud replication pipeline  (SEI manages this)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" y="3131819"/>
            <a:ext cx="5559552" cy="242316"/>
          </a:xfrm>
          <a:prstGeom prst="rect">
            <a:avLst/>
          </a:prstGeom>
          <a:solidFill>
            <a:srgbClr val="FFEDED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152" y="3131819"/>
            <a:ext cx="45720" cy="242316"/>
          </a:xfrm>
          <a:prstGeom prst="rect">
            <a:avLst/>
          </a:prstGeom>
          <a:solidFill>
            <a:srgbClr val="B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" y="3159251"/>
            <a:ext cx="274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B80000"/>
                </a:solidFill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0624" y="3159251"/>
            <a:ext cx="5148072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0000"/>
                </a:solidFill>
              </a:rPr>
              <a:t>Real-time event streaming layer  (Azure Event Hubs)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" y="3383279"/>
            <a:ext cx="5559552" cy="242316"/>
          </a:xfrm>
          <a:prstGeom prst="rect">
            <a:avLst/>
          </a:prstGeom>
          <a:solidFill>
            <a:srgbClr val="FFEDED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" y="3383279"/>
            <a:ext cx="45720" cy="242316"/>
          </a:xfrm>
          <a:prstGeom prst="rect">
            <a:avLst/>
          </a:prstGeom>
          <a:solidFill>
            <a:srgbClr val="B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7160" y="3410711"/>
            <a:ext cx="274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B80000"/>
                </a:solidFill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0624" y="3410711"/>
            <a:ext cx="5148072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0000"/>
                </a:solidFill>
              </a:rPr>
              <a:t>Snowflake infrastructure provisioning &amp; management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547104" y="2880359"/>
            <a:ext cx="5568696" cy="242316"/>
          </a:xfrm>
          <a:prstGeom prst="rect">
            <a:avLst/>
          </a:prstGeom>
          <a:solidFill>
            <a:srgbClr val="FFEDED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547104" y="2880359"/>
            <a:ext cx="45720" cy="242316"/>
          </a:xfrm>
          <a:prstGeom prst="rect">
            <a:avLst/>
          </a:prstGeom>
          <a:solidFill>
            <a:srgbClr val="B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611112" y="2907791"/>
            <a:ext cx="274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B80000"/>
                </a:solidFill>
              </a:rPr>
              <a:t>⚠️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94576" y="2907791"/>
            <a:ext cx="515721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0000"/>
                </a:solidFill>
              </a:rPr>
              <a:t>Downstream data distribution — NO SDV extract API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547104" y="3131819"/>
            <a:ext cx="5568696" cy="242316"/>
          </a:xfrm>
          <a:prstGeom prst="rect">
            <a:avLst/>
          </a:prstGeom>
          <a:solidFill>
            <a:srgbClr val="FFEDED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547104" y="3131819"/>
            <a:ext cx="45720" cy="242316"/>
          </a:xfrm>
          <a:prstGeom prst="rect">
            <a:avLst/>
          </a:prstGeom>
          <a:solidFill>
            <a:srgbClr val="B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611112" y="3159251"/>
            <a:ext cx="274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B80000"/>
                </a:solidFill>
              </a:rPr>
              <a:t>⚠️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94576" y="3159251"/>
            <a:ext cx="515721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0000"/>
                </a:solidFill>
              </a:rPr>
              <a:t>AddVantage compatibility layer — SEI cannot build this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547104" y="3383279"/>
            <a:ext cx="5568696" cy="242316"/>
          </a:xfrm>
          <a:prstGeom prst="rect">
            <a:avLst/>
          </a:prstGeom>
          <a:solidFill>
            <a:srgbClr val="FFEDED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547104" y="3383279"/>
            <a:ext cx="45720" cy="242316"/>
          </a:xfrm>
          <a:prstGeom prst="rect">
            <a:avLst/>
          </a:prstGeom>
          <a:solidFill>
            <a:srgbClr val="B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611112" y="3410711"/>
            <a:ext cx="274320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B80000"/>
                </a:solidFill>
              </a:rPr>
              <a:t>⚠️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94576" y="3410711"/>
            <a:ext cx="5157216" cy="196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80000"/>
                </a:solidFill>
              </a:rPr>
              <a:t>NYDFS 6-year audit trail &amp; DQ rules  (not in SDC)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50992" y="2880359"/>
            <a:ext cx="877824" cy="754379"/>
          </a:xfrm>
          <a:prstGeom prst="rect">
            <a:avLst/>
          </a:prstGeom>
          <a:solidFill>
            <a:srgbClr val="F4F6F8"/>
          </a:solidFill>
          <a:ln w="2540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3152" y="3689603"/>
            <a:ext cx="5559552" cy="2011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46304" y="3717035"/>
            <a:ext cx="54498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CC00"/>
                </a:solidFill>
              </a:rPr>
              <a:t>  OPERATIONAL &amp; MAINTENANCE OVERHEAD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547104" y="3689603"/>
            <a:ext cx="5568696" cy="201168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620256" y="3717035"/>
            <a:ext cx="54589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CC00"/>
                </a:solidFill>
              </a:rPr>
              <a:t>  OPERATIONAL &amp; MAINTENANCE OVERHEAD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650992" y="3689603"/>
            <a:ext cx="877824" cy="201168"/>
          </a:xfrm>
          <a:prstGeom prst="rect">
            <a:avLst/>
          </a:prstGeom>
          <a:solidFill>
            <a:srgbClr val="EC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3152" y="3909059"/>
            <a:ext cx="5559552" cy="239572"/>
          </a:xfrm>
          <a:prstGeom prst="rect">
            <a:avLst/>
          </a:prstGeom>
          <a:solidFill>
            <a:srgbClr val="E8F6ED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3152" y="3909059"/>
            <a:ext cx="45720" cy="239572"/>
          </a:xfrm>
          <a:prstGeom prst="rect">
            <a:avLst/>
          </a:prstGeom>
          <a:solidFill>
            <a:srgbClr val="17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4592" y="3936491"/>
            <a:ext cx="5413248" cy="193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A1A1A"/>
                </a:solidFill>
              </a:rPr>
              <a:t>✅  Full control — Andrew/Jorge own the pipeline end-to-end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3152" y="4157776"/>
            <a:ext cx="5559552" cy="239572"/>
          </a:xfrm>
          <a:prstGeom prst="rect">
            <a:avLst/>
          </a:prstGeom>
          <a:solidFill>
            <a:srgbClr val="E8F6ED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3152" y="4157776"/>
            <a:ext cx="45720" cy="239572"/>
          </a:xfrm>
          <a:prstGeom prst="rect">
            <a:avLst/>
          </a:prstGeom>
          <a:solidFill>
            <a:srgbClr val="17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64592" y="4185208"/>
            <a:ext cx="5413248" cy="193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A1A1A"/>
                </a:solidFill>
              </a:rPr>
              <a:t>✅  Splunk dashboards — real-time pipeline health &amp; alerts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3152" y="4406493"/>
            <a:ext cx="5559552" cy="239572"/>
          </a:xfrm>
          <a:prstGeom prst="rect">
            <a:avLst/>
          </a:prstGeom>
          <a:solidFill>
            <a:srgbClr val="E8F6ED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3152" y="4406493"/>
            <a:ext cx="45720" cy="239572"/>
          </a:xfrm>
          <a:prstGeom prst="rect">
            <a:avLst/>
          </a:prstGeom>
          <a:solidFill>
            <a:srgbClr val="17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64592" y="4433925"/>
            <a:ext cx="5413248" cy="193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A1A1A"/>
                </a:solidFill>
              </a:rPr>
              <a:t>✅  dbt test suite — data quality gates at every layer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3152" y="4655210"/>
            <a:ext cx="5559552" cy="239572"/>
          </a:xfrm>
          <a:prstGeom prst="rect">
            <a:avLst/>
          </a:prstGeom>
          <a:solidFill>
            <a:srgbClr val="FFF7DC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3152" y="4655210"/>
            <a:ext cx="45720" cy="239572"/>
          </a:xfrm>
          <a:prstGeom prst="rect">
            <a:avLst/>
          </a:prstGeom>
          <a:solidFill>
            <a:srgbClr val="B5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64592" y="4682642"/>
            <a:ext cx="5413248" cy="193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58600"/>
                </a:solidFill>
              </a:rPr>
              <a:t>⚠️  Key-person risk — runbooks + cross-training required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3152" y="4903927"/>
            <a:ext cx="5559552" cy="239572"/>
          </a:xfrm>
          <a:prstGeom prst="rect">
            <a:avLst/>
          </a:prstGeom>
          <a:solidFill>
            <a:srgbClr val="FFF7DC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3152" y="4903927"/>
            <a:ext cx="45720" cy="239572"/>
          </a:xfrm>
          <a:prstGeom prst="rect">
            <a:avLst/>
          </a:prstGeom>
          <a:solidFill>
            <a:srgbClr val="B5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64592" y="4931359"/>
            <a:ext cx="5413248" cy="193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58600"/>
                </a:solidFill>
              </a:rPr>
              <a:t>⚠️  SEI API changes may need DAG updates  (90-day notice clause)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547104" y="3909059"/>
            <a:ext cx="5568696" cy="239572"/>
          </a:xfrm>
          <a:prstGeom prst="rect">
            <a:avLst/>
          </a:prstGeom>
          <a:solidFill>
            <a:srgbClr val="ECF6F9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547104" y="3909059"/>
            <a:ext cx="45720" cy="239572"/>
          </a:xfrm>
          <a:prstGeom prst="rect">
            <a:avLst/>
          </a:prstGeom>
          <a:solidFill>
            <a:srgbClr val="17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638544" y="3936491"/>
            <a:ext cx="5422392" cy="193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A1A1A"/>
                </a:solidFill>
              </a:rPr>
              <a:t>✅  SEI manages Azure infra — no BBH infra overhead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547104" y="4157776"/>
            <a:ext cx="5568696" cy="239572"/>
          </a:xfrm>
          <a:prstGeom prst="rect">
            <a:avLst/>
          </a:prstGeom>
          <a:solidFill>
            <a:srgbClr val="ECF6F9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547104" y="4157776"/>
            <a:ext cx="45720" cy="239572"/>
          </a:xfrm>
          <a:prstGeom prst="rect">
            <a:avLst/>
          </a:prstGeom>
          <a:solidFill>
            <a:srgbClr val="175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638544" y="4185208"/>
            <a:ext cx="5422392" cy="193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A1A1A"/>
                </a:solidFill>
              </a:rPr>
              <a:t>✅  SWP schema changes absorbed by Domain Views layer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547104" y="4406493"/>
            <a:ext cx="5568696" cy="239572"/>
          </a:xfrm>
          <a:prstGeom prst="rect">
            <a:avLst/>
          </a:prstGeom>
          <a:solidFill>
            <a:srgbClr val="FFF7DC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547104" y="4406493"/>
            <a:ext cx="45720" cy="239572"/>
          </a:xfrm>
          <a:prstGeom prst="rect">
            <a:avLst/>
          </a:prstGeom>
          <a:solidFill>
            <a:srgbClr val="B5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638544" y="4433925"/>
            <a:ext cx="5422392" cy="193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58600"/>
                </a:solidFill>
              </a:rPr>
              <a:t>⚠️  BBH has zero visibility into pipeline failures on SEI side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547104" y="4655210"/>
            <a:ext cx="5568696" cy="239572"/>
          </a:xfrm>
          <a:prstGeom prst="rect">
            <a:avLst/>
          </a:prstGeom>
          <a:solidFill>
            <a:srgbClr val="FFF7DC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547104" y="4655210"/>
            <a:ext cx="45720" cy="239572"/>
          </a:xfrm>
          <a:prstGeom prst="rect">
            <a:avLst/>
          </a:prstGeom>
          <a:solidFill>
            <a:srgbClr val="B5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638544" y="4682642"/>
            <a:ext cx="5422392" cy="193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58600"/>
                </a:solidFill>
              </a:rPr>
              <a:t>⚠️  Snowflake compute spikes — no alerting, no cap control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547104" y="4903927"/>
            <a:ext cx="5568696" cy="239572"/>
          </a:xfrm>
          <a:prstGeom prst="rect">
            <a:avLst/>
          </a:prstGeom>
          <a:solidFill>
            <a:srgbClr val="FFEDED"/>
          </a:solidFill>
          <a:ln w="2286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547104" y="4903927"/>
            <a:ext cx="45720" cy="239572"/>
          </a:xfrm>
          <a:prstGeom prst="rect">
            <a:avLst/>
          </a:prstGeom>
          <a:solidFill>
            <a:srgbClr val="B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638544" y="4931359"/>
            <a:ext cx="5422392" cy="193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B80000"/>
                </a:solidFill>
              </a:rPr>
              <a:t>❌  Custom reports &amp; NYDFS modules need SEI PS engagement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650992" y="3909059"/>
            <a:ext cx="877824" cy="1243584"/>
          </a:xfrm>
          <a:prstGeom prst="rect">
            <a:avLst/>
          </a:prstGeom>
          <a:solidFill>
            <a:srgbClr val="F4F6F8"/>
          </a:solidFill>
          <a:ln w="2540">
            <a:solidFill>
              <a:srgbClr val="D0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3152" y="5207508"/>
            <a:ext cx="5559552" cy="274320"/>
          </a:xfrm>
          <a:prstGeom prst="rect">
            <a:avLst/>
          </a:prstGeom>
          <a:solidFill>
            <a:srgbClr val="1F5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64592" y="5244084"/>
            <a:ext cx="5413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IN-HOUSE BENEFIT:  BBH owns every component · Full observability · NYDFS data never leaves perimeter · dbt portable to Snowflake/Databricks anytime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650992" y="5207508"/>
            <a:ext cx="877824" cy="2743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650992" y="5262372"/>
            <a:ext cx="877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CC00"/>
                </a:solidFill>
              </a:rPr>
              <a:t>VS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547104" y="5207508"/>
            <a:ext cx="5568696" cy="274320"/>
          </a:xfrm>
          <a:prstGeom prst="rect">
            <a:avLst/>
          </a:prstGeom>
          <a:solidFill>
            <a:srgbClr val="2E8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638544" y="5244084"/>
            <a:ext cx="5422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SDC BENEFIT:  Fastest go-live · Real-time events included · SEI manages SWP schema · No infra provisioning overhead for BBH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0" y="5500116"/>
            <a:ext cx="12188952" cy="164592"/>
          </a:xfrm>
          <a:prstGeom prst="rect">
            <a:avLst/>
          </a:prstGeom>
          <a:solidFill>
            <a:srgbClr val="EC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37160" y="5518404"/>
            <a:ext cx="8229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555555"/>
                </a:solidFill>
              </a:rPr>
              <a:t>BBH Capital Partners Technology  |  SWP Migration Program  |  Confidential  |  May 2026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943600" y="5518404"/>
            <a:ext cx="61264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1" i="0">
                <a:solidFill>
                  <a:srgbClr val="B80000"/>
                </a:solidFill>
              </a:rPr>
              <a:t>⚠️  Critical: SDV has NO data extract API — BBH must build downstream distribution in BOTH approaches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