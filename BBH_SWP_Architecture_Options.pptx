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4389120" cy="685800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548640"/>
            <a:ext cx="3474720" cy="5760720"/>
          </a:xfrm>
          <a:prstGeom prst="rect">
            <a:avLst>
              <a:gd name="adj" fmla="val 2632"/>
            </a:avLst>
          </a:prstGeom>
          <a:solidFill>
            <a:srgbClr val="0D1E35"/>
          </a:solidFill>
          <a:ln w="12700">
            <a:solidFill>
              <a:srgbClr val="0D1E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1097280"/>
            <a:ext cx="73152" cy="73152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1097280"/>
            <a:ext cx="73152" cy="73152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1097280"/>
            <a:ext cx="73152" cy="73152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98480" y="1097280"/>
            <a:ext cx="73152" cy="73152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0" y="2011680"/>
            <a:ext cx="73152" cy="73152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18320" y="2011680"/>
            <a:ext cx="73152" cy="73152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0" y="2011680"/>
            <a:ext cx="73152" cy="73152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98480" y="2011680"/>
            <a:ext cx="73152" cy="73152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0" y="2926080"/>
            <a:ext cx="73152" cy="73152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18320" y="2926080"/>
            <a:ext cx="73152" cy="73152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0" y="2926080"/>
            <a:ext cx="73152" cy="73152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98480" y="2926080"/>
            <a:ext cx="73152" cy="73152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0" y="3840480"/>
            <a:ext cx="73152" cy="73152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18320" y="3840480"/>
            <a:ext cx="73152" cy="73152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0" y="3840480"/>
            <a:ext cx="73152" cy="73152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98480" y="3840480"/>
            <a:ext cx="73152" cy="73152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0" y="4754880"/>
            <a:ext cx="73152" cy="73152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18320" y="4754880"/>
            <a:ext cx="73152" cy="73152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0" y="4754880"/>
            <a:ext cx="73152" cy="73152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698480" y="4754880"/>
            <a:ext cx="73152" cy="73152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0" y="237744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29C5F6">
                    <a:alpha val="80000"/>
                  </a:srgbClr>
                </a:solidFill>
              </a:rPr>
              <a:t>❄</a:t>
            </a:r>
            <a:endParaRPr lang="en-US" sz="7200" dirty="0"/>
          </a:p>
        </p:txBody>
      </p:sp>
      <p:sp>
        <p:nvSpPr>
          <p:cNvPr id="26" name="Text 24"/>
          <p:cNvSpPr/>
          <p:nvPr/>
        </p:nvSpPr>
        <p:spPr>
          <a:xfrm>
            <a:off x="457200" y="128016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SWP Migration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457200" y="210312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Options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457200" y="30175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Integration Orchestration Platform  ·  Snowflake Data Warehouse  ·  BBH Consumer Layer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566160"/>
            <a:ext cx="27432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931920"/>
            <a:ext cx="10972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3913632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1: Full SEI SDC Stack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4526280"/>
            <a:ext cx="109728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4507992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2: BBH Airflow + dbt On-Prem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Partners Technology  ·  Confidential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601200" y="6492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 — Two Architecture Options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1143000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41248"/>
            <a:ext cx="114300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869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Goal: </a:t>
            </a:r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SEI SWP data → Transform in Snowflake → Expose as BBH Data Warehouse schema → ~1,000 downstream consumers see zero change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5669280" cy="640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5087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810512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SEI SDC Platform Stack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66928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15087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1810512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Airflow + dbt On-Prem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212848"/>
            <a:ext cx="1143000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6771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84832" y="2267712"/>
            <a:ext cx="36576" cy="40233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2267712"/>
            <a:ext cx="3858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SDC manages all scheduling internally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99632" y="2267712"/>
            <a:ext cx="36576" cy="40233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267712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Airflow 3.x on OpenShift (existing)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779776"/>
            <a:ext cx="11430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3464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84832" y="2834640"/>
            <a:ext cx="36576" cy="40233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94560" y="2834640"/>
            <a:ext cx="3858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dbt + Snowflake VWH (SEI-managed)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99632" y="2834640"/>
            <a:ext cx="36576" cy="40233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2834640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dbt-snowflake pods via KubernetesPodOperator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346704"/>
            <a:ext cx="1143000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40156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Transport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084832" y="3401568"/>
            <a:ext cx="36576" cy="40233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94560" y="3401568"/>
            <a:ext cx="3858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Secure Data Sharing (zero-copy)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99632" y="3401568"/>
            <a:ext cx="36576" cy="40233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3401568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 → Snowflake COPY INTO (existing pattern)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913632"/>
            <a:ext cx="11430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968496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Infra Change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084832" y="3968496"/>
            <a:ext cx="36576" cy="40233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94560" y="3968496"/>
            <a:ext cx="3858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— only Reader Account + view layer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99632" y="3968496"/>
            <a:ext cx="36576" cy="40233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3968496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adapter swap dbt-oracle → dbt-snowflake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480560"/>
            <a:ext cx="1143000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535424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DW Views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084832" y="4535424"/>
            <a:ext cx="36576" cy="40233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94560" y="4535424"/>
            <a:ext cx="3858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views mirror BBH schema (Snowflake)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99632" y="4535424"/>
            <a:ext cx="36576" cy="40233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4535424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views mirror BBH schema (Snowflake)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5047488"/>
            <a:ext cx="11430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510235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084832" y="5102352"/>
            <a:ext cx="36576" cy="40233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94560" y="5102352"/>
            <a:ext cx="3858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in SEI Azure tenant (zero-copy)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99632" y="5102352"/>
            <a:ext cx="36576" cy="40233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0" y="5102352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 crosses BBH perimeter → Snowflake Azure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5614416"/>
            <a:ext cx="1143000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566928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084832" y="5669280"/>
            <a:ext cx="36576" cy="40233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94560" y="5669280"/>
            <a:ext cx="3858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for BBH team; dependency on SEI SLA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199632" y="5669280"/>
            <a:ext cx="36576" cy="40233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09360" y="5669280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owns full pipeline; more control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65760" y="658368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Partners Technology  ·  Confidential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1795760" y="65836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11960352" cy="73152"/>
          </a:xfrm>
          <a:prstGeom prst="rect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SEI SDC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Stack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Data Cloud manages orchestration, transformation, and Snowflake infrastructure.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receives data via Secure Data Sharing. Custom Snowflake views mirror BBH Data Warehouse schema.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4846320"/>
            <a:ext cx="2286000" cy="914400"/>
          </a:xfrm>
          <a:prstGeom prst="rect">
            <a:avLst/>
          </a:prstGeom>
          <a:solidFill>
            <a:srgbClr val="1A3A52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91947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Zero-Copy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34009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Sharing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08960" y="4846320"/>
            <a:ext cx="2286000" cy="914400"/>
          </a:xfrm>
          <a:prstGeom prst="rect">
            <a:avLst/>
          </a:prstGeom>
          <a:solidFill>
            <a:srgbClr val="1A3A52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491947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08960" y="534009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Infra Change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60720" y="4846320"/>
            <a:ext cx="2286000" cy="914400"/>
          </a:xfrm>
          <a:prstGeom prst="rect">
            <a:avLst/>
          </a:prstGeom>
          <a:solidFill>
            <a:srgbClr val="1A3A52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491947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SEI-Managed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60720" y="534009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658368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Partners Technology  ·  Confidential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795760" y="65836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 — Architecture Diagram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SEI SDC Stack  ·  Snowflake Secure Data Sharing  ·  BBH DW View Layer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114300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3474720" cy="5120640"/>
          </a:xfrm>
          <a:prstGeom prst="rect">
            <a:avLst/>
          </a:prstGeom>
          <a:solidFill>
            <a:srgbClr val="E0F2FE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42416"/>
            <a:ext cx="3328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SDC PLATFORM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320040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371600"/>
            <a:ext cx="91440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42646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SWP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167335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· Positions · Transactions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011680" y="1965960"/>
            <a:ext cx="0" cy="91440"/>
          </a:xfrm>
          <a:prstGeom prst="line">
            <a:avLst/>
          </a:prstGeom>
          <a:noFill/>
          <a:ln w="1524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47672" y="2029968"/>
            <a:ext cx="118872" cy="1188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057400"/>
            <a:ext cx="320040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057400"/>
            <a:ext cx="91440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11226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Snowpipe + CDC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235915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ingest · Change capture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011680" y="2651760"/>
            <a:ext cx="0" cy="91440"/>
          </a:xfrm>
          <a:prstGeom prst="line">
            <a:avLst/>
          </a:prstGeom>
          <a:noFill/>
          <a:ln w="15240">
            <a:solidFill>
              <a:srgbClr val="0EA5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47672" y="2715768"/>
            <a:ext cx="118872" cy="1188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743200"/>
            <a:ext cx="320040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2743200"/>
            <a:ext cx="91440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79806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dbt Models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" y="304495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transforms · Analytics prep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011680" y="3337560"/>
            <a:ext cx="0" cy="91440"/>
          </a:xfrm>
          <a:prstGeom prst="line">
            <a:avLst/>
          </a:prstGeom>
          <a:noFill/>
          <a:ln w="15240">
            <a:solidFill>
              <a:srgbClr val="0EA5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47672" y="3401568"/>
            <a:ext cx="118872" cy="1188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429000"/>
            <a:ext cx="320040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3429000"/>
            <a:ext cx="91440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48386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Warehouse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" y="373075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VWH · NLP · ML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011680" y="4023360"/>
            <a:ext cx="0" cy="91440"/>
          </a:xfrm>
          <a:prstGeom prst="line">
            <a:avLst/>
          </a:prstGeom>
          <a:noFill/>
          <a:ln w="15240">
            <a:solidFill>
              <a:srgbClr val="0EA5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47672" y="4087368"/>
            <a:ext cx="118872" cy="1188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4114800"/>
            <a:ext cx="320040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11480" y="4114800"/>
            <a:ext cx="91440" cy="5943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416966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Data Share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" y="4416552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Zero-copy · Reader Account → BBH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749040" y="4407408"/>
            <a:ext cx="77724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41648" y="4224528"/>
            <a:ext cx="118872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41648" y="42245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Share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931920" y="1005840"/>
            <a:ext cx="4114800" cy="5120640"/>
          </a:xfrm>
          <a:prstGeom prst="rect">
            <a:avLst/>
          </a:prstGeom>
          <a:solidFill>
            <a:srgbClr val="E0FFFE"/>
          </a:solidFill>
          <a:ln w="19050">
            <a:solidFill>
              <a:srgbClr val="29C5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05072" y="1042416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 ·  BBH VIRTUAL WAREHOUSE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069080" y="1371600"/>
            <a:ext cx="384048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29C5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069080" y="1371600"/>
            <a:ext cx="91440" cy="594360"/>
          </a:xfrm>
          <a:prstGeom prst="rect">
            <a:avLst/>
          </a:prstGeom>
          <a:solidFill>
            <a:srgbClr val="29C5F6"/>
          </a:solidFill>
          <a:ln w="12700">
            <a:solidFill>
              <a:srgbClr val="29C5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24528" y="14264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Reader Account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224528" y="167335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SEI Secure Share · Zero-copy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989320" y="1965960"/>
            <a:ext cx="0" cy="91440"/>
          </a:xfrm>
          <a:prstGeom prst="line">
            <a:avLst/>
          </a:prstGeom>
          <a:noFill/>
          <a:ln w="15240">
            <a:solidFill>
              <a:srgbClr val="29C5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25312" y="2029968"/>
            <a:ext cx="118872" cy="118872"/>
          </a:xfrm>
          <a:prstGeom prst="ellipse">
            <a:avLst/>
          </a:prstGeom>
          <a:solidFill>
            <a:srgbClr val="29C5F6"/>
          </a:solidFill>
          <a:ln w="12700">
            <a:solidFill>
              <a:srgbClr val="29C5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069080" y="2057400"/>
            <a:ext cx="384048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CD7F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069080" y="2057400"/>
            <a:ext cx="91440" cy="594360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24528" y="21122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 ·  RAW Schema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224528" y="235915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tables as-is · full audit trail · immutable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989320" y="2651760"/>
            <a:ext cx="0" cy="91440"/>
          </a:xfrm>
          <a:prstGeom prst="line">
            <a:avLst/>
          </a:prstGeom>
          <a:noFill/>
          <a:ln w="15240">
            <a:solidFill>
              <a:srgbClr val="29C5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25312" y="2715768"/>
            <a:ext cx="118872" cy="118872"/>
          </a:xfrm>
          <a:prstGeom prst="ellipse">
            <a:avLst/>
          </a:prstGeom>
          <a:solidFill>
            <a:srgbClr val="29C5F6"/>
          </a:solidFill>
          <a:ln w="12700">
            <a:solidFill>
              <a:srgbClr val="29C5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069080" y="2743200"/>
            <a:ext cx="384048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9CA3A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069080" y="2743200"/>
            <a:ext cx="91440" cy="59436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24528" y="27980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 ·  CANONICAL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224528" y="304495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→ BBH field mapping · DQ tests · NYDFS checks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989320" y="3337560"/>
            <a:ext cx="0" cy="91440"/>
          </a:xfrm>
          <a:prstGeom prst="line">
            <a:avLst/>
          </a:prstGeom>
          <a:noFill/>
          <a:ln w="15240">
            <a:solidFill>
              <a:srgbClr val="29C5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925312" y="3401568"/>
            <a:ext cx="118872" cy="118872"/>
          </a:xfrm>
          <a:prstGeom prst="ellipse">
            <a:avLst/>
          </a:prstGeom>
          <a:solidFill>
            <a:srgbClr val="29C5F6"/>
          </a:solidFill>
          <a:ln w="12700">
            <a:solidFill>
              <a:srgbClr val="29C5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069080" y="3429000"/>
            <a:ext cx="384048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EAB30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069080" y="3429000"/>
            <a:ext cx="91440" cy="59436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24528" y="34838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 ·  BBH DW Views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224528" y="373075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views = BBH DW schema · same table/col names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989320" y="4023360"/>
            <a:ext cx="0" cy="91440"/>
          </a:xfrm>
          <a:prstGeom prst="line">
            <a:avLst/>
          </a:prstGeom>
          <a:noFill/>
          <a:ln w="15240">
            <a:solidFill>
              <a:srgbClr val="29C5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925312" y="4087368"/>
            <a:ext cx="118872" cy="118872"/>
          </a:xfrm>
          <a:prstGeom prst="ellipse">
            <a:avLst/>
          </a:prstGeom>
          <a:solidFill>
            <a:srgbClr val="29C5F6"/>
          </a:solidFill>
          <a:ln w="12700">
            <a:solidFill>
              <a:srgbClr val="29C5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069080" y="4114800"/>
            <a:ext cx="384048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29C5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069080" y="4114800"/>
            <a:ext cx="91440" cy="594360"/>
          </a:xfrm>
          <a:prstGeom prst="rect">
            <a:avLst/>
          </a:prstGeom>
          <a:solidFill>
            <a:srgbClr val="29C5F6"/>
          </a:solidFill>
          <a:ln w="12700">
            <a:solidFill>
              <a:srgbClr val="29C5F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224528" y="41696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VWH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224528" y="441655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Auto-suspend · per-workload sizing · cost isolation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8046720" y="3493008"/>
            <a:ext cx="502920" cy="0"/>
          </a:xfrm>
          <a:prstGeom prst="line">
            <a:avLst/>
          </a:prstGeom>
          <a:noFill/>
          <a:ln w="31750">
            <a:solidFill>
              <a:srgbClr val="22C55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138160" y="3310128"/>
            <a:ext cx="1097280" cy="32004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138160" y="331012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JDBC/ODBC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8275320" y="1005840"/>
            <a:ext cx="3840480" cy="5120640"/>
          </a:xfrm>
          <a:prstGeom prst="rect">
            <a:avLst/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339328" y="1042416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DATA WAREHOUSE  ·  CONSUMERS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8412480" y="1371600"/>
            <a:ext cx="3566160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8412480" y="1371600"/>
            <a:ext cx="91440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567928" y="142646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Data Warehouse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8567928" y="1700784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Snowflake Gold views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BBH schema drop-in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8412480" y="2514600"/>
            <a:ext cx="15727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8412480" y="2514600"/>
            <a:ext cx="73152" cy="9601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540496" y="2542032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 Client Portal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8412480" y="3657600"/>
            <a:ext cx="15727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8412480" y="3657600"/>
            <a:ext cx="73152" cy="9601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540496" y="3685032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Funds Web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8412480" y="4800600"/>
            <a:ext cx="15727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8412480" y="4800600"/>
            <a:ext cx="73152" cy="9601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540496" y="4828032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Dashboard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10113264" y="2514600"/>
            <a:ext cx="15727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10113264" y="2514600"/>
            <a:ext cx="73152" cy="9601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241280" y="2542032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 ·  CRD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10113264" y="3657600"/>
            <a:ext cx="15727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10113264" y="3657600"/>
            <a:ext cx="73152" cy="9601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0241280" y="3685032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10113264" y="4800600"/>
            <a:ext cx="157276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10113264" y="4800600"/>
            <a:ext cx="73152" cy="9601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0241280" y="4828032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Party Apps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8412480" y="5806440"/>
            <a:ext cx="3566160" cy="22860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412480" y="58064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~1,000 consumers  ·  Zero query changes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365760" y="658368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Partners Technology  ·  Confidential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11795760" y="65836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 — Data Flow Steps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SEI SDC Stack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114300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005840"/>
            <a:ext cx="57150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005840"/>
            <a:ext cx="502920" cy="12984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37160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41832" y="1097280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SWP Data Generation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41832" y="1444752"/>
            <a:ext cx="49834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SWP generates account, position, transaction, and holdings data continuously. Change Data Capture (CDC) events trigger immediate downstream processing via Snowpipe.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2423160"/>
            <a:ext cx="57150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2423160"/>
            <a:ext cx="502920" cy="12984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7889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41832" y="2514600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Snowpipe + SEI Internal dbt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" y="2862072"/>
            <a:ext cx="49834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SEI's Snowpipe ingests raw events into their Raw Data Storage (Azure). SEI's own dbt models cleanse and conform the data in their Analytics Warehouse. BBH has no involvement here.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7472" y="3840480"/>
            <a:ext cx="57150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3840480"/>
            <a:ext cx="502920" cy="129844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42062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41832" y="3931920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Secure Data Sharing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1832" y="4279392"/>
            <a:ext cx="49834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exposes curated datasets to BBH via Snowflake Secure Data Sharing (Reader Account). Zero-copy — no data physically moves into BBH's perimeter. BBH queries SEI's Snowflake storage directly.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" y="5257800"/>
            <a:ext cx="57150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5257800"/>
            <a:ext cx="502920" cy="1298448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562356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41832" y="5349240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— RAW Schema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41832" y="5696712"/>
            <a:ext cx="49834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Reader Account receives SEI shared tables into the Bronze RAW schema. Tables land as-is — no transformation. Full immutable audit trail preserved for NYDFS compliance.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82512" y="1005840"/>
            <a:ext cx="57150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82512" y="1005840"/>
            <a:ext cx="502920" cy="1298448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2512" y="137160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76872" y="1097280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— CANONICAL Schema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76872" y="1444752"/>
            <a:ext cx="49834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Silver models apply SEI → BBH field mapping. ABOR, FRONT, CPOW schema conformance. DQ tests enforce null checks, referential integrity, and Hema's NYDFS compliance rules.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82512" y="2423160"/>
            <a:ext cx="57150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82512" y="2423160"/>
            <a:ext cx="502920" cy="129844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82512" y="27889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976872" y="2514600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— BBH DW View Layer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76872" y="2862072"/>
            <a:ext cx="49834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layer creates Snowflake VIEWS mirroring BBH's existing data warehouse schema exactly — same table names, same column names, same grain. ABOR_POSITIONS_V, FRONT_HOLDINGS_V, CPOW_V.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382512" y="3840480"/>
            <a:ext cx="57150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82512" y="3840480"/>
            <a:ext cx="502920" cy="12984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82512" y="42062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976872" y="3931920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Data Warehouse Consumer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76872" y="4279392"/>
            <a:ext cx="49834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Data Warehouse connects to Snowflake Gold views via JDBC/ODBC. ~1,000 downstream consumers (PB Portal, Advantage, CRM) query as normal. Zero query changes required.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" y="658368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Partners Technology  ·  Confidential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795760" y="65836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 — Advantages &amp; Risks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SEI SDC Stack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114300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87552"/>
            <a:ext cx="5669280" cy="4572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Advantages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" y="1444752"/>
            <a:ext cx="5669280" cy="65836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36192"/>
            <a:ext cx="256032" cy="256032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17904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149047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Zero-copy data sharing — no data physically crosses BBH perimeter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2139696"/>
            <a:ext cx="5669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31136"/>
            <a:ext cx="256032" cy="256032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12848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" y="218541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BBH infrastructure change — only Reader Account + Gold view layer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2834640"/>
            <a:ext cx="5669280" cy="65836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26080"/>
            <a:ext cx="256032" cy="256032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07792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28803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manages all orchestration, pipelines, SLAs, and infra scaling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3529584"/>
            <a:ext cx="5669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621024"/>
            <a:ext cx="256032" cy="256032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02736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" y="3575304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dbt-snowflake is the most mature adapter — superior to dbt-oracle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4224528"/>
            <a:ext cx="5669280" cy="65836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315968"/>
            <a:ext cx="256032" cy="256032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297680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4672" y="427024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TIME_TRAVEL replaces manual Oracle backup strategies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7472" y="4919472"/>
            <a:ext cx="5669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010912"/>
            <a:ext cx="256032" cy="256032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992624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4672" y="496519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views mirror BBH DW schema — ~1,000 consumers need zero changes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7472" y="5614416"/>
            <a:ext cx="5669280" cy="65836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5705856"/>
            <a:ext cx="256032" cy="256032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5687568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4672" y="566013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Snowflake warehouses eliminate Oracle capacity planning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99632" y="987552"/>
            <a:ext cx="5623560" cy="4572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1005840"/>
            <a:ext cx="5440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Risks &amp; Considerations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199632" y="1444752"/>
            <a:ext cx="5623560" cy="786384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9360" y="1554480"/>
            <a:ext cx="256032" cy="25603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1536192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656832" y="1490472"/>
            <a:ext cx="5029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 depends on legal/Hema clearing Snowflake Secure Share scope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99632" y="2267712"/>
            <a:ext cx="56235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09360" y="2377440"/>
            <a:ext cx="256032" cy="25603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0" y="2359152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656832" y="2313432"/>
            <a:ext cx="5029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pipeline availability tied to SEI SLA and SDC uptime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99632" y="3090672"/>
            <a:ext cx="5623560" cy="786384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09360" y="3200400"/>
            <a:ext cx="256032" cy="25603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0" y="3182112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656832" y="3136392"/>
            <a:ext cx="5029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BBH control over transformation rules applied by SEI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99632" y="3913632"/>
            <a:ext cx="56235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09360" y="4023360"/>
            <a:ext cx="256032" cy="25603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9360" y="4005072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656832" y="3959352"/>
            <a:ext cx="5029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schema changes in Reader Account can break BBH Gold views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199632" y="4736592"/>
            <a:ext cx="5623560" cy="786384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09360" y="4846320"/>
            <a:ext cx="256032" cy="25603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4828032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656832" y="4782312"/>
            <a:ext cx="5029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view maintenance becomes BBH's responsibility on SEI's data structure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199632" y="5559552"/>
            <a:ext cx="56235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309360" y="5669280"/>
            <a:ext cx="256032" cy="25603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09360" y="5650992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656832" y="5605272"/>
            <a:ext cx="5029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Contractual clarity needed on Reader Account data usage rights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65760" y="658368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Partners Technology  ·  Confidential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11795760" y="65836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11960352" cy="73152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Airflow + dbt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 ·  SEI as Source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OpenShift runs Airflow 3.x and dbt-snowflake. SEI SWP delivers data via SFTP.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acts as the transformation Virtual Warehouse. Custom views mirror BBH Data Warehouse.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4846320"/>
            <a:ext cx="2286000" cy="914400"/>
          </a:xfrm>
          <a:prstGeom prst="rect">
            <a:avLst/>
          </a:prstGeom>
          <a:solidFill>
            <a:srgbClr val="3A121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91947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BBH-Owned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34009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08960" y="4846320"/>
            <a:ext cx="2286000" cy="914400"/>
          </a:xfrm>
          <a:prstGeom prst="rect">
            <a:avLst/>
          </a:prstGeom>
          <a:solidFill>
            <a:srgbClr val="3A121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491947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08960" y="534009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Transport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60720" y="4846320"/>
            <a:ext cx="2286000" cy="914400"/>
          </a:xfrm>
          <a:prstGeom prst="rect">
            <a:avLst/>
          </a:prstGeom>
          <a:solidFill>
            <a:srgbClr val="3A121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491947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60720" y="534009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/ Nexus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658368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Partners Technology  ·  Confidential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795760" y="65836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 — Architecture Diagram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Airflow + dbt On-Prem  ·  SEI SWP via SFTP  ·  Snowflake VWH  ·  BBH DW View Layer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114300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560320" cy="5120640"/>
          </a:xfrm>
          <a:prstGeom prst="rect">
            <a:avLst/>
          </a:prstGeom>
          <a:solidFill>
            <a:srgbClr val="E0F2FE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42416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SWP  ·  SOURCE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2286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371600"/>
            <a:ext cx="91440" cy="822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4447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SWP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171907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· Portfolios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· Transactions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2331720"/>
            <a:ext cx="2286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331720"/>
            <a:ext cx="91440" cy="822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048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 Server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267919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BBH-managed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delimited files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3291840"/>
            <a:ext cx="2286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291840"/>
            <a:ext cx="91440" cy="822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3649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Data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363931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Party sources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Mgmt · CRM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1480" y="4251960"/>
            <a:ext cx="2286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4251960"/>
            <a:ext cx="91440" cy="822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3251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APIs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" y="459943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feeds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834640" y="3090672"/>
            <a:ext cx="457200" cy="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0" y="2907792"/>
            <a:ext cx="914400" cy="29260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29077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017520" y="1005840"/>
            <a:ext cx="3291840" cy="5120640"/>
          </a:xfrm>
          <a:prstGeom prst="rect">
            <a:avLst/>
          </a:prstGeom>
          <a:solidFill>
            <a:srgbClr val="FFF1F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90672" y="1042416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OPENSHIFT  ·  ON-PREM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154680" y="1371600"/>
            <a:ext cx="301752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54680" y="1371600"/>
            <a:ext cx="9144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0128" y="14630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3.x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10128" y="1773936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KubernetesExecutor · OpenShift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 sensor · schedule &amp; monitor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154680" y="2468880"/>
            <a:ext cx="301752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54680" y="2468880"/>
            <a:ext cx="91440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0128" y="256032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dbt-snowflake Pods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10128" y="2871216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KubernetesPodOperator · Nexus image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push to Snowflake VWH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154680" y="3566160"/>
            <a:ext cx="301752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154680" y="3566160"/>
            <a:ext cx="9144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10128" y="36576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CI/CD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310128" y="3968496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pipelines unchanged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model deploys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154680" y="4434840"/>
            <a:ext cx="301752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154680" y="4434840"/>
            <a:ext cx="9144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10128" y="45262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+ Splunk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310128" y="4837176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 registry · dbt-snowflake pkg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unchanged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309360" y="2926080"/>
            <a:ext cx="457200" cy="0"/>
          </a:xfrm>
          <a:prstGeom prst="line">
            <a:avLst/>
          </a:prstGeom>
          <a:noFill/>
          <a:ln w="27940">
            <a:solidFill>
              <a:srgbClr val="29C5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99632" y="2724912"/>
            <a:ext cx="1115568" cy="347472"/>
          </a:xfrm>
          <a:prstGeom prst="rect">
            <a:avLst/>
          </a:prstGeom>
          <a:solidFill>
            <a:srgbClr val="CFFAFE"/>
          </a:solidFill>
          <a:ln w="12700">
            <a:solidFill>
              <a:srgbClr val="29C5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99632" y="2724912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:443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push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309360" y="1005840"/>
            <a:ext cx="0" cy="512064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6053328" y="3218688"/>
            <a:ext cx="54864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53328" y="32004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6492240" y="1005840"/>
            <a:ext cx="2926080" cy="5120640"/>
          </a:xfrm>
          <a:prstGeom prst="rect">
            <a:avLst/>
          </a:prstGeom>
          <a:solidFill>
            <a:srgbClr val="E0FFFE"/>
          </a:solidFill>
          <a:ln w="19050">
            <a:solidFill>
              <a:srgbClr val="29C5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65392" y="1042416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 ·  VIRTUAL WAREHOUSE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6629400" y="1371600"/>
            <a:ext cx="265176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CD7F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629400" y="1371600"/>
            <a:ext cx="91440" cy="914400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84848" y="14630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 ·  RAW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784848" y="179222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SFTP files → COPY INTO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· audit trail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629400" y="2468880"/>
            <a:ext cx="265176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9CA3A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629400" y="2468880"/>
            <a:ext cx="91440" cy="91440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84848" y="256032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 ·  CANONICAL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784848" y="288950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→ BBH field mapping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tests · NYDFS rules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629400" y="3566160"/>
            <a:ext cx="265176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EAB30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629400" y="3566160"/>
            <a:ext cx="91440" cy="9144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84848" y="36576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 ·  BBH Views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6784848" y="398678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views = BBH DW schema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table/col names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629400" y="4434840"/>
            <a:ext cx="265176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29C5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6629400" y="4434840"/>
            <a:ext cx="91440" cy="914400"/>
          </a:xfrm>
          <a:prstGeom prst="rect">
            <a:avLst/>
          </a:prstGeom>
          <a:solidFill>
            <a:srgbClr val="29C5F6"/>
          </a:solidFill>
          <a:ln w="12700">
            <a:solidFill>
              <a:srgbClr val="29C5F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84848" y="45262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Warehouses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6784848" y="485546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Auto-suspend · per-workload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isolation per team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9418320" y="3108960"/>
            <a:ext cx="457200" cy="0"/>
          </a:xfrm>
          <a:prstGeom prst="line">
            <a:avLst/>
          </a:prstGeom>
          <a:noFill/>
          <a:ln w="27940">
            <a:solidFill>
              <a:srgbClr val="22C55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281160" y="2926080"/>
            <a:ext cx="1005840" cy="32004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281160" y="29260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JDBC/ODBC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9601200" y="1005840"/>
            <a:ext cx="2514600" cy="5120640"/>
          </a:xfrm>
          <a:prstGeom prst="rect">
            <a:avLst/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674352" y="1042416"/>
            <a:ext cx="2368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DATA WAREHOUSE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9738360" y="1371600"/>
            <a:ext cx="224028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9738360" y="1371600"/>
            <a:ext cx="91440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893808" y="1408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Data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9738360" y="2212848"/>
            <a:ext cx="2240280" cy="5486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738360" y="2212848"/>
            <a:ext cx="73152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875520" y="2249424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 Client Portal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9738360" y="2834640"/>
            <a:ext cx="2240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738360" y="2834640"/>
            <a:ext cx="73152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875520" y="2871216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Funds Web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9738360" y="3456432"/>
            <a:ext cx="2240280" cy="5486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738360" y="3456432"/>
            <a:ext cx="73152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875520" y="3493008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Dashboard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9738360" y="4078224"/>
            <a:ext cx="2240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738360" y="4078224"/>
            <a:ext cx="73152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875520" y="411480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· CRD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9738360" y="4700016"/>
            <a:ext cx="2240280" cy="5486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738360" y="4700016"/>
            <a:ext cx="73152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875520" y="4736592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9738360" y="5321808"/>
            <a:ext cx="2240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738360" y="5321808"/>
            <a:ext cx="73152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875520" y="5358384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Party Apps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9738360" y="5943600"/>
            <a:ext cx="2240280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738360" y="603504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~1,000 consumers · Zero query changes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365760" y="658368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Partners Technology  ·  Confidential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11795760" y="65836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 — Data Flow Steps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Airflow + dbt On-Prem  ·  SEI SWP via SFTP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114300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005840"/>
            <a:ext cx="57150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005840"/>
            <a:ext cx="502920" cy="12984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37160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41832" y="1097280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SWP SFTP Drop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41832" y="1444752"/>
            <a:ext cx="49834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SWP generates account, position, and transaction files and drops them to BBH-managed SFTP server. CSV / pipe-delimited format. Same transport pattern as today — no SEI-side changes required.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2423160"/>
            <a:ext cx="57150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2423160"/>
            <a:ext cx="502920" cy="12984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7889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41832" y="2514600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SFTP Sensor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" y="2862072"/>
            <a:ext cx="49834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3.x on BBH OpenShift polls the SFTP landing zone via FileSensor. On file arrival, DAG triggers the downstream dbt pipeline. Jenkins CI/CD, Splunk, Nexus mirror all unchanged.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7472" y="3840480"/>
            <a:ext cx="57150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3840480"/>
            <a:ext cx="502920" cy="12984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42062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41832" y="3931920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 → Snowflake COPY INTO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1832" y="4279392"/>
            <a:ext cx="49834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loads SFTP files into Snowflake's Bronze RAW schema via COPY INTO command. Files transit BBH perimeter outbound over HTTPS :443 into Snowflake Azure — this is the data residency boundary Hema/legal must clear.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" y="5257800"/>
            <a:ext cx="57150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5257800"/>
            <a:ext cx="502920" cy="1298448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562356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41832" y="5349240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— RAW Schema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41832" y="5696712"/>
            <a:ext cx="49834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files land in Bronze RAW schema as-is. No transformation. Full audit trail. Incremental load pattern. Schema matches SEI source — no renaming at this layer.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82512" y="1005840"/>
            <a:ext cx="57150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82512" y="1005840"/>
            <a:ext cx="502920" cy="1298448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2512" y="137160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976872" y="1097280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— CANONICAL Schema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76872" y="1444752"/>
            <a:ext cx="49834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dbt-snowflake pods (KubernetesPodOperator, Nexus image) push SQL to Snowflake VWH. Silver models apply SEI → BBH field mapping, ABOR/FRONT/CPOW conformance, and Hema's NYDFS DQ tests.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82512" y="2423160"/>
            <a:ext cx="57150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82512" y="2423160"/>
            <a:ext cx="502920" cy="129844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82512" y="27889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976872" y="2514600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— BBH DW View Layer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76872" y="2862072"/>
            <a:ext cx="49834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Gold layer creates Snowflake VIEWS with exactly the same table names, column names, and data types as BBH's existing Oracle data warehouse. ABOR_POSITIONS_V, FRONT_HOLDINGS_V, CPOW_V replicate current schema.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382512" y="3840480"/>
            <a:ext cx="57150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82512" y="3840480"/>
            <a:ext cx="502920" cy="12984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82512" y="42062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976872" y="3931920"/>
            <a:ext cx="4983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Data Warehouse Consumer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76872" y="4279392"/>
            <a:ext cx="49834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Data Warehouse and ~1,000 downstream consumers (PB Portal, Advantage, CRM, QA Dashboard) connect to Snowflake Gold views via JDBC/ODBC. Zero query changes. Parallel Oracle run continues via strangler fig during migration.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" y="658368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Partners Technology  ·  Confidential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795760" y="65836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 — Advantages &amp; Risks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Airflow + dbt On-Prem  ·  SEI SWP via SFTP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1143000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87552"/>
            <a:ext cx="5669280" cy="4572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Advantages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" y="1444752"/>
            <a:ext cx="5669280" cy="65836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36192"/>
            <a:ext cx="256032" cy="256032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17904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149047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owns full pipeline — complete control over orchestration and transformation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2139696"/>
            <a:ext cx="5669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31136"/>
            <a:ext cx="256032" cy="256032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12848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" y="218541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infrastructure unchanged — Christopher's team, no migration risk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2834640"/>
            <a:ext cx="5669280" cy="65836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26080"/>
            <a:ext cx="256032" cy="256032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07792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28803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CI/CD, Splunk, Nexus air-gap all preserved — zero disruption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3529584"/>
            <a:ext cx="5669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621024"/>
            <a:ext cx="256032" cy="256032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02736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" y="3575304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Strangler fig pattern continues — Oracle parallel run fully supported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4224528"/>
            <a:ext cx="5669280" cy="65836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315968"/>
            <a:ext cx="256032" cy="256032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297680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4672" y="427024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model SQL largely reusable — only adapter swap oracle→snowflake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7472" y="4919472"/>
            <a:ext cx="5669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010912"/>
            <a:ext cx="256032" cy="256032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992624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4672" y="496519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SFTP transport — Day 1 proven pattern with SEI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7472" y="5614416"/>
            <a:ext cx="5669280" cy="65836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5705856"/>
            <a:ext cx="256032" cy="256032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5687568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4672" y="566013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rollout — low risk, reversible per pipeline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99632" y="987552"/>
            <a:ext cx="5623560" cy="4572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1005840"/>
            <a:ext cx="5440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Risks &amp; Considerations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199632" y="1444752"/>
            <a:ext cx="5623560" cy="786384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9360" y="1554480"/>
            <a:ext cx="256032" cy="25603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1536192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656832" y="1490472"/>
            <a:ext cx="5029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crosses BBH perimeter into Snowflake Azure tenant — NYDFS legal review required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99632" y="2267712"/>
            <a:ext cx="56235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09360" y="2377440"/>
            <a:ext cx="256032" cy="25603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0" y="2359152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656832" y="2313432"/>
            <a:ext cx="5029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hop OpenShift → Snowflake adds latency vs intra-cloud Option 1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99632" y="3090672"/>
            <a:ext cx="5623560" cy="786384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09360" y="3200400"/>
            <a:ext cx="256032" cy="25603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0" y="3182112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656832" y="3136392"/>
            <a:ext cx="5029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platforms to operate: OpenShift + Snowflake (cost + operational overhead)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99632" y="3913632"/>
            <a:ext cx="56235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09360" y="4023360"/>
            <a:ext cx="256032" cy="25603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9360" y="4005072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656832" y="3959352"/>
            <a:ext cx="5029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dbt-snowflake package must be mirrored into BBH Nexus air-gap registry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199632" y="4736592"/>
            <a:ext cx="5623560" cy="786384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09360" y="4846320"/>
            <a:ext cx="256032" cy="25603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4828032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656832" y="4782312"/>
            <a:ext cx="5029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 at scale is slower than Snowflake Secure Data Share (Option 1)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199632" y="5559552"/>
            <a:ext cx="56235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309360" y="5669280"/>
            <a:ext cx="256032" cy="256032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09360" y="5650992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656832" y="5605272"/>
            <a:ext cx="5029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parallel run adds complexity during transition window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65760" y="658368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Partners Technology  ·  Confidential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11795760" y="65836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 Points &amp; Recommendation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Partners Technology — SWP Migration Program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32688"/>
            <a:ext cx="11430000" cy="18288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005840"/>
            <a:ext cx="3474720" cy="36576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2412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13632" y="1005840"/>
            <a:ext cx="3749040" cy="365760"/>
          </a:xfrm>
          <a:prstGeom prst="rect">
            <a:avLst/>
          </a:prstGeom>
          <a:solidFill>
            <a:srgbClr val="1A3A52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13632" y="102412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  ·  Full SEI SDC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54112" y="1005840"/>
            <a:ext cx="4023360" cy="365760"/>
          </a:xfrm>
          <a:prstGeom prst="rect">
            <a:avLst/>
          </a:prstGeom>
          <a:solidFill>
            <a:srgbClr val="3A121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54112" y="102412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  ·  BBH On-Prem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1444752"/>
            <a:ext cx="11430000" cy="960120"/>
          </a:xfrm>
          <a:prstGeom prst="rect">
            <a:avLst/>
          </a:prstGeom>
          <a:solidFill>
            <a:srgbClr val="0D1E35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536192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 Cleared?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913632" y="1517904"/>
            <a:ext cx="0" cy="804672"/>
          </a:xfrm>
          <a:prstGeom prst="line">
            <a:avLst/>
          </a:prstGeom>
          <a:noFill/>
          <a:ln w="12700">
            <a:solidFill>
              <a:srgbClr val="1E2D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05072" y="1499616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Secure Share (Reader Account)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Zero-copy — data stays in SEI Azure tenant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754112" y="1517904"/>
            <a:ext cx="0" cy="804672"/>
          </a:xfrm>
          <a:prstGeom prst="line">
            <a:avLst/>
          </a:prstGeom>
          <a:noFill/>
          <a:ln w="12700">
            <a:solidFill>
              <a:srgbClr val="1E2D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45552" y="1499616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 → Snowflake Azure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crosses BBH perimeter — NYDFS review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2468880"/>
            <a:ext cx="11430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56032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Infrastructure Risk?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913632" y="2542032"/>
            <a:ext cx="0" cy="804672"/>
          </a:xfrm>
          <a:prstGeom prst="line">
            <a:avLst/>
          </a:prstGeom>
          <a:noFill/>
          <a:ln w="12700">
            <a:solidFill>
              <a:srgbClr val="1E2D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05072" y="2523744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— Reader Account + Gold views only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OpenShift changes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754112" y="2542032"/>
            <a:ext cx="0" cy="804672"/>
          </a:xfrm>
          <a:prstGeom prst="line">
            <a:avLst/>
          </a:prstGeom>
          <a:noFill/>
          <a:ln w="12700">
            <a:solidFill>
              <a:srgbClr val="1E2D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45552" y="2523744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adapter swap + Nexus mirror update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unchanged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7472" y="3493008"/>
            <a:ext cx="11430000" cy="960120"/>
          </a:xfrm>
          <a:prstGeom prst="rect">
            <a:avLst/>
          </a:prstGeom>
          <a:solidFill>
            <a:srgbClr val="0D1E35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584448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over Pipelines?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913632" y="3566160"/>
            <a:ext cx="0" cy="804672"/>
          </a:xfrm>
          <a:prstGeom prst="line">
            <a:avLst/>
          </a:prstGeom>
          <a:noFill/>
          <a:ln w="12700">
            <a:solidFill>
              <a:srgbClr val="1E2D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05072" y="3547872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manages orchestration &amp; transforms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manages Gold view layer only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754112" y="3566160"/>
            <a:ext cx="0" cy="804672"/>
          </a:xfrm>
          <a:prstGeom prst="line">
            <a:avLst/>
          </a:prstGeom>
          <a:noFill/>
          <a:ln w="12700">
            <a:solidFill>
              <a:srgbClr val="1E2D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45552" y="354787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owns full pipeline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+ dbt fully in-house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7472" y="4517136"/>
            <a:ext cx="11430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608576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Readiness?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913632" y="4590288"/>
            <a:ext cx="0" cy="804672"/>
          </a:xfrm>
          <a:prstGeom prst="line">
            <a:avLst/>
          </a:prstGeom>
          <a:noFill/>
          <a:ln w="12700">
            <a:solidFill>
              <a:srgbClr val="1E2D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05072" y="45720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SEI Reader Account setup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+ legal alignment needed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754112" y="4590288"/>
            <a:ext cx="0" cy="804672"/>
          </a:xfrm>
          <a:prstGeom prst="line">
            <a:avLst/>
          </a:prstGeom>
          <a:noFill/>
          <a:ln w="12700">
            <a:solidFill>
              <a:srgbClr val="1E2D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45552" y="45720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with existing SFTP pattern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time to Day 1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47472" y="5596128"/>
            <a:ext cx="11430000" cy="987552"/>
          </a:xfrm>
          <a:prstGeom prst="rect">
            <a:avLst/>
          </a:prstGeom>
          <a:solidFill>
            <a:srgbClr val="0D2D1F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7472" y="5596128"/>
            <a:ext cx="164592" cy="9875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" y="56327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1792" y="5907024"/>
            <a:ext cx="11018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 for Day 1 — lowest disruption, BBH-owned pipeline, existing SFTP pattern. Pursue Snowflake Secure Data Sharing (Option 1 path) in parallel as legal clears data residency. Gold view layer is identical in both options — consumers see zero change regardless of which path is chosen.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6601968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Partners Technology  ·  Confidential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1795760" y="660196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BBH SWP Migration — Architecture Options</dc:title>
  <dc:subject>PptxGenJS Presentation</dc:subject>
  <dc:creator>PptxGenJS</dc:creator>
  <cp:lastModifiedBy>PptxGenJS</cp:lastModifiedBy>
  <cp:revision>1</cp:revision>
  <dcterms:created xsi:type="dcterms:W3CDTF">2026-05-07T18:12:30Z</dcterms:created>
  <dcterms:modified xsi:type="dcterms:W3CDTF">2026-05-07T18:12:30Z</dcterms:modified>
</cp:coreProperties>
</file>