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STRATEGIC WEALTH PLATFORM — PROJECT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0" y="731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11777472" cy="67665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68096"/>
            <a:ext cx="106070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768096"/>
            <a:ext cx="10607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768096"/>
            <a:ext cx="10515600" cy="67665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is replacing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FIS/Advent AddVantage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Strategic Wealth Platform (SWP)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core accounting system for Capital Partners. SWP is a fully hosted, cloud-native SaaS solution running on Oracle Cloud Infrastructure with dedicated BBH instance, multi-currency support, SWIFT capability, and sleeve management.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517904"/>
            <a:ext cx="385876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517904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5179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ARE DOING THIS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1810512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1810512"/>
            <a:ext cx="38587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86537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AddVantage is End-of-Life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" y="2139696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FIS/Advent support lifecycle ending — continuing increases operational risk, vendor dependency, and unplanned outage exposure.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1168" y="3236976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01168" y="3236976"/>
            <a:ext cx="38587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329184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Platform Capabilities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10896" y="3566160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SWP delivers multi-currency, SWIFT, sleeve management, complex fixed income, and Trust Company workflows not available today.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" y="4663440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4663440"/>
            <a:ext cx="385876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" y="471830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Accounting System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10896" y="4992624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Consolidates STAR (Asset Mgmt SMA) and AddVantage (MFO) into one governed platform, eliminating mirror postings.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33088" y="1517904"/>
            <a:ext cx="385876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33088" y="1517904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15179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SCALE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33088" y="1810512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33088" y="1810512"/>
            <a:ext cx="385876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42816" y="186537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In-Scope Integrations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42816" y="2139696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Feeds, APIs, and direct database queries across the CP ecosystem impacted by the migration to SWP.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33088" y="3236976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133088" y="3236976"/>
            <a:ext cx="385876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42816" y="329184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Programme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42816" y="3566160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phased delivery requiring disciplined execution. Day 1 cutover followed by incremental workstream migrations.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33088" y="4663440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33088" y="4663440"/>
            <a:ext cx="3858768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42816" y="471830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Systems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242816" y="4992624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Front Office, Custody, Platforms, Reports, Trading, Back Office — and all downstream consumers of accounting data.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065008" y="1517904"/>
            <a:ext cx="3858768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5008" y="1517904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56448" y="1517904"/>
            <a:ext cx="3730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8065008" y="1810512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65008" y="1810512"/>
            <a:ext cx="3858768" cy="36576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74736" y="1865376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Orchestration Hub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174736" y="2139696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platform on OpenShift: Apache Airflow 3.1.7 for orchestration, dbt 1.7.5 for transformation, Oracle as compute engine.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65008" y="3236976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065008" y="3236976"/>
            <a:ext cx="3858768" cy="36576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74736" y="3291840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&amp; Transformation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174736" y="3566160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Medallion architecture (Raw → Validated → Business layers) replacing complex ODI transformations with governed dbt pipelines.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8065008" y="4663440"/>
            <a:ext cx="3858768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065008" y="4663440"/>
            <a:ext cx="3858768" cy="36576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174736" y="4718304"/>
            <a:ext cx="3675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Data Continuity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174736" y="4992624"/>
            <a:ext cx="3675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consumer systems continue to receive positions, NAV, and securities data with no disruption through migration.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 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2070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 Integrations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0175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 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9502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Hosted on OCI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607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System  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6934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AddVantage + STAR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5039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 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4366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Programme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12480" y="6592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56692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18872"/>
            <a:ext cx="69494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18872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5486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ECOSYSTEM  —  CURRENT STATE  vs  FUTURE STATE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0" y="548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6304" y="658368"/>
            <a:ext cx="5705856" cy="5870448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" y="658368"/>
            <a:ext cx="5705856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" y="658368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 —  Fragmented &amp; Complex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" y="1005840"/>
            <a:ext cx="9144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10058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37744" y="1243584"/>
            <a:ext cx="91440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43584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37744" y="1463040"/>
            <a:ext cx="91440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4630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View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237744" y="1682496"/>
            <a:ext cx="914400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16824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EMoney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37744" y="1920240"/>
            <a:ext cx="9144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192024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37744" y="2157984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215798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237744" y="2359152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" y="235915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37744" y="2560320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6032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Sheet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237744" y="2761488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276148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Platforms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37744" y="3017520"/>
            <a:ext cx="9144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" y="30175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37744" y="3255264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" y="3255264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Seismic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37744" y="3456432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456432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Reports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237744" y="3657600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" y="3657600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 Designer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37744" y="3858768"/>
            <a:ext cx="91440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" y="3858768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Reporting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1261872" y="987552"/>
            <a:ext cx="1828800" cy="1426464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61872" y="987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System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335024" y="1225296"/>
            <a:ext cx="1664208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53312" y="122529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335024" y="1572768"/>
            <a:ext cx="1664208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53312" y="15727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335024" y="1920240"/>
            <a:ext cx="1664208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53312" y="1920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0" y="987552"/>
            <a:ext cx="186537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98755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Processing &amp; Shared Service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3255264" y="1225296"/>
            <a:ext cx="841248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73552" y="1225296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151376" y="1225296"/>
            <a:ext cx="859536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69664" y="12252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255264" y="1572768"/>
            <a:ext cx="841248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73552" y="157276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4151376" y="1572768"/>
            <a:ext cx="859536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69664" y="15727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Mgmt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3255264" y="1920240"/>
            <a:ext cx="841248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73552" y="1920240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151376" y="1920240"/>
            <a:ext cx="859536" cy="292608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9664" y="1920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1261872" y="2505456"/>
            <a:ext cx="182880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261872" y="25054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Zone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316736" y="2706624"/>
            <a:ext cx="768096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335024" y="27066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103120" y="268833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2377440" y="2706624"/>
            <a:ext cx="658368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95728" y="2706624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PBDW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3200400" y="2505456"/>
            <a:ext cx="1865376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0" y="2505456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255264" y="2706624"/>
            <a:ext cx="841248" cy="310896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73552" y="2706624"/>
            <a:ext cx="804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Apps Dev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Utility Svcs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4151376" y="2706624"/>
            <a:ext cx="859536" cy="310896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69664" y="270662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261872" y="3163824"/>
            <a:ext cx="3803904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261872" y="3163824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1316736" y="3383280"/>
            <a:ext cx="1152144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335024" y="33832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RMJ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 Jobs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2542032" y="3383280"/>
            <a:ext cx="1152144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560320" y="33832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RMJ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PDW Jobs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3767328" y="3383280"/>
            <a:ext cx="1152144" cy="420624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85616" y="3383280"/>
            <a:ext cx="11155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RMJ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 PDW Jobs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157216" y="1005840"/>
            <a:ext cx="7315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175504" y="100584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157216" y="1243584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175504" y="12435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5157216" y="1444752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75504" y="144475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5157216" y="1645920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175504" y="164592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650" dirty="0"/>
          </a:p>
        </p:txBody>
      </p:sp>
      <p:sp>
        <p:nvSpPr>
          <p:cNvPr id="91" name="Shape 89"/>
          <p:cNvSpPr/>
          <p:nvPr/>
        </p:nvSpPr>
        <p:spPr>
          <a:xfrm>
            <a:off x="5157216" y="1847088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75504" y="184708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5157216" y="2048256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175504" y="20482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Svc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5157216" y="2249424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75504" y="224942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Svc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5157216" y="2450592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175504" y="245059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5157216" y="2688336"/>
            <a:ext cx="7315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175504" y="268833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Platforms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5157216" y="2926080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5175504" y="292608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5157216" y="3127248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175504" y="312724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AIM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5157216" y="3328416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175504" y="332841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MFPS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5157216" y="3529584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5175504" y="3529584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Consol.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5157216" y="3767328"/>
            <a:ext cx="7315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175504" y="3767328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5157216" y="4005072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175504" y="400507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</a:t>
            </a:r>
            <a:endParaRPr lang="en-US" sz="650" dirty="0"/>
          </a:p>
        </p:txBody>
      </p:sp>
      <p:sp>
        <p:nvSpPr>
          <p:cNvPr id="113" name="Shape 111"/>
          <p:cNvSpPr/>
          <p:nvPr/>
        </p:nvSpPr>
        <p:spPr>
          <a:xfrm>
            <a:off x="5157216" y="4206240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75504" y="42062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5157216" y="4407408"/>
            <a:ext cx="731520" cy="18288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175504" y="4407408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IID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3090672" y="1572768"/>
            <a:ext cx="128016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090672" y="1828800"/>
            <a:ext cx="128016" cy="3657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176272" y="2414016"/>
            <a:ext cx="3657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39312" y="2414016"/>
            <a:ext cx="36576" cy="1280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152144" y="1353312"/>
            <a:ext cx="10972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52144" y="1572768"/>
            <a:ext cx="10972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152144" y="2066544"/>
            <a:ext cx="109728" cy="2651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10912" y="1353312"/>
            <a:ext cx="146304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010912" y="1554480"/>
            <a:ext cx="146304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224528" y="2798064"/>
            <a:ext cx="93268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4224528" y="2999232"/>
            <a:ext cx="932688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176272" y="3895344"/>
            <a:ext cx="3657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255264" y="3895344"/>
            <a:ext cx="36576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152144" y="3291840"/>
            <a:ext cx="10972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152144" y="3273552"/>
            <a:ext cx="109728" cy="1097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224528" y="3200400"/>
            <a:ext cx="932688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29184" y="2340864"/>
            <a:ext cx="932688" cy="31089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329184" y="2487168"/>
            <a:ext cx="932688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46304" y="4078224"/>
            <a:ext cx="5705856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37744" y="40782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Baseline State  ·  3,500+ point-to-point jobs  ·  ODI transforms  ·  No central governance  ·  End-of-life accounting system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237744" y="4425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No central governance</a:t>
            </a:r>
            <a:endParaRPr lang="en-US" sz="850" dirty="0"/>
          </a:p>
        </p:txBody>
      </p:sp>
      <p:sp>
        <p:nvSpPr>
          <p:cNvPr id="138" name="Text 136"/>
          <p:cNvSpPr/>
          <p:nvPr/>
        </p:nvSpPr>
        <p:spPr>
          <a:xfrm>
            <a:off x="3072384" y="4425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3,500+ RMJ scheduler jobs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237744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ODI — brittle, hard to debug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3072384" y="4736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Mirror postings: Advantage + STAR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237744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End-of-life platform support risk</a:t>
            </a:r>
            <a:endParaRPr lang="en-US" sz="850" dirty="0"/>
          </a:p>
        </p:txBody>
      </p:sp>
      <p:sp>
        <p:nvSpPr>
          <p:cNvPr id="142" name="Text 140"/>
          <p:cNvSpPr/>
          <p:nvPr/>
        </p:nvSpPr>
        <p:spPr>
          <a:xfrm>
            <a:off x="3072384" y="5047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~800 integrations impacted by migration</a:t>
            </a:r>
            <a:endParaRPr lang="en-US" sz="850" dirty="0"/>
          </a:p>
        </p:txBody>
      </p:sp>
      <p:sp>
        <p:nvSpPr>
          <p:cNvPr id="143" name="Shape 141"/>
          <p:cNvSpPr/>
          <p:nvPr/>
        </p:nvSpPr>
        <p:spPr>
          <a:xfrm>
            <a:off x="5907024" y="2651760"/>
            <a:ext cx="329184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852160" y="235915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200" dirty="0"/>
          </a:p>
        </p:txBody>
      </p:sp>
      <p:sp>
        <p:nvSpPr>
          <p:cNvPr id="145" name="Text 143"/>
          <p:cNvSpPr/>
          <p:nvPr/>
        </p:nvSpPr>
        <p:spPr>
          <a:xfrm>
            <a:off x="5833872" y="301752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750" dirty="0"/>
          </a:p>
        </p:txBody>
      </p:sp>
      <p:sp>
        <p:nvSpPr>
          <p:cNvPr id="146" name="Shape 144"/>
          <p:cNvSpPr/>
          <p:nvPr/>
        </p:nvSpPr>
        <p:spPr>
          <a:xfrm>
            <a:off x="6327648" y="658368"/>
            <a:ext cx="5687568" cy="5870448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327648" y="658368"/>
            <a:ext cx="5687568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6419088" y="658368"/>
            <a:ext cx="5559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STATE  —  Unified &amp; Governed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6400800" y="987552"/>
            <a:ext cx="5541264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6400800" y="987552"/>
            <a:ext cx="5541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 Systems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6419088" y="1207008"/>
            <a:ext cx="65151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446520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6419088" y="140817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6446520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6419088" y="159105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446520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View</a:t>
            </a:r>
            <a:endParaRPr lang="en-US" sz="650" dirty="0"/>
          </a:p>
        </p:txBody>
      </p:sp>
      <p:sp>
        <p:nvSpPr>
          <p:cNvPr id="157" name="Shape 155"/>
          <p:cNvSpPr/>
          <p:nvPr/>
        </p:nvSpPr>
        <p:spPr>
          <a:xfrm>
            <a:off x="6419088" y="177393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6446520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SaleX</a:t>
            </a:r>
            <a:endParaRPr lang="en-US" sz="650" dirty="0"/>
          </a:p>
        </p:txBody>
      </p:sp>
      <p:sp>
        <p:nvSpPr>
          <p:cNvPr id="159" name="Shape 157"/>
          <p:cNvSpPr/>
          <p:nvPr/>
        </p:nvSpPr>
        <p:spPr>
          <a:xfrm>
            <a:off x="6419088" y="195681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6446520" y="195681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EMoney</a:t>
            </a:r>
            <a:endParaRPr lang="en-US" sz="650" dirty="0"/>
          </a:p>
        </p:txBody>
      </p:sp>
      <p:sp>
        <p:nvSpPr>
          <p:cNvPr id="161" name="Shape 159"/>
          <p:cNvSpPr/>
          <p:nvPr/>
        </p:nvSpPr>
        <p:spPr>
          <a:xfrm>
            <a:off x="7107174" y="1207008"/>
            <a:ext cx="65151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7134606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</a:t>
            </a:r>
            <a:endParaRPr lang="en-US" sz="650" dirty="0"/>
          </a:p>
        </p:txBody>
      </p:sp>
      <p:sp>
        <p:nvSpPr>
          <p:cNvPr id="163" name="Shape 161"/>
          <p:cNvSpPr/>
          <p:nvPr/>
        </p:nvSpPr>
        <p:spPr>
          <a:xfrm>
            <a:off x="7107174" y="140817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7134606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</a:t>
            </a:r>
            <a:endParaRPr lang="en-US" sz="650" dirty="0"/>
          </a:p>
        </p:txBody>
      </p:sp>
      <p:sp>
        <p:nvSpPr>
          <p:cNvPr id="165" name="Shape 163"/>
          <p:cNvSpPr/>
          <p:nvPr/>
        </p:nvSpPr>
        <p:spPr>
          <a:xfrm>
            <a:off x="7107174" y="159105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134606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Schwab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7107174" y="177393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134606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7107174" y="195681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7134606" y="195681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EMoney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7795260" y="1207008"/>
            <a:ext cx="65151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7822692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7795260" y="140817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7822692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650" dirty="0"/>
          </a:p>
        </p:txBody>
      </p:sp>
      <p:sp>
        <p:nvSpPr>
          <p:cNvPr id="175" name="Shape 173"/>
          <p:cNvSpPr/>
          <p:nvPr/>
        </p:nvSpPr>
        <p:spPr>
          <a:xfrm>
            <a:off x="7795260" y="159105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7822692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650" dirty="0"/>
          </a:p>
        </p:txBody>
      </p:sp>
      <p:sp>
        <p:nvSpPr>
          <p:cNvPr id="177" name="Shape 175"/>
          <p:cNvSpPr/>
          <p:nvPr/>
        </p:nvSpPr>
        <p:spPr>
          <a:xfrm>
            <a:off x="7795260" y="177393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7822692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Sheet</a:t>
            </a:r>
            <a:endParaRPr lang="en-US" sz="650" dirty="0"/>
          </a:p>
        </p:txBody>
      </p:sp>
      <p:sp>
        <p:nvSpPr>
          <p:cNvPr id="179" name="Shape 177"/>
          <p:cNvSpPr/>
          <p:nvPr/>
        </p:nvSpPr>
        <p:spPr>
          <a:xfrm>
            <a:off x="7795260" y="195681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7822692" y="195681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650" dirty="0"/>
          </a:p>
        </p:txBody>
      </p:sp>
      <p:sp>
        <p:nvSpPr>
          <p:cNvPr id="181" name="Shape 179"/>
          <p:cNvSpPr/>
          <p:nvPr/>
        </p:nvSpPr>
        <p:spPr>
          <a:xfrm>
            <a:off x="8483346" y="1207008"/>
            <a:ext cx="65151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8510778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650" dirty="0"/>
          </a:p>
        </p:txBody>
      </p:sp>
      <p:sp>
        <p:nvSpPr>
          <p:cNvPr id="183" name="Shape 181"/>
          <p:cNvSpPr/>
          <p:nvPr/>
        </p:nvSpPr>
        <p:spPr>
          <a:xfrm>
            <a:off x="8483346" y="140817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510778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 Seismic</a:t>
            </a:r>
            <a:endParaRPr lang="en-US" sz="650" dirty="0"/>
          </a:p>
        </p:txBody>
      </p:sp>
      <p:sp>
        <p:nvSpPr>
          <p:cNvPr id="185" name="Shape 183"/>
          <p:cNvSpPr/>
          <p:nvPr/>
        </p:nvSpPr>
        <p:spPr>
          <a:xfrm>
            <a:off x="8483346" y="159105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8510778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Qlik Reports</a:t>
            </a:r>
            <a:endParaRPr lang="en-US" sz="650" dirty="0"/>
          </a:p>
        </p:txBody>
      </p:sp>
      <p:sp>
        <p:nvSpPr>
          <p:cNvPr id="187" name="Shape 185"/>
          <p:cNvSpPr/>
          <p:nvPr/>
        </p:nvSpPr>
        <p:spPr>
          <a:xfrm>
            <a:off x="8483346" y="177393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8510778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CSF</a:t>
            </a:r>
            <a:endParaRPr lang="en-US" sz="650" dirty="0"/>
          </a:p>
        </p:txBody>
      </p:sp>
      <p:sp>
        <p:nvSpPr>
          <p:cNvPr id="189" name="Shape 187"/>
          <p:cNvSpPr/>
          <p:nvPr/>
        </p:nvSpPr>
        <p:spPr>
          <a:xfrm>
            <a:off x="8483346" y="195681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510778" y="195681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650" dirty="0"/>
          </a:p>
        </p:txBody>
      </p:sp>
      <p:sp>
        <p:nvSpPr>
          <p:cNvPr id="191" name="Shape 189"/>
          <p:cNvSpPr/>
          <p:nvPr/>
        </p:nvSpPr>
        <p:spPr>
          <a:xfrm>
            <a:off x="9171432" y="1207008"/>
            <a:ext cx="65151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9198864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</a:t>
            </a:r>
            <a:endParaRPr lang="en-US" sz="650" dirty="0"/>
          </a:p>
        </p:txBody>
      </p:sp>
      <p:sp>
        <p:nvSpPr>
          <p:cNvPr id="193" name="Shape 191"/>
          <p:cNvSpPr/>
          <p:nvPr/>
        </p:nvSpPr>
        <p:spPr>
          <a:xfrm>
            <a:off x="9171432" y="140817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4" name="Text 192"/>
          <p:cNvSpPr/>
          <p:nvPr/>
        </p:nvSpPr>
        <p:spPr>
          <a:xfrm>
            <a:off x="9198864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CRD</a:t>
            </a:r>
            <a:endParaRPr lang="en-US" sz="650" dirty="0"/>
          </a:p>
        </p:txBody>
      </p:sp>
      <p:sp>
        <p:nvSpPr>
          <p:cNvPr id="195" name="Shape 193"/>
          <p:cNvSpPr/>
          <p:nvPr/>
        </p:nvSpPr>
        <p:spPr>
          <a:xfrm>
            <a:off x="9171432" y="159105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9198864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AIM</a:t>
            </a:r>
            <a:endParaRPr lang="en-US" sz="650" dirty="0"/>
          </a:p>
        </p:txBody>
      </p:sp>
      <p:sp>
        <p:nvSpPr>
          <p:cNvPr id="197" name="Shape 195"/>
          <p:cNvSpPr/>
          <p:nvPr/>
        </p:nvSpPr>
        <p:spPr>
          <a:xfrm>
            <a:off x="9171432" y="177393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9198864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MFPS</a:t>
            </a:r>
            <a:endParaRPr lang="en-US" sz="650" dirty="0"/>
          </a:p>
        </p:txBody>
      </p:sp>
      <p:sp>
        <p:nvSpPr>
          <p:cNvPr id="199" name="Shape 197"/>
          <p:cNvSpPr/>
          <p:nvPr/>
        </p:nvSpPr>
        <p:spPr>
          <a:xfrm>
            <a:off x="9171432" y="195681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0" name="Text 198"/>
          <p:cNvSpPr/>
          <p:nvPr/>
        </p:nvSpPr>
        <p:spPr>
          <a:xfrm>
            <a:off x="9198864" y="195681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Rec.</a:t>
            </a:r>
            <a:endParaRPr lang="en-US" sz="650" dirty="0"/>
          </a:p>
        </p:txBody>
      </p:sp>
      <p:sp>
        <p:nvSpPr>
          <p:cNvPr id="201" name="Shape 199"/>
          <p:cNvSpPr/>
          <p:nvPr/>
        </p:nvSpPr>
        <p:spPr>
          <a:xfrm>
            <a:off x="9859518" y="1207008"/>
            <a:ext cx="65151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9886950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</a:t>
            </a:r>
            <a:endParaRPr lang="en-US" sz="650" dirty="0"/>
          </a:p>
        </p:txBody>
      </p:sp>
      <p:sp>
        <p:nvSpPr>
          <p:cNvPr id="203" name="Shape 201"/>
          <p:cNvSpPr/>
          <p:nvPr/>
        </p:nvSpPr>
        <p:spPr>
          <a:xfrm>
            <a:off x="9859518" y="140817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9886950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Loan/Tax</a:t>
            </a:r>
            <a:endParaRPr lang="en-US" sz="650" dirty="0"/>
          </a:p>
        </p:txBody>
      </p:sp>
      <p:sp>
        <p:nvSpPr>
          <p:cNvPr id="205" name="Shape 203"/>
          <p:cNvSpPr/>
          <p:nvPr/>
        </p:nvSpPr>
        <p:spPr>
          <a:xfrm>
            <a:off x="9859518" y="159105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9886950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</a:t>
            </a:r>
            <a:endParaRPr lang="en-US" sz="650" dirty="0"/>
          </a:p>
        </p:txBody>
      </p:sp>
      <p:sp>
        <p:nvSpPr>
          <p:cNvPr id="207" name="Shape 205"/>
          <p:cNvSpPr/>
          <p:nvPr/>
        </p:nvSpPr>
        <p:spPr>
          <a:xfrm>
            <a:off x="9859518" y="177393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9886950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Fin.</a:t>
            </a:r>
            <a:endParaRPr lang="en-US" sz="650" dirty="0"/>
          </a:p>
        </p:txBody>
      </p:sp>
      <p:sp>
        <p:nvSpPr>
          <p:cNvPr id="209" name="Shape 207"/>
          <p:cNvSpPr/>
          <p:nvPr/>
        </p:nvSpPr>
        <p:spPr>
          <a:xfrm>
            <a:off x="9859518" y="195681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9886950" y="195681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650" dirty="0"/>
          </a:p>
        </p:txBody>
      </p:sp>
      <p:sp>
        <p:nvSpPr>
          <p:cNvPr id="211" name="Shape 209"/>
          <p:cNvSpPr/>
          <p:nvPr/>
        </p:nvSpPr>
        <p:spPr>
          <a:xfrm>
            <a:off x="10547604" y="1207008"/>
            <a:ext cx="651510" cy="1828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10575036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Svc</a:t>
            </a:r>
            <a:endParaRPr lang="en-US" sz="650" dirty="0"/>
          </a:p>
        </p:txBody>
      </p:sp>
      <p:sp>
        <p:nvSpPr>
          <p:cNvPr id="213" name="Shape 211"/>
          <p:cNvSpPr/>
          <p:nvPr/>
        </p:nvSpPr>
        <p:spPr>
          <a:xfrm>
            <a:off x="10547604" y="140817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10575036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</a:t>
            </a:r>
            <a:endParaRPr lang="en-US" sz="650" dirty="0"/>
          </a:p>
        </p:txBody>
      </p:sp>
      <p:sp>
        <p:nvSpPr>
          <p:cNvPr id="215" name="Shape 213"/>
          <p:cNvSpPr/>
          <p:nvPr/>
        </p:nvSpPr>
        <p:spPr>
          <a:xfrm>
            <a:off x="10547604" y="159105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0575036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10547604" y="1773936"/>
            <a:ext cx="65151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0575036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Svc</a:t>
            </a:r>
            <a:endParaRPr lang="en-US" sz="650" dirty="0"/>
          </a:p>
        </p:txBody>
      </p:sp>
      <p:sp>
        <p:nvSpPr>
          <p:cNvPr id="219" name="Shape 217"/>
          <p:cNvSpPr/>
          <p:nvPr/>
        </p:nvSpPr>
        <p:spPr>
          <a:xfrm>
            <a:off x="11235690" y="1207008"/>
            <a:ext cx="65151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1263122" y="1207008"/>
            <a:ext cx="59664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Acctg (SEI)</a:t>
            </a:r>
            <a:endParaRPr lang="en-US" sz="650" dirty="0"/>
          </a:p>
        </p:txBody>
      </p:sp>
      <p:sp>
        <p:nvSpPr>
          <p:cNvPr id="221" name="Shape 219"/>
          <p:cNvSpPr/>
          <p:nvPr/>
        </p:nvSpPr>
        <p:spPr>
          <a:xfrm>
            <a:off x="11235690" y="1408176"/>
            <a:ext cx="651510" cy="16459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11263122" y="140817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</a:t>
            </a:r>
            <a:endParaRPr lang="en-US" sz="650" dirty="0"/>
          </a:p>
        </p:txBody>
      </p:sp>
      <p:sp>
        <p:nvSpPr>
          <p:cNvPr id="223" name="Shape 221"/>
          <p:cNvSpPr/>
          <p:nvPr/>
        </p:nvSpPr>
        <p:spPr>
          <a:xfrm>
            <a:off x="11235690" y="1591056"/>
            <a:ext cx="651510" cy="16459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1263122" y="159105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650" dirty="0"/>
          </a:p>
        </p:txBody>
      </p:sp>
      <p:sp>
        <p:nvSpPr>
          <p:cNvPr id="225" name="Shape 223"/>
          <p:cNvSpPr/>
          <p:nvPr/>
        </p:nvSpPr>
        <p:spPr>
          <a:xfrm>
            <a:off x="11235690" y="1773936"/>
            <a:ext cx="651510" cy="16459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11263122" y="1773936"/>
            <a:ext cx="5966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DDR</a:t>
            </a:r>
            <a:endParaRPr lang="en-US" sz="650" dirty="0"/>
          </a:p>
        </p:txBody>
      </p:sp>
      <p:sp>
        <p:nvSpPr>
          <p:cNvPr id="227" name="Shape 225"/>
          <p:cNvSpPr/>
          <p:nvPr/>
        </p:nvSpPr>
        <p:spPr>
          <a:xfrm>
            <a:off x="6510528" y="2157984"/>
            <a:ext cx="5321808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6601968" y="213969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7516368" y="213969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8430768" y="213969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345168" y="213969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259568" y="2139696"/>
            <a:ext cx="7315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6784848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Data Feeds  ↓</a:t>
            </a:r>
            <a:endParaRPr lang="en-US" sz="750" dirty="0"/>
          </a:p>
        </p:txBody>
      </p:sp>
      <p:sp>
        <p:nvSpPr>
          <p:cNvPr id="234" name="Text 232"/>
          <p:cNvSpPr/>
          <p:nvPr/>
        </p:nvSpPr>
        <p:spPr>
          <a:xfrm>
            <a:off x="8339328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Vendor APIs  ↓</a:t>
            </a:r>
            <a:endParaRPr lang="en-US" sz="750" dirty="0"/>
          </a:p>
        </p:txBody>
      </p:sp>
      <p:sp>
        <p:nvSpPr>
          <p:cNvPr id="235" name="Text 233"/>
          <p:cNvSpPr/>
          <p:nvPr/>
        </p:nvSpPr>
        <p:spPr>
          <a:xfrm>
            <a:off x="9893808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Internal APIs  ↓</a:t>
            </a:r>
            <a:endParaRPr lang="en-US" sz="750" dirty="0"/>
          </a:p>
        </p:txBody>
      </p:sp>
      <p:sp>
        <p:nvSpPr>
          <p:cNvPr id="236" name="Shape 234"/>
          <p:cNvSpPr/>
          <p:nvPr/>
        </p:nvSpPr>
        <p:spPr>
          <a:xfrm>
            <a:off x="6400800" y="2414016"/>
            <a:ext cx="5541264" cy="859536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76200" dist="25400" dir="8100000">
              <a:srgbClr val="0D9488">
                <a:alpha val="10000"/>
              </a:srgbClr>
            </a:outerShdw>
          </a:effectLst>
        </p:spPr>
      </p:sp>
      <p:sp>
        <p:nvSpPr>
          <p:cNvPr id="237" name="Text 235"/>
          <p:cNvSpPr/>
          <p:nvPr/>
        </p:nvSpPr>
        <p:spPr>
          <a:xfrm>
            <a:off x="6437376" y="241401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850" dirty="0"/>
          </a:p>
        </p:txBody>
      </p:sp>
      <p:sp>
        <p:nvSpPr>
          <p:cNvPr id="238" name="Shape 236"/>
          <p:cNvSpPr/>
          <p:nvPr/>
        </p:nvSpPr>
        <p:spPr>
          <a:xfrm>
            <a:off x="6455664" y="2651760"/>
            <a:ext cx="5431536" cy="54864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6510528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Orchestration Layer  ·  Schedule &amp; Monitor  ·  Ingestion → Transformation → Load</a:t>
            </a:r>
            <a:endParaRPr lang="en-US" sz="750" dirty="0"/>
          </a:p>
        </p:txBody>
      </p:sp>
      <p:sp>
        <p:nvSpPr>
          <p:cNvPr id="240" name="Shape 238"/>
          <p:cNvSpPr/>
          <p:nvPr/>
        </p:nvSpPr>
        <p:spPr>
          <a:xfrm>
            <a:off x="9345168" y="2706624"/>
            <a:ext cx="1243584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9345168" y="2706624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3.1.7</a:t>
            </a:r>
            <a:endParaRPr lang="en-US" sz="800" dirty="0"/>
          </a:p>
        </p:txBody>
      </p:sp>
      <p:sp>
        <p:nvSpPr>
          <p:cNvPr id="242" name="Shape 240"/>
          <p:cNvSpPr/>
          <p:nvPr/>
        </p:nvSpPr>
        <p:spPr>
          <a:xfrm>
            <a:off x="10643616" y="2706624"/>
            <a:ext cx="1207008" cy="43891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10643616" y="2706624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(Kubernetes)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8887968" y="3273552"/>
            <a:ext cx="3657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0168128" y="3273552"/>
            <a:ext cx="36576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6400800" y="3529584"/>
            <a:ext cx="2615184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76200" dist="25400" dir="8100000">
              <a:srgbClr val="0D9488">
                <a:alpha val="10000"/>
              </a:srgbClr>
            </a:outerShdw>
          </a:effectLst>
        </p:spPr>
      </p:sp>
      <p:sp>
        <p:nvSpPr>
          <p:cNvPr id="247" name="Text 245"/>
          <p:cNvSpPr/>
          <p:nvPr/>
        </p:nvSpPr>
        <p:spPr>
          <a:xfrm>
            <a:off x="6437376" y="3529584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850" dirty="0"/>
          </a:p>
        </p:txBody>
      </p:sp>
      <p:sp>
        <p:nvSpPr>
          <p:cNvPr id="248" name="Shape 246"/>
          <p:cNvSpPr/>
          <p:nvPr/>
        </p:nvSpPr>
        <p:spPr>
          <a:xfrm>
            <a:off x="6473952" y="3785616"/>
            <a:ext cx="246888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6473952" y="37856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Engine</a:t>
            </a:r>
            <a:endParaRPr lang="en-US" sz="800" dirty="0"/>
          </a:p>
        </p:txBody>
      </p:sp>
      <p:sp>
        <p:nvSpPr>
          <p:cNvPr id="250" name="Shape 248"/>
          <p:cNvSpPr/>
          <p:nvPr/>
        </p:nvSpPr>
        <p:spPr>
          <a:xfrm>
            <a:off x="6473952" y="4096512"/>
            <a:ext cx="2468880" cy="493776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251" name="Text 249"/>
          <p:cNvSpPr/>
          <p:nvPr/>
        </p:nvSpPr>
        <p:spPr>
          <a:xfrm>
            <a:off x="6473952" y="4096512"/>
            <a:ext cx="2468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  /  Transformer Rules  /  ODI</a:t>
            </a:r>
            <a:endParaRPr lang="en-US" sz="850" dirty="0"/>
          </a:p>
        </p:txBody>
      </p:sp>
      <p:sp>
        <p:nvSpPr>
          <p:cNvPr id="252" name="Shape 250"/>
          <p:cNvSpPr/>
          <p:nvPr/>
        </p:nvSpPr>
        <p:spPr>
          <a:xfrm>
            <a:off x="9144000" y="3529584"/>
            <a:ext cx="2798064" cy="1152144"/>
          </a:xfrm>
          <a:prstGeom prst="rect">
            <a:avLst/>
          </a:prstGeom>
          <a:solidFill>
            <a:srgbClr val="FFFFFF"/>
          </a:solidFill>
          <a:ln w="19050">
            <a:solidFill>
              <a:srgbClr val="0A7469"/>
            </a:solidFill>
            <a:prstDash val="solid"/>
          </a:ln>
          <a:effectLst>
            <a:outerShdw sx="100000" sy="100000" kx="0" ky="0" algn="bl" rotWithShape="0" blurRad="76200" dist="25400" dir="8100000">
              <a:srgbClr val="0D9488">
                <a:alpha val="10000"/>
              </a:srgbClr>
            </a:outerShdw>
          </a:effectLst>
        </p:spPr>
      </p:sp>
      <p:sp>
        <p:nvSpPr>
          <p:cNvPr id="253" name="Text 251"/>
          <p:cNvSpPr/>
          <p:nvPr/>
        </p:nvSpPr>
        <p:spPr>
          <a:xfrm>
            <a:off x="9180576" y="352958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Data Platform</a:t>
            </a:r>
            <a:endParaRPr lang="en-US" sz="850" dirty="0"/>
          </a:p>
        </p:txBody>
      </p:sp>
      <p:sp>
        <p:nvSpPr>
          <p:cNvPr id="254" name="Shape 252"/>
          <p:cNvSpPr/>
          <p:nvPr/>
        </p:nvSpPr>
        <p:spPr>
          <a:xfrm>
            <a:off x="9217152" y="3785616"/>
            <a:ext cx="2688336" cy="219456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9217152" y="3785616"/>
            <a:ext cx="2688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Semantic Layer</a:t>
            </a:r>
            <a:endParaRPr lang="en-US" sz="800" dirty="0"/>
          </a:p>
        </p:txBody>
      </p:sp>
      <p:sp>
        <p:nvSpPr>
          <p:cNvPr id="256" name="Shape 254"/>
          <p:cNvSpPr/>
          <p:nvPr/>
        </p:nvSpPr>
        <p:spPr>
          <a:xfrm>
            <a:off x="9217152" y="4041648"/>
            <a:ext cx="2688336" cy="18288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9217152" y="4041648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Virtualizations</a:t>
            </a:r>
            <a:endParaRPr lang="en-US" sz="750" dirty="0"/>
          </a:p>
        </p:txBody>
      </p:sp>
      <p:sp>
        <p:nvSpPr>
          <p:cNvPr id="258" name="Shape 256"/>
          <p:cNvSpPr/>
          <p:nvPr/>
        </p:nvSpPr>
        <p:spPr>
          <a:xfrm>
            <a:off x="9217152" y="4261104"/>
            <a:ext cx="2688336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59" name="Text 257"/>
          <p:cNvSpPr/>
          <p:nvPr/>
        </p:nvSpPr>
        <p:spPr>
          <a:xfrm>
            <a:off x="9217152" y="4261104"/>
            <a:ext cx="6400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Zone</a:t>
            </a:r>
            <a:endParaRPr lang="en-US" sz="700" dirty="0"/>
          </a:p>
        </p:txBody>
      </p:sp>
      <p:sp>
        <p:nvSpPr>
          <p:cNvPr id="260" name="Shape 258"/>
          <p:cNvSpPr/>
          <p:nvPr/>
        </p:nvSpPr>
        <p:spPr>
          <a:xfrm>
            <a:off x="9893808" y="4297680"/>
            <a:ext cx="603504" cy="25603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1" name="Text 259"/>
          <p:cNvSpPr/>
          <p:nvPr/>
        </p:nvSpPr>
        <p:spPr>
          <a:xfrm>
            <a:off x="9921240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PBDW</a:t>
            </a:r>
            <a:endParaRPr lang="en-US" sz="800" dirty="0"/>
          </a:p>
        </p:txBody>
      </p:sp>
      <p:sp>
        <p:nvSpPr>
          <p:cNvPr id="262" name="Shape 260"/>
          <p:cNvSpPr/>
          <p:nvPr/>
        </p:nvSpPr>
        <p:spPr>
          <a:xfrm>
            <a:off x="10552176" y="4297680"/>
            <a:ext cx="603504" cy="25603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3" name="Text 261"/>
          <p:cNvSpPr/>
          <p:nvPr/>
        </p:nvSpPr>
        <p:spPr>
          <a:xfrm>
            <a:off x="10579608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CPDW</a:t>
            </a:r>
            <a:endParaRPr lang="en-US" sz="800" dirty="0"/>
          </a:p>
        </p:txBody>
      </p:sp>
      <p:sp>
        <p:nvSpPr>
          <p:cNvPr id="264" name="Shape 262"/>
          <p:cNvSpPr/>
          <p:nvPr/>
        </p:nvSpPr>
        <p:spPr>
          <a:xfrm>
            <a:off x="11210544" y="4297680"/>
            <a:ext cx="603504" cy="256032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5" name="Text 263"/>
          <p:cNvSpPr/>
          <p:nvPr/>
        </p:nvSpPr>
        <p:spPr>
          <a:xfrm>
            <a:off x="11237976" y="4297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IMDS</a:t>
            </a:r>
            <a:endParaRPr lang="en-US" sz="800" dirty="0"/>
          </a:p>
        </p:txBody>
      </p:sp>
      <p:sp>
        <p:nvSpPr>
          <p:cNvPr id="266" name="Shape 264"/>
          <p:cNvSpPr/>
          <p:nvPr/>
        </p:nvSpPr>
        <p:spPr>
          <a:xfrm>
            <a:off x="9015984" y="4041648"/>
            <a:ext cx="14630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7" name="Text 265"/>
          <p:cNvSpPr/>
          <p:nvPr/>
        </p:nvSpPr>
        <p:spPr>
          <a:xfrm>
            <a:off x="8961120" y="391363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⇌</a:t>
            </a:r>
            <a:endParaRPr lang="en-US" sz="1200" dirty="0"/>
          </a:p>
        </p:txBody>
      </p:sp>
      <p:sp>
        <p:nvSpPr>
          <p:cNvPr id="268" name="Text 266"/>
          <p:cNvSpPr/>
          <p:nvPr/>
        </p:nvSpPr>
        <p:spPr>
          <a:xfrm>
            <a:off x="6419088" y="477316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Single source of truth</a:t>
            </a:r>
            <a:endParaRPr lang="en-US" sz="850" dirty="0"/>
          </a:p>
        </p:txBody>
      </p:sp>
      <p:sp>
        <p:nvSpPr>
          <p:cNvPr id="269" name="Text 267"/>
          <p:cNvSpPr/>
          <p:nvPr/>
        </p:nvSpPr>
        <p:spPr>
          <a:xfrm>
            <a:off x="9253728" y="4773168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Governed dbt pipelines replace ODI</a:t>
            </a:r>
            <a:endParaRPr lang="en-US" sz="850" dirty="0"/>
          </a:p>
        </p:txBody>
      </p:sp>
      <p:sp>
        <p:nvSpPr>
          <p:cNvPr id="270" name="Text 268"/>
          <p:cNvSpPr/>
          <p:nvPr/>
        </p:nvSpPr>
        <p:spPr>
          <a:xfrm>
            <a:off x="6419088" y="508406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Airflow replaces 3,500+ RMJ jobs</a:t>
            </a:r>
            <a:endParaRPr lang="en-US" sz="850" dirty="0"/>
          </a:p>
        </p:txBody>
      </p:sp>
      <p:sp>
        <p:nvSpPr>
          <p:cNvPr id="271" name="Text 269"/>
          <p:cNvSpPr/>
          <p:nvPr/>
        </p:nvSpPr>
        <p:spPr>
          <a:xfrm>
            <a:off x="9253728" y="5084064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Modern APIs — no direct DB queries</a:t>
            </a:r>
            <a:endParaRPr lang="en-US" sz="850" dirty="0"/>
          </a:p>
        </p:txBody>
      </p:sp>
      <p:sp>
        <p:nvSpPr>
          <p:cNvPr id="272" name="Text 270"/>
          <p:cNvSpPr/>
          <p:nvPr/>
        </p:nvSpPr>
        <p:spPr>
          <a:xfrm>
            <a:off x="6419088" y="53949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observability — SLA monitoring</a:t>
            </a:r>
            <a:endParaRPr lang="en-US" sz="850" dirty="0"/>
          </a:p>
        </p:txBody>
      </p:sp>
      <p:sp>
        <p:nvSpPr>
          <p:cNvPr id="273" name="Text 271"/>
          <p:cNvSpPr/>
          <p:nvPr/>
        </p:nvSpPr>
        <p:spPr>
          <a:xfrm>
            <a:off x="9253728" y="5394960"/>
            <a:ext cx="2706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OpenShift auto-scaling for growth</a:t>
            </a:r>
            <a:endParaRPr lang="en-US" sz="850" dirty="0"/>
          </a:p>
        </p:txBody>
      </p:sp>
      <p:sp>
        <p:nvSpPr>
          <p:cNvPr id="274" name="Shape 272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5" name="Text 273"/>
          <p:cNvSpPr/>
          <p:nvPr/>
        </p:nvSpPr>
        <p:spPr>
          <a:xfrm>
            <a:off x="2743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 </a:t>
            </a:r>
            <a:endParaRPr lang="en-US" sz="950" dirty="0"/>
          </a:p>
        </p:txBody>
      </p:sp>
      <p:sp>
        <p:nvSpPr>
          <p:cNvPr id="276" name="Text 274"/>
          <p:cNvSpPr/>
          <p:nvPr/>
        </p:nvSpPr>
        <p:spPr>
          <a:xfrm>
            <a:off x="12070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impacted</a:t>
            </a:r>
            <a:endParaRPr lang="en-US" sz="800" dirty="0"/>
          </a:p>
        </p:txBody>
      </p:sp>
      <p:sp>
        <p:nvSpPr>
          <p:cNvPr id="277" name="Text 275"/>
          <p:cNvSpPr/>
          <p:nvPr/>
        </p:nvSpPr>
        <p:spPr>
          <a:xfrm>
            <a:off x="30175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3,500+  </a:t>
            </a:r>
            <a:endParaRPr lang="en-US" sz="950" dirty="0"/>
          </a:p>
        </p:txBody>
      </p:sp>
      <p:sp>
        <p:nvSpPr>
          <p:cNvPr id="278" name="Text 276"/>
          <p:cNvSpPr/>
          <p:nvPr/>
        </p:nvSpPr>
        <p:spPr>
          <a:xfrm>
            <a:off x="39502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RMJ jobs → Airflow DAGs</a:t>
            </a:r>
            <a:endParaRPr lang="en-US" sz="800" dirty="0"/>
          </a:p>
        </p:txBody>
      </p:sp>
      <p:sp>
        <p:nvSpPr>
          <p:cNvPr id="279" name="Text 277"/>
          <p:cNvSpPr/>
          <p:nvPr/>
        </p:nvSpPr>
        <p:spPr>
          <a:xfrm>
            <a:off x="57607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System  </a:t>
            </a:r>
            <a:endParaRPr lang="en-US" sz="950" dirty="0"/>
          </a:p>
        </p:txBody>
      </p:sp>
      <p:sp>
        <p:nvSpPr>
          <p:cNvPr id="280" name="Text 278"/>
          <p:cNvSpPr/>
          <p:nvPr/>
        </p:nvSpPr>
        <p:spPr>
          <a:xfrm>
            <a:off x="66934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AddVantage + STAR → SEI SWP</a:t>
            </a:r>
            <a:endParaRPr lang="en-US" sz="800" dirty="0"/>
          </a:p>
        </p:txBody>
      </p:sp>
      <p:sp>
        <p:nvSpPr>
          <p:cNvPr id="281" name="Text 279"/>
          <p:cNvSpPr/>
          <p:nvPr/>
        </p:nvSpPr>
        <p:spPr>
          <a:xfrm>
            <a:off x="85039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 min  </a:t>
            </a:r>
            <a:endParaRPr lang="en-US" sz="950" dirty="0"/>
          </a:p>
        </p:txBody>
      </p:sp>
      <p:sp>
        <p:nvSpPr>
          <p:cNvPr id="282" name="Text 280"/>
          <p:cNvSpPr/>
          <p:nvPr/>
        </p:nvSpPr>
        <p:spPr>
          <a:xfrm>
            <a:off x="94366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batch SLA</a:t>
            </a:r>
            <a:endParaRPr lang="en-US" sz="800" dirty="0"/>
          </a:p>
        </p:txBody>
      </p:sp>
      <p:sp>
        <p:nvSpPr>
          <p:cNvPr id="283" name="Text 281"/>
          <p:cNvSpPr/>
          <p:nvPr/>
        </p:nvSpPr>
        <p:spPr>
          <a:xfrm>
            <a:off x="8412480" y="6592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 WITH SEI — DAY 1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0" y="731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11777472" cy="530352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" y="768096"/>
            <a:ext cx="11594592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Automation: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CSV files arrive via SFTP, are staged in Oracle, and Airflow-orchestrated dbt workflows apply BBH business logic and transform data into AddVantage-ready formats.  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&amp; Auditable: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orchestration, in-database transformations, and structured staging ensure reliability, reprocessing capability, and seamless downstream consumption.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" y="1371600"/>
            <a:ext cx="117774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" y="1371600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371600"/>
            <a:ext cx="1164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INTEGRATION FLOW  (SEI → BBH → Downstream Consumers)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1682496"/>
            <a:ext cx="1426464" cy="658368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" y="1719072"/>
            <a:ext cx="1316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(Oracle Cloud)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" y="210312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Source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627632" y="1965960"/>
            <a:ext cx="23774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865376" y="1682496"/>
            <a:ext cx="1188720" cy="658368"/>
          </a:xfrm>
          <a:prstGeom prst="rect">
            <a:avLst/>
          </a:prstGeom>
          <a:solidFill>
            <a:srgbClr val="F0FFFE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920240" y="1719072"/>
            <a:ext cx="1078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SFTP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20240" y="2103120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EOD/Intraday files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054096" y="1965960"/>
            <a:ext cx="23774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63824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1682496"/>
            <a:ext cx="1371600" cy="658368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46704" y="17190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Custom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346704" y="210312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normalisation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1965960"/>
            <a:ext cx="23774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01184" y="1682496"/>
            <a:ext cx="1280160" cy="658368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56048" y="17190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DB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(Staging)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56048" y="21031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validated layers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81344" y="1965960"/>
            <a:ext cx="23774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91072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19088" y="1682496"/>
            <a:ext cx="1280160" cy="658368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73952" y="17190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(Transform)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73952" y="21031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 — models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699248" y="1965960"/>
            <a:ext cx="23774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08976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936992" y="1682496"/>
            <a:ext cx="1280160" cy="658368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991856" y="1719072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DAGs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(OpenShift)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991856" y="2103120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&amp; schedule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217152" y="1965960"/>
            <a:ext cx="23774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26880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454896" y="1682496"/>
            <a:ext cx="1627632" cy="658368"/>
          </a:xfrm>
          <a:prstGeom prst="rect">
            <a:avLst/>
          </a:prstGeom>
          <a:solidFill>
            <a:srgbClr val="F0FDF4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9509760" y="1719072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509760" y="2103120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downstream systems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01168" y="2450592"/>
            <a:ext cx="56509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1168" y="2450592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245059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MEDALLION ARCHITECTURE  (inside Oracle)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01168" y="2724912"/>
            <a:ext cx="1792224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01168" y="2724912"/>
            <a:ext cx="1792224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01168" y="27249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92608" y="3090672"/>
            <a:ext cx="16093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files as-received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transformations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99339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103120" y="2724912"/>
            <a:ext cx="1792224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103120" y="2724912"/>
            <a:ext cx="1792224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03120" y="27249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Layer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194560" y="3090672"/>
            <a:ext cx="16093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normalisation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 validation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895344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005072" y="2724912"/>
            <a:ext cx="1792224" cy="1993392"/>
          </a:xfrm>
          <a:prstGeom prst="rect">
            <a:avLst/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4005072" y="2724912"/>
            <a:ext cx="1792224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005072" y="2724912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9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Layer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096512" y="3090672"/>
            <a:ext cx="160934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BBH-specific transforms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AddVantage-ready format</a:t>
            </a:r>
            <a:endParaRPr lang="en-US" sz="90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 tables for consumers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01168" y="4773168"/>
            <a:ext cx="5650992" cy="347472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773168"/>
            <a:ext cx="5504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models per layer  ·  </a:t>
            </a:r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dbt via BashOperator inside OpenShift worker pods  ·  Auto-scales 3–9 pods on queue depth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6016752" y="2450592"/>
            <a:ext cx="596188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16752" y="2450592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108192" y="2450592"/>
            <a:ext cx="5833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016752" y="2724912"/>
            <a:ext cx="5961888" cy="36576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016752" y="2724912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6480" y="276148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808976" y="2743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delta processing — only changed records re-processed. Full refresh reserved for month-end or manual triggers.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6016752" y="3108960"/>
            <a:ext cx="59618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016752" y="3108960"/>
            <a:ext cx="54864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26480" y="314553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Contract with SEI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808976" y="31272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Custom Transformer normalises SEI feed schemas before landing in Oracle — insulates downstream from SEI schema changes.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6016752" y="3493008"/>
            <a:ext cx="5961888" cy="36576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16752" y="3493008"/>
            <a:ext cx="54864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0" y="352958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Business Logic in dbt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7808976" y="351129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transformation rules live in versioned dbt SQL models — replaces complex ODI mappings with readable, testable code.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6016752" y="3877056"/>
            <a:ext cx="59618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6752" y="3877056"/>
            <a:ext cx="54864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26480" y="3913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Reprocessing Capability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808976" y="38953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retained — any feed can be replayed from source without SEI re-delivering. Critical for reconciliation workflows.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6016752" y="4261104"/>
            <a:ext cx="5961888" cy="36576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16752" y="4261104"/>
            <a:ext cx="54864" cy="36576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126480" y="42976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Pipeline Execution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808976" y="427939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DAGs (securities, positions, NAV) run simultaneously on separate worker pods — reduces batch window significantly.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016752" y="4645152"/>
            <a:ext cx="5961888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16752" y="4645152"/>
            <a:ext cx="54864" cy="36576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26480" y="46817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Materialisation Strategy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7808976" y="46634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Dev: table materialisation for fast iteration. Prod: incremental for performance. Silver layer uses ephemeral for temp transforms.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2743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layers  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12070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→ Silver → Gold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30175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+ Airflow  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39502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OpenShift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7607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 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6934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delta processing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5039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 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94366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reprocessing capability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412480" y="6592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INFRASTRUCTURE &amp; ENVIRONMENT TOPOLOGY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0" y="731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11777472" cy="5760720"/>
          </a:xfrm>
          <a:prstGeom prst="rect">
            <a:avLst/>
          </a:prstGeom>
          <a:solidFill>
            <a:srgbClr val="F0FFFE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59536"/>
            <a:ext cx="11448288" cy="530352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859536"/>
            <a:ext cx="11448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859536"/>
            <a:ext cx="11301984" cy="53035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Platform  (Oracle Cloud Infrastructure — OCI)  ·  Outbound / Ingest Feeds via API + SFTP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42646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SFTP + API  ↓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700784"/>
            <a:ext cx="11448288" cy="4462272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71907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On-Premises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0" y="1737360"/>
            <a:ext cx="4480560" cy="329184"/>
          </a:xfrm>
          <a:prstGeom prst="rect">
            <a:avLst/>
          </a:prstGeom>
          <a:solidFill>
            <a:srgbClr val="0F2A3F"/>
          </a:solidFill>
          <a:ln w="12700">
            <a:solidFill>
              <a:srgbClr val="0F2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73736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 /  Reverse Proxy  (OpenShift Route)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30352" y="2157984"/>
            <a:ext cx="11119104" cy="1920240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" y="21762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  (OpenShift / Kubernetes)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58368" y="2468880"/>
            <a:ext cx="506577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48716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Cluster — Node 1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2724912"/>
            <a:ext cx="1554480" cy="45720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724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MFT/SFT Gateway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340864" y="2724912"/>
            <a:ext cx="1554480" cy="45720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40864" y="2724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481328" y="3054096"/>
            <a:ext cx="1645920" cy="45720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81328" y="3054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88736" y="2468880"/>
            <a:ext cx="5065776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248716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Cluster — Node 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961888" y="2724912"/>
            <a:ext cx="1554480" cy="45720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61888" y="2724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MFT/SFT Gateway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71232" y="2724912"/>
            <a:ext cx="1554480" cy="45720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71232" y="2724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9180576" y="2724912"/>
            <a:ext cx="1554480" cy="45720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80576" y="272491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803136" y="3054096"/>
            <a:ext cx="1645920" cy="45720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30540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" y="4151376"/>
            <a:ext cx="5065776" cy="1426464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" y="4169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58368" y="4425696"/>
            <a:ext cx="151790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4425696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340864" y="4425696"/>
            <a:ext cx="1517904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40864" y="4425696"/>
            <a:ext cx="15179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88736" y="4151376"/>
            <a:ext cx="5724144" cy="1426464"/>
          </a:xfrm>
          <a:prstGeom prst="rect">
            <a:avLst/>
          </a:prstGeom>
          <a:solidFill>
            <a:srgbClr val="F0FFFE"/>
          </a:solidFill>
          <a:ln w="19050">
            <a:solidFill>
              <a:srgbClr val="99F6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41696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Zone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16752" y="4407408"/>
            <a:ext cx="27066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16752" y="4407408"/>
            <a:ext cx="27066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Site</a:t>
            </a:r>
            <a:endParaRPr lang="en-US" sz="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DB</a:t>
            </a:r>
            <a:endParaRPr lang="en-US" sz="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833104" y="4407408"/>
            <a:ext cx="2706624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833104" y="4407408"/>
            <a:ext cx="270662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</a:t>
            </a:r>
            <a:endParaRPr lang="en-US" sz="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Zone</a:t>
            </a:r>
            <a:endParaRPr lang="en-US" sz="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DB</a:t>
            </a:r>
            <a:endParaRPr lang="en-US" sz="80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 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2070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Hub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0175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Nodes  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9502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 (Transformation)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7607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Site  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6934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Zone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5039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 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4366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412480" y="6592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INFRASTRUCTURE 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0" y="731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Migration  ·  Airflow 3.1.7 + dbt 1.7.5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11777472" cy="621792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68096"/>
            <a:ext cx="1060704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768096"/>
            <a:ext cx="1060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53312" y="768096"/>
            <a:ext cx="10515600" cy="6217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OpenShift compute, storage and networking to host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3.1.7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SEI SWP migration data pipeline platform — high availability across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UAT, QA and Dev.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463040"/>
            <a:ext cx="117774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463040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463040"/>
            <a:ext cx="1164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1737360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1737360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" y="17922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Firm-Critical Migration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0896" y="204825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migrating from FIS/Advent Advantage to SEI SWP — ~1,000 downstream consumer systems depend on daily position, NAV and securities data.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45536" y="1737360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45536" y="1737360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5264" y="17922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OpenShift-Native Workload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55264" y="204825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Airflow orchestration and dbt transformation jobs run inside OpenShift. There is no external compute. The cluster is the platform.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9904" y="1737360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1737360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9632" y="17922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SLA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99632" y="204825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pipelines must complete within 15 minutes. Worker pod auto-scaling ensures this SLA is met even as volumes grow.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34272" y="1737360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34272" y="1737360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17922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44000" y="2048256"/>
            <a:ext cx="2651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runs redundant pods for the Webserver and Scheduler. If any pod fails, pipelines continue without interruption.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2926080"/>
            <a:ext cx="117774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2926080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2926080"/>
            <a:ext cx="1164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SPECIFIED POD REQUIREMENTS  (as provided by SEI)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01168" y="3163824"/>
            <a:ext cx="11777472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163824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33472" y="31638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82896" y="31638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04304" y="3163824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25712" y="316382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661904" y="316382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3419856"/>
            <a:ext cx="11777472" cy="22860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4198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651760" y="341985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pods  (HA pair)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01184" y="341985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22592" y="341985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144000" y="341985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680192" y="34198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&amp; API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01168" y="3657600"/>
            <a:ext cx="117774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51760" y="365760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pods (KEDA)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01184" y="365760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pods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022592" y="365760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pods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44000" y="365760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pods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680192" y="36576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dbt + pipeline tasks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01168" y="3895344"/>
            <a:ext cx="11777472" cy="22860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8953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651760" y="389534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01184" y="38953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022592" y="38953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144000" y="389534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0680192" y="38953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metadata store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1168" y="4133088"/>
            <a:ext cx="117774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01168" y="4133088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1330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vCPU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651760" y="4133088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vCPU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901184" y="41330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vCPU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022592" y="41330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vCPU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9144000" y="41330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vCPU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0680192" y="41330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01168" y="4370832"/>
            <a:ext cx="11777472" cy="22860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1168" y="4370832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43708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651760" y="437083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 GB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4901184" y="437083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GB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7022592" y="437083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GB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144000" y="437083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GB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680192" y="43708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01168" y="4608576"/>
            <a:ext cx="117774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01168" y="4608576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4608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2651760" y="460857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TB → 4.5 TB Y2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901184" y="460857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 GB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7022592" y="460857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GB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144000" y="460857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GB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10680192" y="46085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201168" y="4974336"/>
            <a:ext cx="117774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168" y="4974336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2608" y="4974336"/>
            <a:ext cx="1164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PRODUCTION CPU IS CALCULATED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74320" y="5266944"/>
            <a:ext cx="3828288" cy="1252728"/>
          </a:xfrm>
          <a:prstGeom prst="rect">
            <a:avLst/>
          </a:prstGeom>
          <a:solidFill>
            <a:srgbClr val="E6FAF8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274320" y="5266944"/>
            <a:ext cx="3828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5340096"/>
            <a:ext cx="160788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4000" dirty="0"/>
          </a:p>
        </p:txBody>
      </p:sp>
      <p:sp>
        <p:nvSpPr>
          <p:cNvPr id="93" name="Text 91"/>
          <p:cNvSpPr/>
          <p:nvPr/>
        </p:nvSpPr>
        <p:spPr>
          <a:xfrm>
            <a:off x="1882201" y="5394960"/>
            <a:ext cx="995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882201" y="5669280"/>
            <a:ext cx="21438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Pod Requests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65760" y="6035040"/>
            <a:ext cx="3645408" cy="18288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4048" y="6089904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Pods ×9 = 36 vCPU  ◀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84048" y="6225235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 + DAG  =  8 vCPU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84048" y="6360566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Webserver + Trig =  3 vCPU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384048" y="6495898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PostgreSQL+Redis =  5 vCPU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011168" y="564276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01" name="Shape 99"/>
          <p:cNvSpPr/>
          <p:nvPr/>
        </p:nvSpPr>
        <p:spPr>
          <a:xfrm>
            <a:off x="4175760" y="5266944"/>
            <a:ext cx="3828288" cy="1252728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4175760" y="5266944"/>
            <a:ext cx="382828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75760" y="5340096"/>
            <a:ext cx="160788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000" dirty="0"/>
          </a:p>
        </p:txBody>
      </p:sp>
      <p:sp>
        <p:nvSpPr>
          <p:cNvPr id="104" name="Text 102"/>
          <p:cNvSpPr/>
          <p:nvPr/>
        </p:nvSpPr>
        <p:spPr>
          <a:xfrm>
            <a:off x="5783641" y="5394960"/>
            <a:ext cx="995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5783641" y="5669280"/>
            <a:ext cx="21438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OS + System Overhead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267200" y="6035040"/>
            <a:ext cx="3645408" cy="1828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85488" y="6089904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nodes × ~4 vCPU each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4285488" y="6225235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kernel + kube-system agents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4285488" y="6360566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+ monitoring pods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4285488" y="6495898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 headroom (pods hit limits)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912608" y="5642762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112" name="Shape 110"/>
          <p:cNvSpPr/>
          <p:nvPr/>
        </p:nvSpPr>
        <p:spPr>
          <a:xfrm>
            <a:off x="8077200" y="5266944"/>
            <a:ext cx="3828288" cy="1252728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8077200" y="5266944"/>
            <a:ext cx="3828288" cy="5486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77200" y="5340096"/>
            <a:ext cx="160788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000" dirty="0"/>
          </a:p>
        </p:txBody>
      </p:sp>
      <p:sp>
        <p:nvSpPr>
          <p:cNvPr id="115" name="Text 113"/>
          <p:cNvSpPr/>
          <p:nvPr/>
        </p:nvSpPr>
        <p:spPr>
          <a:xfrm>
            <a:off x="9685081" y="5394960"/>
            <a:ext cx="995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9685081" y="5669280"/>
            <a:ext cx="21438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Node Capacity Required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8168640" y="6035040"/>
            <a:ext cx="3645408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186928" y="6089904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vCPU (pods)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8186928" y="6225235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+ 44 vCPU (overhead)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8186928" y="6360566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96 vCPU total cluster capacity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8186928" y="6495898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 at this level for safe ops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743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 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12070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30175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 min  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39502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SLA Target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57607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vCPU  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66934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All Envs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85039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 TB  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94366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Now → ~7 TB Y2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8412480" y="6592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INFRASTRUCTURE — COMPONENT DETAIL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0" y="731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Migration  ·  Airflow 3.1.7 + dbt 1.7.5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548640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768096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768096"/>
            <a:ext cx="5358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OVERVIEW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1060704"/>
            <a:ext cx="548640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060704"/>
            <a:ext cx="64008" cy="1316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1155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44368" y="1124712"/>
            <a:ext cx="2633472" cy="201168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1247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 Server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371600"/>
            <a:ext cx="5266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Airflow UI and REST API. Operators monitor pipeline runs, trigger DAGs and check task status. Production runs 2 pods so that if one restarts during deployment or failure, the second continues serving without interruption.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487168"/>
            <a:ext cx="5486400" cy="1883664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487168"/>
            <a:ext cx="64008" cy="188366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420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44368" y="2551176"/>
            <a:ext cx="2633472" cy="201168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2551176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 + Python 3.10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798064"/>
            <a:ext cx="52669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engine — each pod runs Airflow tasks that fire dbt SQL transformations against Oracle. Parallel execution dispatches independent tasks (securities, positions, NAV) simultaneously across pods; sequential execution chains dependent tasks (staging → canonical → mart) in order. KEDA auto-scales based on Celery queue depth.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4480560"/>
            <a:ext cx="548640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4480560"/>
            <a:ext cx="64008" cy="1316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5354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44368" y="4544568"/>
            <a:ext cx="2633472" cy="201168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454456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4791456"/>
            <a:ext cx="52669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Airflow scheduling state, DAG run history, task logs and audit trail. Single pod per SEI spec — the infrastructure team should confirm backup frequency and recovery approach for Production given this is a potential single point of failure.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5907024"/>
            <a:ext cx="5486400" cy="621792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5907024"/>
            <a:ext cx="5486400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5907024"/>
            <a:ext cx="5358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 SCALING  (KEDA + Celery queue depth)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9184" y="6163056"/>
            <a:ext cx="5266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Scale-out: Queue depth &gt; 5 tasks per worker → OpenShift adds pods up to env maximum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Scale-in: Queue empty for 10 minutes → pods release back to minimum, freeing cluster resources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88736" y="768096"/>
            <a:ext cx="608990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88736" y="768096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768096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SIZING BY ENVIRONMENT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88736" y="1060704"/>
            <a:ext cx="608990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25312" y="1060704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45552" y="106070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Req/Lim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833104" y="1060704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Req/Lim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838944" y="106070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405872" y="1060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917936" y="1060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30000" y="10607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88736" y="1316736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131673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63840" y="131673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851392" y="131673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 GB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857232" y="1316736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424160" y="131673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936224" y="131673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448288" y="131673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88736" y="1591056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15910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863840" y="159105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851392" y="159105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 GB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857232" y="1591056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424160" y="159105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936224" y="159105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448288" y="159105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888736" y="1865376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0" y="186537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Processor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863840" y="186537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851392" y="186537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 GB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857232" y="1865376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0424160" y="186537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936224" y="186537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1448288" y="186537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888736" y="2139696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0" y="213969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863840" y="213969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0.5/1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851392" y="213969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 GB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857232" y="2139696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0424160" y="213969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936224" y="213969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1448288" y="213969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888736" y="2414016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88736" y="2414016"/>
            <a:ext cx="54864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0" y="241401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863840" y="241401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851392" y="241401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16 GB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857232" y="2414016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3–9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0424160" y="241401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936224" y="241401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1448288" y="241401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88736" y="2688336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43600" y="268833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863840" y="268833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851392" y="268833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16/ 32 GB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857232" y="2688336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424160" y="268833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936224" y="268833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448288" y="268833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888736" y="2962656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943600" y="2962656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Broker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863840" y="2962656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851392" y="2962656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 GB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857232" y="2962656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0424160" y="296265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10936224" y="296265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1448288" y="296265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888736" y="3383280"/>
            <a:ext cx="608990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88736" y="3383280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80176" y="3383280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 (Year 0 → Year 2)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5888736" y="3621024"/>
            <a:ext cx="6089904" cy="21945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25312" y="36210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516368" y="362102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0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394192" y="362102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9272016" y="3621024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149840" y="362102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888736" y="3840480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43600" y="384048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Files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7534656" y="384048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GB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412480" y="384048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GB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9290304" y="384048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0168128" y="384048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 NFS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5888736" y="4096512"/>
            <a:ext cx="60899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43600" y="4096512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Logs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534656" y="40965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8412480" y="40965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TB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9290304" y="409651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0168128" y="409651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 NFS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888736" y="4352544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943600" y="4352544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534656" y="435254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8412480" y="435254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TB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9290304" y="435254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10168128" y="435254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 NVMe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888736" y="4608576"/>
            <a:ext cx="60899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943600" y="4608576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XCom/MinIO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534656" y="46085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8412480" y="46085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GB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9290304" y="460857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10168128" y="460857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(MinIO)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5888736" y="4864608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943600" y="4864608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AOF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7534656" y="486460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8412480" y="486460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9290304" y="486460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10168128" y="486460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 SSD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888736" y="5248656"/>
            <a:ext cx="608990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888736" y="5248656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980176" y="5248656"/>
            <a:ext cx="5961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NODE POOL  (Production)</a:t>
            </a:r>
            <a:endParaRPr lang="en-US" sz="950" dirty="0"/>
          </a:p>
        </p:txBody>
      </p:sp>
      <p:sp>
        <p:nvSpPr>
          <p:cNvPr id="144" name="Shape 142"/>
          <p:cNvSpPr/>
          <p:nvPr/>
        </p:nvSpPr>
        <p:spPr>
          <a:xfrm>
            <a:off x="5888736" y="5486400"/>
            <a:ext cx="6089904" cy="256032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980176" y="54864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7351776" y="54864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8174736" y="54864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vCPU · 32 GB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9454896" y="5486400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DAG Processor, Webserver, Triggerer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5888736" y="5751576"/>
            <a:ext cx="608990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980176" y="57515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7351776" y="575157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nodes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8174736" y="57515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vCPU · 64 GB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9454896" y="575157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pods (3–9) + Redis broker + headroom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888736" y="6016752"/>
            <a:ext cx="6089904" cy="256032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980176" y="60167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Storage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7351776" y="60167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nodes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8174736" y="6016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vCPU · 64 GB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9454896" y="6016752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 + NVMe-backed PVC storage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components  </a:t>
            </a:r>
            <a:endParaRPr lang="en-US" sz="950" dirty="0"/>
          </a:p>
        </p:txBody>
      </p:sp>
      <p:sp>
        <p:nvSpPr>
          <p:cNvPr id="161" name="Text 159"/>
          <p:cNvSpPr/>
          <p:nvPr/>
        </p:nvSpPr>
        <p:spPr>
          <a:xfrm>
            <a:off x="12070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3.x pods per env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30175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workers  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39502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(KEDA) in Prod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57607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nodes  </a:t>
            </a:r>
            <a:endParaRPr lang="en-US" sz="950" dirty="0"/>
          </a:p>
        </p:txBody>
      </p:sp>
      <p:sp>
        <p:nvSpPr>
          <p:cNvPr id="165" name="Text 163"/>
          <p:cNvSpPr/>
          <p:nvPr/>
        </p:nvSpPr>
        <p:spPr>
          <a:xfrm>
            <a:off x="66934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OpenShift cluster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85039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TB Y2  </a:t>
            </a:r>
            <a:endParaRPr lang="en-US" sz="950" dirty="0"/>
          </a:p>
        </p:txBody>
      </p:sp>
      <p:sp>
        <p:nvSpPr>
          <p:cNvPr id="167" name="Text 165"/>
          <p:cNvSpPr/>
          <p:nvPr/>
        </p:nvSpPr>
        <p:spPr>
          <a:xfrm>
            <a:off x="94366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storage all envs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8412480" y="6592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  | 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NEEDED — TEAMS WE WILL BE ENGAGING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0" y="7315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11777472" cy="58521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68096"/>
            <a:ext cx="111556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768096"/>
            <a:ext cx="11155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08176" y="768096"/>
            <a:ext cx="10460736" cy="58521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be reaching out to several infrastructure and operations teams in the coming weeks to support the SEI SWP migration build-out.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would appreciate if you could give these teams a heads-up that we will be coming — and help them understand the importance and urgency of this programme.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426464"/>
            <a:ext cx="2907792" cy="5084064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77800" dist="38100" dir="8100000">
              <a:srgbClr val="0D9488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" y="1426464"/>
            <a:ext cx="2907792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Cloud Engineering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" y="1810512"/>
            <a:ext cx="2907792" cy="292608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cluster provisioning and configuration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157984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" y="228600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176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OpenShift node pools: 10 nodes Prod, 5 UAT, 2 QA, 2 Dev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01168" y="2578608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" y="270662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KEDA for worker pod auto-scaling on Celery queue depth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01168" y="2999232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" y="312724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persistent volume claims (PVC) — NVMe for PostgreSQL, NFS for DAGs/Logs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01168" y="3419856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354787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438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OpenShift Routes (Load Balancer / Reverse Proxy) for Airflow endpoints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1168" y="3840480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" y="396849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monitoring integration within the cluster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01168" y="4261104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" y="438912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policies — OpenShift to Oracle DB (25 GbE dedicated recommended)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182112" y="1426464"/>
            <a:ext cx="2907792" cy="5084064"/>
          </a:xfrm>
          <a:prstGeom prst="rect">
            <a:avLst/>
          </a:prstGeom>
          <a:solidFill>
            <a:srgbClr val="FFFFFF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77800" dist="38100" dir="8100000">
              <a:srgbClr val="0D948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182112" y="1426464"/>
            <a:ext cx="2907792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73552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DBA Team (Oracle)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182112" y="1810512"/>
            <a:ext cx="2907792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73552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Enterprise DB provisioning and optimisation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182112" y="2157984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552" y="228600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56432" y="2176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Oracle EE with Partitioning option — 64 vCPU, 512 GB RAM, 23 TB NVMe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182112" y="2578608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73552" y="2706624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56432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Oracle Resource Manager — separate consumer groups for dbt vs readers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182112" y="2999232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73552" y="3127248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56432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interval partitioning on business_date for 60–80% I/O reduction on incrementals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182112" y="3419856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73552" y="3547872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56432" y="3438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PGA/SGA parameters for dbt workload (PGA target 128 GB, SGA 320 GB)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82112" y="3840480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73552" y="3968496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56432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sqlnet.ora settings to handle Airflow worker pod connection lifecycle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182112" y="4261104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FCD34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73552" y="4389120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56432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Environments: Prod, UAT, Dev (scaled down) — see sizing slide for specs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163056" y="1426464"/>
            <a:ext cx="2907792" cy="5084064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77800" dist="38100" dir="8100000">
              <a:srgbClr val="0D9488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63056" y="1426464"/>
            <a:ext cx="2907792" cy="38404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54496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OSS / Operations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63056" y="1810512"/>
            <a:ext cx="2907792" cy="292608"/>
          </a:xfrm>
          <a:prstGeom prst="rect">
            <a:avLst/>
          </a:prstGeom>
          <a:solidFill>
            <a:srgbClr val="E6FA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54496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operations, runbook support, and incident management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63056" y="2157984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54496" y="2286000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37376" y="2176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operational runbooks for Airflow pod failure and restart procedures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163056" y="2578608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254496" y="2706624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37376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on-call escalation path for pipeline SLA breach (&lt; 15 min batch window)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163056" y="2999232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54496" y="3127248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37376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deployment pipeline (CI/CD via Jenkins / Cara Automation) integration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163056" y="3419856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54496" y="3547872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37376" y="3438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backup and recovery — confirm Patroni HA or backup schedule for Prod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163056" y="3840480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254496" y="3968496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37376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retention policy — Airflow task logs and Prometheus metrics retention config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6163056" y="4261104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54496" y="4389120"/>
            <a:ext cx="128016" cy="128016"/>
          </a:xfrm>
          <a:prstGeom prst="ellipse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37376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environment promotion: Dev → QA → UAT → Prod release process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9144000" y="1426464"/>
            <a:ext cx="2907792" cy="5084064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77800" dist="38100" dir="8100000">
              <a:srgbClr val="0D9488">
                <a:alpha val="15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9144000" y="1426464"/>
            <a:ext cx="2907792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235440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/ CISO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9144000" y="1810512"/>
            <a:ext cx="2907792" cy="292608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35440" y="18105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and compliance sign-off for new OpenShift workload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144000" y="2157984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9235440" y="228600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418320" y="21762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namespace security policies — network isolation between environments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9144000" y="2578608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235440" y="2706624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9418320" y="25968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management — Airflow connections, Oracle credentials, SEI SFTP keys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9144000" y="2999232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9235440" y="3127248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418320" y="3017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SFTP connectivity review — inbound file transfer security and key rotation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9144000" y="3419856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235440" y="3547872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418320" y="34381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image provenance — Airflow, dbt, Python base image supply chain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9144000" y="3840480"/>
            <a:ext cx="2907792" cy="402336"/>
          </a:xfrm>
          <a:prstGeom prst="rect">
            <a:avLst/>
          </a:prstGeom>
          <a:solidFill>
            <a:srgbClr val="F0FFFE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35440" y="3968496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418320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configuration — developer access to Dev/QA vs restricted Prod access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9144000" y="4261104"/>
            <a:ext cx="290779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235440" y="4389120"/>
            <a:ext cx="128016" cy="12801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418320" y="42793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alignment with BBH data classification for SEI accounting data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01168" y="6473952"/>
            <a:ext cx="1177747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743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teams  </a:t>
            </a:r>
            <a:endParaRPr lang="en-US" sz="950" dirty="0"/>
          </a:p>
        </p:txBody>
      </p:sp>
      <p:sp>
        <p:nvSpPr>
          <p:cNvPr id="108" name="Text 106"/>
          <p:cNvSpPr/>
          <p:nvPr/>
        </p:nvSpPr>
        <p:spPr>
          <a:xfrm>
            <a:off x="12070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engaged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30175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 </a:t>
            </a:r>
            <a:endParaRPr lang="en-US" sz="950" dirty="0"/>
          </a:p>
        </p:txBody>
      </p:sp>
      <p:sp>
        <p:nvSpPr>
          <p:cNvPr id="110" name="Text 108"/>
          <p:cNvSpPr/>
          <p:nvPr/>
        </p:nvSpPr>
        <p:spPr>
          <a:xfrm>
            <a:off x="39502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very soon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57607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  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66934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brief your teams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8503920" y="659282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9436608" y="659282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Firm-priority programme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8412480" y="6592824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  |  March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2026-03-17T16:18:43Z</dcterms:created>
  <dcterms:modified xsi:type="dcterms:W3CDTF">2026-03-17T16:18:43Z</dcterms:modified>
</cp:coreProperties>
</file>