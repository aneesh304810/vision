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6E8F5"/>
                </a:solidFill>
              </a:rPr>
              <a:t>BBH × PLAID  |  OPEN BANKING INITIATIVE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FA3"/>
                </a:solidFill>
              </a:rPr>
              <a:t>EXECUTIVE BRIEFING  ·  June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"/>
            <a:ext cx="1371600" cy="420624"/>
          </a:xfrm>
          <a:prstGeom prst="rect">
            <a:avLst/>
          </a:prstGeom>
          <a:solidFill>
            <a:srgbClr val="C8651A"/>
          </a:solidFill>
          <a:ln w="12700">
            <a:solidFill>
              <a:srgbClr val="C86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554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166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54864" cy="3977640"/>
          </a:xfrm>
          <a:prstGeom prst="rect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05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1B4B"/>
                </a:solidFill>
              </a:rPr>
              <a:t>THE ASK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5B7F"/>
                </a:solidFill>
              </a:rPr>
              <a:t>Enable Open Banking via Plaid Core Exchange (FDX)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" y="1773936"/>
            <a:ext cx="164592" cy="16459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190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Integrate BBH Capital Partners accounts with Plaid's Core Exchange, exposing read-only FDX/OFX account data to authorized fintech applications via OAuth 2.0.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2064" y="2459736"/>
            <a:ext cx="164592" cy="16459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4048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Allow clients to grant consent through Plaid Link, enabling secure data sharing without exposing BBH credentials.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3145536"/>
            <a:ext cx="164592" cy="16459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0906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A2E"/>
                </a:solidFill>
              </a:rPr>
              <a:t>Scope limited to account holdings, balances, transactions, and contact data — payments and asset transfers explicitly excluded.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886200"/>
            <a:ext cx="4782312" cy="25603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136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D1B4B"/>
                </a:solidFill>
              </a:rPr>
              <a:t>DECISIONS REQUIRED FROM LEADERSHIP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651A"/>
                </a:solidFill>
              </a:rPr>
              <a:t>▸  </a:t>
            </a:r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ARB approval of architecture &amp; security design (conditional approval acceptable to unblock engineering)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4434840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651A"/>
                </a:solidFill>
              </a:rPr>
              <a:t>▸  </a:t>
            </a:r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Legal escalation: General Counsel, Head of Risk, CISO sign-off on Plaid contract gaps &amp; FDX indemnity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464515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651A"/>
                </a:solidFill>
              </a:rPr>
              <a:t>▸  </a:t>
            </a:r>
            <a:pPr algn="l"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Business leader acceptance of data custody and privacy risk before endpoint goes live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1B4B"/>
                </a:solidFill>
              </a:rPr>
              <a:t>WHERE WE ARE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1389888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389888"/>
            <a:ext cx="54864" cy="1097280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1481328"/>
            <a:ext cx="1783080" cy="201168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48132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IN PROGRESS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797296" y="14813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Architecture &amp; Design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97296" y="17739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FA3"/>
                </a:solidFill>
              </a:rPr>
              <a:t>End-to-end OAuth 2.0 flow, FDX/OFX inbound schema, outbound Plaid hub, and STRIDE threat model are fully documented.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23560" y="2615184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23560" y="2615184"/>
            <a:ext cx="54864" cy="10972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2706624"/>
            <a:ext cx="1783080" cy="2011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27066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SUBMITTED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797296" y="270662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ARB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97296" y="29992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FA3"/>
                </a:solidFill>
              </a:rPr>
              <a:t>Formal ARB submission complete. Security controls, infrastructure Q&amp;A, and NYDFS compliance analysis presented for Board sign-off.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623560" y="3840480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623560" y="3840480"/>
            <a:ext cx="54864" cy="1097280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3931920"/>
            <a:ext cx="1783080" cy="201168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9319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ESCALATION REQUIRED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797296" y="39319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Legal Review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97296" y="42245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FA3"/>
                </a:solidFill>
              </a:rPr>
              <a:t>BBH Legal completed initial review of Plaid Data Partner Terms and FDX API License. Material gaps identified — cannot execute contract until resolved.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6B7FA3"/>
                </a:solidFill>
              </a:rPr>
              <a:t>CONFIDENTIAL  ·  BBH Capital Partners Technology  ·  Plaid / FDX ARB Submission  ·  v4.2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40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6E8F5"/>
                </a:solidFill>
              </a:rPr>
              <a:t>RISKS, CONCERNS  &amp; 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93192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E7A"/>
                </a:solidFill>
              </a:rPr>
              <a:t>BBH × PLAID OPEN BANKING INITIATIVE  ·  June 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571232" y="137160"/>
            <a:ext cx="1389888" cy="402336"/>
          </a:xfrm>
          <a:prstGeom prst="rect">
            <a:avLst/>
          </a:prstGeom>
          <a:solidFill>
            <a:srgbClr val="C8651A"/>
          </a:solidFill>
          <a:ln w="12700">
            <a:solidFill>
              <a:srgbClr val="C86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71232" y="1371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PENDING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APPROVAL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" y="804672"/>
            <a:ext cx="2852928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804672"/>
            <a:ext cx="54864" cy="312724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" y="804672"/>
            <a:ext cx="2798064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LEGAL CONCERNS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" y="1252728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21615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No BBH Skin-in-the-Game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" y="1408176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has no direct regulatory obligation to BBH clients — accountability gap if data is misused.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3464" y="1792224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75564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Contract Gaps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" y="19476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Current simple-letter agreement insufficient. Need stronger BBH–Plaid terms mirroring the Addepar-style contract with liability caps and indemnity parity.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3464" y="2331720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29514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Regulatory Ambiguity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93192" y="2487168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Unclear which party bears NYDFS, CCPA, and GDPR regulatory duties over client data. Compliance responsibility gaps must be resolved pre-launch.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83464" y="2871216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83464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Private Bank Privacy Risk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93192" y="302666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PB clients expect heightened data protection. Exposing data through a third-party intermediary conflicts with those expectations.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3464" y="3410712"/>
            <a:ext cx="45720" cy="128016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3741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Business Buy-in Required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3192" y="356616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Business owners must formally accept the risk. Endpoint cannot go live until contractual and cyber security issues are fully resolved.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145536" y="804672"/>
            <a:ext cx="2852928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45536" y="804672"/>
            <a:ext cx="54864" cy="3127248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804672"/>
            <a:ext cx="2798064" cy="347472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SECURITY CONCERNS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1252728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4136" y="121615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Phishing &amp; Spoofing Risk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74136" y="1408176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Users enter credentials into Plaid's portal bearing BBH branding — adversaries can clone the portal to harvest credentials. Plaid's anti-spoofing controls must be validated.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64408" y="1792224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175564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MFA &amp; NYDFS 500.12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74136" y="19476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must operate within BBH's MFA requirements and Risk-Based Step-up Authentication controls per NYDFS Part 500.12 regulations.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64408" y="2331720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4136" y="229514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Independent Kill Switch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74136" y="2487168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BBH must be able to block Plaid access instantly without impacting direct user logins — geo-blocking by country/region also required.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64408" y="2871216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74136" y="283464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Log Access &amp; SIEM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74136" y="302666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BBH requires access to Plaid's system admin logs and user auth details, authentication log ingestion into Splunk/SIEM, and RSA risk tool integration.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64408" y="3410712"/>
            <a:ext cx="45720" cy="128016"/>
          </a:xfrm>
          <a:prstGeom prst="rect">
            <a:avLst/>
          </a:prstGeom>
          <a:solidFill>
            <a:srgbClr val="7A1A1A"/>
          </a:solidFill>
          <a:ln w="12700">
            <a:solidFill>
              <a:srgbClr val="7A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74136" y="33741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DFS / SOC Obligations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374136" y="356616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DFS audit trail requirements and SOC compliance implications of delegating auth flows to a third-party intermediary must be assessed and documented.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26480" y="804672"/>
            <a:ext cx="2852928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804672"/>
            <a:ext cx="54864" cy="3127248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1344" y="804672"/>
            <a:ext cx="2798064" cy="347472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2784" y="841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DATA MOVEMENT CONCERNS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45352" y="1252728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1216152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Persistent Data Caching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355080" y="1408176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caches identity data, account/routing numbers, and raw transactions. Retention continues up to 30 days post-revocation — extending BBH's exposure window.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45352" y="1792224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1755648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Ongoing Refresh Cycle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355080" y="1947672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performs periodic refreshes every 4–6 hours without explicit BBH initiation — data is continuously pulled and held outside BBH's perimeter.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245352" y="2331720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295144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Data Enrichment Outside BBH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355080" y="2487168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enriches transaction data (merchant names, category labels, overrides) independently — transformations occur outside BBH's control or audit trail.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45352" y="2871216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834640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NYDFS / CCPA / GDPR Gap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55080" y="302666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Plaid's confidentiality obligations fall below BBH standards. Data residency and processing jurisdiction are unaddressed in the current agreement.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245352" y="3410712"/>
            <a:ext cx="45720" cy="128016"/>
          </a:xfrm>
          <a:prstGeom prst="rect">
            <a:avLst/>
          </a:prstGeom>
          <a:solidFill>
            <a:srgbClr val="7A5A1A"/>
          </a:solidFill>
          <a:ln w="12700">
            <a:solidFill>
              <a:srgbClr val="7A5A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3374136"/>
            <a:ext cx="2551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Encryption: Adequate but Unenforceable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355080" y="356616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Plaid uses AES-256 at rest and TLS 1.2+ in transit — technically sound, but these commitments are not contractually enforceable under current terms.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64592" y="4005072"/>
            <a:ext cx="8814816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56032" y="4078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D6E8F5"/>
                </a:solidFill>
              </a:rPr>
              <a:t>NEXT STEPS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554480" y="4187952"/>
            <a:ext cx="256032" cy="25603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54480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865376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ARB Decision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865376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Conditional approval with legal carve-out to unblock engineering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383280" y="4114800"/>
            <a:ext cx="0" cy="585216"/>
          </a:xfrm>
          <a:prstGeom prst="line">
            <a:avLst/>
          </a:prstGeom>
          <a:noFill/>
          <a:ln w="6350">
            <a:solidFill>
              <a:srgbClr val="2A3B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65576" y="4187952"/>
            <a:ext cx="256032" cy="256032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65576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3776472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Legal Escalation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776472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GC, Head of Risk &amp; CISO sign-off on contract gaps, liability caps, indemnity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294376" y="4114800"/>
            <a:ext cx="0" cy="585216"/>
          </a:xfrm>
          <a:prstGeom prst="line">
            <a:avLst/>
          </a:prstGeom>
          <a:noFill/>
          <a:ln w="6350">
            <a:solidFill>
              <a:srgbClr val="2A3B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376672" y="4187952"/>
            <a:ext cx="256032" cy="256032"/>
          </a:xfrm>
          <a:prstGeom prst="ellipse">
            <a:avLst/>
          </a:prstGeom>
          <a:solidFill>
            <a:srgbClr val="C8651A"/>
          </a:solidFill>
          <a:ln w="12700">
            <a:solidFill>
              <a:srgbClr val="C865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76672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687568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Plaid / FDX Negotiation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687568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Mutual liability caps, NYDFS/CCPA processing terms, mandatory arbitration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205472" y="4114800"/>
            <a:ext cx="0" cy="585216"/>
          </a:xfrm>
          <a:prstGeom prst="line">
            <a:avLst/>
          </a:prstGeom>
          <a:noFill/>
          <a:ln w="6350">
            <a:solidFill>
              <a:srgbClr val="2A3B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287768" y="4187952"/>
            <a:ext cx="256032" cy="256032"/>
          </a:xfrm>
          <a:prstGeom prst="ellipse">
            <a:avLst/>
          </a:prstGeom>
          <a:solidFill>
            <a:srgbClr val="005B7F"/>
          </a:solidFill>
          <a:ln w="12700">
            <a:solidFill>
              <a:srgbClr val="005B7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87768" y="4187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598664" y="412394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6E8F5"/>
                </a:solidFill>
              </a:rPr>
              <a:t>Pilot Scope Definition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598664" y="4352544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A5E7A"/>
                </a:solidFill>
              </a:rPr>
              <a:t>Restrict to Private Bank clients only to limit initial data exposure scope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96519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4A5E7A"/>
                </a:solidFill>
              </a:rPr>
              <a:t>CONFIDENTIAL  ·  BBH Capital Partners Technology  ·  Plaid / FDX ARB Submission  ·  v4.2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BBH x Plaid Open Banking – Executive Briefing</dc:title>
  <dc:subject>PptxGenJS Presentation</dc:subject>
  <dc:creator>PptxGenJS</dc:creator>
  <cp:lastModifiedBy>PptxGenJS</cp:lastModifiedBy>
  <cp:revision>1</cp:revision>
  <dcterms:created xsi:type="dcterms:W3CDTF">2026-06-03T14:45:35Z</dcterms:created>
  <dcterms:modified xsi:type="dcterms:W3CDTF">2026-06-03T14:45:35Z</dcterms:modified>
</cp:coreProperties>
</file>